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76" r:id="rId5"/>
    <p:sldId id="265" r:id="rId6"/>
    <p:sldId id="269" r:id="rId7"/>
    <p:sldId id="277" r:id="rId8"/>
    <p:sldId id="270" r:id="rId9"/>
    <p:sldId id="271" r:id="rId10"/>
    <p:sldId id="278" r:id="rId11"/>
    <p:sldId id="279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E06C7-C73C-4759-BBEF-693EEDABF5A2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E187A-7AC6-43C2-8CC1-BD84E0545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84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E187A-7AC6-43C2-8CC1-BD84E0545AE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583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E187A-7AC6-43C2-8CC1-BD84E0545AE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11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A2225-2B17-D144-7563-029587EF5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E330A3-267B-5CC7-1480-79D8ED5C9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DE8417-6CD5-C966-CBBA-6A04F8E8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D40-9FF8-41D7-B144-A18715636602}" type="datetime1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B9945A-63C2-2444-7D62-C432898A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3025B6-0D12-E0D1-D36A-17FD139D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25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476B52-B35D-A571-DE16-40908D18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94D477-CBC2-B8B2-4E1C-806CF24C5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6DA77A-BE84-B797-3A28-98E34907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985B-A43D-47BC-827F-2D1A220FDA47}" type="datetime1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C53974-1CB5-F868-6292-7139D4E7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6AC470-B09E-D389-6547-20DB9B51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13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C78B2-A0A5-DDE9-158F-AFB5A684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843623F-2944-9D93-CCEE-63523D347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505463-B267-779A-9428-176254B76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F29712-D792-B410-C60F-0F87C2CA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78CC-2FE5-44B7-9699-48AAC79F9358}" type="datetime1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626F1D-7FC7-6884-884A-268E9D58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7C5578-7916-A0DA-9CDD-F4CA8C49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9B1FB-F6E3-4876-AF7D-EDD162C5E0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68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757DDC3-1A0A-6F08-5FE2-CC3F9F80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D8DB8A-E322-E6A8-7CC7-963BEAD0C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51C39B-80B9-2B09-593A-124DABFBA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F5980-EC76-45F7-AC6C-766740A5D83F}" type="datetime1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7A4E41-C3C7-89E2-C7CC-99BCD6862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B51755-8135-20E3-CD06-E5C996B20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2704C-6E3D-403C-BF6B-4786F7F93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21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AF257-7315-BEEC-0BAD-4ADFF2965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400" dirty="0"/>
              <a:t>SpikeGAN: An Energy-Efficient Spiking Generative Adversarial Network Design</a:t>
            </a:r>
            <a:endParaRPr kumimoji="1" lang="ja-JP" altLang="en-US" sz="4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B6EC61-4F1B-0AD3-3043-79808C4A2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43356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ja-JP" sz="2800" dirty="0"/>
              <a:t>Team Zynapse</a:t>
            </a:r>
          </a:p>
          <a:p>
            <a:r>
              <a:rPr kumimoji="1" lang="en-US" altLang="ja-JP" sz="2600" dirty="0"/>
              <a:t>Yuga Hanyu, Atharv Sharma and Aruki Komatsuzaki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School of Computer Science and Engineering</a:t>
            </a:r>
            <a:b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</a:br>
            <a: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University of Aizu, Fukushima, Japan</a:t>
            </a:r>
            <a:b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</a:br>
            <a: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E-mai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l</a:t>
            </a:r>
            <a: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:   {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m5291018, m5292015, s1310244</a:t>
            </a:r>
            <a:r>
              <a:rPr kumimoji="1" lang="en-JP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}@u-aizu.ac.jp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t>Date: March 6, 2026</a:t>
            </a:r>
            <a:endParaRPr kumimoji="1" lang="en-JP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  <a:p>
            <a:endParaRPr kumimoji="1" lang="ja-JP" altLang="en-US" sz="2600" dirty="0"/>
          </a:p>
        </p:txBody>
      </p:sp>
      <p:pic>
        <p:nvPicPr>
          <p:cNvPr id="6" name="図 5" descr="回路, 屋外, 建物, 電子機器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FA44DCD-90B4-B843-C993-270E698DD7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24" r="54756" b="8424"/>
          <a:stretch>
            <a:fillRect/>
          </a:stretch>
        </p:blipFill>
        <p:spPr>
          <a:xfrm>
            <a:off x="0" y="0"/>
            <a:ext cx="1879006" cy="14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7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2F15-FF2F-B694-CC01-258942ED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E1D026-A985-D30E-82B3-CEE75D3B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Spiking Neural Networks (SNNs)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DCC0ED-387F-062E-74AA-1AE71EFD8106}"/>
              </a:ext>
            </a:extLst>
          </p:cNvPr>
          <p:cNvSpPr txBox="1"/>
          <p:nvPr/>
        </p:nvSpPr>
        <p:spPr>
          <a:xfrm>
            <a:off x="838200" y="1668565"/>
            <a:ext cx="379279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dirty="0"/>
              <a:t>SNNs offer great energy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b="1" dirty="0"/>
              <a:t>Event-Driven processing</a:t>
            </a:r>
            <a:r>
              <a:rPr lang="en-US" altLang="ja-JP" sz="2400" dirty="0"/>
              <a:t>: computes only when there is a spike.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b="1" dirty="0"/>
              <a:t>Addition-and-Accumulation</a:t>
            </a:r>
            <a:r>
              <a:rPr lang="en-US" altLang="ja-JP" sz="2400" dirty="0"/>
              <a:t>: computation consists of only addition and accumulation of spikes.</a:t>
            </a:r>
          </a:p>
          <a:p>
            <a:endParaRPr lang="en-US" altLang="ja-JP" sz="2800" dirty="0"/>
          </a:p>
        </p:txBody>
      </p:sp>
      <p:pic>
        <p:nvPicPr>
          <p:cNvPr id="338" name="図 337">
            <a:extLst>
              <a:ext uri="{FF2B5EF4-FFF2-40B4-BE49-F238E27FC236}">
                <a16:creationId xmlns:a16="http://schemas.microsoft.com/office/drawing/2014/main" id="{EC2D7D3D-3C46-09EE-218E-03767E70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319" y="1582994"/>
            <a:ext cx="6716974" cy="4773356"/>
          </a:xfrm>
          <a:prstGeom prst="rect">
            <a:avLst/>
          </a:prstGeom>
        </p:spPr>
      </p:pic>
      <p:sp>
        <p:nvSpPr>
          <p:cNvPr id="340" name="テキスト ボックス 339">
            <a:extLst>
              <a:ext uri="{FF2B5EF4-FFF2-40B4-BE49-F238E27FC236}">
                <a16:creationId xmlns:a16="http://schemas.microsoft.com/office/drawing/2014/main" id="{5D775CBB-F02C-C138-5A63-67A96520B172}"/>
              </a:ext>
            </a:extLst>
          </p:cNvPr>
          <p:cNvSpPr txBox="1"/>
          <p:nvPr/>
        </p:nvSpPr>
        <p:spPr>
          <a:xfrm>
            <a:off x="4350037" y="6211669"/>
            <a:ext cx="668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1 Biological brain and Spiking Neural Network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39F105-ECB6-E55D-79CC-0F7CB389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44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52C6-7328-C87E-8153-0761FF93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2FD1EA-38AA-03D1-7919-9E009CE4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Design Flow</a:t>
            </a:r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DFA9733-ADE9-EB91-1EF0-88DB04125F05}"/>
              </a:ext>
            </a:extLst>
          </p:cNvPr>
          <p:cNvGrpSpPr/>
          <p:nvPr/>
        </p:nvGrpSpPr>
        <p:grpSpPr>
          <a:xfrm>
            <a:off x="1885247" y="2566012"/>
            <a:ext cx="2136705" cy="1038726"/>
            <a:chOff x="802557" y="2465430"/>
            <a:chExt cx="2136705" cy="1038726"/>
          </a:xfrm>
        </p:grpSpPr>
        <p:sp>
          <p:nvSpPr>
            <p:cNvPr id="9" name="フローチャート: 処理 8">
              <a:extLst>
                <a:ext uri="{FF2B5EF4-FFF2-40B4-BE49-F238E27FC236}">
                  <a16:creationId xmlns:a16="http://schemas.microsoft.com/office/drawing/2014/main" id="{761C81B0-03C8-4394-5DFA-81D8A40AF534}"/>
                </a:ext>
              </a:extLst>
            </p:cNvPr>
            <p:cNvSpPr/>
            <p:nvPr/>
          </p:nvSpPr>
          <p:spPr>
            <a:xfrm>
              <a:off x="838200" y="2465430"/>
              <a:ext cx="2065421" cy="1038726"/>
            </a:xfrm>
            <a:prstGeom prst="flowChartProcess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538A71F-F762-02C8-EDB6-ACB9005F8D42}"/>
                </a:ext>
              </a:extLst>
            </p:cNvPr>
            <p:cNvSpPr txBox="1"/>
            <p:nvPr/>
          </p:nvSpPr>
          <p:spPr>
            <a:xfrm>
              <a:off x="802557" y="2523128"/>
              <a:ext cx="21367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Train Generative Adversarial Networks</a:t>
              </a:r>
              <a:endParaRPr kumimoji="1" lang="ja-JP" altLang="en-US" dirty="0"/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8BAA3547-2046-D769-1E75-B74E01D4C6C0}"/>
              </a:ext>
            </a:extLst>
          </p:cNvPr>
          <p:cNvGrpSpPr/>
          <p:nvPr/>
        </p:nvGrpSpPr>
        <p:grpSpPr>
          <a:xfrm>
            <a:off x="4675455" y="2564765"/>
            <a:ext cx="2136705" cy="1038726"/>
            <a:chOff x="802557" y="2465430"/>
            <a:chExt cx="2136705" cy="1038726"/>
          </a:xfrm>
        </p:grpSpPr>
        <p:sp>
          <p:nvSpPr>
            <p:cNvPr id="40" name="フローチャート: 処理 39">
              <a:extLst>
                <a:ext uri="{FF2B5EF4-FFF2-40B4-BE49-F238E27FC236}">
                  <a16:creationId xmlns:a16="http://schemas.microsoft.com/office/drawing/2014/main" id="{8D019F04-FF31-266E-2F3D-EDC0C3893C62}"/>
                </a:ext>
              </a:extLst>
            </p:cNvPr>
            <p:cNvSpPr/>
            <p:nvPr/>
          </p:nvSpPr>
          <p:spPr>
            <a:xfrm>
              <a:off x="838200" y="2465430"/>
              <a:ext cx="2065421" cy="1038726"/>
            </a:xfrm>
            <a:prstGeom prst="flowChartProcess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BE7E9C07-5F24-D328-7ABD-5C0EF5092A7F}"/>
                </a:ext>
              </a:extLst>
            </p:cNvPr>
            <p:cNvSpPr txBox="1"/>
            <p:nvPr/>
          </p:nvSpPr>
          <p:spPr>
            <a:xfrm>
              <a:off x="802557" y="2661627"/>
              <a:ext cx="21367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Convert Generator ANN to SNN</a:t>
              </a:r>
              <a:endParaRPr kumimoji="1" lang="ja-JP" altLang="en-US" dirty="0"/>
            </a:p>
          </p:txBody>
        </p:sp>
      </p:grp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9B56C8C0-09C8-0C53-6CF1-3F3BD212184C}"/>
              </a:ext>
            </a:extLst>
          </p:cNvPr>
          <p:cNvCxnSpPr>
            <a:cxnSpLocks/>
            <a:stCxn id="12" idx="3"/>
            <a:endCxn id="41" idx="1"/>
          </p:cNvCxnSpPr>
          <p:nvPr/>
        </p:nvCxnSpPr>
        <p:spPr>
          <a:xfrm flipV="1">
            <a:off x="4021952" y="3084128"/>
            <a:ext cx="653503" cy="12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4FF09FF8-CB6F-0483-C1BC-EA118216C6FC}"/>
              </a:ext>
            </a:extLst>
          </p:cNvPr>
          <p:cNvSpPr/>
          <p:nvPr/>
        </p:nvSpPr>
        <p:spPr>
          <a:xfrm>
            <a:off x="1006305" y="1322854"/>
            <a:ext cx="9894530" cy="2568364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1165731E-E611-F5A5-D913-6390F2C4951C}"/>
              </a:ext>
            </a:extLst>
          </p:cNvPr>
          <p:cNvSpPr txBox="1"/>
          <p:nvPr/>
        </p:nvSpPr>
        <p:spPr>
          <a:xfrm>
            <a:off x="553340" y="1342273"/>
            <a:ext cx="725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solidFill>
                  <a:schemeClr val="accent1"/>
                </a:solidFill>
                <a:latin typeface="Segoe UI Symbol" panose="020B0502040204020203" pitchFamily="34" charset="0"/>
              </a:rPr>
              <a:t>❶</a:t>
            </a:r>
            <a:r>
              <a:rPr lang="en-US" altLang="ja-JP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Symbol" panose="020B0502040204020203" pitchFamily="34" charset="0"/>
              </a:rPr>
              <a:t> </a:t>
            </a:r>
            <a:r>
              <a:rPr kumimoji="1" lang="en-US" altLang="ja-JP" sz="2800" dirty="0"/>
              <a:t>Training &amp; Conversion on Software</a:t>
            </a:r>
            <a:endParaRPr kumimoji="1" lang="ja-JP" altLang="en-US" sz="2800" dirty="0"/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44FB43C5-6FF2-0DBD-2EAD-0F33E482BA54}"/>
              </a:ext>
            </a:extLst>
          </p:cNvPr>
          <p:cNvGrpSpPr/>
          <p:nvPr/>
        </p:nvGrpSpPr>
        <p:grpSpPr>
          <a:xfrm>
            <a:off x="1920890" y="5092408"/>
            <a:ext cx="2136705" cy="1038726"/>
            <a:chOff x="802557" y="2465430"/>
            <a:chExt cx="2136705" cy="1038726"/>
          </a:xfrm>
        </p:grpSpPr>
        <p:sp>
          <p:nvSpPr>
            <p:cNvPr id="66" name="フローチャート: 処理 65">
              <a:extLst>
                <a:ext uri="{FF2B5EF4-FFF2-40B4-BE49-F238E27FC236}">
                  <a16:creationId xmlns:a16="http://schemas.microsoft.com/office/drawing/2014/main" id="{4B1F6713-573B-591B-F252-851CC6B27B57}"/>
                </a:ext>
              </a:extLst>
            </p:cNvPr>
            <p:cNvSpPr/>
            <p:nvPr/>
          </p:nvSpPr>
          <p:spPr>
            <a:xfrm>
              <a:off x="838200" y="2465430"/>
              <a:ext cx="2065421" cy="1038726"/>
            </a:xfrm>
            <a:prstGeom prst="flowChartProcess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219A15F6-34B6-686B-ACE9-55100FD8C553}"/>
                </a:ext>
              </a:extLst>
            </p:cNvPr>
            <p:cNvSpPr txBox="1"/>
            <p:nvPr/>
          </p:nvSpPr>
          <p:spPr>
            <a:xfrm>
              <a:off x="802557" y="2661627"/>
              <a:ext cx="21367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RTL</a:t>
              </a:r>
            </a:p>
            <a:p>
              <a:pPr algn="ctr"/>
              <a:r>
                <a:rPr lang="en-US" altLang="ja-JP" dirty="0"/>
                <a:t>Simulation</a:t>
              </a:r>
              <a:endParaRPr kumimoji="1" lang="ja-JP" altLang="en-US" dirty="0"/>
            </a:p>
          </p:txBody>
        </p:sp>
      </p:grp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3D8C8F8E-9B10-D9A0-D9CA-6ABA310C5569}"/>
              </a:ext>
            </a:extLst>
          </p:cNvPr>
          <p:cNvCxnSpPr>
            <a:cxnSpLocks/>
            <a:stCxn id="15" idx="2"/>
            <a:endCxn id="66" idx="0"/>
          </p:cNvCxnSpPr>
          <p:nvPr/>
        </p:nvCxnSpPr>
        <p:spPr>
          <a:xfrm rot="5400000">
            <a:off x="5017173" y="1575563"/>
            <a:ext cx="1488917" cy="5544773"/>
          </a:xfrm>
          <a:prstGeom prst="bentConnector3">
            <a:avLst>
              <a:gd name="adj1" fmla="val 6849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D2C3F2B-EA99-A570-A6F0-1D841E4A900B}"/>
              </a:ext>
            </a:extLst>
          </p:cNvPr>
          <p:cNvGrpSpPr/>
          <p:nvPr/>
        </p:nvGrpSpPr>
        <p:grpSpPr>
          <a:xfrm>
            <a:off x="4675454" y="5092408"/>
            <a:ext cx="2136705" cy="1038726"/>
            <a:chOff x="802557" y="2465430"/>
            <a:chExt cx="2136705" cy="1038726"/>
          </a:xfrm>
        </p:grpSpPr>
        <p:sp>
          <p:nvSpPr>
            <p:cNvPr id="73" name="フローチャート: 処理 72">
              <a:extLst>
                <a:ext uri="{FF2B5EF4-FFF2-40B4-BE49-F238E27FC236}">
                  <a16:creationId xmlns:a16="http://schemas.microsoft.com/office/drawing/2014/main" id="{9BBA94A2-86CC-74CC-EF2A-FE5562611333}"/>
                </a:ext>
              </a:extLst>
            </p:cNvPr>
            <p:cNvSpPr/>
            <p:nvPr/>
          </p:nvSpPr>
          <p:spPr>
            <a:xfrm>
              <a:off x="838200" y="2465430"/>
              <a:ext cx="2065421" cy="1038726"/>
            </a:xfrm>
            <a:prstGeom prst="flowChartProcess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5E1D420C-FF63-7B9E-8C34-577CD87BA319}"/>
                </a:ext>
              </a:extLst>
            </p:cNvPr>
            <p:cNvSpPr txBox="1"/>
            <p:nvPr/>
          </p:nvSpPr>
          <p:spPr>
            <a:xfrm>
              <a:off x="802557" y="2798881"/>
              <a:ext cx="2136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Synthesis</a:t>
              </a:r>
              <a:endParaRPr kumimoji="1" lang="ja-JP" altLang="en-US" dirty="0"/>
            </a:p>
          </p:txBody>
        </p:sp>
      </p:grp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71D5D4AA-B2DA-1C8B-8AE7-EBCB59A38A07}"/>
              </a:ext>
            </a:extLst>
          </p:cNvPr>
          <p:cNvCxnSpPr>
            <a:cxnSpLocks/>
            <a:stCxn id="67" idx="3"/>
            <a:endCxn id="74" idx="1"/>
          </p:cNvCxnSpPr>
          <p:nvPr/>
        </p:nvCxnSpPr>
        <p:spPr>
          <a:xfrm flipV="1">
            <a:off x="4057595" y="5610525"/>
            <a:ext cx="617859" cy="1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02148AF-0FCB-518C-AA88-C915D46E5E28}"/>
              </a:ext>
            </a:extLst>
          </p:cNvPr>
          <p:cNvSpPr/>
          <p:nvPr/>
        </p:nvSpPr>
        <p:spPr>
          <a:xfrm>
            <a:off x="988484" y="4007458"/>
            <a:ext cx="9930172" cy="231636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E8B82170-E462-86CF-3652-CDA99CC9C2E6}"/>
              </a:ext>
            </a:extLst>
          </p:cNvPr>
          <p:cNvSpPr txBox="1"/>
          <p:nvPr/>
        </p:nvSpPr>
        <p:spPr>
          <a:xfrm>
            <a:off x="838200" y="4076305"/>
            <a:ext cx="4312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>
                <a:solidFill>
                  <a:srgbClr val="FF0000"/>
                </a:solidFill>
                <a:latin typeface="Segoe UI Symbol" panose="020B0502040204020203" pitchFamily="34" charset="0"/>
              </a:rPr>
              <a:t>❷</a:t>
            </a:r>
            <a:r>
              <a:rPr lang="en-US" altLang="ja-JP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Segoe UI Symbol" panose="020B0502040204020203" pitchFamily="34" charset="0"/>
              </a:rPr>
              <a:t> </a:t>
            </a:r>
            <a:r>
              <a:rPr kumimoji="1" lang="en-US" altLang="ja-JP" sz="2800" dirty="0"/>
              <a:t>Chip Implementation</a:t>
            </a:r>
            <a:endParaRPr kumimoji="1" lang="ja-JP" altLang="en-US" sz="28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17C5ABB-BA35-D234-717E-E5AEE11D47D1}"/>
              </a:ext>
            </a:extLst>
          </p:cNvPr>
          <p:cNvGrpSpPr/>
          <p:nvPr/>
        </p:nvGrpSpPr>
        <p:grpSpPr>
          <a:xfrm>
            <a:off x="7465663" y="2564765"/>
            <a:ext cx="2136705" cy="1038726"/>
            <a:chOff x="802557" y="2465430"/>
            <a:chExt cx="2136705" cy="1038726"/>
          </a:xfrm>
        </p:grpSpPr>
        <p:sp>
          <p:nvSpPr>
            <p:cNvPr id="15" name="フローチャート: 処理 14">
              <a:extLst>
                <a:ext uri="{FF2B5EF4-FFF2-40B4-BE49-F238E27FC236}">
                  <a16:creationId xmlns:a16="http://schemas.microsoft.com/office/drawing/2014/main" id="{51BC0FEA-F54A-4ED4-4227-093B9DBE3AF0}"/>
                </a:ext>
              </a:extLst>
            </p:cNvPr>
            <p:cNvSpPr/>
            <p:nvPr/>
          </p:nvSpPr>
          <p:spPr>
            <a:xfrm>
              <a:off x="838200" y="2465430"/>
              <a:ext cx="2065421" cy="1038726"/>
            </a:xfrm>
            <a:prstGeom prst="flowChartProcess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CDEEF74-B00C-D623-5BBF-381345529913}"/>
                </a:ext>
              </a:extLst>
            </p:cNvPr>
            <p:cNvSpPr txBox="1"/>
            <p:nvPr/>
          </p:nvSpPr>
          <p:spPr>
            <a:xfrm>
              <a:off x="802557" y="2661627"/>
              <a:ext cx="21367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Export Generator SNN’s Parameters</a:t>
              </a:r>
              <a:endParaRPr kumimoji="1" lang="ja-JP" altLang="en-US" dirty="0"/>
            </a:p>
          </p:txBody>
        </p:sp>
      </p:grp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310C0BE-E751-B3AE-8B41-C721E34A6388}"/>
              </a:ext>
            </a:extLst>
          </p:cNvPr>
          <p:cNvCxnSpPr>
            <a:cxnSpLocks/>
            <a:stCxn id="41" idx="3"/>
            <a:endCxn id="22" idx="1"/>
          </p:cNvCxnSpPr>
          <p:nvPr/>
        </p:nvCxnSpPr>
        <p:spPr>
          <a:xfrm>
            <a:off x="6812160" y="3084128"/>
            <a:ext cx="6535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855BA610-8EC4-657A-8CE4-3B6BB689C232}"/>
              </a:ext>
            </a:extLst>
          </p:cNvPr>
          <p:cNvGrpSpPr/>
          <p:nvPr/>
        </p:nvGrpSpPr>
        <p:grpSpPr>
          <a:xfrm>
            <a:off x="7430022" y="5082753"/>
            <a:ext cx="2136705" cy="1038726"/>
            <a:chOff x="802557" y="2465430"/>
            <a:chExt cx="2136705" cy="1038726"/>
          </a:xfrm>
        </p:grpSpPr>
        <p:sp>
          <p:nvSpPr>
            <p:cNvPr id="133" name="フローチャート: 処理 132">
              <a:extLst>
                <a:ext uri="{FF2B5EF4-FFF2-40B4-BE49-F238E27FC236}">
                  <a16:creationId xmlns:a16="http://schemas.microsoft.com/office/drawing/2014/main" id="{77C7D66E-455F-C0CC-B9B6-D9D286DB5478}"/>
                </a:ext>
              </a:extLst>
            </p:cNvPr>
            <p:cNvSpPr/>
            <p:nvPr/>
          </p:nvSpPr>
          <p:spPr>
            <a:xfrm>
              <a:off x="838200" y="2465430"/>
              <a:ext cx="2065421" cy="1038726"/>
            </a:xfrm>
            <a:prstGeom prst="flowChartProcess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30F9427A-9CC9-2158-61DD-5D9EFFE1A27C}"/>
                </a:ext>
              </a:extLst>
            </p:cNvPr>
            <p:cNvSpPr txBox="1"/>
            <p:nvPr/>
          </p:nvSpPr>
          <p:spPr>
            <a:xfrm>
              <a:off x="802557" y="2661627"/>
              <a:ext cx="21367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ASIC &amp; FPGA Implementation</a:t>
              </a:r>
              <a:endParaRPr kumimoji="1" lang="ja-JP" altLang="en-US" dirty="0"/>
            </a:p>
          </p:txBody>
        </p:sp>
      </p:grp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2C2422B5-E1A2-AE20-A338-B272BF3AF8F6}"/>
              </a:ext>
            </a:extLst>
          </p:cNvPr>
          <p:cNvCxnSpPr>
            <a:cxnSpLocks/>
            <a:stCxn id="74" idx="3"/>
            <a:endCxn id="134" idx="1"/>
          </p:cNvCxnSpPr>
          <p:nvPr/>
        </p:nvCxnSpPr>
        <p:spPr>
          <a:xfrm flipV="1">
            <a:off x="6812159" y="5602116"/>
            <a:ext cx="617863" cy="84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226B2031-F549-56C3-BF54-84F70A25D9C4}"/>
              </a:ext>
            </a:extLst>
          </p:cNvPr>
          <p:cNvSpPr txBox="1"/>
          <p:nvPr/>
        </p:nvSpPr>
        <p:spPr>
          <a:xfrm>
            <a:off x="2338062" y="6372673"/>
            <a:ext cx="6847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2 Design flow of spiking implementation of GAN on Chip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D66F4E-C0AE-ACEF-DF21-2E22474B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387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565E7-C193-FA30-EAC3-07DE5BE5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Training and Conversion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4A7A337-100F-7A10-BBFA-E5E0C4D1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39"/>
          <a:stretch>
            <a:fillRect/>
          </a:stretch>
        </p:blipFill>
        <p:spPr>
          <a:xfrm>
            <a:off x="1475206" y="1303903"/>
            <a:ext cx="9553831" cy="50524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0704BA-9E0B-24E1-E3AC-17EC97505CE2}"/>
              </a:ext>
            </a:extLst>
          </p:cNvPr>
          <p:cNvSpPr txBox="1"/>
          <p:nvPr/>
        </p:nvSpPr>
        <p:spPr>
          <a:xfrm>
            <a:off x="1815135" y="6354247"/>
            <a:ext cx="856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3 Training of generator and discriminator ANNs and conversion to SNN</a:t>
            </a:r>
            <a:endParaRPr kumimoji="1"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C3EEFA-9DC7-6FE4-7BBF-3EEAB4FE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53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6DC2-A6A6-16D3-18CC-AA0DB267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1ED70-210B-7904-854E-C2782FE3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How to Obtain Image from SNN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A97C066-9A24-E0BC-C1FC-1F43FC7010B5}"/>
              </a:ext>
            </a:extLst>
          </p:cNvPr>
          <p:cNvSpPr txBox="1"/>
          <p:nvPr/>
        </p:nvSpPr>
        <p:spPr>
          <a:xfrm>
            <a:off x="1605016" y="6169580"/>
            <a:ext cx="8981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4 Obtaining image from SNN</a:t>
            </a:r>
            <a:endParaRPr kumimoji="1" lang="ja-JP" altLang="en-US" dirty="0"/>
          </a:p>
        </p:txBody>
      </p:sp>
      <p:pic>
        <p:nvPicPr>
          <p:cNvPr id="544" name="図 543">
            <a:extLst>
              <a:ext uri="{FF2B5EF4-FFF2-40B4-BE49-F238E27FC236}">
                <a16:creationId xmlns:a16="http://schemas.microsoft.com/office/drawing/2014/main" id="{64E75C40-8151-7B9B-12BE-0AC9A9CD8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35" y="1411224"/>
            <a:ext cx="9228127" cy="4664971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804E1DA-E53F-3609-123D-39F8DFDE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22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2B25-36CD-8263-8E12-723B95FC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7C2218-9EC5-F590-3713-4C5D5CFC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Architecture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08032B7-3571-6C63-AF84-6F9836C5F805}"/>
              </a:ext>
            </a:extLst>
          </p:cNvPr>
          <p:cNvSpPr txBox="1"/>
          <p:nvPr/>
        </p:nvSpPr>
        <p:spPr>
          <a:xfrm>
            <a:off x="-47622" y="5987018"/>
            <a:ext cx="630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5  Architecture of chip implementation</a:t>
            </a:r>
            <a:endParaRPr kumimoji="1" lang="ja-JP" altLang="en-US" dirty="0"/>
          </a:p>
        </p:txBody>
      </p:sp>
      <p:pic>
        <p:nvPicPr>
          <p:cNvPr id="941" name="図 940">
            <a:extLst>
              <a:ext uri="{FF2B5EF4-FFF2-40B4-BE49-F238E27FC236}">
                <a16:creationId xmlns:a16="http://schemas.microsoft.com/office/drawing/2014/main" id="{BDE3677B-9094-1695-E3F2-8B19D631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7" y="1690688"/>
            <a:ext cx="5600060" cy="3671021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3D8FE9-3B2A-8424-C6CA-0B23C9E4D0F4}"/>
              </a:ext>
            </a:extLst>
          </p:cNvPr>
          <p:cNvSpPr/>
          <p:nvPr/>
        </p:nvSpPr>
        <p:spPr>
          <a:xfrm>
            <a:off x="1940560" y="2773680"/>
            <a:ext cx="1513840" cy="128016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A4FA94-799D-C941-DADD-4699131193B4}"/>
              </a:ext>
            </a:extLst>
          </p:cNvPr>
          <p:cNvSpPr txBox="1"/>
          <p:nvPr/>
        </p:nvSpPr>
        <p:spPr>
          <a:xfrm>
            <a:off x="4135120" y="2315997"/>
            <a:ext cx="1398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Generator</a:t>
            </a:r>
            <a:endParaRPr kumimoji="1" lang="ja-JP" altLang="en-US" sz="1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5D8A0CE-F379-F4D7-2140-1059A584A0D7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454400" y="2469886"/>
            <a:ext cx="680720" cy="303794"/>
          </a:xfrm>
          <a:prstGeom prst="line">
            <a:avLst/>
          </a:prstGeom>
          <a:ln w="19050">
            <a:solidFill>
              <a:srgbClr val="FF0000"/>
            </a:solidFill>
            <a:prstDash val="dash"/>
            <a:headEnd type="stealth" w="lg" len="lg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F69B199-BC9C-00CE-C2C2-06FC0287984A}"/>
              </a:ext>
            </a:extLst>
          </p:cNvPr>
          <p:cNvGrpSpPr/>
          <p:nvPr/>
        </p:nvGrpSpPr>
        <p:grpSpPr>
          <a:xfrm>
            <a:off x="5902677" y="715389"/>
            <a:ext cx="6300537" cy="5640961"/>
            <a:chOff x="5902677" y="715389"/>
            <a:chExt cx="6300537" cy="5640961"/>
          </a:xfrm>
        </p:grpSpPr>
        <p:sp>
          <p:nvSpPr>
            <p:cNvPr id="13" name="Rectangle: Rounded Corners 30">
              <a:extLst>
                <a:ext uri="{FF2B5EF4-FFF2-40B4-BE49-F238E27FC236}">
                  <a16:creationId xmlns:a16="http://schemas.microsoft.com/office/drawing/2014/main" id="{6D08B0A7-6CD2-58E4-BB79-865B470F505E}"/>
                </a:ext>
              </a:extLst>
            </p:cNvPr>
            <p:cNvSpPr/>
            <p:nvPr/>
          </p:nvSpPr>
          <p:spPr>
            <a:xfrm>
              <a:off x="6096000" y="715389"/>
              <a:ext cx="5953416" cy="5264365"/>
            </a:xfrm>
            <a:prstGeom prst="roundRect">
              <a:avLst>
                <a:gd name="adj" fmla="val 3416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14" name="Rectangle: Rounded Corners 31">
              <a:extLst>
                <a:ext uri="{FF2B5EF4-FFF2-40B4-BE49-F238E27FC236}">
                  <a16:creationId xmlns:a16="http://schemas.microsoft.com/office/drawing/2014/main" id="{DF1620D8-9477-2F10-38AF-E643F11CEDFD}"/>
                </a:ext>
              </a:extLst>
            </p:cNvPr>
            <p:cNvSpPr/>
            <p:nvPr/>
          </p:nvSpPr>
          <p:spPr>
            <a:xfrm>
              <a:off x="7376488" y="1068529"/>
              <a:ext cx="3353392" cy="2563851"/>
            </a:xfrm>
            <a:prstGeom prst="roundRect">
              <a:avLst>
                <a:gd name="adj" fmla="val 0"/>
              </a:avLst>
            </a:prstGeom>
            <a:solidFill>
              <a:srgbClr val="FFF7DD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15" name="Trapezium 46">
              <a:extLst>
                <a:ext uri="{FF2B5EF4-FFF2-40B4-BE49-F238E27FC236}">
                  <a16:creationId xmlns:a16="http://schemas.microsoft.com/office/drawing/2014/main" id="{A67EFBFA-AE5C-89BA-7D34-7B30C376CB96}"/>
                </a:ext>
              </a:extLst>
            </p:cNvPr>
            <p:cNvSpPr/>
            <p:nvPr/>
          </p:nvSpPr>
          <p:spPr>
            <a:xfrm rot="10800000">
              <a:off x="7927236" y="3236985"/>
              <a:ext cx="2471024" cy="242293"/>
            </a:xfrm>
            <a:prstGeom prst="trapezoid">
              <a:avLst>
                <a:gd name="adj" fmla="val 61812"/>
              </a:avLst>
            </a:prstGeom>
            <a:solidFill>
              <a:schemeClr val="bg1"/>
            </a:solidFill>
            <a:ln w="12700">
              <a:solidFill>
                <a:srgbClr val="C49A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16" name="Straight Connector 62">
              <a:extLst>
                <a:ext uri="{FF2B5EF4-FFF2-40B4-BE49-F238E27FC236}">
                  <a16:creationId xmlns:a16="http://schemas.microsoft.com/office/drawing/2014/main" id="{E4542763-D39E-3F3F-CC5B-B9ECEBEBE545}"/>
                </a:ext>
              </a:extLst>
            </p:cNvPr>
            <p:cNvCxnSpPr>
              <a:cxnSpLocks/>
            </p:cNvCxnSpPr>
            <p:nvPr/>
          </p:nvCxnSpPr>
          <p:spPr>
            <a:xfrm>
              <a:off x="7772333" y="2847890"/>
              <a:ext cx="252670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91">
              <a:extLst>
                <a:ext uri="{FF2B5EF4-FFF2-40B4-BE49-F238E27FC236}">
                  <a16:creationId xmlns:a16="http://schemas.microsoft.com/office/drawing/2014/main" id="{69024AC9-8A38-2685-20D8-5F61829F008C}"/>
                </a:ext>
              </a:extLst>
            </p:cNvPr>
            <p:cNvCxnSpPr>
              <a:cxnSpLocks/>
            </p:cNvCxnSpPr>
            <p:nvPr/>
          </p:nvCxnSpPr>
          <p:spPr>
            <a:xfrm>
              <a:off x="7779407" y="2232022"/>
              <a:ext cx="252670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98">
              <a:extLst>
                <a:ext uri="{FF2B5EF4-FFF2-40B4-BE49-F238E27FC236}">
                  <a16:creationId xmlns:a16="http://schemas.microsoft.com/office/drawing/2014/main" id="{3BF5EF58-C8FE-D251-7AE0-3CEDC04CC1DA}"/>
                </a:ext>
              </a:extLst>
            </p:cNvPr>
            <p:cNvCxnSpPr>
              <a:cxnSpLocks/>
            </p:cNvCxnSpPr>
            <p:nvPr/>
          </p:nvCxnSpPr>
          <p:spPr>
            <a:xfrm>
              <a:off x="7779407" y="1479554"/>
              <a:ext cx="252670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04">
              <a:extLst>
                <a:ext uri="{FF2B5EF4-FFF2-40B4-BE49-F238E27FC236}">
                  <a16:creationId xmlns:a16="http://schemas.microsoft.com/office/drawing/2014/main" id="{7A7E1556-74DF-A2FD-A799-EF377C52E2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147485" y="2267033"/>
              <a:ext cx="19382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210">
              <a:extLst>
                <a:ext uri="{FF2B5EF4-FFF2-40B4-BE49-F238E27FC236}">
                  <a16:creationId xmlns:a16="http://schemas.microsoft.com/office/drawing/2014/main" id="{BE34BB6B-A3A0-C632-B7C8-40DA1A26CC3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337714" y="2261606"/>
              <a:ext cx="19382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12">
              <a:extLst>
                <a:ext uri="{FF2B5EF4-FFF2-40B4-BE49-F238E27FC236}">
                  <a16:creationId xmlns:a16="http://schemas.microsoft.com/office/drawing/2014/main" id="{2EF24AF8-776C-1F1E-F74F-37640E870C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245054" y="2261606"/>
              <a:ext cx="193827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7">
              <a:extLst>
                <a:ext uri="{FF2B5EF4-FFF2-40B4-BE49-F238E27FC236}">
                  <a16:creationId xmlns:a16="http://schemas.microsoft.com/office/drawing/2014/main" id="{AD10E5FE-E1B5-C6B5-7B17-E0FB8BF47163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V="1">
              <a:off x="8007857" y="147376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19">
              <a:extLst>
                <a:ext uri="{FF2B5EF4-FFF2-40B4-BE49-F238E27FC236}">
                  <a16:creationId xmlns:a16="http://schemas.microsoft.com/office/drawing/2014/main" id="{531B50D0-DD2A-CF06-FD58-C434E2430934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8088477" y="166535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94">
              <a:extLst>
                <a:ext uri="{FF2B5EF4-FFF2-40B4-BE49-F238E27FC236}">
                  <a16:creationId xmlns:a16="http://schemas.microsoft.com/office/drawing/2014/main" id="{7B59D588-0B3D-66F4-AB92-300C805C167E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8572500" y="147376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96">
              <a:extLst>
                <a:ext uri="{FF2B5EF4-FFF2-40B4-BE49-F238E27FC236}">
                  <a16:creationId xmlns:a16="http://schemas.microsoft.com/office/drawing/2014/main" id="{12B7949D-DD43-7B49-C307-11768F8E220B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8653119" y="166535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308">
              <a:extLst>
                <a:ext uri="{FF2B5EF4-FFF2-40B4-BE49-F238E27FC236}">
                  <a16:creationId xmlns:a16="http://schemas.microsoft.com/office/drawing/2014/main" id="{D8CBD133-9F45-EA92-F776-449031F080D8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flipV="1">
              <a:off x="9110554" y="147376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18">
              <a:extLst>
                <a:ext uri="{FF2B5EF4-FFF2-40B4-BE49-F238E27FC236}">
                  <a16:creationId xmlns:a16="http://schemas.microsoft.com/office/drawing/2014/main" id="{ADEE7FEE-E938-C39C-0240-0E623AB9B164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9191173" y="166535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333">
              <a:extLst>
                <a:ext uri="{FF2B5EF4-FFF2-40B4-BE49-F238E27FC236}">
                  <a16:creationId xmlns:a16="http://schemas.microsoft.com/office/drawing/2014/main" id="{E04FDD9A-C239-54A3-8CB4-509EDF4AE068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9913513" y="147376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336">
              <a:extLst>
                <a:ext uri="{FF2B5EF4-FFF2-40B4-BE49-F238E27FC236}">
                  <a16:creationId xmlns:a16="http://schemas.microsoft.com/office/drawing/2014/main" id="{DCC30053-9F99-E497-B23D-F34EB1137831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9994133" y="166535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41">
              <a:extLst>
                <a:ext uri="{FF2B5EF4-FFF2-40B4-BE49-F238E27FC236}">
                  <a16:creationId xmlns:a16="http://schemas.microsoft.com/office/drawing/2014/main" id="{55A080DB-2776-25DF-DFA6-951AAE055C16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8007857" y="186379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42">
              <a:extLst>
                <a:ext uri="{FF2B5EF4-FFF2-40B4-BE49-F238E27FC236}">
                  <a16:creationId xmlns:a16="http://schemas.microsoft.com/office/drawing/2014/main" id="{BA4D1322-688F-7E73-0A64-226AF563EBE4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>
              <a:off x="8088477" y="205538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46">
              <a:extLst>
                <a:ext uri="{FF2B5EF4-FFF2-40B4-BE49-F238E27FC236}">
                  <a16:creationId xmlns:a16="http://schemas.microsoft.com/office/drawing/2014/main" id="{A83E11E2-D853-ACC0-FA19-BF0D565F39CF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8572500" y="1863794"/>
              <a:ext cx="0" cy="110971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48">
              <a:extLst>
                <a:ext uri="{FF2B5EF4-FFF2-40B4-BE49-F238E27FC236}">
                  <a16:creationId xmlns:a16="http://schemas.microsoft.com/office/drawing/2014/main" id="{0A997AB5-D253-B837-7F93-23F99331F10F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8653119" y="2055384"/>
              <a:ext cx="117762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: Rounded Corners 345">
              <a:extLst>
                <a:ext uri="{FF2B5EF4-FFF2-40B4-BE49-F238E27FC236}">
                  <a16:creationId xmlns:a16="http://schemas.microsoft.com/office/drawing/2014/main" id="{B3F75F49-7292-86C5-4A88-E63057869748}"/>
                </a:ext>
              </a:extLst>
            </p:cNvPr>
            <p:cNvSpPr/>
            <p:nvPr/>
          </p:nvSpPr>
          <p:spPr>
            <a:xfrm>
              <a:off x="8491881" y="197476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cxnSp>
          <p:nvCxnSpPr>
            <p:cNvPr id="35" name="Straight Connector 370">
              <a:extLst>
                <a:ext uri="{FF2B5EF4-FFF2-40B4-BE49-F238E27FC236}">
                  <a16:creationId xmlns:a16="http://schemas.microsoft.com/office/drawing/2014/main" id="{9DE58FC8-3F16-5870-E637-750909190C38}"/>
                </a:ext>
              </a:extLst>
            </p:cNvPr>
            <p:cNvCxnSpPr>
              <a:cxnSpLocks/>
              <a:stCxn id="61" idx="0"/>
            </p:cNvCxnSpPr>
            <p:nvPr/>
          </p:nvCxnSpPr>
          <p:spPr>
            <a:xfrm flipV="1">
              <a:off x="9110554" y="186379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47">
              <a:extLst>
                <a:ext uri="{FF2B5EF4-FFF2-40B4-BE49-F238E27FC236}">
                  <a16:creationId xmlns:a16="http://schemas.microsoft.com/office/drawing/2014/main" id="{5DE8F363-3FE1-6F58-8AD7-E3CB2D74A945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>
              <a:off x="9191173" y="205538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68">
              <a:extLst>
                <a:ext uri="{FF2B5EF4-FFF2-40B4-BE49-F238E27FC236}">
                  <a16:creationId xmlns:a16="http://schemas.microsoft.com/office/drawing/2014/main" id="{B3CF0B75-31B4-AFCF-1516-7C3A142F5D9B}"/>
                </a:ext>
              </a:extLst>
            </p:cNvPr>
            <p:cNvCxnSpPr>
              <a:cxnSpLocks/>
              <a:stCxn id="62" idx="0"/>
            </p:cNvCxnSpPr>
            <p:nvPr/>
          </p:nvCxnSpPr>
          <p:spPr>
            <a:xfrm flipV="1">
              <a:off x="9913513" y="1863794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469">
              <a:extLst>
                <a:ext uri="{FF2B5EF4-FFF2-40B4-BE49-F238E27FC236}">
                  <a16:creationId xmlns:a16="http://schemas.microsoft.com/office/drawing/2014/main" id="{5353C040-71EF-30AB-2ACC-76F7051BC86C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>
              <a:off x="9994133" y="2055384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74">
              <a:extLst>
                <a:ext uri="{FF2B5EF4-FFF2-40B4-BE49-F238E27FC236}">
                  <a16:creationId xmlns:a16="http://schemas.microsoft.com/office/drawing/2014/main" id="{C7605907-A73B-A032-28F9-1B1DC4282C2B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8012930" y="2237281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75">
              <a:extLst>
                <a:ext uri="{FF2B5EF4-FFF2-40B4-BE49-F238E27FC236}">
                  <a16:creationId xmlns:a16="http://schemas.microsoft.com/office/drawing/2014/main" id="{169A0342-37CB-7A68-A1C7-F9134AE9BCDB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>
              <a:off x="8093550" y="2428871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80">
              <a:extLst>
                <a:ext uri="{FF2B5EF4-FFF2-40B4-BE49-F238E27FC236}">
                  <a16:creationId xmlns:a16="http://schemas.microsoft.com/office/drawing/2014/main" id="{462218AF-6C8A-BE9A-F97E-AB4D57FB38F5}"/>
                </a:ext>
              </a:extLst>
            </p:cNvPr>
            <p:cNvCxnSpPr>
              <a:cxnSpLocks/>
              <a:stCxn id="896" idx="0"/>
            </p:cNvCxnSpPr>
            <p:nvPr/>
          </p:nvCxnSpPr>
          <p:spPr>
            <a:xfrm flipV="1">
              <a:off x="8577573" y="2237281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81">
              <a:extLst>
                <a:ext uri="{FF2B5EF4-FFF2-40B4-BE49-F238E27FC236}">
                  <a16:creationId xmlns:a16="http://schemas.microsoft.com/office/drawing/2014/main" id="{B62CA7C5-0D13-56F4-B9FA-5C87A337A9B7}"/>
                </a:ext>
              </a:extLst>
            </p:cNvPr>
            <p:cNvCxnSpPr>
              <a:cxnSpLocks/>
              <a:stCxn id="896" idx="3"/>
            </p:cNvCxnSpPr>
            <p:nvPr/>
          </p:nvCxnSpPr>
          <p:spPr>
            <a:xfrm>
              <a:off x="8658192" y="2428871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512">
              <a:extLst>
                <a:ext uri="{FF2B5EF4-FFF2-40B4-BE49-F238E27FC236}">
                  <a16:creationId xmlns:a16="http://schemas.microsoft.com/office/drawing/2014/main" id="{01431ED9-A79D-BB65-26A2-3FCDE494230C}"/>
                </a:ext>
              </a:extLst>
            </p:cNvPr>
            <p:cNvCxnSpPr>
              <a:cxnSpLocks/>
              <a:stCxn id="897" idx="0"/>
            </p:cNvCxnSpPr>
            <p:nvPr/>
          </p:nvCxnSpPr>
          <p:spPr>
            <a:xfrm flipV="1">
              <a:off x="9115627" y="2237281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513">
              <a:extLst>
                <a:ext uri="{FF2B5EF4-FFF2-40B4-BE49-F238E27FC236}">
                  <a16:creationId xmlns:a16="http://schemas.microsoft.com/office/drawing/2014/main" id="{FE3F7BA3-6CD4-E28C-5098-173D584C461D}"/>
                </a:ext>
              </a:extLst>
            </p:cNvPr>
            <p:cNvCxnSpPr>
              <a:cxnSpLocks/>
              <a:stCxn id="897" idx="3"/>
            </p:cNvCxnSpPr>
            <p:nvPr/>
          </p:nvCxnSpPr>
          <p:spPr>
            <a:xfrm>
              <a:off x="9196246" y="2428871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518">
              <a:extLst>
                <a:ext uri="{FF2B5EF4-FFF2-40B4-BE49-F238E27FC236}">
                  <a16:creationId xmlns:a16="http://schemas.microsoft.com/office/drawing/2014/main" id="{1DF83F10-7A52-602D-E70D-EC549F548E2C}"/>
                </a:ext>
              </a:extLst>
            </p:cNvPr>
            <p:cNvCxnSpPr>
              <a:cxnSpLocks/>
              <a:stCxn id="898" idx="0"/>
            </p:cNvCxnSpPr>
            <p:nvPr/>
          </p:nvCxnSpPr>
          <p:spPr>
            <a:xfrm flipV="1">
              <a:off x="9918586" y="2237281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519">
              <a:extLst>
                <a:ext uri="{FF2B5EF4-FFF2-40B4-BE49-F238E27FC236}">
                  <a16:creationId xmlns:a16="http://schemas.microsoft.com/office/drawing/2014/main" id="{BA67F049-9389-FAD4-153D-7CE7EBA796D4}"/>
                </a:ext>
              </a:extLst>
            </p:cNvPr>
            <p:cNvCxnSpPr>
              <a:cxnSpLocks/>
              <a:stCxn id="898" idx="3"/>
            </p:cNvCxnSpPr>
            <p:nvPr/>
          </p:nvCxnSpPr>
          <p:spPr>
            <a:xfrm>
              <a:off x="9999206" y="2428871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522">
              <a:extLst>
                <a:ext uri="{FF2B5EF4-FFF2-40B4-BE49-F238E27FC236}">
                  <a16:creationId xmlns:a16="http://schemas.microsoft.com/office/drawing/2014/main" id="{1754AE82-A4F1-038B-1DAA-731F8BC07395}"/>
                </a:ext>
              </a:extLst>
            </p:cNvPr>
            <p:cNvCxnSpPr>
              <a:cxnSpLocks/>
              <a:stCxn id="899" idx="0"/>
            </p:cNvCxnSpPr>
            <p:nvPr/>
          </p:nvCxnSpPr>
          <p:spPr>
            <a:xfrm flipV="1">
              <a:off x="8012243" y="2852476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523">
              <a:extLst>
                <a:ext uri="{FF2B5EF4-FFF2-40B4-BE49-F238E27FC236}">
                  <a16:creationId xmlns:a16="http://schemas.microsoft.com/office/drawing/2014/main" id="{FC116836-0497-1ED7-BE77-4BA748F46D34}"/>
                </a:ext>
              </a:extLst>
            </p:cNvPr>
            <p:cNvCxnSpPr>
              <a:cxnSpLocks/>
              <a:stCxn id="899" idx="3"/>
            </p:cNvCxnSpPr>
            <p:nvPr/>
          </p:nvCxnSpPr>
          <p:spPr>
            <a:xfrm>
              <a:off x="8092862" y="3044067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526">
              <a:extLst>
                <a:ext uri="{FF2B5EF4-FFF2-40B4-BE49-F238E27FC236}">
                  <a16:creationId xmlns:a16="http://schemas.microsoft.com/office/drawing/2014/main" id="{FDE20AA0-199A-4D2E-D370-B0073C2F6747}"/>
                </a:ext>
              </a:extLst>
            </p:cNvPr>
            <p:cNvCxnSpPr>
              <a:cxnSpLocks/>
              <a:stCxn id="900" idx="0"/>
            </p:cNvCxnSpPr>
            <p:nvPr/>
          </p:nvCxnSpPr>
          <p:spPr>
            <a:xfrm flipV="1">
              <a:off x="8576885" y="2852476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527">
              <a:extLst>
                <a:ext uri="{FF2B5EF4-FFF2-40B4-BE49-F238E27FC236}">
                  <a16:creationId xmlns:a16="http://schemas.microsoft.com/office/drawing/2014/main" id="{22BA432D-2756-4124-8CF8-BF7BFB1BE644}"/>
                </a:ext>
              </a:extLst>
            </p:cNvPr>
            <p:cNvCxnSpPr>
              <a:cxnSpLocks/>
              <a:stCxn id="900" idx="3"/>
            </p:cNvCxnSpPr>
            <p:nvPr/>
          </p:nvCxnSpPr>
          <p:spPr>
            <a:xfrm>
              <a:off x="8657504" y="3044067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31">
              <a:extLst>
                <a:ext uri="{FF2B5EF4-FFF2-40B4-BE49-F238E27FC236}">
                  <a16:creationId xmlns:a16="http://schemas.microsoft.com/office/drawing/2014/main" id="{C67E5979-A787-D3DA-8F6D-D20675BA3C7B}"/>
                </a:ext>
              </a:extLst>
            </p:cNvPr>
            <p:cNvCxnSpPr>
              <a:cxnSpLocks/>
              <a:stCxn id="901" idx="0"/>
            </p:cNvCxnSpPr>
            <p:nvPr/>
          </p:nvCxnSpPr>
          <p:spPr>
            <a:xfrm flipV="1">
              <a:off x="9114939" y="2852476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32">
              <a:extLst>
                <a:ext uri="{FF2B5EF4-FFF2-40B4-BE49-F238E27FC236}">
                  <a16:creationId xmlns:a16="http://schemas.microsoft.com/office/drawing/2014/main" id="{00E37D56-1C4D-8F60-BA2E-2FAA5C6A6C30}"/>
                </a:ext>
              </a:extLst>
            </p:cNvPr>
            <p:cNvCxnSpPr>
              <a:cxnSpLocks/>
              <a:stCxn id="901" idx="3"/>
            </p:cNvCxnSpPr>
            <p:nvPr/>
          </p:nvCxnSpPr>
          <p:spPr>
            <a:xfrm>
              <a:off x="9195558" y="3044067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35">
              <a:extLst>
                <a:ext uri="{FF2B5EF4-FFF2-40B4-BE49-F238E27FC236}">
                  <a16:creationId xmlns:a16="http://schemas.microsoft.com/office/drawing/2014/main" id="{EC6F2E17-1FF7-3CC3-4FD0-1AFEEF06C8C4}"/>
                </a:ext>
              </a:extLst>
            </p:cNvPr>
            <p:cNvCxnSpPr>
              <a:cxnSpLocks/>
              <a:stCxn id="902" idx="0"/>
            </p:cNvCxnSpPr>
            <p:nvPr/>
          </p:nvCxnSpPr>
          <p:spPr>
            <a:xfrm flipV="1">
              <a:off x="9917899" y="2852476"/>
              <a:ext cx="0" cy="110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6">
              <a:extLst>
                <a:ext uri="{FF2B5EF4-FFF2-40B4-BE49-F238E27FC236}">
                  <a16:creationId xmlns:a16="http://schemas.microsoft.com/office/drawing/2014/main" id="{43AB3296-C252-072D-522A-B12D88DE5D45}"/>
                </a:ext>
              </a:extLst>
            </p:cNvPr>
            <p:cNvCxnSpPr>
              <a:cxnSpLocks/>
              <a:stCxn id="902" idx="3"/>
            </p:cNvCxnSpPr>
            <p:nvPr/>
          </p:nvCxnSpPr>
          <p:spPr>
            <a:xfrm>
              <a:off x="9998518" y="3044067"/>
              <a:ext cx="1177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rapezium 45">
              <a:extLst>
                <a:ext uri="{FF2B5EF4-FFF2-40B4-BE49-F238E27FC236}">
                  <a16:creationId xmlns:a16="http://schemas.microsoft.com/office/drawing/2014/main" id="{F7AFE2F2-3302-5FAC-E19C-5D966073DC8F}"/>
                </a:ext>
              </a:extLst>
            </p:cNvPr>
            <p:cNvSpPr/>
            <p:nvPr/>
          </p:nvSpPr>
          <p:spPr>
            <a:xfrm rot="16200000">
              <a:off x="6731882" y="2045137"/>
              <a:ext cx="1836520" cy="253660"/>
            </a:xfrm>
            <a:prstGeom prst="trapezoid">
              <a:avLst>
                <a:gd name="adj" fmla="val 61812"/>
              </a:avLst>
            </a:prstGeom>
            <a:solidFill>
              <a:schemeClr val="bg1"/>
            </a:solidFill>
            <a:ln w="12700">
              <a:solidFill>
                <a:srgbClr val="C49A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56" name="Rectangle: Rounded Corners 37">
              <a:extLst>
                <a:ext uri="{FF2B5EF4-FFF2-40B4-BE49-F238E27FC236}">
                  <a16:creationId xmlns:a16="http://schemas.microsoft.com/office/drawing/2014/main" id="{5E129458-CF72-667E-9323-F39AC18A52AD}"/>
                </a:ext>
              </a:extLst>
            </p:cNvPr>
            <p:cNvSpPr/>
            <p:nvPr/>
          </p:nvSpPr>
          <p:spPr>
            <a:xfrm>
              <a:off x="7927238" y="158473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 dirty="0"/>
            </a:p>
          </p:txBody>
        </p:sp>
        <p:sp>
          <p:nvSpPr>
            <p:cNvPr id="57" name="Rectangle: Rounded Corners 292">
              <a:extLst>
                <a:ext uri="{FF2B5EF4-FFF2-40B4-BE49-F238E27FC236}">
                  <a16:creationId xmlns:a16="http://schemas.microsoft.com/office/drawing/2014/main" id="{E8AB79B0-CB6D-A732-9562-EE98E031684D}"/>
                </a:ext>
              </a:extLst>
            </p:cNvPr>
            <p:cNvSpPr/>
            <p:nvPr/>
          </p:nvSpPr>
          <p:spPr>
            <a:xfrm>
              <a:off x="8491881" y="158473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58" name="Rectangle: Rounded Corners 304">
              <a:extLst>
                <a:ext uri="{FF2B5EF4-FFF2-40B4-BE49-F238E27FC236}">
                  <a16:creationId xmlns:a16="http://schemas.microsoft.com/office/drawing/2014/main" id="{4576780D-38A6-82E2-983E-5AE95F080487}"/>
                </a:ext>
              </a:extLst>
            </p:cNvPr>
            <p:cNvSpPr/>
            <p:nvPr/>
          </p:nvSpPr>
          <p:spPr>
            <a:xfrm>
              <a:off x="9029935" y="158473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59" name="Rectangle: Rounded Corners 332">
              <a:extLst>
                <a:ext uri="{FF2B5EF4-FFF2-40B4-BE49-F238E27FC236}">
                  <a16:creationId xmlns:a16="http://schemas.microsoft.com/office/drawing/2014/main" id="{83689114-A4C7-43E2-480A-F26FB74C4D71}"/>
                </a:ext>
              </a:extLst>
            </p:cNvPr>
            <p:cNvSpPr/>
            <p:nvPr/>
          </p:nvSpPr>
          <p:spPr>
            <a:xfrm>
              <a:off x="9832894" y="158473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60" name="Rectangle: Rounded Corners 339">
              <a:extLst>
                <a:ext uri="{FF2B5EF4-FFF2-40B4-BE49-F238E27FC236}">
                  <a16:creationId xmlns:a16="http://schemas.microsoft.com/office/drawing/2014/main" id="{DAE16FA0-940B-5F6A-76B5-D3F088C72A20}"/>
                </a:ext>
              </a:extLst>
            </p:cNvPr>
            <p:cNvSpPr/>
            <p:nvPr/>
          </p:nvSpPr>
          <p:spPr>
            <a:xfrm>
              <a:off x="7927238" y="197476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61" name="Rectangle: Rounded Corners 360">
              <a:extLst>
                <a:ext uri="{FF2B5EF4-FFF2-40B4-BE49-F238E27FC236}">
                  <a16:creationId xmlns:a16="http://schemas.microsoft.com/office/drawing/2014/main" id="{C3D656A8-99EC-C00B-5CA1-A67918F5E056}"/>
                </a:ext>
              </a:extLst>
            </p:cNvPr>
            <p:cNvSpPr/>
            <p:nvPr/>
          </p:nvSpPr>
          <p:spPr>
            <a:xfrm>
              <a:off x="9029935" y="197476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62" name="Rectangle: Rounded Corners 452">
              <a:extLst>
                <a:ext uri="{FF2B5EF4-FFF2-40B4-BE49-F238E27FC236}">
                  <a16:creationId xmlns:a16="http://schemas.microsoft.com/office/drawing/2014/main" id="{CA756E9E-8775-8159-67E2-18B403C5B46A}"/>
                </a:ext>
              </a:extLst>
            </p:cNvPr>
            <p:cNvSpPr/>
            <p:nvPr/>
          </p:nvSpPr>
          <p:spPr>
            <a:xfrm>
              <a:off x="9832894" y="1974765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63" name="Rectangle: Rounded Corners 473">
              <a:extLst>
                <a:ext uri="{FF2B5EF4-FFF2-40B4-BE49-F238E27FC236}">
                  <a16:creationId xmlns:a16="http://schemas.microsoft.com/office/drawing/2014/main" id="{56F7042E-A336-80BA-3BA5-B5E1EF1E11C1}"/>
                </a:ext>
              </a:extLst>
            </p:cNvPr>
            <p:cNvSpPr/>
            <p:nvPr/>
          </p:nvSpPr>
          <p:spPr>
            <a:xfrm>
              <a:off x="7932311" y="2348252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896" name="Rectangle: Rounded Corners 479">
              <a:extLst>
                <a:ext uri="{FF2B5EF4-FFF2-40B4-BE49-F238E27FC236}">
                  <a16:creationId xmlns:a16="http://schemas.microsoft.com/office/drawing/2014/main" id="{241D6473-0D93-AB97-0681-B8AD0BF4789B}"/>
                </a:ext>
              </a:extLst>
            </p:cNvPr>
            <p:cNvSpPr/>
            <p:nvPr/>
          </p:nvSpPr>
          <p:spPr>
            <a:xfrm>
              <a:off x="8496954" y="2348252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897" name="Rectangle: Rounded Corners 511">
              <a:extLst>
                <a:ext uri="{FF2B5EF4-FFF2-40B4-BE49-F238E27FC236}">
                  <a16:creationId xmlns:a16="http://schemas.microsoft.com/office/drawing/2014/main" id="{7966C9A7-FC13-4F0A-9A32-7A3D878CE17F}"/>
                </a:ext>
              </a:extLst>
            </p:cNvPr>
            <p:cNvSpPr/>
            <p:nvPr/>
          </p:nvSpPr>
          <p:spPr>
            <a:xfrm>
              <a:off x="9035008" y="2348252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898" name="Rectangle: Rounded Corners 516">
              <a:extLst>
                <a:ext uri="{FF2B5EF4-FFF2-40B4-BE49-F238E27FC236}">
                  <a16:creationId xmlns:a16="http://schemas.microsoft.com/office/drawing/2014/main" id="{2387BBFD-60C2-1A7F-4272-57C525769D3F}"/>
                </a:ext>
              </a:extLst>
            </p:cNvPr>
            <p:cNvSpPr/>
            <p:nvPr/>
          </p:nvSpPr>
          <p:spPr>
            <a:xfrm>
              <a:off x="9837967" y="2348252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899" name="Rectangle: Rounded Corners 521">
              <a:extLst>
                <a:ext uri="{FF2B5EF4-FFF2-40B4-BE49-F238E27FC236}">
                  <a16:creationId xmlns:a16="http://schemas.microsoft.com/office/drawing/2014/main" id="{28B33F6D-D2B7-5A5E-A1F4-BAB0BA0A26B7}"/>
                </a:ext>
              </a:extLst>
            </p:cNvPr>
            <p:cNvSpPr/>
            <p:nvPr/>
          </p:nvSpPr>
          <p:spPr>
            <a:xfrm>
              <a:off x="7931624" y="2963448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00" name="Rectangle: Rounded Corners 525">
              <a:extLst>
                <a:ext uri="{FF2B5EF4-FFF2-40B4-BE49-F238E27FC236}">
                  <a16:creationId xmlns:a16="http://schemas.microsoft.com/office/drawing/2014/main" id="{3AD68674-0483-3785-2195-FB14F134DE39}"/>
                </a:ext>
              </a:extLst>
            </p:cNvPr>
            <p:cNvSpPr/>
            <p:nvPr/>
          </p:nvSpPr>
          <p:spPr>
            <a:xfrm>
              <a:off x="8496266" y="2963448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01" name="Rectangle: Rounded Corners 529">
              <a:extLst>
                <a:ext uri="{FF2B5EF4-FFF2-40B4-BE49-F238E27FC236}">
                  <a16:creationId xmlns:a16="http://schemas.microsoft.com/office/drawing/2014/main" id="{A976D5AA-41B8-EBAD-540E-3E608521973C}"/>
                </a:ext>
              </a:extLst>
            </p:cNvPr>
            <p:cNvSpPr/>
            <p:nvPr/>
          </p:nvSpPr>
          <p:spPr>
            <a:xfrm>
              <a:off x="9034320" y="2963448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02" name="Rectangle: Rounded Corners 534">
              <a:extLst>
                <a:ext uri="{FF2B5EF4-FFF2-40B4-BE49-F238E27FC236}">
                  <a16:creationId xmlns:a16="http://schemas.microsoft.com/office/drawing/2014/main" id="{BA826E25-A01F-57EF-1AD7-61CA16B94861}"/>
                </a:ext>
              </a:extLst>
            </p:cNvPr>
            <p:cNvSpPr/>
            <p:nvPr/>
          </p:nvSpPr>
          <p:spPr>
            <a:xfrm>
              <a:off x="9837280" y="2963448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03" name="TextBox 537">
              <a:extLst>
                <a:ext uri="{FF2B5EF4-FFF2-40B4-BE49-F238E27FC236}">
                  <a16:creationId xmlns:a16="http://schemas.microsoft.com/office/drawing/2014/main" id="{056F4D7B-E932-D723-D00B-45A6C5B4851C}"/>
                </a:ext>
              </a:extLst>
            </p:cNvPr>
            <p:cNvSpPr txBox="1"/>
            <p:nvPr/>
          </p:nvSpPr>
          <p:spPr>
            <a:xfrm>
              <a:off x="8609893" y="3228279"/>
              <a:ext cx="11625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Address Out.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4" name="TextBox 538">
              <a:extLst>
                <a:ext uri="{FF2B5EF4-FFF2-40B4-BE49-F238E27FC236}">
                  <a16:creationId xmlns:a16="http://schemas.microsoft.com/office/drawing/2014/main" id="{6C0D1E32-CAB6-C241-CF71-C74EEDAC1DD9}"/>
                </a:ext>
              </a:extLst>
            </p:cNvPr>
            <p:cNvSpPr txBox="1"/>
            <p:nvPr/>
          </p:nvSpPr>
          <p:spPr>
            <a:xfrm rot="16200000">
              <a:off x="7072688" y="2006474"/>
              <a:ext cx="11625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Input Spike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5" name="TextBox 539">
              <a:extLst>
                <a:ext uri="{FF2B5EF4-FFF2-40B4-BE49-F238E27FC236}">
                  <a16:creationId xmlns:a16="http://schemas.microsoft.com/office/drawing/2014/main" id="{18DC0E49-AB7E-6E7C-53B0-379AC08C3D63}"/>
                </a:ext>
              </a:extLst>
            </p:cNvPr>
            <p:cNvSpPr txBox="1"/>
            <p:nvPr/>
          </p:nvSpPr>
          <p:spPr>
            <a:xfrm>
              <a:off x="7980080" y="1089562"/>
              <a:ext cx="4719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d</a:t>
              </a:r>
              <a:r>
                <a:rPr kumimoji="1"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0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6" name="TextBox 540">
              <a:extLst>
                <a:ext uri="{FF2B5EF4-FFF2-40B4-BE49-F238E27FC236}">
                  <a16:creationId xmlns:a16="http://schemas.microsoft.com/office/drawing/2014/main" id="{9232A67F-97E2-2E11-C34E-CE4FA0EB8272}"/>
                </a:ext>
              </a:extLst>
            </p:cNvPr>
            <p:cNvSpPr txBox="1"/>
            <p:nvPr/>
          </p:nvSpPr>
          <p:spPr>
            <a:xfrm>
              <a:off x="8537719" y="1085484"/>
              <a:ext cx="4719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d</a:t>
              </a:r>
              <a:r>
                <a:rPr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1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7" name="TextBox 541">
              <a:extLst>
                <a:ext uri="{FF2B5EF4-FFF2-40B4-BE49-F238E27FC236}">
                  <a16:creationId xmlns:a16="http://schemas.microsoft.com/office/drawing/2014/main" id="{1C26F494-DBAF-AACB-5BAD-81738F3B29EF}"/>
                </a:ext>
              </a:extLst>
            </p:cNvPr>
            <p:cNvSpPr txBox="1"/>
            <p:nvPr/>
          </p:nvSpPr>
          <p:spPr>
            <a:xfrm>
              <a:off x="9064745" y="1085484"/>
              <a:ext cx="4719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d</a:t>
              </a:r>
              <a:r>
                <a:rPr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2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8" name="TextBox 543">
              <a:extLst>
                <a:ext uri="{FF2B5EF4-FFF2-40B4-BE49-F238E27FC236}">
                  <a16:creationId xmlns:a16="http://schemas.microsoft.com/office/drawing/2014/main" id="{2DDF5F08-19F5-3D6C-F844-2A5A6A7D9B20}"/>
                </a:ext>
              </a:extLst>
            </p:cNvPr>
            <p:cNvSpPr txBox="1"/>
            <p:nvPr/>
          </p:nvSpPr>
          <p:spPr>
            <a:xfrm>
              <a:off x="9875932" y="1089991"/>
              <a:ext cx="4719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d</a:t>
              </a:r>
              <a:r>
                <a:rPr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n-1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9" name="TextBox 545">
              <a:extLst>
                <a:ext uri="{FF2B5EF4-FFF2-40B4-BE49-F238E27FC236}">
                  <a16:creationId xmlns:a16="http://schemas.microsoft.com/office/drawing/2014/main" id="{2431735A-BDDA-7C00-9777-D901B2046829}"/>
                </a:ext>
              </a:extLst>
            </p:cNvPr>
            <p:cNvSpPr txBox="1"/>
            <p:nvPr/>
          </p:nvSpPr>
          <p:spPr>
            <a:xfrm>
              <a:off x="10169189" y="1346712"/>
              <a:ext cx="4761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a</a:t>
              </a:r>
              <a:r>
                <a:rPr kumimoji="1"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0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0" name="TextBox 547">
              <a:extLst>
                <a:ext uri="{FF2B5EF4-FFF2-40B4-BE49-F238E27FC236}">
                  <a16:creationId xmlns:a16="http://schemas.microsoft.com/office/drawing/2014/main" id="{745F149F-A376-C916-E3B7-6F1FB94BDD11}"/>
                </a:ext>
              </a:extLst>
            </p:cNvPr>
            <p:cNvSpPr txBox="1"/>
            <p:nvPr/>
          </p:nvSpPr>
          <p:spPr>
            <a:xfrm>
              <a:off x="10155773" y="1719102"/>
              <a:ext cx="4761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a</a:t>
              </a:r>
              <a:r>
                <a:rPr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1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1" name="TextBox 548">
              <a:extLst>
                <a:ext uri="{FF2B5EF4-FFF2-40B4-BE49-F238E27FC236}">
                  <a16:creationId xmlns:a16="http://schemas.microsoft.com/office/drawing/2014/main" id="{EC51BACC-2EA3-ED08-0A40-9C6182C42EF0}"/>
                </a:ext>
              </a:extLst>
            </p:cNvPr>
            <p:cNvSpPr txBox="1"/>
            <p:nvPr/>
          </p:nvSpPr>
          <p:spPr>
            <a:xfrm>
              <a:off x="10168649" y="2099177"/>
              <a:ext cx="4761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a</a:t>
              </a:r>
              <a:r>
                <a:rPr kumimoji="1"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2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2" name="TextBox 549">
              <a:extLst>
                <a:ext uri="{FF2B5EF4-FFF2-40B4-BE49-F238E27FC236}">
                  <a16:creationId xmlns:a16="http://schemas.microsoft.com/office/drawing/2014/main" id="{68B37FF5-6281-A275-9CF1-5788888F270C}"/>
                </a:ext>
              </a:extLst>
            </p:cNvPr>
            <p:cNvSpPr txBox="1"/>
            <p:nvPr/>
          </p:nvSpPr>
          <p:spPr>
            <a:xfrm>
              <a:off x="10190472" y="2712966"/>
              <a:ext cx="4761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a</a:t>
              </a:r>
              <a:r>
                <a:rPr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n-1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3" name="TextBox 550">
              <a:extLst>
                <a:ext uri="{FF2B5EF4-FFF2-40B4-BE49-F238E27FC236}">
                  <a16:creationId xmlns:a16="http://schemas.microsoft.com/office/drawing/2014/main" id="{C05C42F9-0F3E-ACC0-C706-EF77C053B47E}"/>
                </a:ext>
              </a:extLst>
            </p:cNvPr>
            <p:cNvSpPr txBox="1"/>
            <p:nvPr/>
          </p:nvSpPr>
          <p:spPr>
            <a:xfrm>
              <a:off x="9336471" y="2883182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4" name="TextBox 551">
              <a:extLst>
                <a:ext uri="{FF2B5EF4-FFF2-40B4-BE49-F238E27FC236}">
                  <a16:creationId xmlns:a16="http://schemas.microsoft.com/office/drawing/2014/main" id="{A23D3CF2-8B28-345C-09B5-354CE5C9402E}"/>
                </a:ext>
              </a:extLst>
            </p:cNvPr>
            <p:cNvSpPr txBox="1"/>
            <p:nvPr/>
          </p:nvSpPr>
          <p:spPr>
            <a:xfrm>
              <a:off x="9336471" y="2262390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5" name="TextBox 553">
              <a:extLst>
                <a:ext uri="{FF2B5EF4-FFF2-40B4-BE49-F238E27FC236}">
                  <a16:creationId xmlns:a16="http://schemas.microsoft.com/office/drawing/2014/main" id="{0B6E411F-7234-C139-3471-B77C67E22F46}"/>
                </a:ext>
              </a:extLst>
            </p:cNvPr>
            <p:cNvSpPr txBox="1"/>
            <p:nvPr/>
          </p:nvSpPr>
          <p:spPr>
            <a:xfrm>
              <a:off x="9338742" y="1893826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6" name="TextBox 558">
              <a:extLst>
                <a:ext uri="{FF2B5EF4-FFF2-40B4-BE49-F238E27FC236}">
                  <a16:creationId xmlns:a16="http://schemas.microsoft.com/office/drawing/2014/main" id="{2F42E821-14A9-4FD2-DE47-AC5820156FEB}"/>
                </a:ext>
              </a:extLst>
            </p:cNvPr>
            <p:cNvSpPr txBox="1"/>
            <p:nvPr/>
          </p:nvSpPr>
          <p:spPr>
            <a:xfrm>
              <a:off x="9331783" y="1506578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7" name="TextBox 559">
              <a:extLst>
                <a:ext uri="{FF2B5EF4-FFF2-40B4-BE49-F238E27FC236}">
                  <a16:creationId xmlns:a16="http://schemas.microsoft.com/office/drawing/2014/main" id="{326AB74D-206E-84DF-E5F1-79C39CA85CCB}"/>
                </a:ext>
              </a:extLst>
            </p:cNvPr>
            <p:cNvSpPr txBox="1"/>
            <p:nvPr/>
          </p:nvSpPr>
          <p:spPr>
            <a:xfrm rot="5400000">
              <a:off x="7802597" y="2533537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8" name="TextBox 561">
              <a:extLst>
                <a:ext uri="{FF2B5EF4-FFF2-40B4-BE49-F238E27FC236}">
                  <a16:creationId xmlns:a16="http://schemas.microsoft.com/office/drawing/2014/main" id="{B7EF63A3-6AA1-E482-7DD5-0455ADD889B9}"/>
                </a:ext>
              </a:extLst>
            </p:cNvPr>
            <p:cNvSpPr txBox="1"/>
            <p:nvPr/>
          </p:nvSpPr>
          <p:spPr>
            <a:xfrm rot="5400000">
              <a:off x="8367315" y="2528684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9" name="TextBox 562">
              <a:extLst>
                <a:ext uri="{FF2B5EF4-FFF2-40B4-BE49-F238E27FC236}">
                  <a16:creationId xmlns:a16="http://schemas.microsoft.com/office/drawing/2014/main" id="{EB48DFF2-DA8E-6DDB-0A3E-23A07611C79C}"/>
                </a:ext>
              </a:extLst>
            </p:cNvPr>
            <p:cNvSpPr txBox="1"/>
            <p:nvPr/>
          </p:nvSpPr>
          <p:spPr>
            <a:xfrm rot="5400000">
              <a:off x="8899291" y="2542252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0" name="TextBox 564">
              <a:extLst>
                <a:ext uri="{FF2B5EF4-FFF2-40B4-BE49-F238E27FC236}">
                  <a16:creationId xmlns:a16="http://schemas.microsoft.com/office/drawing/2014/main" id="{48B90DA7-FA20-1722-FDAE-2234A9303DB4}"/>
                </a:ext>
              </a:extLst>
            </p:cNvPr>
            <p:cNvSpPr txBox="1"/>
            <p:nvPr/>
          </p:nvSpPr>
          <p:spPr>
            <a:xfrm rot="5400000">
              <a:off x="9710004" y="2532604"/>
              <a:ext cx="476182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 . . .</a:t>
              </a:r>
              <a:endParaRPr kumimoji="1" lang="ja-JP" altLang="en-US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1" name="Rectangle: Rounded Corners 567">
              <a:extLst>
                <a:ext uri="{FF2B5EF4-FFF2-40B4-BE49-F238E27FC236}">
                  <a16:creationId xmlns:a16="http://schemas.microsoft.com/office/drawing/2014/main" id="{6968F698-A6F2-DACF-5925-87BB46848AAF}"/>
                </a:ext>
              </a:extLst>
            </p:cNvPr>
            <p:cNvSpPr/>
            <p:nvPr/>
          </p:nvSpPr>
          <p:spPr>
            <a:xfrm>
              <a:off x="11000690" y="1064474"/>
              <a:ext cx="473571" cy="2563852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cxnSp>
          <p:nvCxnSpPr>
            <p:cNvPr id="922" name="Straight Connector 211">
              <a:extLst>
                <a:ext uri="{FF2B5EF4-FFF2-40B4-BE49-F238E27FC236}">
                  <a16:creationId xmlns:a16="http://schemas.microsoft.com/office/drawing/2014/main" id="{50FB8C92-1A9C-0805-D871-425EE47F45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01742" y="2267033"/>
              <a:ext cx="1938276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195">
              <a:extLst>
                <a:ext uri="{FF2B5EF4-FFF2-40B4-BE49-F238E27FC236}">
                  <a16:creationId xmlns:a16="http://schemas.microsoft.com/office/drawing/2014/main" id="{633977AB-3F33-37D9-5AC9-6C445A118308}"/>
                </a:ext>
              </a:extLst>
            </p:cNvPr>
            <p:cNvCxnSpPr>
              <a:cxnSpLocks/>
            </p:cNvCxnSpPr>
            <p:nvPr/>
          </p:nvCxnSpPr>
          <p:spPr>
            <a:xfrm>
              <a:off x="7772333" y="1858533"/>
              <a:ext cx="2526703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4" name="TextBox 571">
              <a:extLst>
                <a:ext uri="{FF2B5EF4-FFF2-40B4-BE49-F238E27FC236}">
                  <a16:creationId xmlns:a16="http://schemas.microsoft.com/office/drawing/2014/main" id="{D323F2C7-216F-A4D8-805B-470C15F998DA}"/>
                </a:ext>
              </a:extLst>
            </p:cNvPr>
            <p:cNvSpPr txBox="1"/>
            <p:nvPr/>
          </p:nvSpPr>
          <p:spPr>
            <a:xfrm rot="16200000">
              <a:off x="6292082" y="2087858"/>
              <a:ext cx="11625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Decoder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5" name="TextBox 572">
              <a:extLst>
                <a:ext uri="{FF2B5EF4-FFF2-40B4-BE49-F238E27FC236}">
                  <a16:creationId xmlns:a16="http://schemas.microsoft.com/office/drawing/2014/main" id="{35058BF7-3C33-2E6A-032A-099A1B4C9812}"/>
                </a:ext>
              </a:extLst>
            </p:cNvPr>
            <p:cNvSpPr txBox="1"/>
            <p:nvPr/>
          </p:nvSpPr>
          <p:spPr>
            <a:xfrm rot="16200000">
              <a:off x="10650309" y="2231569"/>
              <a:ext cx="11625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Encoder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grpSp>
          <p:nvGrpSpPr>
            <p:cNvPr id="926" name="Group 595">
              <a:extLst>
                <a:ext uri="{FF2B5EF4-FFF2-40B4-BE49-F238E27FC236}">
                  <a16:creationId xmlns:a16="http://schemas.microsoft.com/office/drawing/2014/main" id="{F20CD131-1EBE-0F05-C0E2-4764DC9ABA49}"/>
                </a:ext>
              </a:extLst>
            </p:cNvPr>
            <p:cNvGrpSpPr/>
            <p:nvPr/>
          </p:nvGrpSpPr>
          <p:grpSpPr>
            <a:xfrm>
              <a:off x="7109012" y="2099177"/>
              <a:ext cx="417634" cy="146926"/>
              <a:chOff x="4807910" y="2260607"/>
              <a:chExt cx="277578" cy="108320"/>
            </a:xfrm>
          </p:grpSpPr>
          <p:cxnSp>
            <p:nvCxnSpPr>
              <p:cNvPr id="647" name="Straight Arrow Connector 586">
                <a:extLst>
                  <a:ext uri="{FF2B5EF4-FFF2-40B4-BE49-F238E27FC236}">
                    <a16:creationId xmlns:a16="http://schemas.microsoft.com/office/drawing/2014/main" id="{74DD4DB7-7093-C6E0-44D5-D8A8C918FC56}"/>
                  </a:ext>
                </a:extLst>
              </p:cNvPr>
              <p:cNvCxnSpPr>
                <a:cxnSpLocks/>
                <a:endCxn id="55" idx="0"/>
              </p:cNvCxnSpPr>
              <p:nvPr/>
            </p:nvCxnSpPr>
            <p:spPr>
              <a:xfrm>
                <a:off x="4807910" y="2314767"/>
                <a:ext cx="277578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lg" len="lg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593">
                <a:extLst>
                  <a:ext uri="{FF2B5EF4-FFF2-40B4-BE49-F238E27FC236}">
                    <a16:creationId xmlns:a16="http://schemas.microsoft.com/office/drawing/2014/main" id="{F30A9294-B8A5-36B1-715D-588992C4745B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4912273" y="2260607"/>
                <a:ext cx="0" cy="1083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7" name="Group 596">
              <a:extLst>
                <a:ext uri="{FF2B5EF4-FFF2-40B4-BE49-F238E27FC236}">
                  <a16:creationId xmlns:a16="http://schemas.microsoft.com/office/drawing/2014/main" id="{446395D5-A209-DF9C-5CDE-F4DB43B196F0}"/>
                </a:ext>
              </a:extLst>
            </p:cNvPr>
            <p:cNvGrpSpPr/>
            <p:nvPr/>
          </p:nvGrpSpPr>
          <p:grpSpPr>
            <a:xfrm>
              <a:off x="6248446" y="2098503"/>
              <a:ext cx="376508" cy="146926"/>
              <a:chOff x="4991100" y="2594989"/>
              <a:chExt cx="277578" cy="108320"/>
            </a:xfrm>
          </p:grpSpPr>
          <p:cxnSp>
            <p:nvCxnSpPr>
              <p:cNvPr id="645" name="Straight Arrow Connector 597">
                <a:extLst>
                  <a:ext uri="{FF2B5EF4-FFF2-40B4-BE49-F238E27FC236}">
                    <a16:creationId xmlns:a16="http://schemas.microsoft.com/office/drawing/2014/main" id="{5A1D94E7-1FB2-D99A-E8B0-8AFBAFCEF6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1100" y="2648652"/>
                <a:ext cx="277578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lg" len="lg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Straight Connector 598">
                <a:extLst>
                  <a:ext uri="{FF2B5EF4-FFF2-40B4-BE49-F238E27FC236}">
                    <a16:creationId xmlns:a16="http://schemas.microsoft.com/office/drawing/2014/main" id="{3B120778-1B3E-65C1-6614-31C5FD5B5E18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5099051" y="2594989"/>
                <a:ext cx="0" cy="1083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8" name="Group 599">
              <a:extLst>
                <a:ext uri="{FF2B5EF4-FFF2-40B4-BE49-F238E27FC236}">
                  <a16:creationId xmlns:a16="http://schemas.microsoft.com/office/drawing/2014/main" id="{2AFA4461-C6BB-867E-967A-6605FE6BE5B5}"/>
                </a:ext>
              </a:extLst>
            </p:cNvPr>
            <p:cNvGrpSpPr/>
            <p:nvPr/>
          </p:nvGrpSpPr>
          <p:grpSpPr>
            <a:xfrm>
              <a:off x="10729889" y="2218401"/>
              <a:ext cx="270810" cy="15632"/>
              <a:chOff x="5004548" y="2594989"/>
              <a:chExt cx="199652" cy="108320"/>
            </a:xfrm>
          </p:grpSpPr>
          <p:cxnSp>
            <p:nvCxnSpPr>
              <p:cNvPr id="643" name="Straight Arrow Connector 600">
                <a:extLst>
                  <a:ext uri="{FF2B5EF4-FFF2-40B4-BE49-F238E27FC236}">
                    <a16:creationId xmlns:a16="http://schemas.microsoft.com/office/drawing/2014/main" id="{5A39FFC3-F037-38D4-87D1-0921671BD2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4548" y="2652261"/>
                <a:ext cx="199652" cy="280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Straight Connector 601">
                <a:extLst>
                  <a:ext uri="{FF2B5EF4-FFF2-40B4-BE49-F238E27FC236}">
                    <a16:creationId xmlns:a16="http://schemas.microsoft.com/office/drawing/2014/main" id="{1DB6E40E-EE19-E9A0-DEED-8835F88B3E11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5099051" y="2594989"/>
                <a:ext cx="0" cy="108320"/>
              </a:xfrm>
              <a:prstGeom prst="line">
                <a:avLst/>
              </a:prstGeom>
              <a:ln>
                <a:solidFill>
                  <a:schemeClr val="tx1"/>
                </a:solidFill>
                <a:head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9" name="Group 606">
              <a:extLst>
                <a:ext uri="{FF2B5EF4-FFF2-40B4-BE49-F238E27FC236}">
                  <a16:creationId xmlns:a16="http://schemas.microsoft.com/office/drawing/2014/main" id="{EA93F56B-5019-DF74-3A04-F17305CB73C0}"/>
                </a:ext>
              </a:extLst>
            </p:cNvPr>
            <p:cNvGrpSpPr/>
            <p:nvPr/>
          </p:nvGrpSpPr>
          <p:grpSpPr>
            <a:xfrm>
              <a:off x="11482844" y="2114679"/>
              <a:ext cx="376508" cy="146926"/>
              <a:chOff x="4991100" y="2594989"/>
              <a:chExt cx="277578" cy="108320"/>
            </a:xfrm>
          </p:grpSpPr>
          <p:cxnSp>
            <p:nvCxnSpPr>
              <p:cNvPr id="641" name="Straight Arrow Connector 607">
                <a:extLst>
                  <a:ext uri="{FF2B5EF4-FFF2-40B4-BE49-F238E27FC236}">
                    <a16:creationId xmlns:a16="http://schemas.microsoft.com/office/drawing/2014/main" id="{F18C2A57-77D6-0126-78FD-F250FEC0E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1100" y="2648652"/>
                <a:ext cx="277578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lg" len="lg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08">
                <a:extLst>
                  <a:ext uri="{FF2B5EF4-FFF2-40B4-BE49-F238E27FC236}">
                    <a16:creationId xmlns:a16="http://schemas.microsoft.com/office/drawing/2014/main" id="{B787F831-4FA0-32D2-1F3F-6BA94C23BE95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5099051" y="2594989"/>
                <a:ext cx="0" cy="1083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0" name="TextBox 609">
              <a:extLst>
                <a:ext uri="{FF2B5EF4-FFF2-40B4-BE49-F238E27FC236}">
                  <a16:creationId xmlns:a16="http://schemas.microsoft.com/office/drawing/2014/main" id="{310CC88F-9677-D9F5-9A60-0AD7197C39AA}"/>
                </a:ext>
              </a:extLst>
            </p:cNvPr>
            <p:cNvSpPr txBox="1"/>
            <p:nvPr/>
          </p:nvSpPr>
          <p:spPr>
            <a:xfrm>
              <a:off x="8237372" y="841577"/>
              <a:ext cx="154454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b="1" dirty="0">
                  <a:latin typeface="Poppins" panose="00000500000000000000" pitchFamily="2" charset="0"/>
                  <a:cs typeface="Poppins" panose="00000500000000000000" pitchFamily="2" charset="0"/>
                </a:rPr>
                <a:t>Synapse Crossbar</a:t>
              </a:r>
              <a:endParaRPr kumimoji="1" lang="ja-JP" altLang="en-US" sz="10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1" name="Rectangle: Rounded Corners 611">
              <a:extLst>
                <a:ext uri="{FF2B5EF4-FFF2-40B4-BE49-F238E27FC236}">
                  <a16:creationId xmlns:a16="http://schemas.microsoft.com/office/drawing/2014/main" id="{F9E7E4C0-39E7-7576-C4FC-314DCE9E12EB}"/>
                </a:ext>
              </a:extLst>
            </p:cNvPr>
            <p:cNvSpPr/>
            <p:nvPr/>
          </p:nvSpPr>
          <p:spPr>
            <a:xfrm>
              <a:off x="10828471" y="799136"/>
              <a:ext cx="1119495" cy="9700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32" name="TextBox 612">
              <a:extLst>
                <a:ext uri="{FF2B5EF4-FFF2-40B4-BE49-F238E27FC236}">
                  <a16:creationId xmlns:a16="http://schemas.microsoft.com/office/drawing/2014/main" id="{47875632-10A1-C76C-F42E-2AA67ED65738}"/>
                </a:ext>
              </a:extLst>
            </p:cNvPr>
            <p:cNvSpPr txBox="1"/>
            <p:nvPr/>
          </p:nvSpPr>
          <p:spPr>
            <a:xfrm>
              <a:off x="11097174" y="780760"/>
              <a:ext cx="972610" cy="993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: Active</a:t>
              </a:r>
            </a:p>
            <a:p>
              <a:pPr>
                <a:lnSpc>
                  <a:spcPct val="150000"/>
                </a:lnSpc>
              </a:pPr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: Inactive</a:t>
              </a:r>
            </a:p>
            <a:p>
              <a:pPr>
                <a:lnSpc>
                  <a:spcPct val="150000"/>
                </a:lnSpc>
              </a:pPr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: Axon</a:t>
              </a:r>
            </a:p>
            <a:p>
              <a:pPr>
                <a:lnSpc>
                  <a:spcPct val="150000"/>
                </a:lnSpc>
              </a:pPr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: Dendrite</a:t>
              </a:r>
            </a:p>
          </p:txBody>
        </p:sp>
        <p:sp>
          <p:nvSpPr>
            <p:cNvPr id="933" name="Rectangle: Rounded Corners 613">
              <a:extLst>
                <a:ext uri="{FF2B5EF4-FFF2-40B4-BE49-F238E27FC236}">
                  <a16:creationId xmlns:a16="http://schemas.microsoft.com/office/drawing/2014/main" id="{150B66D3-2AB5-CDA7-D0E6-2EC5282704CC}"/>
                </a:ext>
              </a:extLst>
            </p:cNvPr>
            <p:cNvSpPr/>
            <p:nvPr/>
          </p:nvSpPr>
          <p:spPr>
            <a:xfrm>
              <a:off x="10968337" y="1082213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34" name="Rectangle: Rounded Corners 614">
              <a:extLst>
                <a:ext uri="{FF2B5EF4-FFF2-40B4-BE49-F238E27FC236}">
                  <a16:creationId xmlns:a16="http://schemas.microsoft.com/office/drawing/2014/main" id="{6C9B12D6-8322-75E4-B9DC-8CF1740A0DF8}"/>
                </a:ext>
              </a:extLst>
            </p:cNvPr>
            <p:cNvSpPr/>
            <p:nvPr/>
          </p:nvSpPr>
          <p:spPr>
            <a:xfrm>
              <a:off x="10969609" y="897036"/>
              <a:ext cx="161238" cy="161238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35" name="TextBox 615">
              <a:extLst>
                <a:ext uri="{FF2B5EF4-FFF2-40B4-BE49-F238E27FC236}">
                  <a16:creationId xmlns:a16="http://schemas.microsoft.com/office/drawing/2014/main" id="{5A99F5C6-6DC1-8506-91AE-690C368C992A}"/>
                </a:ext>
              </a:extLst>
            </p:cNvPr>
            <p:cNvSpPr txBox="1"/>
            <p:nvPr/>
          </p:nvSpPr>
          <p:spPr>
            <a:xfrm>
              <a:off x="10886005" y="1188577"/>
              <a:ext cx="506712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a</a:t>
              </a:r>
              <a:r>
                <a:rPr lang="en-US" altLang="ja-JP" sz="1000" baseline="-25000" dirty="0">
                  <a:latin typeface="Poppins" panose="00000500000000000000" pitchFamily="2" charset="0"/>
                  <a:cs typeface="Poppins" panose="00000500000000000000" pitchFamily="2" charset="0"/>
                </a:rPr>
                <a:t>n</a:t>
              </a:r>
            </a:p>
            <a:p>
              <a:pPr>
                <a:lnSpc>
                  <a:spcPct val="150000"/>
                </a:lnSpc>
              </a:pPr>
              <a:r>
                <a:rPr lang="en-US" altLang="ja-JP" sz="1000" dirty="0" err="1">
                  <a:latin typeface="Poppins" panose="00000500000000000000" pitchFamily="2" charset="0"/>
                  <a:cs typeface="Poppins" panose="00000500000000000000" pitchFamily="2" charset="0"/>
                </a:rPr>
                <a:t>d</a:t>
              </a:r>
              <a:r>
                <a:rPr lang="en-US" altLang="ja-JP" sz="1000" baseline="-25000" dirty="0" err="1">
                  <a:latin typeface="Poppins" panose="00000500000000000000" pitchFamily="2" charset="0"/>
                  <a:cs typeface="Poppins" panose="00000500000000000000" pitchFamily="2" charset="0"/>
                </a:rPr>
                <a:t>n</a:t>
              </a:r>
              <a:endParaRPr lang="en-US" altLang="ja-JP" sz="1000" baseline="-25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6" name="TextBox 617">
              <a:extLst>
                <a:ext uri="{FF2B5EF4-FFF2-40B4-BE49-F238E27FC236}">
                  <a16:creationId xmlns:a16="http://schemas.microsoft.com/office/drawing/2014/main" id="{35399B51-8105-903D-F222-D2266CCF509E}"/>
                </a:ext>
              </a:extLst>
            </p:cNvPr>
            <p:cNvSpPr txBox="1"/>
            <p:nvPr/>
          </p:nvSpPr>
          <p:spPr>
            <a:xfrm rot="16200000">
              <a:off x="11076402" y="2545499"/>
              <a:ext cx="116256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To other Clusters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7" name="TextBox 619">
              <a:extLst>
                <a:ext uri="{FF2B5EF4-FFF2-40B4-BE49-F238E27FC236}">
                  <a16:creationId xmlns:a16="http://schemas.microsoft.com/office/drawing/2014/main" id="{EC52387B-BE4F-8B17-B7A7-98164A27F41C}"/>
                </a:ext>
              </a:extLst>
            </p:cNvPr>
            <p:cNvSpPr txBox="1"/>
            <p:nvPr/>
          </p:nvSpPr>
          <p:spPr>
            <a:xfrm>
              <a:off x="11459158" y="1919279"/>
              <a:ext cx="3975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N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8" name="TextBox 622">
              <a:extLst>
                <a:ext uri="{FF2B5EF4-FFF2-40B4-BE49-F238E27FC236}">
                  <a16:creationId xmlns:a16="http://schemas.microsoft.com/office/drawing/2014/main" id="{7ACB6692-FD31-FCCB-D68C-1943146AD69B}"/>
                </a:ext>
              </a:extLst>
            </p:cNvPr>
            <p:cNvSpPr txBox="1"/>
            <p:nvPr/>
          </p:nvSpPr>
          <p:spPr>
            <a:xfrm>
              <a:off x="7073328" y="1919279"/>
              <a:ext cx="3975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n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9" name="Rectangle: Rounded Corners 202">
              <a:extLst>
                <a:ext uri="{FF2B5EF4-FFF2-40B4-BE49-F238E27FC236}">
                  <a16:creationId xmlns:a16="http://schemas.microsoft.com/office/drawing/2014/main" id="{80DA2F07-FCAB-CF46-0C71-805EFA7562A3}"/>
                </a:ext>
              </a:extLst>
            </p:cNvPr>
            <p:cNvSpPr/>
            <p:nvPr/>
          </p:nvSpPr>
          <p:spPr>
            <a:xfrm>
              <a:off x="6632108" y="1068529"/>
              <a:ext cx="473571" cy="2563851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 dirty="0"/>
            </a:p>
          </p:txBody>
        </p:sp>
        <p:sp>
          <p:nvSpPr>
            <p:cNvPr id="940" name="TextBox 623">
              <a:extLst>
                <a:ext uri="{FF2B5EF4-FFF2-40B4-BE49-F238E27FC236}">
                  <a16:creationId xmlns:a16="http://schemas.microsoft.com/office/drawing/2014/main" id="{9580BEB9-F78A-5EC1-8C01-A193A5ADF374}"/>
                </a:ext>
              </a:extLst>
            </p:cNvPr>
            <p:cNvSpPr txBox="1"/>
            <p:nvPr/>
          </p:nvSpPr>
          <p:spPr>
            <a:xfrm rot="16200000">
              <a:off x="6664382" y="2475106"/>
              <a:ext cx="11625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Input Spike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2" name="TextBox 624">
              <a:extLst>
                <a:ext uri="{FF2B5EF4-FFF2-40B4-BE49-F238E27FC236}">
                  <a16:creationId xmlns:a16="http://schemas.microsoft.com/office/drawing/2014/main" id="{D94A8905-1C06-AE36-5653-5D585B1825AE}"/>
                </a:ext>
              </a:extLst>
            </p:cNvPr>
            <p:cNvSpPr txBox="1"/>
            <p:nvPr/>
          </p:nvSpPr>
          <p:spPr>
            <a:xfrm rot="16200000">
              <a:off x="5748531" y="2600738"/>
              <a:ext cx="134055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From other Clusters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3" name="TextBox 625">
              <a:extLst>
                <a:ext uri="{FF2B5EF4-FFF2-40B4-BE49-F238E27FC236}">
                  <a16:creationId xmlns:a16="http://schemas.microsoft.com/office/drawing/2014/main" id="{E1E0B65C-DD02-5637-F6F6-E70138D9FDF3}"/>
                </a:ext>
              </a:extLst>
            </p:cNvPr>
            <p:cNvSpPr txBox="1"/>
            <p:nvPr/>
          </p:nvSpPr>
          <p:spPr>
            <a:xfrm>
              <a:off x="6220282" y="1885522"/>
              <a:ext cx="3975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N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4" name="Rectangle: Rounded Corners 626">
              <a:extLst>
                <a:ext uri="{FF2B5EF4-FFF2-40B4-BE49-F238E27FC236}">
                  <a16:creationId xmlns:a16="http://schemas.microsoft.com/office/drawing/2014/main" id="{2181F069-E3A2-654F-C567-C6B6251C8415}"/>
                </a:ext>
              </a:extLst>
            </p:cNvPr>
            <p:cNvSpPr/>
            <p:nvPr/>
          </p:nvSpPr>
          <p:spPr>
            <a:xfrm>
              <a:off x="7912937" y="4068541"/>
              <a:ext cx="2270937" cy="1663153"/>
            </a:xfrm>
            <a:prstGeom prst="roundRect">
              <a:avLst>
                <a:gd name="adj" fmla="val 0"/>
              </a:avLst>
            </a:prstGeom>
            <a:solidFill>
              <a:srgbClr val="FFF7DD"/>
            </a:solid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945" name="Rectangle: Rounded Corners 628">
              <a:extLst>
                <a:ext uri="{FF2B5EF4-FFF2-40B4-BE49-F238E27FC236}">
                  <a16:creationId xmlns:a16="http://schemas.microsoft.com/office/drawing/2014/main" id="{3E8BFBDD-8F11-6C57-4514-CFCA2CC239F5}"/>
                </a:ext>
              </a:extLst>
            </p:cNvPr>
            <p:cNvSpPr/>
            <p:nvPr/>
          </p:nvSpPr>
          <p:spPr>
            <a:xfrm>
              <a:off x="8421746" y="4342438"/>
              <a:ext cx="1524851" cy="841422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 dirty="0"/>
            </a:p>
          </p:txBody>
        </p:sp>
        <p:sp>
          <p:nvSpPr>
            <p:cNvPr id="946" name="Rectangle: Rounded Corners 629">
              <a:extLst>
                <a:ext uri="{FF2B5EF4-FFF2-40B4-BE49-F238E27FC236}">
                  <a16:creationId xmlns:a16="http://schemas.microsoft.com/office/drawing/2014/main" id="{823FBE5D-1DB1-9EF5-E7F0-764A531F02A2}"/>
                </a:ext>
              </a:extLst>
            </p:cNvPr>
            <p:cNvSpPr/>
            <p:nvPr/>
          </p:nvSpPr>
          <p:spPr>
            <a:xfrm>
              <a:off x="8228637" y="4576300"/>
              <a:ext cx="1524851" cy="841422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 dirty="0"/>
            </a:p>
          </p:txBody>
        </p:sp>
        <p:sp>
          <p:nvSpPr>
            <p:cNvPr id="947" name="Rectangle: Rounded Corners 630">
              <a:extLst>
                <a:ext uri="{FF2B5EF4-FFF2-40B4-BE49-F238E27FC236}">
                  <a16:creationId xmlns:a16="http://schemas.microsoft.com/office/drawing/2014/main" id="{C95E3C15-AABE-F50C-D51A-6D8519DEBC00}"/>
                </a:ext>
              </a:extLst>
            </p:cNvPr>
            <p:cNvSpPr/>
            <p:nvPr/>
          </p:nvSpPr>
          <p:spPr>
            <a:xfrm>
              <a:off x="8142505" y="4660795"/>
              <a:ext cx="1524851" cy="841422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000" dirty="0"/>
            </a:p>
          </p:txBody>
        </p:sp>
        <p:sp>
          <p:nvSpPr>
            <p:cNvPr id="948" name="Rectangle: Rounded Corners 631">
              <a:extLst>
                <a:ext uri="{FF2B5EF4-FFF2-40B4-BE49-F238E27FC236}">
                  <a16:creationId xmlns:a16="http://schemas.microsoft.com/office/drawing/2014/main" id="{B7563D9C-F031-6CEC-14DC-A9DD520CE628}"/>
                </a:ext>
              </a:extLst>
            </p:cNvPr>
            <p:cNvSpPr/>
            <p:nvPr/>
          </p:nvSpPr>
          <p:spPr>
            <a:xfrm>
              <a:off x="8051206" y="4753457"/>
              <a:ext cx="1524851" cy="841422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0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Neuron</a:t>
              </a:r>
              <a:endParaRPr kumimoji="1" lang="ja-JP" altLang="en-US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49" name="Connector: Elbow 794">
              <a:extLst>
                <a:ext uri="{FF2B5EF4-FFF2-40B4-BE49-F238E27FC236}">
                  <a16:creationId xmlns:a16="http://schemas.microsoft.com/office/drawing/2014/main" id="{75495BFC-65C3-DC86-634E-A5E90F98E260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5400000">
              <a:off x="8373933" y="3519797"/>
              <a:ext cx="566669" cy="791834"/>
            </a:xfrm>
            <a:prstGeom prst="bentConnector2">
              <a:avLst/>
            </a:prstGeom>
            <a:ln w="3810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0" name="TextBox 799">
              <a:extLst>
                <a:ext uri="{FF2B5EF4-FFF2-40B4-BE49-F238E27FC236}">
                  <a16:creationId xmlns:a16="http://schemas.microsoft.com/office/drawing/2014/main" id="{577B0328-99A0-1BA5-63A1-ADF860306B37}"/>
                </a:ext>
              </a:extLst>
            </p:cNvPr>
            <p:cNvSpPr txBox="1"/>
            <p:nvPr/>
          </p:nvSpPr>
          <p:spPr>
            <a:xfrm rot="16200000">
              <a:off x="7000625" y="4753503"/>
              <a:ext cx="15445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b="1" dirty="0">
                  <a:latin typeface="Poppins" panose="00000500000000000000" pitchFamily="2" charset="0"/>
                  <a:cs typeface="Poppins" panose="00000500000000000000" pitchFamily="2" charset="0"/>
                </a:rPr>
                <a:t>IF Array</a:t>
              </a:r>
              <a:endParaRPr kumimoji="1" lang="ja-JP" altLang="en-US" sz="10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51" name="Straight Connector 803">
              <a:extLst>
                <a:ext uri="{FF2B5EF4-FFF2-40B4-BE49-F238E27FC236}">
                  <a16:creationId xmlns:a16="http://schemas.microsoft.com/office/drawing/2014/main" id="{24878197-1A6F-39A2-0924-B379C72C0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7344" y="5201386"/>
              <a:ext cx="176095" cy="21035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806">
              <a:extLst>
                <a:ext uri="{FF2B5EF4-FFF2-40B4-BE49-F238E27FC236}">
                  <a16:creationId xmlns:a16="http://schemas.microsoft.com/office/drawing/2014/main" id="{84142C4F-21C4-20F9-5923-BF0EB6B080B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8715462" y="4141643"/>
              <a:ext cx="0" cy="146926"/>
            </a:xfrm>
            <a:prstGeom prst="line">
              <a:avLst/>
            </a:prstGeom>
            <a:ln>
              <a:solidFill>
                <a:schemeClr val="tx1"/>
              </a:solidFill>
              <a:head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3" name="TextBox 809">
              <a:extLst>
                <a:ext uri="{FF2B5EF4-FFF2-40B4-BE49-F238E27FC236}">
                  <a16:creationId xmlns:a16="http://schemas.microsoft.com/office/drawing/2014/main" id="{A11085E7-6624-4C2B-3A56-1331FD470AF0}"/>
                </a:ext>
              </a:extLst>
            </p:cNvPr>
            <p:cNvSpPr txBox="1"/>
            <p:nvPr/>
          </p:nvSpPr>
          <p:spPr>
            <a:xfrm>
              <a:off x="8984601" y="4047709"/>
              <a:ext cx="3975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m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4" name="TextBox 812">
              <a:extLst>
                <a:ext uri="{FF2B5EF4-FFF2-40B4-BE49-F238E27FC236}">
                  <a16:creationId xmlns:a16="http://schemas.microsoft.com/office/drawing/2014/main" id="{DA7241C7-57CE-5FB6-C7C4-A145DB2FBE23}"/>
                </a:ext>
              </a:extLst>
            </p:cNvPr>
            <p:cNvSpPr txBox="1"/>
            <p:nvPr/>
          </p:nvSpPr>
          <p:spPr>
            <a:xfrm>
              <a:off x="9465261" y="5482931"/>
              <a:ext cx="3975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x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5" name="TextBox 813">
              <a:extLst>
                <a:ext uri="{FF2B5EF4-FFF2-40B4-BE49-F238E27FC236}">
                  <a16:creationId xmlns:a16="http://schemas.microsoft.com/office/drawing/2014/main" id="{BE482CEF-F3DE-1091-5298-27B2E7BF84AF}"/>
                </a:ext>
              </a:extLst>
            </p:cNvPr>
            <p:cNvSpPr txBox="1"/>
            <p:nvPr/>
          </p:nvSpPr>
          <p:spPr>
            <a:xfrm>
              <a:off x="9623408" y="5488672"/>
              <a:ext cx="3975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N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cxnSp>
          <p:nvCxnSpPr>
            <p:cNvPr id="956" name="Straight Arrow Connector 814">
              <a:extLst>
                <a:ext uri="{FF2B5EF4-FFF2-40B4-BE49-F238E27FC236}">
                  <a16:creationId xmlns:a16="http://schemas.microsoft.com/office/drawing/2014/main" id="{13B654A3-C543-F169-B961-58CBBEA55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9168" y="4197952"/>
              <a:ext cx="0" cy="54908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lg" len="lg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Arrow Connector 819">
              <a:extLst>
                <a:ext uri="{FF2B5EF4-FFF2-40B4-BE49-F238E27FC236}">
                  <a16:creationId xmlns:a16="http://schemas.microsoft.com/office/drawing/2014/main" id="{269F92C5-B8C2-E35C-BC35-5FF6B7699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1760" y="4221639"/>
              <a:ext cx="0" cy="4328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lg" len="lg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Arrow Connector 821">
              <a:extLst>
                <a:ext uri="{FF2B5EF4-FFF2-40B4-BE49-F238E27FC236}">
                  <a16:creationId xmlns:a16="http://schemas.microsoft.com/office/drawing/2014/main" id="{85B5FF98-B278-3E6A-073D-D076CE5C7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4351" y="4197952"/>
              <a:ext cx="0" cy="37682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w="lg" len="lg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9" name="TextBox 572">
              <a:extLst>
                <a:ext uri="{FF2B5EF4-FFF2-40B4-BE49-F238E27FC236}">
                  <a16:creationId xmlns:a16="http://schemas.microsoft.com/office/drawing/2014/main" id="{DFC851C2-3AEF-203A-74D1-536392D58F9A}"/>
                </a:ext>
              </a:extLst>
            </p:cNvPr>
            <p:cNvSpPr txBox="1"/>
            <p:nvPr/>
          </p:nvSpPr>
          <p:spPr>
            <a:xfrm rot="16200000">
              <a:off x="6305585" y="2227874"/>
              <a:ext cx="11625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00" dirty="0">
                  <a:latin typeface="Poppins" panose="00000500000000000000" pitchFamily="2" charset="0"/>
                  <a:cs typeface="Poppins" panose="00000500000000000000" pitchFamily="2" charset="0"/>
                </a:rPr>
                <a:t>Decoder</a:t>
              </a:r>
              <a:endParaRPr kumimoji="1" lang="ja-JP" alt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0" name="テキスト ボックス 639">
              <a:extLst>
                <a:ext uri="{FF2B5EF4-FFF2-40B4-BE49-F238E27FC236}">
                  <a16:creationId xmlns:a16="http://schemas.microsoft.com/office/drawing/2014/main" id="{F77E9074-E911-0E14-B522-884B987E315A}"/>
                </a:ext>
              </a:extLst>
            </p:cNvPr>
            <p:cNvSpPr txBox="1"/>
            <p:nvPr/>
          </p:nvSpPr>
          <p:spPr>
            <a:xfrm>
              <a:off x="5902677" y="5987018"/>
              <a:ext cx="6300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/>
                <a:t>Fig. 6  Computing Core</a:t>
              </a:r>
              <a:endParaRPr kumimoji="1" lang="ja-JP" altLang="en-US" dirty="0"/>
            </a:p>
          </p:txBody>
        </p:sp>
      </p:grpSp>
      <p:sp>
        <p:nvSpPr>
          <p:cNvPr id="649" name="スライド番号プレースホルダー 648">
            <a:extLst>
              <a:ext uri="{FF2B5EF4-FFF2-40B4-BE49-F238E27FC236}">
                <a16:creationId xmlns:a16="http://schemas.microsoft.com/office/drawing/2014/main" id="{39A5623F-1CE7-8299-48B1-AD2E6969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6</a:t>
            </a:fld>
            <a:endParaRPr kumimoji="1" lang="ja-JP" altLang="en-US"/>
          </a:p>
        </p:txBody>
      </p:sp>
      <p:cxnSp>
        <p:nvCxnSpPr>
          <p:cNvPr id="4" name="Connector: Elbow 794">
            <a:extLst>
              <a:ext uri="{FF2B5EF4-FFF2-40B4-BE49-F238E27FC236}">
                <a16:creationId xmlns:a16="http://schemas.microsoft.com/office/drawing/2014/main" id="{E56DFDA4-A695-2B29-5607-84B5F77B1497}"/>
              </a:ext>
            </a:extLst>
          </p:cNvPr>
          <p:cNvCxnSpPr>
            <a:cxnSpLocks/>
            <a:stCxn id="921" idx="2"/>
            <a:endCxn id="944" idx="3"/>
          </p:cNvCxnSpPr>
          <p:nvPr/>
        </p:nvCxnSpPr>
        <p:spPr>
          <a:xfrm rot="5400000">
            <a:off x="10074779" y="3737421"/>
            <a:ext cx="1271792" cy="1053602"/>
          </a:xfrm>
          <a:prstGeom prst="bentConnector2">
            <a:avLst/>
          </a:prstGeom>
          <a:ln w="3810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53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EEDE07-FF80-CBC4-33DE-EEEF7FD0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Evaluation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B74407-A7B9-8A56-50DA-56D199C60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651"/>
            <a:ext cx="10515600" cy="4760232"/>
          </a:xfrm>
        </p:spPr>
        <p:txBody>
          <a:bodyPr>
            <a:normAutofit fontScale="85000" lnSpcReduction="20000"/>
          </a:bodyPr>
          <a:lstStyle/>
          <a:p>
            <a:r>
              <a:rPr lang="en-US" altLang="ja-JP" dirty="0"/>
              <a:t>Tools</a:t>
            </a:r>
          </a:p>
          <a:p>
            <a:pPr lvl="1"/>
            <a:r>
              <a:rPr kumimoji="1" lang="en-US" altLang="ja-JP" dirty="0"/>
              <a:t>GAN model training on software: Python, </a:t>
            </a:r>
            <a:r>
              <a:rPr kumimoji="1" lang="en-US" altLang="ja-JP" dirty="0" err="1"/>
              <a:t>Pytorch</a:t>
            </a:r>
            <a:r>
              <a:rPr kumimoji="1" lang="en-US" altLang="ja-JP" dirty="0"/>
              <a:t> library</a:t>
            </a:r>
          </a:p>
          <a:p>
            <a:pPr lvl="1"/>
            <a:r>
              <a:rPr kumimoji="1" lang="en-US" altLang="ja-JP" dirty="0"/>
              <a:t>ASIC implementation: Synopsys Design Compiler</a:t>
            </a:r>
          </a:p>
          <a:p>
            <a:pPr lvl="1"/>
            <a:r>
              <a:rPr lang="en-US" altLang="ja-JP" dirty="0"/>
              <a:t>FPGA implementation: </a:t>
            </a:r>
            <a:r>
              <a:rPr lang="en-US" altLang="ja-JP" dirty="0" err="1"/>
              <a:t>Vivado</a:t>
            </a:r>
            <a:r>
              <a:rPr lang="en-US" altLang="ja-JP" dirty="0"/>
              <a:t> 2019.1 and Artix-100T</a:t>
            </a:r>
          </a:p>
          <a:p>
            <a:pPr lvl="1"/>
            <a:r>
              <a:rPr lang="en-US" altLang="ja-JP" dirty="0"/>
              <a:t>Technology node: CMOS PDK 45nm</a:t>
            </a:r>
            <a:br>
              <a:rPr lang="en-US" altLang="ja-JP" dirty="0"/>
            </a:br>
            <a:endParaRPr kumimoji="1" lang="en-US" altLang="ja-JP" dirty="0"/>
          </a:p>
          <a:p>
            <a:r>
              <a:rPr kumimoji="1" lang="en-US" altLang="ja-JP" dirty="0"/>
              <a:t>Model Setup</a:t>
            </a:r>
          </a:p>
          <a:p>
            <a:pPr lvl="1"/>
            <a:r>
              <a:rPr lang="en-US" altLang="ja-JP" dirty="0"/>
              <a:t>Training data: MNIST Handwritten Digits</a:t>
            </a:r>
          </a:p>
          <a:p>
            <a:pPr lvl="1"/>
            <a:r>
              <a:rPr lang="en-US" altLang="ja-JP" dirty="0"/>
              <a:t>Training numbers: 600 images per batch x 15 epochs</a:t>
            </a:r>
          </a:p>
          <a:p>
            <a:pPr lvl="1"/>
            <a:r>
              <a:rPr kumimoji="1" lang="en-US" altLang="ja-JP" dirty="0"/>
              <a:t>Generator model </a:t>
            </a:r>
            <a:r>
              <a:rPr lang="en-US" altLang="ja-JP" dirty="0"/>
              <a:t>s</a:t>
            </a:r>
            <a:r>
              <a:rPr kumimoji="1" lang="en-US" altLang="ja-JP" dirty="0"/>
              <a:t>ize: </a:t>
            </a:r>
          </a:p>
          <a:p>
            <a:pPr lvl="2"/>
            <a:r>
              <a:rPr kumimoji="1" lang="en-US" altLang="ja-JP" dirty="0"/>
              <a:t>RTL Simulation: 100x1200x1200x784</a:t>
            </a:r>
          </a:p>
          <a:p>
            <a:pPr lvl="2"/>
            <a:r>
              <a:rPr kumimoji="1" lang="en-US" altLang="ja-JP" dirty="0"/>
              <a:t>ASIC and FPGA Implementation: 100x64x64x784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kumimoji="1" lang="en-US" altLang="ja-JP" dirty="0"/>
              <a:t>Evaluation Methodology</a:t>
            </a:r>
          </a:p>
          <a:p>
            <a:pPr lvl="1"/>
            <a:r>
              <a:rPr lang="en-US" altLang="ja-JP" dirty="0"/>
              <a:t>Comparison between software and RTL simulation outputs</a:t>
            </a:r>
          </a:p>
          <a:p>
            <a:pPr lvl="1"/>
            <a:r>
              <a:rPr kumimoji="1" lang="en-US" altLang="ja-JP" dirty="0"/>
              <a:t>Implementation results in ASIC and FPGA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A3B9C6-B15C-DDAC-CB61-A48BC939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408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143904-0E8A-419E-3B26-B1DE3FFB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RTL Simulation</a:t>
            </a:r>
            <a:endParaRPr kumimoji="1" lang="ja-JP" altLang="en-US" dirty="0"/>
          </a:p>
        </p:txBody>
      </p:sp>
      <p:pic>
        <p:nvPicPr>
          <p:cNvPr id="8" name="図 7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1FEF110-3E34-C3A2-A26D-90A6C93B3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33" y="1203627"/>
            <a:ext cx="3884348" cy="4898973"/>
          </a:xfrm>
          <a:prstGeom prst="rect">
            <a:avLst/>
          </a:prstGeom>
        </p:spPr>
      </p:pic>
      <p:pic>
        <p:nvPicPr>
          <p:cNvPr id="7" name="図 6" descr="グラフィカル ユーザー インターフェイス, アプリケーション, 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5D3D9BEB-BFD5-B4C9-F6CF-9C997DD8D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616" y="483687"/>
            <a:ext cx="3565968" cy="576510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2D5B0D-0C44-E283-443B-224BC8A96B99}"/>
              </a:ext>
            </a:extLst>
          </p:cNvPr>
          <p:cNvSpPr txBox="1"/>
          <p:nvPr/>
        </p:nvSpPr>
        <p:spPr>
          <a:xfrm>
            <a:off x="682639" y="6169709"/>
            <a:ext cx="6300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7  Software and RTL Spike</a:t>
            </a:r>
          </a:p>
          <a:p>
            <a:pPr algn="ctr"/>
            <a:r>
              <a:rPr lang="en-US" altLang="ja-JP" dirty="0"/>
              <a:t>Timing Comparison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48D69C-5C8A-D65A-9876-60663D67546D}"/>
              </a:ext>
            </a:extLst>
          </p:cNvPr>
          <p:cNvSpPr txBox="1"/>
          <p:nvPr/>
        </p:nvSpPr>
        <p:spPr>
          <a:xfrm>
            <a:off x="5621779" y="6236818"/>
            <a:ext cx="6300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Fig. 8 Software and RTL </a:t>
            </a:r>
          </a:p>
          <a:p>
            <a:pPr algn="ctr"/>
            <a:r>
              <a:rPr kumimoji="1" lang="en-US" altLang="ja-JP" dirty="0"/>
              <a:t>Output Image Comparison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59C2D1-5E10-1AEF-0E6C-BC4738CD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19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78E862-706F-897E-A5D3-18AC1C9C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ASIC &amp; FPGA Implementation</a:t>
            </a:r>
            <a:endParaRPr kumimoji="1" lang="ja-JP" altLang="en-US" dirty="0"/>
          </a:p>
        </p:txBody>
      </p:sp>
      <p:pic>
        <p:nvPicPr>
          <p:cNvPr id="6" name="コンテンツ プレースホルダー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E5109964-A3E0-E7A3-A08E-E0133D8D6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615" b="44956"/>
          <a:stretch>
            <a:fillRect/>
          </a:stretch>
        </p:blipFill>
        <p:spPr>
          <a:xfrm>
            <a:off x="120114" y="1690688"/>
            <a:ext cx="6027151" cy="208631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393CBD-C49C-0303-0F35-94127C63CDBD}"/>
              </a:ext>
            </a:extLst>
          </p:cNvPr>
          <p:cNvSpPr txBox="1"/>
          <p:nvPr/>
        </p:nvSpPr>
        <p:spPr>
          <a:xfrm>
            <a:off x="838200" y="5956240"/>
            <a:ext cx="10739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Network s</a:t>
            </a:r>
            <a:r>
              <a:rPr kumimoji="1" lang="en-US" altLang="ja-JP" sz="2000" b="1" dirty="0"/>
              <a:t>tructure: </a:t>
            </a:r>
            <a:r>
              <a:rPr kumimoji="1" lang="en-US" altLang="ja-JP" sz="2000" dirty="0"/>
              <a:t>100x64x64x784 </a:t>
            </a:r>
            <a:endParaRPr kumimoji="1" lang="ja-JP" altLang="en-US" sz="2000" dirty="0"/>
          </a:p>
        </p:txBody>
      </p:sp>
      <p:pic>
        <p:nvPicPr>
          <p:cNvPr id="5" name="コンテンツ プレースホルダー 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9AF4C08-6C51-A40D-E381-64E855AD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092"/>
          <a:stretch>
            <a:fillRect/>
          </a:stretch>
        </p:blipFill>
        <p:spPr>
          <a:xfrm>
            <a:off x="5597024" y="1673781"/>
            <a:ext cx="6027151" cy="1801338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BFF496-7227-DEB6-59B8-65E87B5B333E}"/>
              </a:ext>
            </a:extLst>
          </p:cNvPr>
          <p:cNvSpPr txBox="1">
            <a:spLocks/>
          </p:cNvSpPr>
          <p:nvPr/>
        </p:nvSpPr>
        <p:spPr>
          <a:xfrm>
            <a:off x="838200" y="4036499"/>
            <a:ext cx="7837713" cy="155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000" b="1" dirty="0"/>
              <a:t>Tools</a:t>
            </a:r>
          </a:p>
          <a:p>
            <a:r>
              <a:rPr lang="en-US" altLang="ja-JP" sz="2000" dirty="0"/>
              <a:t>ASIC implementation: Synopsys Design Compiler</a:t>
            </a:r>
          </a:p>
          <a:p>
            <a:r>
              <a:rPr lang="en-US" altLang="ja-JP" sz="2000" dirty="0"/>
              <a:t>FPGA implementation: </a:t>
            </a:r>
            <a:r>
              <a:rPr lang="en-US" altLang="ja-JP" sz="2000" dirty="0" err="1"/>
              <a:t>Vivado</a:t>
            </a:r>
            <a:r>
              <a:rPr lang="en-US" altLang="ja-JP" sz="2000" dirty="0"/>
              <a:t> 2019.1 and Artix-100T</a:t>
            </a:r>
          </a:p>
          <a:p>
            <a:r>
              <a:rPr lang="en-US" altLang="ja-JP" sz="2000" dirty="0"/>
              <a:t>Technology node: CMOS PDK 45nm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1043206A-5E88-5B13-76ED-305916D8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89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3ED93-2F6F-C6DB-C0BA-22923717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Conclusion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29E722-7F99-729D-711D-96AFFBAFF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2600" dirty="0"/>
              <a:t>ANN-based GAN was</a:t>
            </a:r>
            <a:r>
              <a:rPr lang="en-US" altLang="ja-JP" sz="2600" dirty="0"/>
              <a:t> trained and generator was </a:t>
            </a:r>
            <a:r>
              <a:rPr kumimoji="1" lang="en-US" altLang="ja-JP" sz="2600" dirty="0"/>
              <a:t>converted to the equivalent SNN.</a:t>
            </a:r>
            <a:endParaRPr lang="en-US" altLang="ja-JP" sz="2600" dirty="0"/>
          </a:p>
          <a:p>
            <a:pPr>
              <a:lnSpc>
                <a:spcPct val="100000"/>
              </a:lnSpc>
            </a:pPr>
            <a:r>
              <a:rPr kumimoji="1" lang="en-US" altLang="ja-JP" sz="2600" dirty="0"/>
              <a:t>Synthesis &amp; implementation were also successfully performed for ASIC and FPGA.</a:t>
            </a:r>
          </a:p>
          <a:p>
            <a:pPr>
              <a:lnSpc>
                <a:spcPct val="100000"/>
              </a:lnSpc>
            </a:pPr>
            <a:r>
              <a:rPr kumimoji="1" lang="en-US" altLang="ja-JP" sz="2600" dirty="0"/>
              <a:t>Limitation: Due to memory constraint on-chip, model size needs to be reduced.</a:t>
            </a:r>
            <a:endParaRPr lang="en-US" altLang="ja-JP" sz="2600" dirty="0"/>
          </a:p>
          <a:p>
            <a:pPr>
              <a:lnSpc>
                <a:spcPct val="100000"/>
              </a:lnSpc>
            </a:pPr>
            <a:r>
              <a:rPr kumimoji="1" lang="en-US" altLang="ja-JP" sz="2600" dirty="0"/>
              <a:t>Future work: Power consumption analysis for both ANN and SNN generator on chip &amp; implement c</a:t>
            </a:r>
            <a:r>
              <a:rPr lang="en-US" altLang="ja-JP" sz="2600" dirty="0"/>
              <a:t>ompression techniques.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A6F32A6-DDB6-BFB6-AC22-D967E7EA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64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CCA0B-B956-47D7-5D94-2327C1D3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Difference Between </a:t>
            </a:r>
            <a:r>
              <a:rPr lang="en-US" altLang="ja-JP" dirty="0" err="1"/>
              <a:t>ReLu</a:t>
            </a:r>
            <a:r>
              <a:rPr lang="en-US" altLang="ja-JP" dirty="0"/>
              <a:t> and IF Neuron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07C3987-59E3-EB7F-E3D5-54A1C69CC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885" y="2209800"/>
            <a:ext cx="7385915" cy="411936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1C09B2-65BA-D0B6-228E-C2E2DA26012D}"/>
              </a:ext>
            </a:extLst>
          </p:cNvPr>
          <p:cNvSpPr txBox="1"/>
          <p:nvPr/>
        </p:nvSpPr>
        <p:spPr>
          <a:xfrm>
            <a:off x="4671060" y="1832848"/>
            <a:ext cx="25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IF Neuron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DB04D8-0896-EE8D-5424-5BBD1717B7B2}"/>
              </a:ext>
            </a:extLst>
          </p:cNvPr>
          <p:cNvSpPr txBox="1"/>
          <p:nvPr/>
        </p:nvSpPr>
        <p:spPr>
          <a:xfrm>
            <a:off x="8382000" y="1809512"/>
            <a:ext cx="2537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ReLu</a:t>
            </a:r>
            <a:endParaRPr kumimoji="1" lang="ja-JP" altLang="en-US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73B0258-C647-DED0-D0B7-5863570BB98B}"/>
              </a:ext>
            </a:extLst>
          </p:cNvPr>
          <p:cNvSpPr/>
          <p:nvPr/>
        </p:nvSpPr>
        <p:spPr>
          <a:xfrm>
            <a:off x="4066032" y="2401824"/>
            <a:ext cx="432816" cy="4328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0BB5169-C462-2814-4568-A69F479458FD}"/>
              </a:ext>
            </a:extLst>
          </p:cNvPr>
          <p:cNvSpPr/>
          <p:nvPr/>
        </p:nvSpPr>
        <p:spPr>
          <a:xfrm>
            <a:off x="7821168" y="2834640"/>
            <a:ext cx="432816" cy="4328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E4F9EBC-9225-564E-48F3-F8E19DAE73A6}"/>
              </a:ext>
            </a:extLst>
          </p:cNvPr>
          <p:cNvCxnSpPr>
            <a:cxnSpLocks/>
          </p:cNvCxnSpPr>
          <p:nvPr/>
        </p:nvCxnSpPr>
        <p:spPr>
          <a:xfrm>
            <a:off x="4498848" y="2618232"/>
            <a:ext cx="302361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31F5411-8E3A-EE01-6B11-725344567804}"/>
              </a:ext>
            </a:extLst>
          </p:cNvPr>
          <p:cNvCxnSpPr>
            <a:cxnSpLocks/>
          </p:cNvCxnSpPr>
          <p:nvPr/>
        </p:nvCxnSpPr>
        <p:spPr>
          <a:xfrm>
            <a:off x="8253984" y="3051048"/>
            <a:ext cx="302361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A3A4C51-12E4-7F7D-0607-E757145ACF48}"/>
              </a:ext>
            </a:extLst>
          </p:cNvPr>
          <p:cNvSpPr txBox="1"/>
          <p:nvPr/>
        </p:nvSpPr>
        <p:spPr>
          <a:xfrm>
            <a:off x="379475" y="2018598"/>
            <a:ext cx="35326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dirty="0"/>
              <a:t>Outputs from </a:t>
            </a:r>
            <a:r>
              <a:rPr lang="en-US" altLang="ja-JP" sz="2400" dirty="0" err="1"/>
              <a:t>ReLu</a:t>
            </a:r>
            <a:r>
              <a:rPr lang="en-US" altLang="ja-JP" sz="2400" dirty="0"/>
              <a:t> and IF neurons are similar.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dirty="0"/>
              <a:t>Output from IF neuron (firing rate) can not exceed 1.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dirty="0"/>
              <a:t>Weight normalization is necessary to match </a:t>
            </a:r>
            <a:r>
              <a:rPr lang="en-US" altLang="ja-JP" sz="2400" dirty="0" err="1"/>
              <a:t>ReLu</a:t>
            </a:r>
            <a:r>
              <a:rPr lang="en-US" altLang="ja-JP" sz="2400" dirty="0"/>
              <a:t> and IF neuron.</a:t>
            </a:r>
            <a:endParaRPr lang="en-US" altLang="ja-JP" sz="1600" dirty="0"/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72BE0FDA-B856-8098-D736-BB45FCCB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704C-6E3D-403C-BF6B-4786F7F93267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69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509</Words>
  <Application>Microsoft Office PowerPoint</Application>
  <PresentationFormat>ワイド画面</PresentationFormat>
  <Paragraphs>121</Paragraphs>
  <Slides>11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游ゴシック</vt:lpstr>
      <vt:lpstr>游ゴシック Light</vt:lpstr>
      <vt:lpstr>Arial</vt:lpstr>
      <vt:lpstr>Poppins</vt:lpstr>
      <vt:lpstr>Segoe UI Symbol</vt:lpstr>
      <vt:lpstr>Office テーマ</vt:lpstr>
      <vt:lpstr>SpikeGAN: An Energy-Efficient Spiking Generative Adversarial Network Design</vt:lpstr>
      <vt:lpstr>Spiking Neural Networks (SNNs)</vt:lpstr>
      <vt:lpstr>Design Flow</vt:lpstr>
      <vt:lpstr>Training and Conversion</vt:lpstr>
      <vt:lpstr>How to Obtain Image from SNN</vt:lpstr>
      <vt:lpstr>Architecture</vt:lpstr>
      <vt:lpstr>Evaluation</vt:lpstr>
      <vt:lpstr>RTL Simulation</vt:lpstr>
      <vt:lpstr>ASIC &amp; FPGA Implementation</vt:lpstr>
      <vt:lpstr>Conclusion</vt:lpstr>
      <vt:lpstr>Difference Between ReLu and IF Neuron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Yuga Hanyu</dc:creator>
  <cp:lastModifiedBy>Yuga Hanyu</cp:lastModifiedBy>
  <cp:revision>14</cp:revision>
  <dcterms:created xsi:type="dcterms:W3CDTF">2026-02-25T03:33:27Z</dcterms:created>
  <dcterms:modified xsi:type="dcterms:W3CDTF">2026-03-04T23:16:15Z</dcterms:modified>
</cp:coreProperties>
</file>
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0" r:id="rId5"/>
    <p:sldId id="260" r:id="rId6"/>
    <p:sldId id="261" r:id="rId7"/>
    <p:sldId id="262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66" autoAdjust="0"/>
    <p:restoredTop sz="47388" autoAdjust="0"/>
  </p:normalViewPr>
  <p:slideViewPr>
    <p:cSldViewPr snapToGrid="0">
      <p:cViewPr varScale="1">
        <p:scale>
          <a:sx n="52" d="100"/>
          <a:sy n="52" d="100"/>
        </p:scale>
        <p:origin x="16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D9546-E8E7-4D4F-AE94-65BB929A672C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064DB-4E6C-404D-958D-83178DBCD9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Hello, everyone. </a:t>
            </a:r>
          </a:p>
          <a:p>
            <a:r>
              <a:rPr kumimoji="1" lang="en-US" altLang="ja-JP" dirty="0"/>
              <a:t>My name is </a:t>
            </a:r>
            <a:r>
              <a:rPr kumimoji="1" lang="en-US" altLang="ja-JP" dirty="0" err="1"/>
              <a:t>Aruki</a:t>
            </a:r>
            <a:r>
              <a:rPr kumimoji="1" lang="en-US" altLang="ja-JP" dirty="0"/>
              <a:t> Komatsuzaki (from The University of Aizu). </a:t>
            </a:r>
          </a:p>
          <a:p>
            <a:r>
              <a:rPr kumimoji="1" lang="en-US" altLang="ja-JP" dirty="0"/>
              <a:t>Today, I will present our research titled "FPGA-based Neuromorphic Acceleration of Spiking Neural Networks for Event-Driven Humanoid Robotics."</a:t>
            </a:r>
            <a:endParaRPr kumimoji="1" lang="ja-JP" altLang="en-US" dirty="0"/>
          </a:p>
          <a:p>
            <a:endParaRPr kumimoji="1" lang="en-US" altLang="ja-JP" dirty="0"/>
          </a:p>
          <a:p>
            <a:r>
              <a:rPr kumimoji="1" lang="en-US" altLang="ja-JP" dirty="0"/>
              <a:t>[20s]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64DB-4E6C-404D-958D-83178DBCD92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is a contents.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[20s]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64DB-4E6C-404D-958D-83178DBCD92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80604020202020204" pitchFamily="34" charset="0"/>
              <a:buChar char="•"/>
            </a:pPr>
            <a:r>
              <a:rPr kumimoji="1" lang="en-US" altLang="ja-JP" dirty="0"/>
              <a:t>Generative Adversarial Networks achieve strong performance but their high computational cost limits deployment on embedded humanoid robotic systems, which have strict power budgets. 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kumimoji="1" lang="en-US" altLang="ja-JP" dirty="0"/>
              <a:t>To resolve this, Spiking Neural Networks offer event-driven, multiplication-free computation. 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kumimoji="1" lang="en-US" altLang="ja-JP" dirty="0"/>
              <a:t>However, mapping SNNs onto FPGAs requires a dedicated architecture that exploits spike sparsity without relying on power-hungry computational blocks.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0" indent="0">
              <a:buFont typeface="Arial" panose="02080604020202020204" pitchFamily="34" charset="0"/>
              <a:buNone/>
            </a:pPr>
            <a:r>
              <a:rPr kumimoji="1" lang="en-US" altLang="ja-JP" dirty="0"/>
              <a:t>[1m]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t>3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Font typeface="Arial" panose="02080604020202020204" pitchFamily="34" charset="0"/>
              <a:buNone/>
            </a:pPr>
            <a:r>
              <a:rPr kumimoji="1" lang="en-US" altLang="ja-JP" dirty="0"/>
              <a:t>Figure 1 summarizes the design flow of our proposed framework, which consists of two primary domains, that is Software (as shown in Stage 1) and Hardware </a:t>
            </a:r>
            <a:r>
              <a:rPr lang="en-US" altLang="ja-JP" dirty="0">
                <a:sym typeface="+mn-ea"/>
              </a:rPr>
              <a:t>(as shown in Stage 2)</a:t>
            </a:r>
            <a:r>
              <a:rPr kumimoji="1" lang="en-US" altLang="ja-JP" dirty="0"/>
              <a:t>.</a:t>
            </a:r>
          </a:p>
          <a:p>
            <a:pPr indent="0">
              <a:buFont typeface="Arial" panose="02080604020202020204" pitchFamily="34" charset="0"/>
              <a:buNone/>
            </a:pPr>
            <a:endParaRPr kumimoji="1"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kumimoji="1" lang="en-US" altLang="ja-JP" dirty="0"/>
              <a:t>Stage 1 is the software implementation, where an ANN-based GAN is trained and converted into an SNN. 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kumimoji="1" lang="en-US" altLang="ja-JP" dirty="0"/>
              <a:t>Critical network parameters, such as weights, biases, and input spikes, are extracted and quantized.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kumimoji="1" lang="en-US" altLang="ja-JP" dirty="0"/>
              <a:t>In Stage 2, the hardware implementation is done, where these parameters are integrated into on-chip memory modules. 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kumimoji="1" lang="en-US" altLang="ja-JP" dirty="0"/>
              <a:t>RTL simulation is performed for logic validation, followed by FPGA synthesis and device implementation.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0" indent="0">
              <a:buFont typeface="Arial" panose="02080604020202020204" pitchFamily="34" charset="0"/>
              <a:buNone/>
            </a:pPr>
            <a:r>
              <a:rPr kumimoji="1" lang="en-US" altLang="ja-JP" dirty="0"/>
              <a:t>[1m 50s]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64DB-4E6C-404D-958D-83178DBCD92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80604020202020204" pitchFamily="34" charset="0"/>
              <a:buChar char="•"/>
            </a:pPr>
            <a:r>
              <a:rPr lang="en-US" altLang="ja-JP" dirty="0"/>
              <a:t>In the software phase, the GAN is trained using a standard minimax game, shown in the equation. 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en-US" altLang="ja-JP" dirty="0"/>
              <a:t>The ANN generator is then converted into an SNN by mapping </a:t>
            </a:r>
            <a:r>
              <a:rPr lang="en-US" altLang="ja-JP" dirty="0" err="1"/>
              <a:t>ReLU</a:t>
            </a:r>
            <a:r>
              <a:rPr lang="en-US" altLang="ja-JP" dirty="0"/>
              <a:t> functions to Leaky Integrate-and-Fire neurons. 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en-US" altLang="ja-JP" dirty="0"/>
              <a:t>This event-driven LIF mechanism eliminates multiplication operations. 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en-US" altLang="ja-JP" dirty="0"/>
              <a:t>Finally, exact synaptic weights, biases, and input spike trains are extracted for the hardware implementation.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0" indent="0">
              <a:buFont typeface="Arial" panose="02080604020202020204" pitchFamily="34" charset="0"/>
              <a:buNone/>
            </a:pPr>
            <a:r>
              <a:rPr kumimoji="1" lang="en-US" altLang="ja-JP" dirty="0"/>
              <a:t>[2m 30s]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t>5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80604020202020204" pitchFamily="34" charset="0"/>
              <a:buChar char="•"/>
            </a:pPr>
            <a:r>
              <a:rPr lang="en-US" altLang="ja-JP" dirty="0">
                <a:sym typeface="+mn-ea"/>
              </a:rPr>
              <a:t>[figure 2]</a:t>
            </a:r>
            <a:r>
              <a:rPr lang="en-US" altLang="ja-JP" dirty="0"/>
              <a:t>As illustrated in Figure 2, our hardware architecture is organized hierarchically to support large-scale generative models.</a:t>
            </a:r>
            <a:endParaRPr kumimoji="1" lang="en-US" altLang="ja-JP" dirty="0"/>
          </a:p>
          <a:p>
            <a:pPr indent="0">
              <a:buFont typeface="Arial" panose="02080604020202020204" pitchFamily="34" charset="0"/>
              <a:buNone/>
            </a:pPr>
            <a:endParaRPr kumimoji="1"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ja-JP" altLang="ja-JP" dirty="0"/>
              <a:t>First, part (a) shows the network topology, consisting of 100 input neurons, two hidden layers of 1024 neurons each, and 784 output neurons.</a:t>
            </a:r>
            <a:endParaRPr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ja-JP" altLang="ja-JP" dirty="0"/>
              <a:t>Part (b) details the fundamental computing core, which integrates a synapse crossbar for weighted accumulations and an LIF</a:t>
            </a:r>
            <a:r>
              <a:rPr lang="en-US" altLang="ja-JP" dirty="0"/>
              <a:t>(</a:t>
            </a:r>
            <a:r>
              <a:rPr lang="ja-JP" altLang="ja-JP" dirty="0"/>
              <a:t>Leaky Integrate-and-Fire</a:t>
            </a:r>
            <a:r>
              <a:rPr lang="en-US" altLang="ja-JP" dirty="0"/>
              <a:t>)</a:t>
            </a:r>
            <a:r>
              <a:rPr lang="ja-JP" altLang="ja-JP" dirty="0"/>
              <a:t> neuron array. Operating in a timestep-driven manner, it processes input spikes sequentially through multiple layers.</a:t>
            </a:r>
            <a:endParaRPr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ja-JP" altLang="ja-JP" dirty="0"/>
              <a:t>In part (c), these cores are tiled to form neuromorphic chips, with weights stored in OpenRAM-based SRAM macros. Because neuron states update only upon spike arrival, the architecture effectively exploits spike sparsity to minimize memory access and computational overhead.</a:t>
            </a:r>
            <a:endParaRPr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ja-JP" altLang="ja-JP" dirty="0"/>
              <a:t>Finally, part (d) highlights that this logic-centric approach enables the real-time, energy-efficient inference necessary for humanoid robotics.</a:t>
            </a:r>
            <a:endParaRPr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0" indent="0">
              <a:buFont typeface="Arial" panose="02080604020202020204" pitchFamily="34" charset="0"/>
              <a:buNone/>
            </a:pPr>
            <a:r>
              <a:rPr kumimoji="1" lang="en-US" altLang="ja-JP" dirty="0"/>
              <a:t>[3m]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t>6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the experimental setup, where: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kumimoji="1" lang="en-US" altLang="ja-JP" dirty="0"/>
              <a:t>Table 1 shows the model architecture and parameters of SNN-GAN generator.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kumimoji="1" lang="en-US" altLang="ja-JP" dirty="0"/>
              <a:t>And Table 2 shows the hardware and software environment setup. </a:t>
            </a:r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indent="0">
              <a:buFont typeface="Arial" panose="02080604020202020204" pitchFamily="34" charset="0"/>
              <a:buNone/>
            </a:pPr>
            <a:r>
              <a:rPr kumimoji="1" lang="en-US" altLang="ja-JP" dirty="0"/>
              <a:t>For the hardware evaluation, the system was synthesized and implemented on AMD VCK5000 Versal Development Card.</a:t>
            </a:r>
          </a:p>
          <a:p>
            <a:pPr indent="0">
              <a:buFont typeface="Arial" panose="02080604020202020204" pitchFamily="34" charset="0"/>
              <a:buNone/>
            </a:pPr>
            <a:endParaRPr kumimoji="1" lang="en-US" altLang="ja-JP" dirty="0"/>
          </a:p>
          <a:p>
            <a:pPr indent="0">
              <a:buFont typeface="Arial" panose="02080604020202020204" pitchFamily="34" charset="0"/>
              <a:buNone/>
            </a:pPr>
            <a:r>
              <a:rPr kumimoji="1" lang="en-US" altLang="ja-JP" dirty="0"/>
              <a:t>[4m]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t>7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Table</a:t>
            </a:r>
            <a:r>
              <a:rPr lang="ja-JP" altLang="ja-JP" dirty="0"/>
              <a:t> 3 presents the computational comparison</a:t>
            </a:r>
            <a:r>
              <a:rPr lang="en-US" altLang="ja-JP" dirty="0"/>
              <a:t> between ANN and SNN generators</a:t>
            </a:r>
            <a:r>
              <a:rPr lang="ja-JP" altLang="ja-JP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ja-JP" dirty="0"/>
              <a:t>While the SNN operates over multiple timesteps and requires more linear function calls, its event-driven, multiplication-free operations significantly reduce overall computational overhead.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ja-JP" dirty="0"/>
              <a:t>As a result, the SNN achieves a lower execution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ja-JP" altLang="ja-JP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ja-JP" dirty="0"/>
              <a:t>The proposed SNN implementation achieves a 1.86 to 3.86</a:t>
            </a:r>
            <a:r>
              <a:rPr lang="en-US" altLang="ja-JP" dirty="0"/>
              <a:t> </a:t>
            </a:r>
            <a:r>
              <a:rPr lang="ja-JP" altLang="ja-JP" dirty="0"/>
              <a:t>x</a:t>
            </a:r>
            <a:r>
              <a:rPr lang="en-US" altLang="ja-JP" dirty="0"/>
              <a:t>(times)</a:t>
            </a:r>
            <a:r>
              <a:rPr lang="ja-JP" altLang="ja-JP" dirty="0"/>
              <a:t> execution speedup over the conventional ANN generator baseline</a:t>
            </a:r>
            <a:r>
              <a:rPr lang="en-US" altLang="ja-JP" dirty="0"/>
              <a:t>, as demonstrated in figure 3</a:t>
            </a:r>
            <a:r>
              <a:rPr lang="ja-JP" altLang="ja-JP" dirty="0"/>
              <a:t>.</a:t>
            </a:r>
            <a:endParaRPr lang="en-US" altLang="ja-JP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[5m]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t>8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ja-JP" dirty="0"/>
              <a:t>Table 4 summarizes the FPGA resource utilization. </a:t>
            </a:r>
            <a:r>
              <a:rPr lang="en-US" altLang="ja-JP" dirty="0"/>
              <a:t>T</a:t>
            </a:r>
            <a:r>
              <a:rPr lang="ja-JP" altLang="ja-JP" dirty="0"/>
              <a:t>he architecture completely eliminates the use of DSP slices, utilizing zero DSP engines. </a:t>
            </a:r>
            <a:r>
              <a:rPr lang="en-US" altLang="ja-JP" dirty="0"/>
              <a:t>(DSP = </a:t>
            </a:r>
            <a:r>
              <a:rPr lang="ja-JP" altLang="ja-JP" dirty="0"/>
              <a:t>Digital Signal Processing</a:t>
            </a:r>
            <a:r>
              <a:rPr lang="en-US" altLang="ja-JP" dirty="0"/>
              <a:t> block)</a:t>
            </a:r>
            <a:endParaRPr lang="ja-JP" altLang="ja-JP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ja-JP" dirty="0"/>
              <a:t>Table 5 shows the power consumption. The implementation is highly energy-efficient, with dynamic power consumption restricted to just 3.095 W</a:t>
            </a:r>
            <a:r>
              <a:rPr lang="en-US" altLang="ja-JP" dirty="0"/>
              <a:t> (</a:t>
            </a:r>
            <a:r>
              <a:rPr lang="ja-JP" altLang="ja-JP" dirty="0"/>
              <a:t>, representing only 19% of the total on-chip power</a:t>
            </a:r>
            <a:r>
              <a:rPr lang="en-US" altLang="ja-JP" dirty="0"/>
              <a:t>)</a:t>
            </a:r>
            <a:r>
              <a:rPr lang="ja-JP" altLang="ja-JP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ja-JP" dirty="0"/>
              <a:t>Additionally, Figure 4</a:t>
            </a:r>
            <a:r>
              <a:rPr lang="en-US" altLang="ja-JP" dirty="0"/>
              <a:t> shows that</a:t>
            </a:r>
            <a:r>
              <a:rPr lang="ja-JP" altLang="ja-JP" dirty="0"/>
              <a:t> the generative SNN requires a </a:t>
            </a:r>
            <a:r>
              <a:rPr lang="en-US" altLang="ja-JP" dirty="0"/>
              <a:t>h</a:t>
            </a:r>
            <a:r>
              <a:rPr lang="ja-JP" altLang="ja-JP" dirty="0"/>
              <a:t>ighly dense implementation spanning the majority of the FPGA fabric.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[6m]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t>9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80604020202020204" pitchFamily="34" charset="0"/>
              <a:buChar char="•"/>
            </a:pPr>
            <a:r>
              <a:rPr lang="ja-JP" altLang="ja-JP" dirty="0"/>
              <a:t>We successfully demonstrated a hardware-accelerated generative SNN on the AMD VCK5000 Versal </a:t>
            </a:r>
            <a:r>
              <a:rPr lang="en-US" altLang="ja-JP" dirty="0"/>
              <a:t>Development Card</a:t>
            </a:r>
            <a:r>
              <a:rPr lang="ja-JP" altLang="ja-JP" dirty="0"/>
              <a:t>. </a:t>
            </a:r>
            <a:endParaRPr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ja-JP" altLang="ja-JP" dirty="0"/>
              <a:t>The architecture completely eliminates power-hungry DSP blocks, utilizing zero DSP engines. </a:t>
            </a:r>
            <a:endParaRPr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ja-JP" altLang="ja-JP" dirty="0"/>
              <a:t>It restricts dynamic power to just 3.095 W and delivers a 1.86 to 3.86</a:t>
            </a:r>
            <a:r>
              <a:rPr lang="en-US" altLang="ja-JP" dirty="0"/>
              <a:t> </a:t>
            </a:r>
            <a:r>
              <a:rPr lang="ja-JP" altLang="ja-JP" dirty="0"/>
              <a:t>x</a:t>
            </a:r>
            <a:r>
              <a:rPr lang="en-US" altLang="ja-JP" dirty="0"/>
              <a:t>(times)</a:t>
            </a:r>
            <a:r>
              <a:rPr lang="ja-JP" altLang="ja-JP" dirty="0"/>
              <a:t> execution speedup over conventional ANN baselines. </a:t>
            </a:r>
            <a:endParaRPr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ja-JP" altLang="ja-JP" dirty="0"/>
              <a:t>This approach enables real-time, energy-efficient inference for autonomous robotic platforms. </a:t>
            </a:r>
            <a:endParaRPr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ja-JP" altLang="ja-JP" dirty="0"/>
              <a:t>Future work will focus on physical deployment. </a:t>
            </a:r>
            <a:endParaRPr lang="en-US" altLang="ja-JP" dirty="0"/>
          </a:p>
          <a:p>
            <a:pPr marL="171450" indent="-171450">
              <a:buFont typeface="Arial" panose="02080604020202020204" pitchFamily="34" charset="0"/>
              <a:buChar char="•"/>
            </a:pPr>
            <a:endParaRPr kumimoji="1" lang="en-US" altLang="ja-JP" dirty="0"/>
          </a:p>
          <a:p>
            <a:pPr marL="0" indent="0">
              <a:buFont typeface="Arial" panose="02080604020202020204" pitchFamily="34" charset="0"/>
              <a:buNone/>
            </a:pPr>
            <a:r>
              <a:rPr kumimoji="1" lang="en-US" altLang="ja-JP" dirty="0"/>
              <a:t>[7m]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t>10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This slide is References. </a:t>
            </a:r>
            <a:br>
              <a:rPr lang="en-US"/>
            </a:br>
            <a:br>
              <a:rPr lang="en-US"/>
            </a:br>
            <a:r>
              <a:rPr lang="en-US"/>
              <a:t>Thank you for your attention.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9A4A6-097F-45B1-88C1-9E68039E7992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apan.xilinx.com/content/dam/xilinx/publications/product-briefs/amd-xilinx-vck5000-product-brief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xilinx.github.io/Alveo-Versal-Platforms/alveoversalplatforms/build/html/docs/user-guide/ug_vck5000_gen4x8_qdma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apan.xilinx.com/content/dam/xilinx/publications/product-briefs/amd-xilinx-vck5000-product-brief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xilinx.github.io/Alveo-Versal-Platforms/alveoversalplatforms/build/html/docs/user-guide/ug_vck5000_gen4x8_qdm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/>
          </p:nvPr>
        </p:nvSpPr>
        <p:spPr>
          <a:xfrm>
            <a:off x="851535" y="1574800"/>
            <a:ext cx="10489565" cy="2098675"/>
          </a:xfrm>
        </p:spPr>
        <p:txBody>
          <a:bodyPr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ja-JP" altLang="ja-JP" sz="3900" b="1" dirty="0">
                <a:latin typeface="Liberation Sans" panose="020B0604020202020204" charset="0"/>
                <a:cs typeface="Liberation Sans" panose="020B0604020202020204" charset="0"/>
              </a:rPr>
              <a:t>FPGA-based Neuromorphic Acceleration of Spiking Neural Networks</a:t>
            </a:r>
            <a:r>
              <a:rPr lang="en-US" altLang="ja-JP" sz="3900" b="1" dirty="0">
                <a:latin typeface="Liberation Sans" panose="020B0604020202020204" charset="0"/>
                <a:cs typeface="Liberation Sans" panose="020B0604020202020204" charset="0"/>
              </a:rPr>
              <a:t> for Event-Driven Humanoid Robotics</a:t>
            </a:r>
            <a:endParaRPr lang="ja-JP" altLang="en-US" sz="39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sp>
        <p:nvSpPr>
          <p:cNvPr id="10" name="サブタイトル 2"/>
          <p:cNvSpPr>
            <a:spLocks noGrp="1"/>
          </p:cNvSpPr>
          <p:nvPr>
            <p:ph type="subTitle" idx="1"/>
          </p:nvPr>
        </p:nvSpPr>
        <p:spPr>
          <a:xfrm>
            <a:off x="922655" y="4319270"/>
            <a:ext cx="10346055" cy="2198370"/>
          </a:xfrm>
        </p:spPr>
        <p:txBody>
          <a:bodyPr rtlCol="0">
            <a:normAutofit fontScale="975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ja-JP" b="1" dirty="0">
                <a:latin typeface="Liberation Sans" panose="020B0604020202020204" charset="0"/>
                <a:cs typeface="Liberation Sans" panose="020B0604020202020204" charset="0"/>
              </a:rPr>
              <a:t>Authors: </a:t>
            </a:r>
            <a:r>
              <a:rPr lang="ja-JP" altLang="ja-JP" u="sng" dirty="0">
                <a:latin typeface="Liberation Sans" panose="020B0604020202020204" charset="0"/>
                <a:cs typeface="Liberation Sans" panose="020B0604020202020204" charset="0"/>
              </a:rPr>
              <a:t>Aruki Komatsuzaki</a:t>
            </a:r>
            <a:r>
              <a:rPr lang="ja-JP" altLang="ja-JP" dirty="0">
                <a:latin typeface="Liberation Sans" panose="020B0604020202020204" charset="0"/>
                <a:cs typeface="Liberation Sans" panose="020B0604020202020204" charset="0"/>
              </a:rPr>
              <a:t> , Atharv Sharma, Yuga Hanyu, </a:t>
            </a:r>
          </a:p>
          <a:p>
            <a:pPr fontAlgn="auto">
              <a:spcAft>
                <a:spcPts val="0"/>
              </a:spcAft>
              <a:defRPr/>
            </a:pPr>
            <a:r>
              <a:rPr lang="ja-JP" altLang="ja-JP" dirty="0">
                <a:latin typeface="Liberation Sans" panose="020B0604020202020204" charset="0"/>
                <a:cs typeface="Liberation Sans" panose="020B0604020202020204" charset="0"/>
              </a:rPr>
              <a:t>Khanh N. Dang, Abderazek Ben Abdallah</a:t>
            </a:r>
            <a:r>
              <a:rPr lang="en-US" altLang="ja-JP" dirty="0">
                <a:latin typeface="Liberation Sans" panose="020B0604020202020204" charset="0"/>
                <a:cs typeface="Liberation Sans" panose="020B0604020202020204" charset="0"/>
              </a:rPr>
              <a:t> and</a:t>
            </a:r>
            <a:r>
              <a:rPr lang="ja-JP" altLang="ja-JP" dirty="0">
                <a:latin typeface="Liberation Sans" panose="020B0604020202020204" charset="0"/>
                <a:cs typeface="Liberation Sans" panose="020B0604020202020204" charset="0"/>
              </a:rPr>
              <a:t> Zhishang Wang</a:t>
            </a:r>
            <a:endParaRPr lang="en-US" altLang="ja-JP" dirty="0">
              <a:latin typeface="Liberation Sans" panose="020B0604020202020204" charset="0"/>
              <a:cs typeface="Liberation Sans" panose="020B060402020202020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ja-JP" dirty="0">
                <a:latin typeface="Liberation Sans" panose="020B0604020202020204" charset="0"/>
                <a:cs typeface="Liberation Sans" panose="020B0604020202020204" charset="0"/>
              </a:rPr>
              <a:t>University of Aizu, Fukushima, Japan</a:t>
            </a:r>
          </a:p>
          <a:p>
            <a:pPr fontAlgn="auto">
              <a:spcAft>
                <a:spcPts val="0"/>
              </a:spcAft>
              <a:defRPr/>
            </a:pPr>
            <a:endParaRPr lang="en-US" altLang="ja-JP" dirty="0">
              <a:latin typeface="Liberation Sans" panose="020B0604020202020204" charset="0"/>
              <a:cs typeface="Liberation Sans" panose="020B060402020202020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ja-JP" dirty="0">
                <a:latin typeface="Liberation Sans" panose="020B0604020202020204" charset="0"/>
                <a:cs typeface="Liberation Sans" panose="020B0604020202020204" charset="0"/>
              </a:rPr>
              <a:t>August 14, 2026</a:t>
            </a:r>
            <a:endParaRPr lang="ja-JP" altLang="en-US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55" y="335280"/>
            <a:ext cx="2058670" cy="6889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198495" y="348615"/>
            <a:ext cx="7479665" cy="675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ja-JP" altLang="ja-JP" sz="1900" dirty="0">
                <a:latin typeface="Liberation Sans" panose="020B0604020202020204" charset="0"/>
                <a:cs typeface="Liberation Sans" panose="020B0604020202020204" charset="0"/>
                <a:sym typeface="+mn-ea"/>
              </a:rPr>
              <a:t>9th International Conference on Knowledge Innovation and Invention 2026 (ICKII 2026)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851535" y="4015105"/>
            <a:ext cx="104895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922655" y="1233805"/>
            <a:ext cx="104895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01650" y="1420033"/>
            <a:ext cx="82296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ja-JP" altLang="ja-JP" sz="2400" dirty="0">
                <a:latin typeface="Liberation Sans" panose="020B0604020202020204" charset="0"/>
                <a:cs typeface="Liberation Sans" panose="020B0604020202020204" charset="0"/>
              </a:rPr>
              <a:t>1. Introduction</a:t>
            </a:r>
          </a:p>
          <a:p>
            <a:pPr marL="0" lvl="0" indent="0">
              <a:buNone/>
            </a:pPr>
            <a:r>
              <a:rPr lang="ja-JP" altLang="ja-JP" sz="2400" dirty="0">
                <a:latin typeface="Liberation Sans" panose="020B0604020202020204" charset="0"/>
                <a:cs typeface="Liberation Sans" panose="020B0604020202020204" charset="0"/>
              </a:rPr>
              <a:t>2. Proposed Framework</a:t>
            </a:r>
          </a:p>
          <a:p>
            <a:pPr marL="457200" lvl="1" indent="0">
              <a:buNone/>
            </a:pPr>
            <a:r>
              <a:rPr lang="ja-JP" altLang="ja-JP" dirty="0">
                <a:latin typeface="Liberation Sans" panose="020B0604020202020204" charset="0"/>
                <a:cs typeface="Liberation Sans" panose="020B0604020202020204" charset="0"/>
              </a:rPr>
              <a:t>2.1. Software</a:t>
            </a:r>
          </a:p>
          <a:p>
            <a:pPr marL="457200" lvl="1" indent="0">
              <a:buNone/>
            </a:pPr>
            <a:r>
              <a:rPr lang="ja-JP" altLang="ja-JP" dirty="0">
                <a:latin typeface="Liberation Sans" panose="020B0604020202020204" charset="0"/>
                <a:cs typeface="Liberation Sans" panose="020B0604020202020204" charset="0"/>
              </a:rPr>
              <a:t>2.2. Hardware</a:t>
            </a:r>
          </a:p>
          <a:p>
            <a:pPr marL="0" lvl="0" indent="0">
              <a:buNone/>
            </a:pPr>
            <a:r>
              <a:rPr lang="ja-JP" altLang="ja-JP" sz="2400" dirty="0">
                <a:latin typeface="Liberation Sans" panose="020B0604020202020204" charset="0"/>
                <a:cs typeface="Liberation Sans" panose="020B0604020202020204" charset="0"/>
              </a:rPr>
              <a:t>3. Evaluation</a:t>
            </a:r>
          </a:p>
          <a:p>
            <a:pPr marL="457200" lvl="1" indent="0">
              <a:buNone/>
            </a:pPr>
            <a:r>
              <a:rPr lang="ja-JP" altLang="ja-JP" dirty="0">
                <a:latin typeface="Liberation Sans" panose="020B0604020202020204" charset="0"/>
                <a:cs typeface="Liberation Sans" panose="020B0604020202020204" charset="0"/>
              </a:rPr>
              <a:t>3.1. Experimental Setup</a:t>
            </a:r>
          </a:p>
          <a:p>
            <a:pPr marL="457200" lvl="1" indent="0">
              <a:buNone/>
            </a:pPr>
            <a:r>
              <a:rPr lang="ja-JP" altLang="ja-JP" dirty="0">
                <a:latin typeface="Liberation Sans" panose="020B0604020202020204" charset="0"/>
                <a:cs typeface="Liberation Sans" panose="020B0604020202020204" charset="0"/>
              </a:rPr>
              <a:t>3.2. Computation Comparison</a:t>
            </a:r>
          </a:p>
          <a:p>
            <a:pPr marL="457200" lvl="1" indent="0">
              <a:buNone/>
            </a:pPr>
            <a:r>
              <a:rPr lang="ja-JP" altLang="ja-JP" dirty="0">
                <a:latin typeface="Liberation Sans" panose="020B0604020202020204" charset="0"/>
                <a:cs typeface="Liberation Sans" panose="020B0604020202020204" charset="0"/>
              </a:rPr>
              <a:t>3.3. FPGA Implementation</a:t>
            </a:r>
          </a:p>
          <a:p>
            <a:pPr marL="0" lvl="0" indent="0">
              <a:buNone/>
            </a:pPr>
            <a:r>
              <a:rPr lang="ja-JP" altLang="ja-JP" sz="2400" dirty="0">
                <a:latin typeface="Liberation Sans" panose="020B0604020202020204" charset="0"/>
                <a:cs typeface="Liberation Sans" panose="020B0604020202020204" charset="0"/>
              </a:rPr>
              <a:t>4. Conclusion</a:t>
            </a:r>
          </a:p>
        </p:txBody>
      </p:sp>
      <p:sp>
        <p:nvSpPr>
          <p:cNvPr id="6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2184400" y="6310168"/>
            <a:ext cx="2133600" cy="365125"/>
          </a:xfrm>
        </p:spPr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t>August 12, 2026</a:t>
            </a:fld>
            <a:endParaRPr lang="ja-JP" altLang="en-US" dirty="0"/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851400" y="6310168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280400" y="6310168"/>
            <a:ext cx="2133600" cy="365125"/>
          </a:xfrm>
        </p:spPr>
        <p:txBody>
          <a:bodyPr/>
          <a:lstStyle/>
          <a:p>
            <a:fld id="{A71F8161-A6B0-4506-BBCB-E71FDBA8D53D}" type="slidenum">
              <a:rPr lang="ja-JP" altLang="en-US" smtClean="0"/>
              <a:t>2</a:t>
            </a:fld>
            <a:endParaRPr lang="ja-JP" altLang="en-US"/>
          </a:p>
        </p:txBody>
      </p:sp>
      <p:sp>
        <p:nvSpPr>
          <p:cNvPr id="3" name="タイトル 1"/>
          <p:cNvSpPr>
            <a:spLocks noGrp="1"/>
          </p:cNvSpPr>
          <p:nvPr>
            <p:ph type="title"/>
          </p:nvPr>
        </p:nvSpPr>
        <p:spPr>
          <a:xfrm>
            <a:off x="501650" y="353695"/>
            <a:ext cx="11188700" cy="628015"/>
          </a:xfrm>
        </p:spPr>
        <p:txBody>
          <a:bodyPr>
            <a:normAutofit/>
          </a:bodyPr>
          <a:lstStyle/>
          <a:p>
            <a:r>
              <a:rPr lang="en-US" altLang="ja-JP" sz="2800" b="1" dirty="0">
                <a:latin typeface="Liberation Sans" panose="020B0604020202020204" charset="0"/>
                <a:cs typeface="Liberation Sans" panose="020B0604020202020204" charset="0"/>
              </a:rPr>
              <a:t>Contents</a:t>
            </a:r>
            <a:endParaRPr kumimoji="1" lang="en-US" altLang="ja-JP" sz="28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01650" y="981710"/>
            <a:ext cx="11188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01650" y="1165860"/>
            <a:ext cx="11264265" cy="4526280"/>
          </a:xfrm>
        </p:spPr>
        <p:txBody>
          <a:bodyPr>
            <a:noAutofit/>
          </a:bodyPr>
          <a:lstStyle/>
          <a:p>
            <a:pPr lvl="0"/>
            <a:r>
              <a:rPr lang="en-US" altLang="ja-JP" sz="2400" b="1" dirty="0">
                <a:latin typeface="Liberation Sans" panose="020B0604020202020204"/>
                <a:cs typeface="Liberation Sans" panose="020B0604020202020204" charset="0"/>
              </a:rPr>
              <a:t>Problem</a:t>
            </a:r>
            <a:r>
              <a:rPr lang="ja-JP" altLang="ja-JP" sz="2400" b="1" dirty="0">
                <a:latin typeface="Liberation Sans" panose="020B0604020202020204"/>
                <a:cs typeface="Liberation Sans" panose="020B0604020202020204" charset="0"/>
              </a:rPr>
              <a:t>:</a:t>
            </a:r>
            <a:endParaRPr lang="ja-JP" altLang="ja-JP" sz="2400" dirty="0">
              <a:latin typeface="Liberation Sans" panose="020B0604020202020204"/>
              <a:cs typeface="Liberation Sans" panose="020B0604020202020204" charset="0"/>
            </a:endParaRPr>
          </a:p>
          <a:p>
            <a:pPr lvl="1"/>
            <a:r>
              <a:rPr lang="ja-JP" altLang="ja-JP" dirty="0">
                <a:latin typeface="Liberation Sans" panose="020B0604020202020204"/>
                <a:cs typeface="Liberation Sans" panose="020B0604020202020204" charset="0"/>
              </a:rPr>
              <a:t>Generative Adversarial Networks (GANs</a:t>
            </a:r>
            <a:r>
              <a:rPr lang="en-US" altLang="ja-JP" baseline="30000" dirty="0">
                <a:latin typeface="Liberation Sans" panose="020B0604020202020204"/>
                <a:cs typeface="Liberation Sans" panose="020B0604020202020204" charset="0"/>
              </a:rPr>
              <a:t>1</a:t>
            </a:r>
            <a:r>
              <a:rPr lang="ja-JP" altLang="ja-JP" dirty="0">
                <a:latin typeface="Liberation Sans" panose="020B0604020202020204"/>
                <a:cs typeface="Liberation Sans" panose="020B0604020202020204" charset="0"/>
              </a:rPr>
              <a:t>) </a:t>
            </a:r>
            <a:r>
              <a:rPr lang="en-US" altLang="ja-JP" dirty="0">
                <a:latin typeface="Liberation Sans" panose="020B0604020202020204"/>
                <a:cs typeface="Liberation Sans" panose="020B0604020202020204" charset="0"/>
              </a:rPr>
              <a:t>demand high computational capability.</a:t>
            </a:r>
            <a:endParaRPr lang="ja-JP" altLang="ja-JP" dirty="0">
              <a:latin typeface="Liberation Sans" panose="020B0604020202020204"/>
              <a:cs typeface="Liberation Sans" panose="020B0604020202020204" charset="0"/>
            </a:endParaRPr>
          </a:p>
          <a:p>
            <a:pPr lvl="1"/>
            <a:r>
              <a:rPr lang="en-US" altLang="ja-JP" dirty="0">
                <a:latin typeface="Liberation Sans" panose="020B0604020202020204"/>
                <a:cs typeface="Liberation Sans" panose="020B0604020202020204" charset="0"/>
              </a:rPr>
              <a:t>Deployment is limited on humanoid robots with strict power budgets.</a:t>
            </a:r>
            <a:endParaRPr lang="ja-JP" altLang="ja-JP" dirty="0">
              <a:latin typeface="Liberation Sans" panose="020B0604020202020204"/>
              <a:cs typeface="Liberation Sans" panose="020B0604020202020204" charset="0"/>
            </a:endParaRPr>
          </a:p>
          <a:p>
            <a:pPr lvl="0"/>
            <a:r>
              <a:rPr lang="en-US" altLang="ja-JP" sz="2400" b="1" dirty="0">
                <a:latin typeface="Liberation Sans" panose="020B0604020202020204"/>
                <a:cs typeface="Liberation Sans" panose="020B0604020202020204" charset="0"/>
              </a:rPr>
              <a:t>Solution</a:t>
            </a:r>
            <a:r>
              <a:rPr lang="ja-JP" altLang="ja-JP" sz="2400" b="1" dirty="0">
                <a:latin typeface="Liberation Sans" panose="020B0604020202020204"/>
                <a:cs typeface="Liberation Sans" panose="020B0604020202020204" charset="0"/>
              </a:rPr>
              <a:t>:</a:t>
            </a:r>
            <a:endParaRPr lang="ja-JP" altLang="ja-JP" sz="2400" dirty="0">
              <a:latin typeface="Liberation Sans" panose="020B0604020202020204"/>
              <a:cs typeface="Liberation Sans" panose="020B0604020202020204" charset="0"/>
            </a:endParaRPr>
          </a:p>
          <a:p>
            <a:pPr lvl="1"/>
            <a:r>
              <a:rPr lang="ja-JP" altLang="ja-JP" dirty="0">
                <a:latin typeface="Liberation Sans" panose="020B0604020202020204"/>
                <a:cs typeface="Liberation Sans" panose="020B0604020202020204" charset="0"/>
              </a:rPr>
              <a:t>Spiking Neural Networks (SNNs</a:t>
            </a:r>
            <a:r>
              <a:rPr lang="en-US" altLang="ja-JP" baseline="30000" dirty="0">
                <a:latin typeface="Liberation Sans" panose="020B0604020202020204"/>
                <a:cs typeface="Liberation Sans" panose="020B0604020202020204" charset="0"/>
              </a:rPr>
              <a:t>6</a:t>
            </a:r>
            <a:r>
              <a:rPr lang="ja-JP" altLang="ja-JP" dirty="0">
                <a:latin typeface="Liberation Sans" panose="020B0604020202020204"/>
                <a:cs typeface="Liberation Sans" panose="020B0604020202020204" charset="0"/>
              </a:rPr>
              <a:t>) </a:t>
            </a:r>
            <a:r>
              <a:rPr lang="en-US" altLang="ja-JP" dirty="0">
                <a:latin typeface="Liberation Sans" panose="020B0604020202020204"/>
                <a:cs typeface="Liberation Sans" panose="020B0604020202020204" charset="0"/>
              </a:rPr>
              <a:t>offer event-driven, multiplication-free computation.</a:t>
            </a:r>
            <a:endParaRPr lang="ja-JP" altLang="ja-JP" dirty="0">
              <a:latin typeface="Liberation Sans" panose="020B0604020202020204"/>
              <a:cs typeface="Liberation Sans" panose="020B0604020202020204" charset="0"/>
            </a:endParaRPr>
          </a:p>
          <a:p>
            <a:pPr lvl="0"/>
            <a:r>
              <a:rPr lang="en-US" altLang="ja-JP" sz="2400" b="1" dirty="0">
                <a:latin typeface="Liberation Sans" panose="020B0604020202020204"/>
                <a:cs typeface="Liberation Sans" panose="020B0604020202020204" charset="0"/>
              </a:rPr>
              <a:t>Objective</a:t>
            </a:r>
            <a:r>
              <a:rPr lang="ja-JP" altLang="ja-JP" sz="2400" b="1" dirty="0">
                <a:latin typeface="Liberation Sans" panose="020B0604020202020204"/>
                <a:cs typeface="Liberation Sans" panose="020B0604020202020204" charset="0"/>
              </a:rPr>
              <a:t>:</a:t>
            </a:r>
            <a:endParaRPr lang="ja-JP" altLang="ja-JP" sz="2400" dirty="0">
              <a:latin typeface="Liberation Sans" panose="020B0604020202020204"/>
              <a:cs typeface="Liberation Sans" panose="020B0604020202020204" charset="0"/>
            </a:endParaRPr>
          </a:p>
          <a:p>
            <a:pPr lvl="1"/>
            <a:r>
              <a:rPr lang="en-US" altLang="ja-JP" dirty="0">
                <a:latin typeface="Liberation Sans" panose="020B0604020202020204"/>
                <a:cs typeface="Liberation Sans" panose="020B0604020202020204" charset="0"/>
              </a:rPr>
              <a:t>Map SNNs onto FPGAs</a:t>
            </a:r>
            <a:r>
              <a:rPr lang="en-US" altLang="ja-JP" baseline="30000" dirty="0">
                <a:latin typeface="Liberation Sans" panose="020B0604020202020204"/>
                <a:cs typeface="Liberation Sans" panose="020B0604020202020204" charset="0"/>
              </a:rPr>
              <a:t>8 </a:t>
            </a:r>
            <a:r>
              <a:rPr lang="en-US" altLang="ja-JP" dirty="0">
                <a:latin typeface="Liberation Sans" panose="020B0604020202020204"/>
                <a:cs typeface="Liberation Sans" panose="020B0604020202020204" charset="0"/>
              </a:rPr>
              <a:t>exploiting spike sparsity without power-hungry computational blocks.</a:t>
            </a:r>
            <a:endParaRPr lang="ja-JP" altLang="ja-JP" dirty="0">
              <a:latin typeface="Liberation Sans" panose="020B0604020202020204"/>
              <a:cs typeface="Liberation Sans" panose="020B0604020202020204" charset="0"/>
            </a:endParaRP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t>August 12, 2026</a:t>
            </a:fld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The University of Aizu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t>3</a:t>
            </a:fld>
            <a:endParaRPr lang="ja-JP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571182" y="5288915"/>
            <a:ext cx="1112520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ja-JP" sz="1000" dirty="0">
                <a:sym typeface="+mn-ea"/>
              </a:rPr>
              <a:t>1 </a:t>
            </a:r>
            <a:r>
              <a:rPr lang="en-US" altLang="ja-JP" sz="1000" u="sng" dirty="0">
                <a:sym typeface="+mn-ea"/>
              </a:rPr>
              <a:t>Goodfellow, Ian, et al. "Generative adversarial networks." Communications of the ACM 63.11 (2020): 139-144.</a:t>
            </a:r>
          </a:p>
          <a:p>
            <a:r>
              <a:rPr lang="en-US" altLang="ja-JP" sz="1000" dirty="0">
                <a:sym typeface="+mn-ea"/>
              </a:rPr>
              <a:t>6 </a:t>
            </a:r>
            <a:r>
              <a:rPr lang="en-US" altLang="ja-JP" sz="1000" u="sng" dirty="0"/>
              <a:t>Merolla, Paul A., et al. "A million spiking-neuron integrated circuit with a scalable communication network and interface." Science 345.6197 (2014): 668-673.</a:t>
            </a:r>
          </a:p>
          <a:p>
            <a:r>
              <a:rPr lang="en-US" altLang="ja-JP" sz="1000" dirty="0"/>
              <a:t>8 </a:t>
            </a:r>
            <a:r>
              <a:rPr lang="en-US" altLang="ja-JP" sz="1000" u="sng" dirty="0"/>
              <a:t>Mittal, Sparsh. "A survey of FPGA-based accelerators for convolutional neural networks." Neural computing and applications 32.4 (2020): 1109-1139.</a:t>
            </a:r>
            <a:endParaRPr lang="ja-JP" altLang="ja-JP" sz="1000" dirty="0"/>
          </a:p>
        </p:txBody>
      </p:sp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501650" y="353695"/>
            <a:ext cx="11188700" cy="628015"/>
          </a:xfrm>
        </p:spPr>
        <p:txBody>
          <a:bodyPr>
            <a:normAutofit/>
          </a:bodyPr>
          <a:lstStyle/>
          <a:p>
            <a:r>
              <a:rPr lang="en-US" altLang="ja-JP" sz="2800" b="1" dirty="0">
                <a:latin typeface="Liberation Sans" panose="020B0604020202020204" charset="0"/>
                <a:cs typeface="Liberation Sans" panose="020B0604020202020204" charset="0"/>
              </a:rPr>
              <a:t>Introduction</a:t>
            </a:r>
            <a:endParaRPr kumimoji="1" lang="en-US" altLang="ja-JP" sz="28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cxnSp>
        <p:nvCxnSpPr>
          <p:cNvPr id="11" name="Straight Connector 9"/>
          <p:cNvCxnSpPr/>
          <p:nvPr/>
        </p:nvCxnSpPr>
        <p:spPr>
          <a:xfrm>
            <a:off x="501650" y="981710"/>
            <a:ext cx="11188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1650" y="353695"/>
            <a:ext cx="11188700" cy="628015"/>
          </a:xfrm>
        </p:spPr>
        <p:txBody>
          <a:bodyPr>
            <a:normAutofit/>
          </a:bodyPr>
          <a:lstStyle/>
          <a:p>
            <a:r>
              <a:rPr lang="en-US" altLang="ja-JP" sz="2800" b="1" dirty="0">
                <a:latin typeface="Liberation Sans" panose="020B0604020202020204" charset="0"/>
                <a:cs typeface="Liberation Sans" panose="020B0604020202020204" charset="0"/>
              </a:rPr>
              <a:t>Proposed Framework: </a:t>
            </a:r>
            <a:r>
              <a:rPr lang="en-US" altLang="ja-JP" sz="2800" dirty="0">
                <a:latin typeface="Liberation Sans" panose="020B0604020202020204" charset="0"/>
                <a:cs typeface="Liberation Sans" panose="020B0604020202020204" charset="0"/>
              </a:rPr>
              <a:t>Software &amp; Hardware Implementation</a:t>
            </a:r>
            <a:endParaRPr kumimoji="1" lang="en-US" altLang="ja-JP" sz="28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030095" y="5726430"/>
            <a:ext cx="8129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solidFill>
                  <a:srgbClr val="000000"/>
                </a:solidFill>
                <a:latin typeface="Liberation Sans" panose="020B0604020202020204" charset="0"/>
                <a:ea typeface="Times New Roman" panose="02020603050405020304" pitchFamily="18" charset="0"/>
                <a:cs typeface="Liberation Sans" panose="020B0604020202020204" charset="0"/>
              </a:rPr>
              <a:t>Figure 1. </a:t>
            </a:r>
            <a:r>
              <a:rPr lang="en-US" altLang="ja-JP" sz="1600" dirty="0">
                <a:solidFill>
                  <a:srgbClr val="000000"/>
                </a:solidFill>
                <a:latin typeface="Liberation Sans" panose="020B0604020202020204" charset="0"/>
                <a:ea typeface="Times New Roman" panose="02020603050405020304" pitchFamily="18" charset="0"/>
                <a:cs typeface="Liberation Sans" panose="020B0604020202020204" charset="0"/>
              </a:rPr>
              <a:t>Design flow of the implementation framework for GAN model.</a:t>
            </a:r>
            <a:endParaRPr lang="ja-JP" altLang="en-US" sz="16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pic>
        <p:nvPicPr>
          <p:cNvPr id="109176950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1365" y="1309370"/>
            <a:ext cx="8128635" cy="42532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>
                <a:latin typeface="Liberation Sans" panose="020B0604020202020204" charset="0"/>
                <a:cs typeface="Liberation Sans" panose="020B0604020202020204" charset="0"/>
              </a:rPr>
              <a:t>August 12, 2026</a:t>
            </a:fld>
            <a:endParaRPr lang="en-US" altLang="ja-JP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Liberation Sans" panose="020B0604020202020204" charset="0"/>
                <a:cs typeface="Liberation Sans" panose="020B0604020202020204" charset="0"/>
              </a:rPr>
              <a:t>The University of Aizu</a:t>
            </a: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>
                <a:latin typeface="Liberation Sans" panose="020B0604020202020204" charset="0"/>
                <a:cs typeface="Liberation Sans" panose="020B0604020202020204" charset="0"/>
              </a:rPr>
              <a:t>4</a:t>
            </a:fld>
            <a:endParaRPr lang="ja-JP" altLang="en-US">
              <a:latin typeface="Liberation Sans" panose="020B0604020202020204" charset="0"/>
              <a:cs typeface="Liberation Sans" panose="020B060402020202020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01650" y="981710"/>
            <a:ext cx="11188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>
              <a:xfrm>
                <a:off x="501650" y="1350327"/>
                <a:ext cx="10256240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altLang="ja-JP" sz="240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ja-JP" sz="240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min</m:t>
                          </m:r>
                        </m:e>
                        <m:lim>
                          <m:r>
                            <a:rPr lang="ja-JP" alt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lim>
                      </m:limLow>
                      <m:r>
                        <a:rPr lang="ja-JP" altLang="en-US" sz="2400">
                          <a:latin typeface="Cambria Math" panose="02040503050406030204" pitchFamily="18" charset="0"/>
                          <a:ea typeface="MS Mincho" charset="0"/>
                          <a:cs typeface="DejaVu Math TeX Gyre" panose="02000503000000000000" charset="0"/>
                        </a:rPr>
                        <m:t> </m:t>
                      </m:r>
                      <m:limLow>
                        <m:limLowPr>
                          <m:ctrlPr>
                            <a:rPr lang="en-US" altLang="ja-JP" sz="240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ja-JP" sz="240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max</m:t>
                          </m:r>
                        </m:e>
                        <m:lim>
                          <m:r>
                            <a:rPr lang="ja-JP" alt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𝐷</m:t>
                          </m:r>
                        </m:lim>
                      </m:limLow>
                      <m:r>
                        <a:rPr lang="ja-JP" altLang="en-US" sz="2400">
                          <a:latin typeface="Cambria Math" panose="02040503050406030204" pitchFamily="18" charset="0"/>
                          <a:ea typeface="MS Mincho" charset="0"/>
                          <a:cs typeface="DejaVu Math TeX Gyre" panose="02000503000000000000" charset="0"/>
                        </a:rPr>
                        <m:t> </m:t>
                      </m:r>
                      <m:sSub>
                        <m:sSubPr>
                          <m:ctrlPr>
                            <a:rPr lang="ja-JP" alt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ja-JP" alt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𝑉</m:t>
                          </m:r>
                        </m:e>
                        <m:sub>
                          <m:r>
                            <a:rPr lang="ja-JP" alt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𝐷</m:t>
                          </m:r>
                          <m:r>
                            <a:rPr lang="en-US" altLang="ja-JP" sz="2400">
                              <a:latin typeface="Cambria Math" panose="02040503050406030204" pitchFamily="18" charset="0"/>
                              <a:ea typeface="MS Mincho" charset="0"/>
                              <a:cs typeface="DejaVu Math TeX Gyre" panose="02000503000000000000" charset="0"/>
                            </a:rPr>
                            <m:t>,</m:t>
                          </m:r>
                          <m:r>
                            <a:rPr lang="ja-JP" alt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sub>
                      </m:sSub>
                      <m:r>
                        <a:rPr lang="en-US" altLang="ja-JP" sz="2400">
                          <a:latin typeface="Cambria Math" panose="02040503050406030204" pitchFamily="18" charset="0"/>
                          <a:ea typeface="MS Mincho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>
                              <a:latin typeface="Cambria Math" panose="02040503050406030204" pitchFamily="18" charset="0"/>
                              <a:ea typeface="MS Mincho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ja-JP" sz="2400">
                              <a:latin typeface="Cambria Math" panose="02040503050406030204" pitchFamily="18" charset="0"/>
                              <a:ea typeface="MS Mincho" charset="0"/>
                              <a:cs typeface="DejaVu Math TeX Gyre" panose="02000503000000000000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ja-JP" alt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ja-JP" alt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altLang="ja-JP" sz="2400">
                              <a:latin typeface="Cambria Math" panose="02040503050406030204" pitchFamily="18" charset="0"/>
                              <a:ea typeface="MS Mincho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sz="2400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log</m:t>
                              </m:r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ja-JP" altLang="en-US" sz="2400" i="1">
                                      <a:latin typeface="Cambria Math" panose="02040503050406030204" pitchFamily="18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ja-JP" altLang="en-US" sz="2400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2400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ja-JP" altLang="en-US" sz="2400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 sz="2400">
                                  <a:latin typeface="Cambria Math" panose="02040503050406030204" pitchFamily="18" charset="0"/>
                                  <a:ea typeface="MS Mincho" charset="0"/>
                                  <a:cs typeface="DejaVu Math TeX Gyre" panose="02000503000000000000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en-US" altLang="ja-JP" sz="2400">
                                      <a:latin typeface="Cambria Math" panose="02040503050406030204" pitchFamily="18" charset="0"/>
                                      <a:ea typeface="MS Mincho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>
                                      <a:latin typeface="Cambria Math" panose="02040503050406030204" pitchFamily="18" charset="0"/>
                                      <a:ea typeface="MS Mincho" charset="0"/>
                                      <a:cs typeface="DejaVu Math TeX Gyre" panose="02000503000000000000" charset="0"/>
                                    </a:rPr>
                                    <m:t>1−</m:t>
                                  </m:r>
                                  <m:r>
                                    <a:rPr lang="ja-JP" altLang="en-US" sz="2400" i="1">
                                      <a:latin typeface="Cambria Math" panose="02040503050406030204" pitchFamily="18" charset="0"/>
                                      <a:cs typeface="DejaVu Math TeX Gyre" panose="02000503000000000000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ja-JP" altLang="en-US" sz="2400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ja-JP" altLang="en-US" sz="2400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ja-JP" altLang="en-US" sz="2400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ja-JP" altLang="en-US" sz="2400" i="1">
                                                  <a:latin typeface="Cambria Math" panose="02040503050406030204" pitchFamily="18" charset="0"/>
                                                  <a:cs typeface="DejaVu Math TeX Gyre" panose="02000503000000000000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ja-JP" altLang="en-US" sz="2400" i="1">
                                                  <a:latin typeface="Cambria Math" panose="02040503050406030204" pitchFamily="18" charset="0"/>
                                                  <a:cs typeface="DejaVu Math TeX Gyre" panose="02000503000000000000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b>
                                              <m:r>
                                                <a:rPr lang="ja-JP" altLang="en-US" sz="2400" i="1">
                                                  <a:latin typeface="Cambria Math" panose="02040503050406030204" pitchFamily="18" charset="0"/>
                                                  <a:cs typeface="DejaVu Math TeX Gyre" panose="02000503000000000000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ja-JP" altLang="en-US" sz="2400" dirty="0">
                  <a:latin typeface="Liberation Sans" panose="020B0604020202020204"/>
                  <a:cs typeface="DejaVu Math TeX Gyre" panose="02000503000000000000" charset="0"/>
                </a:endParaRP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altLang="ja-JP" sz="2400" b="1" dirty="0">
                    <a:latin typeface="Liberation Sans" panose="020B0604020202020204"/>
                    <a:cs typeface="Liberation Sans" panose="020B0604020202020204" charset="0"/>
                  </a:rPr>
                  <a:t>Training: </a:t>
                </a:r>
                <a:r>
                  <a:rPr lang="en-US" altLang="ja-JP" sz="2400" dirty="0">
                    <a:latin typeface="Liberation Sans" panose="020B0604020202020204"/>
                    <a:cs typeface="Liberation Sans" panose="020B0604020202020204" charset="0"/>
                  </a:rPr>
                  <a:t>Minimax game between discriminator and generator.</a:t>
                </a: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altLang="ja-JP" sz="2400" b="1" dirty="0">
                    <a:latin typeface="Liberation Sans" panose="020B0604020202020204"/>
                    <a:cs typeface="Liberation Sans" panose="020B0604020202020204" charset="0"/>
                  </a:rPr>
                  <a:t>ANN-to-SNN conversion</a:t>
                </a:r>
                <a:r>
                  <a:rPr lang="en-US" altLang="ja-JP" b="1" baseline="30000" dirty="0"/>
                  <a:t>10</a:t>
                </a:r>
                <a:r>
                  <a:rPr lang="en-US" altLang="ja-JP" sz="2400" b="1" dirty="0">
                    <a:latin typeface="Liberation Sans" panose="020B0604020202020204"/>
                    <a:cs typeface="Liberation Sans" panose="020B0604020202020204" charset="0"/>
                  </a:rPr>
                  <a:t>: </a:t>
                </a:r>
                <a:r>
                  <a:rPr lang="en-US" altLang="ja-JP" sz="2400" dirty="0">
                    <a:latin typeface="Liberation Sans" panose="020B0604020202020204"/>
                    <a:cs typeface="Liberation Sans" panose="020B0604020202020204" charset="0"/>
                  </a:rPr>
                  <a:t>Mapping </a:t>
                </a:r>
                <a:r>
                  <a:rPr lang="en-US" altLang="ja-JP" sz="2400" dirty="0" err="1">
                    <a:latin typeface="Liberation Sans" panose="020B0604020202020204"/>
                    <a:cs typeface="Liberation Sans" panose="020B0604020202020204" charset="0"/>
                  </a:rPr>
                  <a:t>ReLU</a:t>
                </a:r>
                <a:r>
                  <a:rPr lang="en-US" altLang="ja-JP" sz="2400" dirty="0">
                    <a:latin typeface="Liberation Sans" panose="020B0604020202020204"/>
                    <a:cs typeface="Liberation Sans" panose="020B0604020202020204" charset="0"/>
                  </a:rPr>
                  <a:t> functions to Leaky Integrate-and-Fire(LIF) neurons.</a:t>
                </a: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altLang="ja-JP" sz="2400" b="1" dirty="0">
                    <a:latin typeface="Liberation Sans" panose="020B0604020202020204"/>
                    <a:cs typeface="Liberation Sans" panose="020B0604020202020204" charset="0"/>
                  </a:rPr>
                  <a:t>Parameter Extraction: </a:t>
                </a:r>
                <a:r>
                  <a:rPr lang="en-US" altLang="ja-JP" sz="2400" dirty="0">
                    <a:latin typeface="Liberation Sans" panose="020B0604020202020204"/>
                    <a:cs typeface="Liberation Sans" panose="020B0604020202020204" charset="0"/>
                  </a:rPr>
                  <a:t>Extract exact synaptic weights, biases, and input spike trains.</a:t>
                </a:r>
                <a:endParaRPr lang="ja-JP" altLang="ja-JP" sz="2400" dirty="0">
                  <a:latin typeface="Liberation Sans" panose="020B0604020202020204"/>
                  <a:cs typeface="Liberation Sans" panose="020B0604020202020204" charset="0"/>
                </a:endParaRPr>
              </a:p>
            </p:txBody>
          </p:sp>
        </mc:Choice>
        <mc:Fallback xmlns="">
          <p:sp>
            <p:nvSpPr>
              <p:cNvPr id="3" name="コンテンツ プレースホルダー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1650" y="1350327"/>
                <a:ext cx="10256240" cy="4525963"/>
              </a:xfrm>
              <a:blipFill rotWithShape="1">
                <a:blip r:embed="rId3"/>
                <a:stretch>
                  <a:fillRect t="-7" r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t>August 12, 2026</a:t>
            </a:fld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t>5</a:t>
            </a:fld>
            <a:endParaRPr lang="ja-JP" altLang="en-US"/>
          </a:p>
        </p:txBody>
      </p:sp>
      <p:sp>
        <p:nvSpPr>
          <p:cNvPr id="7" name="タイトル 1"/>
          <p:cNvSpPr>
            <a:spLocks noGrp="1"/>
          </p:cNvSpPr>
          <p:nvPr/>
        </p:nvSpPr>
        <p:spPr>
          <a:xfrm>
            <a:off x="501650" y="353695"/>
            <a:ext cx="11188700" cy="628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b="1" dirty="0">
                <a:latin typeface="Liberation Sans" panose="020B0604020202020204" charset="0"/>
                <a:cs typeface="Liberation Sans" panose="020B0604020202020204" charset="0"/>
              </a:rPr>
              <a:t>Proposed Framework: </a:t>
            </a:r>
            <a:r>
              <a:rPr lang="en-US" altLang="ja-JP" sz="2800" dirty="0">
                <a:latin typeface="Liberation Sans" panose="020B0604020202020204" charset="0"/>
                <a:cs typeface="Liberation Sans" panose="020B0604020202020204" charset="0"/>
              </a:rPr>
              <a:t>Software Implementation</a:t>
            </a:r>
            <a:endParaRPr kumimoji="1" lang="en-US" altLang="ja-JP" sz="28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01650" y="981710"/>
            <a:ext cx="11188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Box 6"/>
          <p:cNvSpPr txBox="1"/>
          <p:nvPr/>
        </p:nvSpPr>
        <p:spPr>
          <a:xfrm>
            <a:off x="501650" y="5307618"/>
            <a:ext cx="111252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ja-JP" sz="1000" dirty="0">
                <a:sym typeface="+mn-ea"/>
              </a:rPr>
              <a:t>10 </a:t>
            </a:r>
            <a:r>
              <a:rPr lang="en-US" altLang="ja-JP" sz="1000" u="sng" dirty="0"/>
              <a:t>Diehl, Peter U., et al. "Fast-classifying, high-accuracy spiking deep networks through weight and threshold balancing." 2015 International joint conference on neural networks (IJCNN). </a:t>
            </a:r>
            <a:r>
              <a:rPr lang="en-US" altLang="ja-JP" sz="1000" u="sng" dirty="0" err="1"/>
              <a:t>ieee</a:t>
            </a:r>
            <a:r>
              <a:rPr lang="en-US" altLang="ja-JP" sz="1000" u="sng" dirty="0"/>
              <a:t>, 2015.</a:t>
            </a:r>
            <a:endParaRPr lang="ja-JP" altLang="ja-JP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>
                <a:latin typeface="Liberation Sans" panose="020B0604020202020204" charset="0"/>
                <a:cs typeface="Liberation Sans" panose="020B0604020202020204" charset="0"/>
              </a:rPr>
              <a:t>August 12, 2026</a:t>
            </a:fld>
            <a:endParaRPr lang="en-US" altLang="ja-JP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Liberation Sans" panose="020B0604020202020204" charset="0"/>
                <a:cs typeface="Liberation Sans" panose="020B0604020202020204" charset="0"/>
              </a:rPr>
              <a:t>The University of Aizu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>
                <a:latin typeface="Liberation Sans" panose="020B0604020202020204" charset="0"/>
                <a:cs typeface="Liberation Sans" panose="020B0604020202020204" charset="0"/>
              </a:rPr>
              <a:t>6</a:t>
            </a:fld>
            <a:endParaRPr lang="ja-JP" altLang="en-US">
              <a:latin typeface="Liberation Sans" panose="020B0604020202020204" charset="0"/>
              <a:cs typeface="Liberation Sans" panose="020B0604020202020204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765290" y="1329690"/>
            <a:ext cx="492506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>
                <a:latin typeface="Liberation Sans" panose="020B0604020202020204" charset="0"/>
                <a:cs typeface="Liberation Sans" panose="020B0604020202020204" charset="0"/>
              </a:rPr>
              <a:t>Figure 2. </a:t>
            </a:r>
            <a:r>
              <a:rPr lang="en-US" altLang="ja-JP" sz="1400" dirty="0">
                <a:latin typeface="Liberation Sans" panose="020B0604020202020204" charset="0"/>
                <a:cs typeface="Liberation Sans" panose="020B0604020202020204" charset="0"/>
              </a:rPr>
              <a:t>Hardware architecture of the SNN-GAN generator.</a:t>
            </a:r>
          </a:p>
          <a:p>
            <a:endParaRPr lang="en-US" altLang="ja-JP" sz="1400" dirty="0">
              <a:latin typeface="Liberation Sans" panose="020B0604020202020204" charset="0"/>
              <a:cs typeface="Liberation Sans" panose="020B060402020202020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US" altLang="ja-JP" sz="1400" dirty="0">
                <a:latin typeface="Liberation Sans" panose="020B0604020202020204" charset="0"/>
                <a:cs typeface="Liberation Sans" panose="020B0604020202020204" charset="0"/>
              </a:rPr>
              <a:t>Structure of GAN Spiking Neural Network.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ja-JP" sz="1400" dirty="0">
                <a:latin typeface="Liberation Sans" panose="020B0604020202020204" charset="0"/>
                <a:cs typeface="Liberation Sans" panose="020B0604020202020204" charset="0"/>
              </a:rPr>
              <a:t>Computing core; consisting of synapse crossbar and neuron layer.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ja-JP" sz="1400" dirty="0">
                <a:latin typeface="Liberation Sans" panose="020B0604020202020204" charset="0"/>
                <a:cs typeface="Liberation Sans" panose="020B0604020202020204" charset="0"/>
              </a:rPr>
              <a:t>Neuromorphic computing chips with computing core.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ja-JP" sz="1400" dirty="0">
                <a:latin typeface="Liberation Sans" panose="020B0604020202020204" charset="0"/>
                <a:cs typeface="Liberation Sans" panose="020B0604020202020204" charset="0"/>
              </a:rPr>
              <a:t>Humanoid robot application using neuromorphic chips.</a:t>
            </a:r>
            <a:endParaRPr lang="ja-JP" altLang="ja-JP" sz="14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sp>
        <p:nvSpPr>
          <p:cNvPr id="11" name="タイトル 1"/>
          <p:cNvSpPr>
            <a:spLocks noGrp="1"/>
          </p:cNvSpPr>
          <p:nvPr>
            <p:ph type="title"/>
          </p:nvPr>
        </p:nvSpPr>
        <p:spPr>
          <a:xfrm>
            <a:off x="501650" y="353695"/>
            <a:ext cx="11188700" cy="628015"/>
          </a:xfrm>
        </p:spPr>
        <p:txBody>
          <a:bodyPr>
            <a:normAutofit/>
          </a:bodyPr>
          <a:lstStyle/>
          <a:p>
            <a:r>
              <a:rPr lang="en-US" altLang="ja-JP" sz="2800" b="1" dirty="0">
                <a:latin typeface="Liberation Sans" panose="020B0604020202020204" charset="0"/>
                <a:cs typeface="Liberation Sans" panose="020B0604020202020204" charset="0"/>
              </a:rPr>
              <a:t>Hardware Architecture</a:t>
            </a:r>
            <a:endParaRPr kumimoji="1" lang="en-US" altLang="ja-JP" sz="28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501650" y="981710"/>
            <a:ext cx="11188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2" t="49693" r="318" b="4817"/>
          <a:stretch>
            <a:fillRect/>
          </a:stretch>
        </p:blipFill>
        <p:spPr bwMode="auto">
          <a:xfrm>
            <a:off x="501015" y="1323975"/>
            <a:ext cx="6264275" cy="465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" t="49600" r="50233" b="4755"/>
          <a:stretch>
            <a:fillRect/>
          </a:stretch>
        </p:blipFill>
        <p:spPr bwMode="auto">
          <a:xfrm>
            <a:off x="502285" y="1306830"/>
            <a:ext cx="6263005" cy="4669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46" t="-150" r="-1037" b="54774"/>
          <a:stretch>
            <a:fillRect/>
          </a:stretch>
        </p:blipFill>
        <p:spPr bwMode="auto">
          <a:xfrm>
            <a:off x="502920" y="1311275"/>
            <a:ext cx="6393815" cy="4665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Box 12"/>
          <p:cNvSpPr txBox="1"/>
          <p:nvPr/>
        </p:nvSpPr>
        <p:spPr>
          <a:xfrm>
            <a:off x="3273425" y="6000750"/>
            <a:ext cx="490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iberation Sans" panose="020B0604020202020204" charset="0"/>
                <a:cs typeface="Liberation Sans" panose="020B0604020202020204" charset="0"/>
              </a:rPr>
              <a:t>(d)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3273425" y="6000750"/>
            <a:ext cx="49022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>
                <a:latin typeface="Liberation Sans" panose="020B0604020202020204" charset="0"/>
                <a:cs typeface="Liberation Sans" panose="020B0604020202020204" charset="0"/>
              </a:rPr>
              <a:t>(c)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3273425" y="6000750"/>
            <a:ext cx="49022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>
                <a:latin typeface="Liberation Sans" panose="020B0604020202020204" charset="0"/>
                <a:cs typeface="Liberation Sans" panose="020B0604020202020204" charset="0"/>
              </a:rPr>
              <a:t>(b)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3273425" y="6000750"/>
            <a:ext cx="49022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>
                <a:ln>
                  <a:noFill/>
                </a:ln>
                <a:solidFill>
                  <a:schemeClr val="tx1"/>
                </a:solidFill>
                <a:latin typeface="Liberation Sans" panose="020B0604020202020204" charset="0"/>
                <a:cs typeface="Liberation Sans" panose="020B0604020202020204" charset="0"/>
              </a:rPr>
              <a:t>(a)</a:t>
            </a: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" t="-122" r="49515" b="55161"/>
          <a:stretch>
            <a:fillRect/>
          </a:stretch>
        </p:blipFill>
        <p:spPr bwMode="auto">
          <a:xfrm>
            <a:off x="501650" y="1323340"/>
            <a:ext cx="6289040" cy="466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0" y="1306830"/>
            <a:ext cx="6341110" cy="50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6" grpId="1" animBg="1"/>
      <p:bldP spid="15" grpId="0" bldLvl="0" animBg="1"/>
      <p:bldP spid="15" grpId="1" animBg="1"/>
      <p:bldP spid="14" grpId="0" bldLvl="0" animBg="1"/>
      <p:bldP spid="1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コンテンツ プレースホルダー 6"/>
          <p:cNvGraphicFramePr>
            <a:graphicFrameLocks noGrp="1"/>
          </p:cNvGraphicFramePr>
          <p:nvPr>
            <p:ph idx="1"/>
          </p:nvPr>
        </p:nvGraphicFramePr>
        <p:xfrm>
          <a:off x="501650" y="1621155"/>
          <a:ext cx="5243195" cy="4094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35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400" b="1" dirty="0">
                          <a:solidFill>
                            <a:schemeClr val="bg1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Parameter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400" b="1" dirty="0">
                          <a:solidFill>
                            <a:schemeClr val="bg1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Value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Training Data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MNIST Handwritten Digits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Training Numbers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600 Images per Batch × 20 Epochs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Input Layer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100 Neurons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Layer 1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1,024 Neurons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Layer 2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1,024 Neurons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Layer 3 (Output)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784 Neurons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Software Model Parameter Format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Signed FP32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RTL Model Parameter Format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Signed INT8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t>August 12, 2026</a:t>
            </a:fld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t>7</a:t>
            </a:fld>
            <a:endParaRPr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01650" y="1160145"/>
            <a:ext cx="47396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ja-JP" altLang="ja-JP" sz="1400" b="1" dirty="0">
                <a:solidFill>
                  <a:srgbClr val="000000"/>
                </a:solidFill>
                <a:latin typeface="Liberation Sans" panose="020B0604020202020204" charset="0"/>
                <a:cs typeface="Liberation Sans" panose="020B0604020202020204" charset="0"/>
              </a:rPr>
              <a:t>Table 1. </a:t>
            </a:r>
            <a:r>
              <a:rPr lang="ja-JP" altLang="ja-JP" sz="1400" dirty="0">
                <a:solidFill>
                  <a:srgbClr val="000000"/>
                </a:solidFill>
                <a:latin typeface="Liberation Sans" panose="020B0604020202020204" charset="0"/>
                <a:cs typeface="Liberation Sans" panose="020B0604020202020204" charset="0"/>
              </a:rPr>
              <a:t>Model architecture and parameters</a:t>
            </a:r>
            <a:r>
              <a:rPr lang="en-US" altLang="ja-JP" sz="1400" baseline="30000" dirty="0">
                <a:solidFill>
                  <a:srgbClr val="000000"/>
                </a:solidFill>
                <a:latin typeface="Liberation Sans" panose="020B0604020202020204" charset="0"/>
                <a:cs typeface="Liberation Sans" panose="020B0604020202020204" charset="0"/>
              </a:rPr>
              <a:t>12</a:t>
            </a:r>
          </a:p>
        </p:txBody>
      </p:sp>
      <p:graphicFrame>
        <p:nvGraphicFramePr>
          <p:cNvPr id="3" name="コンテンツ プレースホルダー 6"/>
          <p:cNvGraphicFramePr/>
          <p:nvPr/>
        </p:nvGraphicFramePr>
        <p:xfrm>
          <a:off x="6377305" y="1620520"/>
          <a:ext cx="5313045" cy="4094480"/>
        </p:xfrm>
        <a:graphic>
          <a:graphicData uri="http://schemas.openxmlformats.org/drawingml/2006/table">
            <a:tbl>
              <a:tblPr/>
              <a:tblGrid>
                <a:gridCol w="1859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400" b="1">
                          <a:solidFill>
                            <a:schemeClr val="bg1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Component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400" b="1" dirty="0">
                          <a:solidFill>
                            <a:schemeClr val="bg1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Specification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60"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b="1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Software (Host PC)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OS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Windows 11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Framework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PyTorch (Python)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CPU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Intel Core i9-14900KF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RAM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128GB (32GB × 4)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GPU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NVIDIA GeForce RTX 4060 8GB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Storage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4TB SSD (NVMe Gen4)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960"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b="1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Hardware (FPGA)</a:t>
                      </a:r>
                      <a:r>
                        <a:rPr lang="en-US" altLang="ja-JP" sz="1200" baseline="30000" dirty="0">
                          <a:solidFill>
                            <a:srgbClr val="000000"/>
                          </a:solidFill>
                          <a:latin typeface="Liberation Sans" panose="020B0604020202020204" charset="0"/>
                          <a:cs typeface="Liberation Sans" panose="020B0604020202020204" charset="0"/>
                        </a:rPr>
                        <a:t> 12,13</a:t>
                      </a:r>
                      <a:endParaRPr lang="ja-JP" sz="1200" b="1" dirty="0">
                        <a:solidFill>
                          <a:srgbClr val="000000"/>
                        </a:solidFill>
                        <a:effectLst/>
                        <a:latin typeface="Liberation Sans" panose="020B0604020202020204" charset="0"/>
                        <a:cs typeface="Liberation Sans" panose="020B0604020202020204" charset="0"/>
                      </a:endParaRP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Platform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AMD VCK5000 Versal Development Card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Architecture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Versal 7nm ACAP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LUTs / FFs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~ 899,840 / ~ 1,799,680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DSP Engines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  <a:latin typeface="Liberation Sans" panose="020B0604020202020204" charset="0"/>
                          <a:cs typeface="Liberation Sans" panose="020B0604020202020204" charset="0"/>
                        </a:rPr>
                        <a:t>1,968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テキスト ボックス 9"/>
          <p:cNvSpPr txBox="1"/>
          <p:nvPr/>
        </p:nvSpPr>
        <p:spPr>
          <a:xfrm>
            <a:off x="6377940" y="1160145"/>
            <a:ext cx="531241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ja-JP" altLang="ja-JP" sz="1400" b="1" dirty="0">
                <a:solidFill>
                  <a:srgbClr val="000000"/>
                </a:solidFill>
                <a:latin typeface="Liberation Sans" panose="020B0604020202020204" charset="0"/>
                <a:cs typeface="Liberation Sans" panose="020B0604020202020204" charset="0"/>
              </a:rPr>
              <a:t>Table 2. </a:t>
            </a:r>
            <a:r>
              <a:rPr lang="ja-JP" altLang="ja-JP" sz="1400" dirty="0">
                <a:solidFill>
                  <a:srgbClr val="000000"/>
                </a:solidFill>
                <a:latin typeface="Liberation Sans" panose="020B0604020202020204" charset="0"/>
                <a:cs typeface="Liberation Sans" panose="020B0604020202020204" charset="0"/>
              </a:rPr>
              <a:t>Hardware and software environment setup</a:t>
            </a:r>
            <a:endParaRPr lang="en-US" altLang="ja-JP" sz="1400" baseline="30000" dirty="0">
              <a:solidFill>
                <a:srgbClr val="000000"/>
              </a:solidFill>
              <a:latin typeface="Liberation Sans" panose="020B0604020202020204" charset="0"/>
              <a:cs typeface="Liberation Sans" panose="020B0604020202020204" charset="0"/>
            </a:endParaRPr>
          </a:p>
        </p:txBody>
      </p:sp>
      <p:sp>
        <p:nvSpPr>
          <p:cNvPr id="11" name="タイトル 1"/>
          <p:cNvSpPr>
            <a:spLocks noGrp="1"/>
          </p:cNvSpPr>
          <p:nvPr>
            <p:ph type="title"/>
          </p:nvPr>
        </p:nvSpPr>
        <p:spPr>
          <a:xfrm>
            <a:off x="501650" y="353695"/>
            <a:ext cx="11188700" cy="628015"/>
          </a:xfrm>
        </p:spPr>
        <p:txBody>
          <a:bodyPr>
            <a:normAutofit/>
          </a:bodyPr>
          <a:lstStyle/>
          <a:p>
            <a:r>
              <a:rPr lang="en-US" altLang="ja-JP" sz="2800" b="1" dirty="0">
                <a:latin typeface="Liberation Sans" panose="020B0604020202020204" charset="0"/>
                <a:cs typeface="Liberation Sans" panose="020B0604020202020204" charset="0"/>
              </a:rPr>
              <a:t>Experimental Setup</a:t>
            </a:r>
            <a:endParaRPr kumimoji="1" lang="en-US" altLang="ja-JP" sz="28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501650" y="981710"/>
            <a:ext cx="11188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501650" y="5757545"/>
            <a:ext cx="111887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buFont typeface="+mj-lt"/>
              <a:buAutoNum type="arabicPeriod" startAt="12"/>
            </a:pPr>
            <a:r>
              <a:rPr lang="en-US" altLang="ja-JP" sz="900" u="sng" dirty="0">
                <a:sym typeface="+mn-ea"/>
              </a:rPr>
              <a:t>Advanced Micro Devices, Inc. (AMD). AMD VCK5000 Versal Development Card Product Brief. Available online: </a:t>
            </a:r>
            <a:r>
              <a:rPr lang="en-US" altLang="ja-JP" sz="900" u="sng" dirty="0">
                <a:sym typeface="+mn-ea"/>
                <a:hlinkClick r:id="rId3"/>
              </a:rPr>
              <a:t>https://japan.xilinx.com/content/dam/xilinx/publications/product-briefs/amd-xilinx-vck5000-        product-brief.pdf</a:t>
            </a:r>
            <a:r>
              <a:rPr lang="en-US" altLang="ja-JP" sz="900" dirty="0">
                <a:sym typeface="+mn-ea"/>
              </a:rPr>
              <a:t>.</a:t>
            </a:r>
          </a:p>
          <a:p>
            <a:pPr marL="228600" indent="-228600">
              <a:buAutoNum type="arabicPeriod" startAt="12"/>
            </a:pPr>
            <a:r>
              <a:rPr lang="en-US" altLang="ja-JP" sz="900" u="sng" dirty="0">
                <a:sym typeface="+mn-ea"/>
              </a:rPr>
              <a:t>Advanced Micro Devices, Inc. (AMD). VCK5000 Gen4x8 Vitis Platform User Guide. Available online: </a:t>
            </a:r>
            <a:r>
              <a:rPr lang="en-US" altLang="ja-JP" sz="900" u="sng" dirty="0">
                <a:sym typeface="+mn-ea"/>
                <a:hlinkClick r:id="rId4"/>
              </a:rPr>
              <a:t>https://xilinx.github.io/Alveo-Versal-Platforms/alveoversalplatforms/build/html/docs/user-guide/ug_vck5000_gen4x8_qdma.html</a:t>
            </a:r>
            <a:r>
              <a:rPr lang="en-US" altLang="ja-JP" sz="900" dirty="0">
                <a:sym typeface="+mn-ea"/>
              </a:rPr>
              <a:t>.</a:t>
            </a:r>
            <a:endParaRPr lang="ja-JP" altLang="ja-JP" sz="900" dirty="0"/>
          </a:p>
          <a:p>
            <a:pPr marL="228600" indent="-228600"/>
            <a:endParaRPr lang="ja-JP" altLang="ja-JP" sz="900" dirty="0"/>
          </a:p>
          <a:p>
            <a:r>
              <a:rPr lang="en-US" altLang="ja-JP" sz="900" dirty="0">
                <a:sym typeface="+mn-ea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コンテンツ プレースホルダー 6"/>
          <p:cNvGraphicFramePr>
            <a:graphicFrameLocks noGrp="1"/>
          </p:cNvGraphicFramePr>
          <p:nvPr>
            <p:ph idx="1"/>
          </p:nvPr>
        </p:nvGraphicFramePr>
        <p:xfrm>
          <a:off x="501650" y="2014220"/>
          <a:ext cx="4676775" cy="4058285"/>
        </p:xfrm>
        <a:graphic>
          <a:graphicData uri="http://schemas.openxmlformats.org/drawingml/2006/table">
            <a:tbl>
              <a:tblPr/>
              <a:tblGrid>
                <a:gridCol w="859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Images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Generator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Linear Function Calls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GPU Time (ms)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9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300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72.94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26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10,500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18.90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9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600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74.71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99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21,000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39.61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26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1,200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69.24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99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42,000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22.71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9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600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1,800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69.55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895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63,000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27.70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9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800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2,400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69.24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99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84,000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33.50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62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3,000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73.60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625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105,000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39.552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t>August 12, 2026</a:t>
            </a:fld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t>8</a:t>
            </a:fld>
            <a:endParaRPr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749925" y="4662805"/>
            <a:ext cx="594042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>
                <a:latin typeface="Liberation Sans" panose="020B0604020202020204" charset="0"/>
                <a:cs typeface="Liberation Sans" panose="020B0604020202020204" charset="0"/>
              </a:rPr>
              <a:t>Figure 3. </a:t>
            </a:r>
            <a:r>
              <a:rPr lang="en-US" altLang="ja-JP" sz="1400" dirty="0">
                <a:latin typeface="Liberation Sans" panose="020B0604020202020204" charset="0"/>
                <a:cs typeface="Liberation Sans" panose="020B0604020202020204" charset="0"/>
              </a:rPr>
              <a:t>Performance analysis of ANN and SNN generators: </a:t>
            </a:r>
          </a:p>
          <a:p>
            <a:endParaRPr lang="en-US" altLang="ja-JP" sz="1400" dirty="0">
              <a:latin typeface="Liberation Sans" panose="020B0604020202020204" charset="0"/>
              <a:cs typeface="Liberation Sans" panose="020B060402020202020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US" altLang="ja-JP" sz="1400" dirty="0">
                <a:latin typeface="Liberation Sans" panose="020B0604020202020204" charset="0"/>
                <a:cs typeface="Liberation Sans" panose="020B0604020202020204" charset="0"/>
              </a:rPr>
              <a:t>Total GPU execution time and linear function calls across different image scales.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ja-JP" sz="1400" dirty="0">
                <a:latin typeface="Liberation Sans" panose="020B0604020202020204" charset="0"/>
                <a:cs typeface="Liberation Sans" panose="020B0604020202020204" charset="0"/>
              </a:rPr>
              <a:t>SNN speedup ratio relative to the ANN.</a:t>
            </a:r>
            <a:endParaRPr kumimoji="1" lang="ja-JP" altLang="en-US" sz="14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pic>
        <p:nvPicPr>
          <p:cNvPr id="154766192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49290" y="1719580"/>
            <a:ext cx="5941060" cy="28219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タイトル 1"/>
          <p:cNvSpPr>
            <a:spLocks noGrp="1"/>
          </p:cNvSpPr>
          <p:nvPr>
            <p:ph type="title"/>
          </p:nvPr>
        </p:nvSpPr>
        <p:spPr>
          <a:xfrm>
            <a:off x="501650" y="353695"/>
            <a:ext cx="11188700" cy="628015"/>
          </a:xfrm>
        </p:spPr>
        <p:txBody>
          <a:bodyPr>
            <a:normAutofit/>
          </a:bodyPr>
          <a:lstStyle/>
          <a:p>
            <a:r>
              <a:rPr lang="en-US" altLang="ja-JP" sz="2800" b="1" dirty="0">
                <a:latin typeface="Liberation Sans" panose="020B0604020202020204" charset="0"/>
                <a:cs typeface="Liberation Sans" panose="020B0604020202020204" charset="0"/>
              </a:rPr>
              <a:t>Computation Comparison</a:t>
            </a:r>
            <a:endParaRPr kumimoji="1" lang="en-US" altLang="ja-JP" sz="28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501650" y="981710"/>
            <a:ext cx="11188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テキスト ボックス 8"/>
          <p:cNvSpPr txBox="1"/>
          <p:nvPr/>
        </p:nvSpPr>
        <p:spPr>
          <a:xfrm>
            <a:off x="501650" y="1330325"/>
            <a:ext cx="46761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ja-JP" altLang="ja-JP" sz="1400" b="1" dirty="0">
                <a:solidFill>
                  <a:srgbClr val="000000"/>
                </a:solidFill>
                <a:latin typeface="Liberation Sans" panose="020B0604020202020204" charset="0"/>
                <a:cs typeface="Liberation Sans" panose="020B0604020202020204" charset="0"/>
              </a:rPr>
              <a:t>Table </a:t>
            </a:r>
            <a:r>
              <a:rPr lang="en-US" altLang="ja-JP" sz="1400" b="1" dirty="0">
                <a:solidFill>
                  <a:srgbClr val="000000"/>
                </a:solidFill>
                <a:latin typeface="Liberation Sans" panose="020B0604020202020204" charset="0"/>
                <a:cs typeface="Liberation Sans" panose="020B0604020202020204" charset="0"/>
              </a:rPr>
              <a:t>3</a:t>
            </a:r>
            <a:r>
              <a:rPr lang="ja-JP" altLang="ja-JP" sz="1400" b="1" dirty="0">
                <a:solidFill>
                  <a:srgbClr val="000000"/>
                </a:solidFill>
                <a:latin typeface="Liberation Sans" panose="020B0604020202020204" charset="0"/>
                <a:cs typeface="Liberation Sans" panose="020B0604020202020204" charset="0"/>
              </a:rPr>
              <a:t>. </a:t>
            </a:r>
            <a:r>
              <a:rPr lang="ja-JP" altLang="ja-JP" sz="1400" dirty="0">
                <a:solidFill>
                  <a:srgbClr val="000000"/>
                </a:solidFill>
                <a:latin typeface="Arial" panose="02080604020202020204" pitchFamily="34" charset="0"/>
                <a:sym typeface="+mn-ea"/>
              </a:rPr>
              <a:t>Computational comparison between ANN and SNN generator</a:t>
            </a:r>
            <a:endParaRPr lang="ja-JP" altLang="ja-JP" sz="1400" dirty="0">
              <a:solidFill>
                <a:srgbClr val="000000"/>
              </a:solidFill>
              <a:latin typeface="Liberation Sans" panose="020B0604020202020204" charset="0"/>
              <a:cs typeface="Liberation Sans" panose="020B0604020202020204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5537200" y="1350645"/>
            <a:ext cx="8890" cy="482981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>
                <a:latin typeface="Liberation Sans" panose="020B0604020202020204" charset="0"/>
                <a:cs typeface="Liberation Sans" panose="020B0604020202020204" charset="0"/>
              </a:rPr>
              <a:t>August 12, 2026</a:t>
            </a:fld>
            <a:endParaRPr lang="en-US" altLang="ja-JP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Liberation Sans" panose="020B0604020202020204" charset="0"/>
                <a:cs typeface="Liberation Sans" panose="020B0604020202020204" charset="0"/>
              </a:rPr>
              <a:t>The University of Aizu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>
                <a:latin typeface="Liberation Sans" panose="020B0604020202020204" charset="0"/>
                <a:cs typeface="Liberation Sans" panose="020B0604020202020204" charset="0"/>
              </a:rPr>
              <a:t>9</a:t>
            </a:fld>
            <a:endParaRPr lang="ja-JP" altLang="en-US">
              <a:latin typeface="Liberation Sans" panose="020B0604020202020204" charset="0"/>
              <a:cs typeface="Liberation Sans" panose="020B0604020202020204" charset="0"/>
            </a:endParaRPr>
          </a:p>
        </p:txBody>
      </p:sp>
      <p:graphicFrame>
        <p:nvGraphicFramePr>
          <p:cNvPr id="9" name="表 8"/>
          <p:cNvGraphicFramePr>
            <a:graphicFrameLocks noGrp="1"/>
          </p:cNvGraphicFramePr>
          <p:nvPr/>
        </p:nvGraphicFramePr>
        <p:xfrm>
          <a:off x="491488" y="1479691"/>
          <a:ext cx="3704590" cy="183346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90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115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Utilization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29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LUT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307,977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899,840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34.22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29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LUTRAM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10,528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449,920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2.34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29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81,093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1,799,680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4.40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BRAM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59.98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DSP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1,968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491490" y="1172845"/>
            <a:ext cx="29076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>
                <a:latin typeface="Liberation Sans" panose="020B0604020202020204" charset="0"/>
                <a:cs typeface="Liberation Sans" panose="020B0604020202020204" charset="0"/>
              </a:rPr>
              <a:t>Table 4. </a:t>
            </a:r>
            <a:r>
              <a:rPr lang="en-US" altLang="ja-JP" sz="1400" dirty="0">
                <a:latin typeface="Liberation Sans" panose="020B0604020202020204" charset="0"/>
                <a:cs typeface="Liberation Sans" panose="020B0604020202020204" charset="0"/>
              </a:rPr>
              <a:t>FPGA resource utilization</a:t>
            </a:r>
            <a:endParaRPr kumimoji="1" lang="ja-JP" altLang="en-US" sz="14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sp>
        <p:nvSpPr>
          <p:cNvPr id="12" name="コンテンツ プレースホルダー 2"/>
          <p:cNvSpPr txBox="1"/>
          <p:nvPr/>
        </p:nvSpPr>
        <p:spPr bwMode="auto">
          <a:xfrm>
            <a:off x="501650" y="3480435"/>
            <a:ext cx="3473450" cy="23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400" b="1" dirty="0">
                <a:latin typeface="Liberation Sans" panose="020B0604020202020204" charset="0"/>
                <a:cs typeface="Liberation Sans" panose="020B0604020202020204" charset="0"/>
              </a:rPr>
              <a:t>Table 5.</a:t>
            </a:r>
            <a:r>
              <a:rPr lang="en-US" altLang="ja-JP" sz="1400" dirty="0">
                <a:latin typeface="Liberation Sans" panose="020B0604020202020204" charset="0"/>
                <a:cs typeface="Liberation Sans" panose="020B0604020202020204" charset="0"/>
              </a:rPr>
              <a:t> FPGA on-chip power breakdown</a:t>
            </a:r>
          </a:p>
        </p:txBody>
      </p:sp>
      <p:graphicFrame>
        <p:nvGraphicFramePr>
          <p:cNvPr id="14" name="表 8"/>
          <p:cNvGraphicFramePr>
            <a:graphicFrameLocks noGrp="1"/>
          </p:cNvGraphicFramePr>
          <p:nvPr/>
        </p:nvGraphicFramePr>
        <p:xfrm>
          <a:off x="501651" y="3796930"/>
          <a:ext cx="4494530" cy="25603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89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0175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Power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Share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37">
                <a:tc rowSpan="5"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Dynamic Power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Clock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0.475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Signals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1.007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33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Logic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1.150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37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37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BRAM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0.461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65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Dynamic Total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3.095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Static Power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Device Static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13.496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81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37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Total On-Chip Power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Liberation Sans" panose="020B0604020202020204" charset="0"/>
                        <a:cs typeface="Liberation Sans" panose="020B0604020202020204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16.591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Liberation Sans" panose="020B0604020202020204" charset="0"/>
                          <a:cs typeface="Liberation Sans" panose="020B0604020202020204" charset="0"/>
                        </a:rPr>
                        <a:t>100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970" y="1172845"/>
            <a:ext cx="6342380" cy="3622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テキスト ボックス 17"/>
          <p:cNvSpPr txBox="1"/>
          <p:nvPr/>
        </p:nvSpPr>
        <p:spPr>
          <a:xfrm>
            <a:off x="5354955" y="4656455"/>
            <a:ext cx="633539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solidFill>
                  <a:srgbClr val="000000"/>
                </a:solidFill>
                <a:effectLst/>
                <a:latin typeface="Liberation Sans" panose="020B0604020202020204" charset="0"/>
                <a:ea typeface="DengXian" panose="02010600030101010101" pitchFamily="2" charset="-122"/>
                <a:cs typeface="Liberation Sans" panose="020B0604020202020204" charset="0"/>
              </a:rPr>
              <a:t>Figure4. </a:t>
            </a:r>
            <a:r>
              <a:rPr lang="en-US" altLang="ja-JP" sz="1400" dirty="0">
                <a:solidFill>
                  <a:srgbClr val="000000"/>
                </a:solidFill>
                <a:effectLst/>
                <a:latin typeface="Liberation Sans" panose="020B0604020202020204" charset="0"/>
                <a:ea typeface="DengXian" panose="02010600030101010101" pitchFamily="2" charset="-122"/>
                <a:cs typeface="Liberation Sans" panose="020B0604020202020204" charset="0"/>
              </a:rPr>
              <a:t>FPGA floorplan comparison highlighting hardware scale and resource density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ja-JP" sz="1400" dirty="0">
                <a:solidFill>
                  <a:srgbClr val="000000"/>
                </a:solidFill>
                <a:effectLst/>
                <a:latin typeface="Liberation Sans" panose="020B0604020202020204" charset="0"/>
                <a:ea typeface="DengXian" panose="02010600030101010101" pitchFamily="2" charset="-122"/>
                <a:cs typeface="Liberation Sans" panose="020B0604020202020204" charset="0"/>
              </a:rPr>
              <a:t>SNN-GAN generator. 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ja-JP" sz="1400" dirty="0">
                <a:solidFill>
                  <a:srgbClr val="000000"/>
                </a:solidFill>
                <a:effectLst/>
                <a:latin typeface="Liberation Sans" panose="020B0604020202020204" charset="0"/>
                <a:ea typeface="DengXian" panose="02010600030101010101" pitchFamily="2" charset="-122"/>
                <a:cs typeface="Liberation Sans" panose="020B0604020202020204" charset="0"/>
              </a:rPr>
              <a:t>SNN-MLP classification model.</a:t>
            </a:r>
          </a:p>
        </p:txBody>
      </p:sp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501650" y="353695"/>
            <a:ext cx="11188700" cy="628015"/>
          </a:xfrm>
        </p:spPr>
        <p:txBody>
          <a:bodyPr>
            <a:normAutofit/>
          </a:bodyPr>
          <a:lstStyle/>
          <a:p>
            <a:r>
              <a:rPr lang="en-US" altLang="ja-JP" sz="2800" b="1" dirty="0">
                <a:latin typeface="Liberation Sans" panose="020B0604020202020204" charset="0"/>
                <a:cs typeface="Liberation Sans" panose="020B0604020202020204" charset="0"/>
              </a:rPr>
              <a:t>FPGA implementation</a:t>
            </a:r>
            <a:endParaRPr kumimoji="1" lang="en-US" altLang="ja-JP" sz="28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501650" y="981710"/>
            <a:ext cx="11188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270500" y="1052830"/>
            <a:ext cx="9525" cy="53797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92125" y="3427730"/>
            <a:ext cx="4725670" cy="10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01650" y="1253331"/>
            <a:ext cx="10515600" cy="4351338"/>
          </a:xfrm>
        </p:spPr>
        <p:txBody>
          <a:bodyPr>
            <a:noAutofit/>
          </a:bodyPr>
          <a:lstStyle/>
          <a:p>
            <a:r>
              <a:rPr lang="en-US" altLang="ja-JP" sz="2400" b="1" dirty="0">
                <a:latin typeface="Liberation Sans" panose="020B0604020202020204"/>
                <a:cs typeface="Liberation Sans" panose="020B0604020202020204" charset="0"/>
              </a:rPr>
              <a:t>Hardware Acceleration</a:t>
            </a:r>
            <a:r>
              <a:rPr lang="en-US" altLang="ja-JP" sz="2400" dirty="0">
                <a:latin typeface="Liberation Sans" panose="020B0604020202020204"/>
                <a:cs typeface="Liberation Sans" panose="020B0604020202020204" charset="0"/>
              </a:rPr>
              <a:t>: SNN-GAN on AMD VCK5000 Versal Development Card.</a:t>
            </a:r>
          </a:p>
          <a:p>
            <a:endParaRPr lang="en-US" altLang="ja-JP" sz="2400" dirty="0">
              <a:latin typeface="Liberation Sans" panose="020B0604020202020204"/>
              <a:cs typeface="Liberation Sans" panose="020B0604020202020204" charset="0"/>
            </a:endParaRPr>
          </a:p>
          <a:p>
            <a:r>
              <a:rPr lang="en-US" altLang="ja-JP" sz="2400" b="1" dirty="0">
                <a:latin typeface="Liberation Sans" panose="020B0604020202020204"/>
                <a:cs typeface="Liberation Sans" panose="020B0604020202020204" charset="0"/>
              </a:rPr>
              <a:t>Zero-DSP Utilization</a:t>
            </a:r>
            <a:r>
              <a:rPr lang="en-US" altLang="ja-JP" sz="2400" dirty="0">
                <a:latin typeface="Liberation Sans" panose="020B0604020202020204"/>
                <a:cs typeface="Liberation Sans" panose="020B0604020202020204" charset="0"/>
              </a:rPr>
              <a:t>: Complete elimination of power-hungry DSP blocks.</a:t>
            </a:r>
          </a:p>
          <a:p>
            <a:r>
              <a:rPr lang="en-US" altLang="ja-JP" sz="2400" b="1" dirty="0">
                <a:latin typeface="Liberation Sans" panose="020B0604020202020204"/>
                <a:cs typeface="Liberation Sans" panose="020B0604020202020204" charset="0"/>
              </a:rPr>
              <a:t>Low Dynamic Power</a:t>
            </a:r>
            <a:r>
              <a:rPr lang="en-US" altLang="ja-JP" sz="2400" dirty="0">
                <a:latin typeface="Liberation Sans" panose="020B0604020202020204"/>
                <a:cs typeface="Liberation Sans" panose="020B0604020202020204" charset="0"/>
              </a:rPr>
              <a:t>: Restricted to 3.095 W.</a:t>
            </a:r>
          </a:p>
          <a:p>
            <a:r>
              <a:rPr lang="en-US" altLang="ja-JP" sz="2400" b="1" dirty="0">
                <a:latin typeface="Liberation Sans" panose="020B0604020202020204"/>
                <a:cs typeface="Liberation Sans" panose="020B0604020202020204" charset="0"/>
              </a:rPr>
              <a:t>Performance Gain</a:t>
            </a:r>
            <a:r>
              <a:rPr lang="en-US" altLang="ja-JP" sz="2400" dirty="0">
                <a:latin typeface="Liberation Sans" panose="020B0604020202020204"/>
                <a:cs typeface="Liberation Sans" panose="020B0604020202020204" charset="0"/>
              </a:rPr>
              <a:t>: Event-driven nature delivers a 1.86–3.86× speedup over conventional ANN baselines.</a:t>
            </a:r>
          </a:p>
          <a:p>
            <a:endParaRPr lang="en-US" altLang="ja-JP" sz="2400" dirty="0">
              <a:latin typeface="Liberation Sans" panose="020B0604020202020204"/>
              <a:cs typeface="Liberation Sans" panose="020B0604020202020204" charset="0"/>
            </a:endParaRPr>
          </a:p>
          <a:p>
            <a:r>
              <a:rPr lang="en-US" altLang="ja-JP" sz="2400" b="1" dirty="0">
                <a:latin typeface="Liberation Sans" panose="020B0604020202020204"/>
                <a:cs typeface="Liberation Sans" panose="020B0604020202020204" charset="0"/>
              </a:rPr>
              <a:t>Future Work</a:t>
            </a:r>
            <a:r>
              <a:rPr lang="en-US" altLang="ja-JP" sz="2400" dirty="0">
                <a:latin typeface="Liberation Sans" panose="020B0604020202020204"/>
                <a:cs typeface="Liberation Sans" panose="020B0604020202020204" charset="0"/>
              </a:rPr>
              <a:t>: Physical deployment into embedded humanoid robotic systems.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t>August 12, 2026</a:t>
            </a:fld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t>10</a:t>
            </a:fld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501650" y="353695"/>
            <a:ext cx="11188700" cy="628015"/>
          </a:xfrm>
        </p:spPr>
        <p:txBody>
          <a:bodyPr>
            <a:normAutofit/>
          </a:bodyPr>
          <a:lstStyle/>
          <a:p>
            <a:r>
              <a:rPr lang="en-US" altLang="ja-JP" sz="2800" b="1" dirty="0">
                <a:latin typeface="Liberation Sans" panose="020B0604020202020204" charset="0"/>
                <a:cs typeface="Liberation Sans" panose="020B0604020202020204" charset="0"/>
              </a:rPr>
              <a:t>Conclusion</a:t>
            </a:r>
            <a:endParaRPr kumimoji="1" lang="en-US" altLang="ja-JP" sz="2800" dirty="0">
              <a:latin typeface="Liberation Sans" panose="020B0604020202020204" charset="0"/>
              <a:cs typeface="Liberation Sans" panose="020B060402020202020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501650" y="981710"/>
            <a:ext cx="11188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2306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2800" b="1" dirty="0"/>
              <a:t>References</a:t>
            </a:r>
            <a:endParaRPr kumimoji="1" lang="ja-JP" altLang="en-US" sz="2800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01650" y="1344496"/>
            <a:ext cx="10515600" cy="4648952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Goodfellow, Ian, et al. "Generative adversarial networks." Communications of the ACM 63.11 (2020): 139-144.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Aggarwal, Alankrita, Mamta Mittal, and Gopi </a:t>
            </a:r>
            <a:r>
              <a:rPr lang="en-US" altLang="ja-JP" sz="1000" u="sng" dirty="0" err="1"/>
              <a:t>Battineni</a:t>
            </a:r>
            <a:r>
              <a:rPr lang="en-US" altLang="ja-JP" sz="1000" u="sng" dirty="0"/>
              <a:t>. "Generative adversarial network: An overview of theory and applications." International Journal of Information Management Data Insights 1.1 (2021): 100004.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Wang, </a:t>
            </a:r>
            <a:r>
              <a:rPr lang="en-US" altLang="ja-JP" sz="1000" u="sng" dirty="0" err="1"/>
              <a:t>Kunfeng</a:t>
            </a:r>
            <a:r>
              <a:rPr lang="en-US" altLang="ja-JP" sz="1000" u="sng" dirty="0"/>
              <a:t>, et al. "Generative adversarial networks: introduction and outlook." IEEE/CAA Journal of </a:t>
            </a:r>
            <a:r>
              <a:rPr lang="en-US" altLang="ja-JP" sz="1000" u="sng" dirty="0" err="1"/>
              <a:t>Automatica</a:t>
            </a:r>
            <a:r>
              <a:rPr lang="en-US" altLang="ja-JP" sz="1000" u="sng" dirty="0"/>
              <a:t> Sinica 4.4 (2017): 588-598.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Tong, </a:t>
            </a:r>
            <a:r>
              <a:rPr lang="en-US" altLang="ja-JP" sz="1000" u="sng" dirty="0" err="1"/>
              <a:t>Yuchuang</a:t>
            </a:r>
            <a:r>
              <a:rPr lang="en-US" altLang="ja-JP" sz="1000" u="sng" dirty="0"/>
              <a:t>, Haotian Liu, and </a:t>
            </a:r>
            <a:r>
              <a:rPr lang="en-US" altLang="ja-JP" sz="1000" u="sng" dirty="0" err="1"/>
              <a:t>Zhengtao</a:t>
            </a:r>
            <a:r>
              <a:rPr lang="en-US" altLang="ja-JP" sz="1000" u="sng" dirty="0"/>
              <a:t> Zhang. "Advancements in humanoid robots: A comprehensive review and future prospects." IEEE/CAA Journal of </a:t>
            </a:r>
            <a:r>
              <a:rPr lang="en-US" altLang="ja-JP" sz="1000" u="sng" dirty="0" err="1"/>
              <a:t>Automatica</a:t>
            </a:r>
            <a:r>
              <a:rPr lang="en-US" altLang="ja-JP" sz="1000" u="sng" dirty="0"/>
              <a:t> Sinica 11.2 (2024): 301-328.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Liu, Dingbang, Hao Yu, and Yang Chai. "Low‐power computing with neuromorphic engineering." Advanced Intelligent Systems 3.2 (2021): 2000150.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Merolla, Paul A., et al. "A million spiking-neuron integrated circuit with a scalable communication network and interface." Science 345.6197 (2014): 668-673.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Bouvier, Maxence, et al. "Spiking neural networks hardware implementations and challenges: A survey." ACM Journal on Emerging Technologies in Computing Systems (JETC) 15.2 (2019): 1-35.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Mittal, Sparsh. "A survey of FPGA-based accelerators for convolutional neural networks." Neural computing and applications 32.4 (2020): 1109-1139.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Rathi, Nitin, et al. "Exploring neuromorphic computing based on spiking neural networks: Algorithms to hardware." ACM Computing Surveys 55.12 (2023): 1-49.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Diehl, Peter U., et al. "Fast-classifying, high-accuracy spiking deep networks through weight and threshold balancing." 2015 International joint conference on neural networks (IJCNN). </a:t>
            </a:r>
            <a:r>
              <a:rPr lang="en-US" altLang="ja-JP" sz="1000" u="sng" dirty="0" err="1"/>
              <a:t>ieee</a:t>
            </a:r>
            <a:r>
              <a:rPr lang="en-US" altLang="ja-JP" sz="1000" u="sng" dirty="0"/>
              <a:t>, 2015.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 err="1"/>
              <a:t>Guthaus</a:t>
            </a:r>
            <a:r>
              <a:rPr lang="en-US" altLang="ja-JP" sz="1000" u="sng" dirty="0"/>
              <a:t>, Matthew R., et al. "</a:t>
            </a:r>
            <a:r>
              <a:rPr lang="en-US" altLang="ja-JP" sz="1000" u="sng" dirty="0" err="1"/>
              <a:t>OpenRAM</a:t>
            </a:r>
            <a:r>
              <a:rPr lang="en-US" altLang="ja-JP" sz="1000" u="sng" dirty="0"/>
              <a:t>: An open-source memory compiler." Proceedings of the 35th International Conference on Computer-Aided Design. 2016.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Advanced Micro Devices, Inc. (AMD). AMD VCK5000 Versal Development Card Product Brief. Available online: </a:t>
            </a:r>
            <a:r>
              <a:rPr lang="en-US" altLang="ja-JP" sz="1000" u="sng" dirty="0">
                <a:hlinkClick r:id="rId3"/>
              </a:rPr>
              <a:t>https://japan.xilinx.com/content/dam/xilinx/publications/product-briefs/amd-xilinx-vck5000-product-brief.pdf</a:t>
            </a:r>
            <a:r>
              <a:rPr lang="en-US" altLang="ja-JP" sz="1000" dirty="0"/>
              <a:t>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Advanced Micro Devices, Inc. (AMD). VCK5000 Gen4x8 Vitis Platform User Guide. Available online: </a:t>
            </a:r>
            <a:r>
              <a:rPr lang="en-US" altLang="ja-JP" sz="1000" u="sng" dirty="0">
                <a:hlinkClick r:id="rId4"/>
              </a:rPr>
              <a:t>https://xilinx.github.io/Alveo-Versal-Platforms/alveoversalplatforms/build/html/docs/user-guide/ug_vck5000_gen4x8_qdma.html</a:t>
            </a:r>
            <a:r>
              <a:rPr lang="en-US" altLang="ja-JP" sz="1000" dirty="0"/>
              <a:t>.</a:t>
            </a:r>
            <a:endParaRPr lang="ja-JP" altLang="ja-JP" sz="100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t>August 12, 2026</a:t>
            </a:fld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t>11</a:t>
            </a:fld>
            <a:endParaRPr lang="ja-JP" alt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501650" y="981710"/>
            <a:ext cx="11188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2160</Words>
  <Application>Microsoft Office PowerPoint</Application>
  <PresentationFormat>ワイド画面</PresentationFormat>
  <Paragraphs>337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Liberation Sans</vt:lpstr>
      <vt:lpstr>游ゴシック</vt:lpstr>
      <vt:lpstr>游ゴシック Light</vt:lpstr>
      <vt:lpstr>Arial</vt:lpstr>
      <vt:lpstr>Cambria Math</vt:lpstr>
      <vt:lpstr>Times New Roman</vt:lpstr>
      <vt:lpstr>Office テーマ</vt:lpstr>
      <vt:lpstr>FPGA-based Neuromorphic Acceleration of Spiking Neural Networks for Event-Driven Humanoid Robotics</vt:lpstr>
      <vt:lpstr>Contents</vt:lpstr>
      <vt:lpstr>Introduction</vt:lpstr>
      <vt:lpstr>Proposed Framework: Software &amp; Hardware Implementation</vt:lpstr>
      <vt:lpstr>PowerPoint プレゼンテーション</vt:lpstr>
      <vt:lpstr>Hardware Architecture</vt:lpstr>
      <vt:lpstr>Experimental Setup</vt:lpstr>
      <vt:lpstr>Computation Comparison</vt:lpstr>
      <vt:lpstr>FPGA implementation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1310244</dc:creator>
  <cp:lastModifiedBy>s 1310244</cp:lastModifiedBy>
  <cp:revision>62</cp:revision>
  <dcterms:created xsi:type="dcterms:W3CDTF">2026-08-10T10:20:17Z</dcterms:created>
  <dcterms:modified xsi:type="dcterms:W3CDTF">2026-08-12T06:31:32Z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
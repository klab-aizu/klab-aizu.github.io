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89" r:id="rId3"/>
    <p:sldId id="285" r:id="rId4"/>
    <p:sldId id="290" r:id="rId5"/>
    <p:sldId id="298" r:id="rId6"/>
    <p:sldId id="299" r:id="rId7"/>
    <p:sldId id="295" r:id="rId8"/>
    <p:sldId id="287" r:id="rId9"/>
    <p:sldId id="294" r:id="rId10"/>
    <p:sldId id="296" r:id="rId11"/>
    <p:sldId id="303" r:id="rId12"/>
    <p:sldId id="301" r:id="rId13"/>
    <p:sldId id="304" r:id="rId14"/>
    <p:sldId id="269" r:id="rId15"/>
    <p:sldId id="271" r:id="rId16"/>
    <p:sldId id="272" r:id="rId17"/>
    <p:sldId id="273" r:id="rId18"/>
    <p:sldId id="274" r:id="rId19"/>
    <p:sldId id="276" r:id="rId20"/>
    <p:sldId id="297" r:id="rId21"/>
    <p:sldId id="292" r:id="rId22"/>
    <p:sldId id="305" r:id="rId23"/>
    <p:sldId id="283" r:id="rId24"/>
  </p:sldIdLst>
  <p:sldSz cx="12192000" cy="6858000"/>
  <p:notesSz cx="6858000" cy="12192000"/>
  <p:defaultTextStyle>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206" autoAdjust="0"/>
  </p:normalViewPr>
  <p:slideViewPr>
    <p:cSldViewPr snapToGrid="0" snapToObjects="1">
      <p:cViewPr varScale="1">
        <p:scale>
          <a:sx n="84" d="100"/>
          <a:sy n="84" d="100"/>
        </p:scale>
        <p:origin x="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8642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rial"/>
        <a:ea typeface="Arial"/>
        <a:cs typeface="Arial"/>
      </a:defRPr>
    </a:lvl1pPr>
    <a:lvl2pPr marL="457200" algn="l" defTabSz="914400" rtl="0" eaLnBrk="1" latinLnBrk="0" hangingPunct="1">
      <a:defRPr kumimoji="1" sz="1200" kern="1200">
        <a:solidFill>
          <a:schemeClr val="tx1"/>
        </a:solidFill>
        <a:latin typeface="Arial"/>
        <a:ea typeface="Arial"/>
        <a:cs typeface="Arial"/>
      </a:defRPr>
    </a:lvl2pPr>
    <a:lvl3pPr marL="914400" algn="l" defTabSz="914400" rtl="0" eaLnBrk="1" latinLnBrk="0" hangingPunct="1">
      <a:defRPr kumimoji="1" sz="1200" kern="1200">
        <a:solidFill>
          <a:schemeClr val="tx1"/>
        </a:solidFill>
        <a:latin typeface="Arial"/>
        <a:ea typeface="Arial"/>
        <a:cs typeface="Arial"/>
      </a:defRPr>
    </a:lvl3pPr>
    <a:lvl4pPr marL="1371600" algn="l" defTabSz="914400" rtl="0" eaLnBrk="1" latinLnBrk="0" hangingPunct="1">
      <a:defRPr kumimoji="1" sz="1200" kern="1200">
        <a:solidFill>
          <a:schemeClr val="tx1"/>
        </a:solidFill>
        <a:latin typeface="Arial"/>
        <a:ea typeface="Arial"/>
        <a:cs typeface="Arial"/>
      </a:defRPr>
    </a:lvl4pPr>
    <a:lvl5pPr marL="1828800" algn="l" defTabSz="914400" rtl="0" eaLnBrk="1" latinLnBrk="0" hangingPunct="1">
      <a:defRPr kumimoji="1" sz="1200" kern="1200">
        <a:solidFill>
          <a:schemeClr val="tx1"/>
        </a:solidFill>
        <a:latin typeface="Arial"/>
        <a:ea typeface="Arial"/>
        <a:cs typeface="Arial"/>
      </a:defRPr>
    </a:lvl5pPr>
    <a:lvl6pPr marL="2286000" algn="l" defTabSz="914400" rtl="0" eaLnBrk="1" latinLnBrk="0" hangingPunct="1">
      <a:defRPr kumimoji="1" sz="1200" kern="1200">
        <a:solidFill>
          <a:schemeClr val="tx1"/>
        </a:solidFill>
        <a:latin typeface="Arial"/>
        <a:ea typeface="Arial"/>
        <a:cs typeface="Arial"/>
      </a:defRPr>
    </a:lvl6pPr>
    <a:lvl7pPr marL="2743200" algn="l" defTabSz="914400" rtl="0" eaLnBrk="1" latinLnBrk="0" hangingPunct="1">
      <a:defRPr kumimoji="1" sz="1200" kern="1200">
        <a:solidFill>
          <a:schemeClr val="tx1"/>
        </a:solidFill>
        <a:latin typeface="Arial"/>
        <a:ea typeface="Arial"/>
        <a:cs typeface="Arial"/>
      </a:defRPr>
    </a:lvl7pPr>
    <a:lvl8pPr marL="3200400" algn="l" defTabSz="914400" rtl="0" eaLnBrk="1" latinLnBrk="0" hangingPunct="1">
      <a:defRPr kumimoji="1" sz="1200" kern="1200">
        <a:solidFill>
          <a:schemeClr val="tx1"/>
        </a:solidFill>
        <a:latin typeface="Arial"/>
        <a:ea typeface="Arial"/>
        <a:cs typeface="Arial"/>
      </a:defRPr>
    </a:lvl8pPr>
    <a:lvl9pPr marL="3657600" algn="l" defTabSz="914400" rtl="0" eaLnBrk="1" latinLnBrk="0" hangingPunct="1">
      <a:defRPr kumimoji="1" sz="1200"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Hello everyone. I am Hayato Takimoto. Today, I will present my graduation thesis titled “Implementation and Evaluation of a Model Transfer and Integration Workflow for Distributed Spiking Neural Network Learning.”</a:t>
            </a:r>
          </a:p>
          <a:p>
            <a:endParaRPr lang="en-US" sz="1200"/>
          </a:p>
          <a:p>
            <a:r>
              <a:rPr lang="en-US" sz="1200" b="1"/>
              <a:t>Japanese:</a:t>
            </a:r>
          </a:p>
          <a:p>
            <a:r>
              <a:rPr lang="ja-JP" sz="1200"/>
              <a:t>皆さん、こんにちは。滝本颯人です。本日は、「分散Spiking Neural Network学習のためのModel Transfer and Integration Workflowの実装と評価」という卒業論文について発表します。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This presentation has four sections: Introduction, Proposal, Evaluation, and Conclusion.</a:t>
            </a:r>
          </a:p>
          <a:p>
            <a:endParaRPr lang="en-US" sz="1200"/>
          </a:p>
          <a:p>
            <a:r>
              <a:rPr lang="en-US" sz="1200" b="1"/>
              <a:t>Japanese:</a:t>
            </a:r>
          </a:p>
          <a:p>
            <a:r>
              <a:rPr lang="ja-JP" sz="1200"/>
              <a:t>本発表は、Introduction、Proposal、Evaluation、Conclusionの4つのセクションで構成されています。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First, I will explain Spiking Neural Networks, or SNNs. SNNs process information using discrete spikes over time. For image recognition, an image is converted into spike trains, processed by spiking neurons, and then converted into output spikes.</a:t>
            </a:r>
          </a:p>
          <a:p>
            <a:endParaRPr lang="en-US" sz="1200"/>
          </a:p>
          <a:p>
            <a:r>
              <a:rPr lang="en-US" sz="1200" b="1"/>
              <a:t>Japanese:</a:t>
            </a:r>
          </a:p>
          <a:p>
            <a:r>
              <a:rPr lang="ja-JP" sz="1200"/>
              <a:t>まず、Spiking Neural Networks、つまりSNNについて説明します。SNNは、時間方向の離散的なspikeを使って情報を処理します。画像認識では、画像をspike trainsに変換し、spiking neuronsで処理した後、output spikesとして出力します。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This slide shows Spike-Timing-Dependent Plasticity, or STDP. STDP changes synaptic weights based on spike timing. If the pre-synaptic spike comes first, the connection becomes stronger. If the order is reversed, the connection becomes weaker.</a:t>
            </a:r>
          </a:p>
          <a:p>
            <a:endParaRPr lang="en-US" sz="1200"/>
          </a:p>
          <a:p>
            <a:r>
              <a:rPr lang="en-US" sz="1200" b="1"/>
              <a:t>Japanese:</a:t>
            </a:r>
          </a:p>
          <a:p>
            <a:r>
              <a:rPr lang="ja-JP" sz="1200"/>
              <a:t>このスライドでは、Spike-Timing-Dependent Plasticity、つまりSTDPを示しています。STDPは、spikeのタイミングに基づいてsynaptic weightを変化させます。pre-synaptic spikeが先に発生した場合は接続が強くなり、順番が逆の場合は接続が弱くなります。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EnsembleSTDP divides the training dataset into subsets and trains SNN sub-models independently. After training, the sub-models are collected, merged, and compressed into one final model. This enables distributed local learning, but requires centralized processing after training.</a:t>
            </a:r>
          </a:p>
          <a:p>
            <a:endParaRPr lang="en-US" sz="1200"/>
          </a:p>
          <a:p>
            <a:r>
              <a:rPr lang="en-US" sz="1200" b="1"/>
              <a:t>Japanese:</a:t>
            </a:r>
          </a:p>
          <a:p>
            <a:r>
              <a:rPr lang="ja-JP" sz="1200"/>
              <a:t>EnsembleSTDPでは、training datasetを複数のsubsetに分け、SNN sub-modelをそれぞれ独立に学習します。学習後、sub-modelを集めてmergeとcompressionを行い、1つのfinal modelにします。これによりdistributed local learningが可能になりますが、学習後にはcentralized processingが必要です。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Previous EnsembleSTDP research showed that parallel sub-model training can reduce training time. However, after training, model-related files still need to be transferred, merged, compressed, and evaluated. Therefore, this study focuses on the post-training workflow and the factors that affect workflow completion time and final accuracy.</a:t>
            </a:r>
          </a:p>
          <a:p>
            <a:endParaRPr lang="en-US" sz="1200"/>
          </a:p>
          <a:p>
            <a:r>
              <a:rPr lang="en-US" sz="1200" b="1"/>
              <a:t>Japanese:</a:t>
            </a:r>
          </a:p>
          <a:p>
            <a:r>
              <a:rPr lang="ja-JP" sz="1200"/>
              <a:t>先行するEnsembleSTDP研究では、parallel sub-model trainingによってtraining timeを短縮できることが示されています。しかし、学習後もmodel-related filesのtransfer、merge、compression、evaluationが必要です。そのため本研究では、学習後のworkflowと、workflow completion timeおよびfinal accuracyに影響する要因に注目します。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200" b="1"/>
              <a:t>English:</a:t>
            </a:r>
          </a:p>
          <a:p>
            <a:r>
              <a:rPr lang="en-US" sz="1200"/>
              <a:t>Next, I will explain the proposed workflow.</a:t>
            </a:r>
          </a:p>
          <a:p>
            <a:endParaRPr lang="en-US" sz="1200"/>
          </a:p>
          <a:p>
            <a:r>
              <a:rPr lang="en-US" sz="1200" b="1"/>
              <a:t>Japanese:</a:t>
            </a:r>
          </a:p>
          <a:p>
            <a:r>
              <a:rPr lang="ja-JP" sz="1200"/>
              <a:t>次に、提案するworkflowについて説明します。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This slide shows the experimental setup. Each sender stores one trained sub-model as three files: model, assignments, and proportions. The files are sent to vm-node1 using TCP, ZeroMQ, or gRPC. After receiving them, vm-node1 performs merge, compression, and MNIST evaluation.</a:t>
            </a:r>
          </a:p>
          <a:p>
            <a:endParaRPr lang="en-US" sz="1200"/>
          </a:p>
          <a:p>
            <a:r>
              <a:rPr lang="en-US" sz="1200" b="1"/>
              <a:t>Japanese:</a:t>
            </a:r>
          </a:p>
          <a:p>
            <a:r>
              <a:rPr lang="ja-JP" sz="1200"/>
              <a:t>このスライドでは、実験構成を示しています。各senderは、1つのtrained sub-modelをmodel、assignments、proportionsの3ファイルとして保持します。これらをTCP、ZeroMQ、またはgRPCでvm-node1へ送信します。受信後、vm-node1でmerge、compression、MNIST evaluationを行います。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One sub-model is one SNN trained independently on part of the MNIST training data. Each sender transfers three model-related files. I evaluate sub-model quality using standalone MNIST accuracy before integration, and check its effect by removing or replacing a low-accuracy sub-model.</a:t>
            </a:r>
          </a:p>
          <a:p>
            <a:endParaRPr lang="en-US" sz="1200"/>
          </a:p>
          <a:p>
            <a:r>
              <a:rPr lang="en-US" sz="1200" b="1"/>
              <a:t>Japanese:</a:t>
            </a:r>
          </a:p>
          <a:p>
            <a:r>
              <a:rPr lang="ja-JP" sz="1200"/>
              <a:t>本研究では、1つのsub-modelを、MNIST training dataの一部で独立に学習した1つのSNNとします。各senderは3つのmodel-related filesを送信します。Sub-model qualityは、integration前のstandalone MNIST accuracyで評価し、低精度のsub-modelを除外または置き換えることで、その影響を確認します。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200" b="1"/>
              <a:t>English:</a:t>
            </a:r>
          </a:p>
          <a:p>
            <a:r>
              <a:rPr lang="en-US" sz="1200"/>
              <a:t>Next, I will explain the evaluation and results.</a:t>
            </a:r>
          </a:p>
          <a:p>
            <a:endParaRPr lang="en-US" sz="1200"/>
          </a:p>
          <a:p>
            <a:r>
              <a:rPr lang="en-US" sz="1200" b="1"/>
              <a:t>Japanese:</a:t>
            </a:r>
          </a:p>
          <a:p>
            <a:r>
              <a:rPr lang="ja-JP" sz="1200"/>
              <a:t>次に、評価方法と実験結果について説明します。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There are four evaluation objectives. First, workflow feasibility checks whether transfer and integration finish correctly. Second, workflow completion time checks execution mode, stragglers, and arrival skew. Third, bottleneck breakdown identifies the most time-consuming receiver-side stage. Finally, final merged-model accuracy separates the effect of communication from sub-model quality. These evaluations show what should be improved first.</a:t>
            </a:r>
          </a:p>
          <a:p>
            <a:endParaRPr lang="en-US" sz="1200"/>
          </a:p>
          <a:p>
            <a:r>
              <a:rPr lang="en-US" sz="1200" b="1"/>
              <a:t>Japanese:</a:t>
            </a:r>
          </a:p>
          <a:p>
            <a:r>
              <a:rPr lang="ja-JP" sz="1200"/>
              <a:t>評価目的は4つあります。1つ目のworkflow feasibilityでは、transferとintegrationが正しく完了するかを確認します。2つ目のworkflow completion timeでは、execution mode、straggler、arrival skewの影響を確認します。3つ目のbottleneck breakdownでは、receiver側で最も時間がかかる処理を特定します。最後に、final merged-model accuracyでは、communicationの影響とsub-model qualityの影響を分けて確認します。これらの評価によって、どこを優先して改善すべきかを判断します。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The experiments used Ubuntu virtual machines on VirtualBox. vm-node1 was the receiver, with up to nine sender VMs. I compared TCP, ZeroMQ, and gRPC. The final merged model was evaluated with 10,000 MNIST test samples using BindsNET.</a:t>
            </a:r>
          </a:p>
          <a:p>
            <a:endParaRPr lang="en-US" sz="1200"/>
          </a:p>
          <a:p>
            <a:r>
              <a:rPr lang="en-US" sz="1200" b="1"/>
              <a:t>Japanese:</a:t>
            </a:r>
          </a:p>
          <a:p>
            <a:r>
              <a:rPr lang="ja-JP" sz="1200"/>
              <a:t>実験には、VirtualBox上のUbuntu virtual machineを使用しました。receiverはvm-node1で、最大9台のsender VMを使用しました。通信方式としてTCP、ZeroMQ、gRPCを比較しました。Final merged modelはBindsNETを使用し、10,000件のMNIST test samplesで評価しました。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English:</a:t>
            </a:r>
          </a:p>
          <a:p>
            <a:r>
              <a:rPr lang="en-US" sz="1200" dirty="0"/>
              <a:t>This slide shows the timing measurement method. I use receiver-side timestamps. For each sender, I measure the time from its first received file to its last received file and add these spans. This removes manual waiting time, but it is not pure network latency. For concurrent execution, I also use global span and arrival skew.</a:t>
            </a:r>
            <a:endParaRPr lang="en-US" sz="1200" b="1" dirty="0"/>
          </a:p>
          <a:p>
            <a:r>
              <a:rPr lang="en-US" altLang="ja-JP" sz="1200" dirty="0"/>
              <a:t>(</a:t>
            </a:r>
            <a:r>
              <a:rPr lang="ja-JP" sz="1200" dirty="0"/>
              <a:t>このスライドでは、時間測定方法を示します。receiver側で記録したtimestampを使用します。各senderについて、最初に受信したファイルから最後に受信したファイルまでの時間を測り、それらのspanを合計します。これにより手動操作による待機時間を除外できますが、純粋なnetwork latencyではありません。Concurrent executionでは、global spanとarrival skewも使用します。</a:t>
            </a:r>
            <a:r>
              <a:rPr lang="en-US" altLang="ja-JP" sz="1200" dirty="0"/>
              <a:t>)</a:t>
            </a:r>
            <a:endParaRPr lang="ja-JP" sz="1200"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Result 1 evaluates workflow feasibility. TCP, ZeroMQ, and gRPC all transferred the required files and completed integration. In the 3-sender asymmetric configuration, all three approaches produced the same final accuracy of 0.8676. This confirms that the workflow works correctly with all three approaches.</a:t>
            </a:r>
          </a:p>
          <a:p>
            <a:endParaRPr lang="en-US" sz="1200"/>
          </a:p>
          <a:p>
            <a:r>
              <a:rPr lang="en-US" sz="1200" b="1"/>
              <a:t>Japanese:</a:t>
            </a:r>
          </a:p>
          <a:p>
            <a:r>
              <a:rPr lang="ja-JP" sz="1200"/>
              <a:t>Result 1では、workflow feasibilityを評価します。TCP、ZeroMQ、gRPCのすべてで必要なファイルを転送し、integrationまで完了できました。3-sender asymmetric構成では、3つの方式すべてでfinal accuracyは0.8676でした。これにより、3つの通信方式すべてでworkflowが正しく動作することを確認しました。</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English:</a:t>
            </a:r>
          </a:p>
          <a:p>
            <a:r>
              <a:rPr lang="en-US" sz="1200" dirty="0"/>
              <a:t>Result 2-A compares sequential and concurrent execution. Concurrent execution reduced the global receiver-side span for all three approaches by about 78 to 89 percent. This shows that sender execution mode has a large effect on workflow completion time.</a:t>
            </a:r>
          </a:p>
          <a:p>
            <a:endParaRPr lang="en-US" sz="1200" dirty="0"/>
          </a:p>
          <a:p>
            <a:r>
              <a:rPr lang="en-US" sz="1200" b="1" dirty="0"/>
              <a:t>Japanese:</a:t>
            </a:r>
          </a:p>
          <a:p>
            <a:r>
              <a:rPr lang="ja-JP" sz="1200" dirty="0"/>
              <a:t>Result 2-Aでは、sequential executionとconcurrent executionを比較します。Concurrent executionにより、3つすべての方式でglobal receiver-side spanが約78％から89％短縮されました。この結果から、sender execution modeがworkflow completion timeに大きく影響することが分かります。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English:</a:t>
            </a:r>
          </a:p>
          <a:p>
            <a:r>
              <a:rPr lang="en-US" sz="1200" dirty="0"/>
              <a:t>Result 2-B examines the controlled straggler effect. I added an artificial delay to one sender. As the delay increased, the global span also increased. With a five-second delay, the global span was about 5.48 seconds. One delayed sender can therefore determine the overall completion time.</a:t>
            </a:r>
          </a:p>
          <a:p>
            <a:endParaRPr lang="en-US" sz="1200" dirty="0"/>
          </a:p>
          <a:p>
            <a:r>
              <a:rPr lang="en-US" sz="1200" b="1" dirty="0"/>
              <a:t>Japanese:</a:t>
            </a:r>
          </a:p>
          <a:p>
            <a:r>
              <a:rPr lang="ja-JP" sz="1200" dirty="0"/>
              <a:t>Result 2-Bでは、controlled straggler effectを確認します。1つのsenderに人工的な遅延を追加しました。遅延が大きくなるにつれてglobal spanも増加しました。5秒の遅延ではglobal spanは約5.48秒でした。このことから、1台の遅れたsenderが全体の完了時間を決める可能性があると分かります。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Result 2-C analyzes arrival skew. gRPC had the shortest mean per-sender span, about 0.070 seconds. However, its arrival skew was about 1.193 seconds, and its global span was 1.293 seconds. Fast individual transfers do not always lead to fast global completion.</a:t>
            </a:r>
          </a:p>
          <a:p>
            <a:endParaRPr lang="en-US" sz="1200"/>
          </a:p>
          <a:p>
            <a:r>
              <a:rPr lang="en-US" sz="1200" b="1"/>
              <a:t>Japanese:</a:t>
            </a:r>
          </a:p>
          <a:p>
            <a:r>
              <a:rPr lang="ja-JP" sz="1200"/>
              <a:t>Result 2-Cでは、arrival skewを分析します。gRPCのmean per-sender spanは約0.070秒で最も短い値でした。しかし、arrival skewは約1.193秒、global spanは1.293秒でした。つまり、個々の転送が速くても、全体の完了が必ず速くなるわけではありません。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Result 3 identifies the receiver-side bottleneck. Transfer took about 1.26 seconds, merge plus compression took about 26.23 seconds, and MNIST evaluation took about 890.75 seconds. Evaluation accounted for about 97 percent of the measured workflow time, so it was the dominant processing cost.</a:t>
            </a:r>
          </a:p>
          <a:p>
            <a:endParaRPr lang="en-US" sz="1200"/>
          </a:p>
          <a:p>
            <a:r>
              <a:rPr lang="en-US" sz="1200" b="1"/>
              <a:t>Japanese:</a:t>
            </a:r>
          </a:p>
          <a:p>
            <a:r>
              <a:rPr lang="ja-JP" sz="1200"/>
              <a:t>Result 3では、receiver-side bottleneckを確認します。Transferは約1.26秒、merge plus compressionは約26.23秒、MNIST evaluationは約890.75秒でした。Evaluationは測定したworkflow timeの約97％を占めており、この実験では最も大きなprocessing costでした。</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Result 4 evaluates final model quality. The original model_1 had a standalone accuracy of 0.5349. When I removed it, merged-model accuracy increased to 0.8033. Changing the training data range or neuron count also improved accuracy. This shows that sub-model quality strongly affected the asymmetric-model accuracy.</a:t>
            </a:r>
          </a:p>
          <a:p>
            <a:endParaRPr lang="en-US" sz="1200"/>
          </a:p>
          <a:p>
            <a:r>
              <a:rPr lang="en-US" sz="1200" b="1"/>
              <a:t>Japanese:</a:t>
            </a:r>
          </a:p>
          <a:p>
            <a:r>
              <a:rPr lang="ja-JP" sz="1200"/>
              <a:t>Result 4では、final model qualityを評価します。元のmodel_1のstandalone accuracyは0.5349でした。このsub-modelを除外すると、merged-model accuracyは0.8033まで上昇しました。また、training data rangeやneuron countを変更した場合もaccuracyが改善しました。この結果から、sub-model qualityがasymmetric-model accuracyに強く影響していたことが分かります。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200" b="1"/>
              <a:t>English:</a:t>
            </a:r>
          </a:p>
          <a:p>
            <a:r>
              <a:rPr lang="en-US" sz="1200"/>
              <a:t>Finally, I will summarize the conclusion.</a:t>
            </a:r>
          </a:p>
          <a:p>
            <a:endParaRPr lang="en-US" sz="1200"/>
          </a:p>
          <a:p>
            <a:r>
              <a:rPr lang="en-US" sz="1200" b="1"/>
              <a:t>Japanese:</a:t>
            </a:r>
          </a:p>
          <a:p>
            <a:r>
              <a:rPr lang="ja-JP" sz="1200"/>
              <a:t>最後に、結論をまとめます。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r>
              <a:rPr lang="en-US" sz="1200"/>
              <a:t>English:</a:t>
            </a:r>
          </a:p>
          <a:p>
            <a:r>
              <a:rPr lang="en-US" sz="1200"/>
              <a:t>In conclusion, I implemented and validated the model-transfer and receiver-side integration workflow using TCP, ZeroMQ, and gRPC. The results showed that workflow performance depended not only on the communication approach, but also on sender coordination, receiver-side processing, and sub-model quality. Future work will evaluate the workflow on physical and heterogeneous devices and improve sender coordination and receiver-side processing.</a:t>
            </a:r>
          </a:p>
          <a:p>
            <a:endParaRPr lang="en-US" sz="1200"/>
          </a:p>
          <a:p>
            <a:r>
              <a:rPr lang="en-US" sz="1200"/>
              <a:t>Japanese:</a:t>
            </a:r>
          </a:p>
          <a:p>
            <a:r>
              <a:rPr lang="en-US" sz="1200"/>
              <a:t>結論として、TCP、ZeroMQ、gRPCを用いたmodel-transfer and receiver-side integration workflowを実装し、動作を確認しました。結果から、workflow performanceはcommunication approachだけでなく、sender coordination、receiver-side processing、sub-model qualityにも左右されることが分かりました。今後は、physical and heterogeneous devices上で評価し、sender coordinationとreceiver-side processingを改善します。</a:t>
            </a:r>
          </a:p>
        </p:txBody>
      </p:sp>
      <p:sp>
        <p:nvSpPr>
          <p:cNvPr id="3" name="Notes Placeholder 2"/>
          <p:cNvSpPr>
            <a:spLocks noGrp="1"/>
          </p:cNvSpPr>
          <p:nvPr>
            <p:ph type="body" idx="1"/>
          </p:nvPr>
        </p:nvSpPr>
        <p:spPr/>
        <p:txBody>
          <a:bodyPr/>
          <a:lstStyle/>
          <a:p>
            <a:r>
              <a:rPr lang="en-US" sz="1200" b="1" dirty="0"/>
              <a:t>English:</a:t>
            </a:r>
          </a:p>
          <a:p>
            <a:r>
              <a:rPr lang="en-US" sz="1200" dirty="0"/>
              <a:t>In conclusion, I implemented and validated the model-transfer and receiver-side integration workflow using TCP, </a:t>
            </a:r>
            <a:r>
              <a:rPr lang="en-US" sz="1200" dirty="0" err="1"/>
              <a:t>ZeroMQ</a:t>
            </a:r>
            <a:r>
              <a:rPr lang="en-US" sz="1200" dirty="0"/>
              <a:t>, and </a:t>
            </a:r>
            <a:r>
              <a:rPr lang="en-US" sz="1200" dirty="0" err="1"/>
              <a:t>gRPC</a:t>
            </a:r>
            <a:r>
              <a:rPr lang="en-US" sz="1200" dirty="0"/>
              <a:t>. Performance depended not only on communication, but also on sender coordination, receiver-side processing, and sub-model quality. Future work will evaluate physical and different types of devices, improve sender coordination, and reduce receiver-side processing cost.</a:t>
            </a:r>
          </a:p>
          <a:p>
            <a:endParaRPr lang="en-US" sz="1200" dirty="0"/>
          </a:p>
          <a:p>
            <a:r>
              <a:rPr lang="en-US" sz="1200" b="1" dirty="0"/>
              <a:t>Japanese:</a:t>
            </a:r>
          </a:p>
          <a:p>
            <a:r>
              <a:rPr lang="ja-JP" sz="1200" dirty="0"/>
              <a:t>結論として、TCP、ZeroMQ、gRPCを用いたmodel-transfer and receiver-side integration workflowを実装し、動作を確認しました。性能はcommunicationだけでなく、sender coordination、receiver-side processing、sub-model qualityにも左右されました。今後は、physical and heterogeneous devicesでの評価、sender coordinationの改善、receiver-side processing costの削減を行います。</a:t>
            </a:r>
          </a:p>
        </p:txBody>
      </p:sp>
      <p:sp>
        <p:nvSpPr>
          <p:cNvPr id="4" name="Slide Number Placeholder 3"/>
          <p:cNvSpPr>
            <a:spLocks noGrp="1"/>
          </p:cNvSpPr>
          <p:nvPr>
            <p:ph type="sldNum" sz="quarter" idx="10"/>
          </p:nvPr>
        </p:nvSpPr>
        <p:spPr/>
        <p:txBody>
          <a:bodyPr/>
          <a:lstStyle/>
          <a:p>
            <a:r>
              <a:t>16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r>
              <a:rPr lang="en-US" sz="1200"/>
              <a:t>English:</a:t>
            </a:r>
          </a:p>
          <a:p>
            <a:r>
              <a:rPr lang="en-US" sz="1200"/>
              <a:t>In conclusion, I implemented and validated the model-transfer and receiver-side integration workflow using TCP, ZeroMQ, and gRPC. The results showed that workflow performance depended not only on the communication approach, but also on sender coordination, receiver-side processing, and sub-model quality. Future work will evaluate the workflow on physical and heterogeneous devices and improve sender coordination and receiver-side processing.</a:t>
            </a:r>
          </a:p>
          <a:p>
            <a:endParaRPr lang="en-US" sz="1200"/>
          </a:p>
          <a:p>
            <a:r>
              <a:rPr lang="en-US" sz="1200"/>
              <a:t>Japanese:</a:t>
            </a:r>
          </a:p>
          <a:p>
            <a:r>
              <a:rPr lang="en-US" sz="1200"/>
              <a:t>結論として、TCP、ZeroMQ、gRPCを用いたmodel-transfer and receiver-side integration workflowを実装し、動作を確認しました。結果から、workflow performanceはcommunication approachだけでなく、sender coordination、receiver-side processing、sub-model qualityにも左右されることが分かりました。今後は、physical and heterogeneous devices上で評価し、sender coordinationとreceiver-side processingを改善します。</a:t>
            </a:r>
          </a:p>
        </p:txBody>
      </p:sp>
      <p:sp>
        <p:nvSpPr>
          <p:cNvPr id="3" name="Notes Placeholder 2"/>
          <p:cNvSpPr>
            <a:spLocks noGrp="1"/>
          </p:cNvSpPr>
          <p:nvPr>
            <p:ph type="body" idx="1"/>
          </p:nvPr>
        </p:nvSpPr>
        <p:spPr/>
        <p:txBody>
          <a:bodyPr/>
          <a:lstStyle/>
          <a:p>
            <a:r>
              <a:rPr lang="en-US" sz="1200" b="1"/>
              <a:t>English:</a:t>
            </a:r>
          </a:p>
          <a:p>
            <a:r>
              <a:rPr lang="en-US" sz="1200"/>
              <a:t>These are the main references and open-source repositories used in this research.</a:t>
            </a:r>
          </a:p>
          <a:p>
            <a:endParaRPr lang="en-US" sz="1200"/>
          </a:p>
          <a:p>
            <a:r>
              <a:rPr lang="en-US" sz="1200" b="1"/>
              <a:t>Japanese:</a:t>
            </a:r>
          </a:p>
          <a:p>
            <a:r>
              <a:rPr lang="ja-JP" sz="1200"/>
              <a:t>こちらが、本研究で使用した主な参考文献とopen-source repositoryです。</a:t>
            </a:r>
          </a:p>
        </p:txBody>
      </p:sp>
      <p:sp>
        <p:nvSpPr>
          <p:cNvPr id="4" name="Slide Number Placeholder 3"/>
          <p:cNvSpPr>
            <a:spLocks noGrp="1"/>
          </p:cNvSpPr>
          <p:nvPr>
            <p:ph type="sldNum" sz="quarter" idx="10"/>
          </p:nvPr>
        </p:nvSpPr>
        <p:spPr/>
        <p:txBody>
          <a:bodyPr/>
          <a:lstStyle/>
          <a:p>
            <a:r>
              <a:t>16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English:</a:t>
            </a:r>
          </a:p>
          <a:p>
            <a:r>
              <a:rPr lang="en-US" sz="1200"/>
              <a:t>Thank you for your attention. I would be happy to answer any questions.</a:t>
            </a:r>
          </a:p>
          <a:p>
            <a:endParaRPr lang="en-US" sz="1200"/>
          </a:p>
          <a:p>
            <a:r>
              <a:rPr lang="en-US" sz="1200" b="1"/>
              <a:t>Japanese:</a:t>
            </a:r>
          </a:p>
          <a:p>
            <a:r>
              <a:rPr lang="ja-JP" sz="1200"/>
              <a:t>ご清聴ありがとうございました。質問があればお願いします。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1591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WHIT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2928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Arial"/>
          <a:ea typeface="Arial"/>
          <a:cs typeface="Arial"/>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Arial"/>
          <a:cs typeface="Arial"/>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Arial"/>
          <a:cs typeface="Arial"/>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Arial"/>
          <a:cs typeface="Arial"/>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9pPr>
    </p:bodyStyle>
    <p:otherStyle>
      <a:defPPr>
        <a:defRPr lang="en-U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klab-aizu"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github.com/klab-aizu/EnsembleSTDP"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1417320"/>
            <a:ext cx="10835640" cy="1508760"/>
          </a:xfrm>
          <a:prstGeom prst="rect">
            <a:avLst/>
          </a:prstGeom>
          <a:noFill/>
          <a:ln/>
        </p:spPr>
        <p:txBody>
          <a:bodyPr wrap="square" lIns="27432" tIns="18288" rIns="27432" bIns="18288" rtlCol="0" anchor="ctr">
            <a:normAutofit lnSpcReduction="10000"/>
          </a:bodyPr>
          <a:lstStyle/>
          <a:p>
            <a:pPr marL="0" indent="0" algn="ctr">
              <a:buNone/>
              <a:defRPr sz="3400" b="0">
                <a:solidFill>
                  <a:srgbClr val="000000"/>
                </a:solidFill>
                <a:latin typeface="Arial"/>
              </a:defRPr>
            </a:pPr>
            <a:r>
              <a:rPr lang="en-US" sz="3400" b="0" dirty="0">
                <a:solidFill>
                  <a:srgbClr val="000000"/>
                </a:solidFill>
                <a:latin typeface="Arial"/>
                <a:ea typeface="Arial" pitchFamily="34" charset="-122"/>
                <a:cs typeface="Arial" panose="020B0604020202020204" pitchFamily="34" charset="0"/>
              </a:rPr>
              <a:t>Implementation and Evaluation of a Model Transfer and Integration Workflow for Distributed Spiking Neural Network Learning</a:t>
            </a:r>
            <a:endParaRPr lang="en-US" sz="3800" dirty="0">
              <a:latin typeface="+mj-lt"/>
              <a:cs typeface="Arial" panose="020B0604020202020204" pitchFamily="34" charset="0"/>
            </a:endParaRPr>
          </a:p>
        </p:txBody>
      </p:sp>
      <p:sp>
        <p:nvSpPr>
          <p:cNvPr id="3" name="Text 1"/>
          <p:cNvSpPr/>
          <p:nvPr/>
        </p:nvSpPr>
        <p:spPr>
          <a:xfrm>
            <a:off x="2880360" y="3493008"/>
            <a:ext cx="6400800" cy="868680"/>
          </a:xfrm>
          <a:prstGeom prst="rect">
            <a:avLst/>
          </a:prstGeom>
          <a:noFill/>
          <a:ln/>
        </p:spPr>
        <p:txBody>
          <a:bodyPr wrap="square" lIns="27432" tIns="18288" rIns="27432" bIns="18288" rtlCol="0" anchor="ctr">
            <a:normAutofit lnSpcReduction="10000"/>
          </a:bodyPr>
          <a:lstStyle/>
          <a:p>
            <a:pPr marL="0" indent="0" algn="ctr">
              <a:buNone/>
              <a:defRPr sz="2000" b="0">
                <a:solidFill>
                  <a:srgbClr val="000000"/>
                </a:solidFill>
                <a:latin typeface="Arial"/>
              </a:defRPr>
            </a:pPr>
            <a:r>
              <a:rPr lang="en-US" sz="2000" b="0" dirty="0">
                <a:solidFill>
                  <a:srgbClr val="000000"/>
                </a:solidFill>
                <a:latin typeface="Arial"/>
                <a:ea typeface="Arial" pitchFamily="34" charset="-122"/>
                <a:cs typeface="Arial" panose="020B0604020202020204" pitchFamily="34" charset="0"/>
              </a:rPr>
              <a:t>Hayato Takimoto</a:t>
            </a:r>
            <a:endParaRPr lang="en-US" sz="2000" dirty="0">
              <a:latin typeface="+mj-lt"/>
              <a:cs typeface="Arial" panose="020B0604020202020204" pitchFamily="34" charset="0"/>
            </a:endParaRPr>
          </a:p>
          <a:p>
            <a:pPr marL="0" indent="0" algn="ctr">
              <a:buNone/>
              <a:defRPr sz="2000" b="0">
                <a:solidFill>
                  <a:srgbClr val="000000"/>
                </a:solidFill>
                <a:latin typeface="Arial"/>
              </a:defRPr>
            </a:pPr>
            <a:r>
              <a:rPr lang="en-US" sz="2000" b="0" dirty="0">
                <a:solidFill>
                  <a:srgbClr val="000000"/>
                </a:solidFill>
                <a:latin typeface="Arial"/>
                <a:ea typeface="Arial" pitchFamily="34" charset="-122"/>
                <a:cs typeface="Arial" panose="020B0604020202020204" pitchFamily="34" charset="0"/>
              </a:rPr>
              <a:t>s1300183</a:t>
            </a:r>
            <a:endParaRPr lang="en-US" sz="2000" dirty="0">
              <a:latin typeface="+mj-lt"/>
              <a:cs typeface="Arial" panose="020B0604020202020204" pitchFamily="34" charset="0"/>
            </a:endParaRPr>
          </a:p>
          <a:p>
            <a:pPr marL="0" indent="0" algn="ctr">
              <a:buNone/>
              <a:defRPr sz="2000" b="0">
                <a:solidFill>
                  <a:srgbClr val="000000"/>
                </a:solidFill>
                <a:latin typeface="Arial"/>
              </a:defRPr>
            </a:pPr>
            <a:r>
              <a:rPr lang="en-US" sz="2000" b="0" dirty="0">
                <a:solidFill>
                  <a:srgbClr val="000000"/>
                </a:solidFill>
                <a:latin typeface="Arial"/>
                <a:ea typeface="Arial" pitchFamily="34" charset="-122"/>
                <a:cs typeface="Arial" panose="020B0604020202020204" pitchFamily="34" charset="0"/>
              </a:rPr>
              <a:t>Supervised by Khanh N. Dang</a:t>
            </a:r>
            <a:endParaRPr lang="en-US" sz="2000" dirty="0">
              <a:latin typeface="+mj-lt"/>
              <a:cs typeface="Arial" panose="020B0604020202020204" pitchFamily="34" charset="0"/>
            </a:endParaRPr>
          </a:p>
        </p:txBody>
      </p:sp>
      <p:sp>
        <p:nvSpPr>
          <p:cNvPr id="4" name="TextBox 3"/>
          <p:cNvSpPr txBox="1"/>
          <p:nvPr/>
        </p:nvSpPr>
        <p:spPr>
          <a:xfrm>
            <a:off x="0" y="4434840"/>
            <a:ext cx="12192000" cy="320040"/>
          </a:xfrm>
          <a:prstGeom prst="rect">
            <a:avLst/>
          </a:prstGeom>
          <a:noFill/>
        </p:spPr>
        <p:txBody>
          <a:bodyPr wrap="none" lIns="27432" tIns="18288" rIns="27432" bIns="18288">
            <a:spAutoFit/>
          </a:bodyPr>
          <a:lstStyle/>
          <a:p>
            <a:pPr algn="ctr">
              <a:defRPr sz="1800" b="0">
                <a:solidFill>
                  <a:srgbClr val="505050"/>
                </a:solidFill>
                <a:latin typeface="Arial"/>
              </a:defRPr>
            </a:pPr>
            <a:r>
              <a:rPr sz="1800" b="0">
                <a:solidFill>
                  <a:srgbClr val="000000"/>
                </a:solidFill>
                <a:latin typeface="Arial"/>
              </a:rPr>
              <a:t>August 10,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nchor="t">
            <a:spAutoFit/>
          </a:bodyPr>
          <a:lstStyle/>
          <a:p>
            <a:pPr algn="l">
              <a:defRPr sz="2800" b="1">
                <a:solidFill>
                  <a:srgbClr val="000000"/>
                </a:solidFill>
                <a:latin typeface="Arial"/>
              </a:defRPr>
            </a:pPr>
            <a:r>
              <a:rPr sz="2800" b="1">
                <a:solidFill>
                  <a:srgbClr val="000000"/>
                </a:solidFill>
                <a:latin typeface="Arial"/>
              </a:rPr>
              <a:t>Table of Contents</a:t>
            </a:r>
          </a:p>
        </p:txBody>
      </p:sp>
      <p:sp>
        <p:nvSpPr>
          <p:cNvPr id="4" name="TextBox 3"/>
          <p:cNvSpPr txBox="1"/>
          <p:nvPr/>
        </p:nvSpPr>
        <p:spPr>
          <a:xfrm>
            <a:off x="11686032" y="6565392"/>
            <a:ext cx="384048" cy="201168"/>
          </a:xfrm>
          <a:prstGeom prst="rect">
            <a:avLst/>
          </a:prstGeom>
          <a:noFill/>
        </p:spPr>
        <p:txBody>
          <a:bodyPr wrap="none" lIns="27432" tIns="18288" rIns="27432" bIns="18288" anchor="t">
            <a:spAutoFit/>
          </a:bodyPr>
          <a:lstStyle/>
          <a:p>
            <a:pPr algn="ctr">
              <a:defRPr sz="800" b="0">
                <a:solidFill>
                  <a:srgbClr val="000000"/>
                </a:solidFill>
                <a:latin typeface="Arial"/>
              </a:defRPr>
            </a:pPr>
            <a:r>
              <a:rPr sz="800" b="0">
                <a:solidFill>
                  <a:srgbClr val="000000"/>
                </a:solidFill>
                <a:latin typeface="Arial"/>
              </a:rPr>
              <a:t>1</a:t>
            </a:r>
          </a:p>
        </p:txBody>
      </p:sp>
      <p:sp>
        <p:nvSpPr>
          <p:cNvPr id="5" name="TextBox 4"/>
          <p:cNvSpPr txBox="1"/>
          <p:nvPr/>
        </p:nvSpPr>
        <p:spPr>
          <a:xfrm>
            <a:off x="594360" y="1600200"/>
            <a:ext cx="3977639" cy="475488"/>
          </a:xfrm>
          <a:prstGeom prst="rect">
            <a:avLst/>
          </a:prstGeom>
          <a:noFill/>
        </p:spPr>
        <p:txBody>
          <a:bodyPr wrap="none" lIns="0" tIns="18288" rIns="0" bIns="18288" anchor="t">
            <a:spAutoFit/>
          </a:bodyPr>
          <a:lstStyle/>
          <a:p>
            <a:pPr>
              <a:defRPr sz="2600" b="0">
                <a:solidFill>
                  <a:srgbClr val="000000"/>
                </a:solidFill>
                <a:latin typeface="Arial"/>
              </a:defRPr>
            </a:pPr>
            <a:r>
              <a:rPr sz="2400" b="0">
                <a:solidFill>
                  <a:srgbClr val="000000"/>
                </a:solidFill>
                <a:latin typeface="Arial"/>
              </a:rPr>
              <a:t>1. Introduction</a:t>
            </a:r>
          </a:p>
        </p:txBody>
      </p:sp>
      <p:sp>
        <p:nvSpPr>
          <p:cNvPr id="6" name="TextBox 5"/>
          <p:cNvSpPr txBox="1"/>
          <p:nvPr/>
        </p:nvSpPr>
        <p:spPr>
          <a:xfrm>
            <a:off x="594360" y="2331720"/>
            <a:ext cx="3977639" cy="475488"/>
          </a:xfrm>
          <a:prstGeom prst="rect">
            <a:avLst/>
          </a:prstGeom>
          <a:noFill/>
        </p:spPr>
        <p:txBody>
          <a:bodyPr wrap="none" lIns="0" tIns="18288" rIns="0" bIns="18288" anchor="t">
            <a:spAutoFit/>
          </a:bodyPr>
          <a:lstStyle/>
          <a:p>
            <a:pPr>
              <a:defRPr sz="2600" b="0">
                <a:solidFill>
                  <a:srgbClr val="000000"/>
                </a:solidFill>
                <a:latin typeface="Arial"/>
              </a:defRPr>
            </a:pPr>
            <a:r>
              <a:rPr sz="2400" b="0">
                <a:solidFill>
                  <a:srgbClr val="000000"/>
                </a:solidFill>
                <a:latin typeface="Arial"/>
              </a:rPr>
              <a:t>2. Proposal</a:t>
            </a:r>
          </a:p>
        </p:txBody>
      </p:sp>
      <p:sp>
        <p:nvSpPr>
          <p:cNvPr id="7" name="TextBox 6"/>
          <p:cNvSpPr txBox="1"/>
          <p:nvPr/>
        </p:nvSpPr>
        <p:spPr>
          <a:xfrm>
            <a:off x="594360" y="3063240"/>
            <a:ext cx="3977639" cy="475488"/>
          </a:xfrm>
          <a:prstGeom prst="rect">
            <a:avLst/>
          </a:prstGeom>
          <a:noFill/>
        </p:spPr>
        <p:txBody>
          <a:bodyPr wrap="none" lIns="0" tIns="18288" rIns="0" bIns="18288" anchor="t">
            <a:spAutoFit/>
          </a:bodyPr>
          <a:lstStyle/>
          <a:p>
            <a:pPr>
              <a:defRPr sz="2600" b="0">
                <a:solidFill>
                  <a:srgbClr val="000000"/>
                </a:solidFill>
                <a:latin typeface="Arial"/>
              </a:defRPr>
            </a:pPr>
            <a:r>
              <a:rPr sz="2400" b="0">
                <a:solidFill>
                  <a:srgbClr val="000000"/>
                </a:solidFill>
                <a:latin typeface="Arial"/>
              </a:rPr>
              <a:t>3. Evaluation</a:t>
            </a:r>
          </a:p>
        </p:txBody>
      </p:sp>
      <p:sp>
        <p:nvSpPr>
          <p:cNvPr id="8" name="TextBox 7"/>
          <p:cNvSpPr txBox="1"/>
          <p:nvPr/>
        </p:nvSpPr>
        <p:spPr>
          <a:xfrm>
            <a:off x="594360" y="3794760"/>
            <a:ext cx="3977639" cy="475488"/>
          </a:xfrm>
          <a:prstGeom prst="rect">
            <a:avLst/>
          </a:prstGeom>
          <a:noFill/>
        </p:spPr>
        <p:txBody>
          <a:bodyPr wrap="none" lIns="0" tIns="18288" rIns="0" bIns="18288" anchor="t">
            <a:spAutoFit/>
          </a:bodyPr>
          <a:lstStyle/>
          <a:p>
            <a:pPr>
              <a:defRPr sz="2600" b="0">
                <a:solidFill>
                  <a:srgbClr val="000000"/>
                </a:solidFill>
                <a:latin typeface="Arial"/>
              </a:defRPr>
            </a:pPr>
            <a:r>
              <a:rPr sz="2400" b="0">
                <a:solidFill>
                  <a:srgbClr val="000000"/>
                </a:solidFill>
                <a:latin typeface="Arial"/>
              </a:rPr>
              <a:t>4.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snn_neuron_model_cropped.png"/>
          <p:cNvPicPr>
            <a:picLocks noChangeAspect="1"/>
          </p:cNvPicPr>
          <p:nvPr/>
        </p:nvPicPr>
        <p:blipFill>
          <a:blip r:embed="rId3"/>
          <a:stretch>
            <a:fillRect/>
          </a:stretch>
        </p:blipFill>
        <p:spPr>
          <a:xfrm>
            <a:off x="251460" y="603504"/>
            <a:ext cx="11689080" cy="6254496"/>
          </a:xfrm>
          <a:prstGeom prst="rect">
            <a:avLst/>
          </a:prstGeom>
        </p:spPr>
      </p:pic>
      <p:sp>
        <p:nvSpPr>
          <p:cNvPr id="2" name="TextBox 1"/>
          <p:cNvSpPr txBox="1"/>
          <p:nvPr/>
        </p:nvSpPr>
        <p:spPr>
          <a:xfrm>
            <a:off x="502920" y="304331"/>
            <a:ext cx="11109960" cy="502920"/>
          </a:xfrm>
          <a:prstGeom prst="rect">
            <a:avLst/>
          </a:prstGeom>
          <a:noFill/>
          <a:ln>
            <a:noFill/>
          </a:ln>
        </p:spPr>
        <p:txBody>
          <a:bodyPr wrap="none" lIns="27432" tIns="18288" rIns="27432" bIns="18288" anchor="t">
            <a:spAutoFit/>
          </a:bodyPr>
          <a:lstStyle/>
          <a:p>
            <a:pPr algn="l">
              <a:defRPr sz="2800" b="1">
                <a:solidFill>
                  <a:srgbClr val="000000"/>
                </a:solidFill>
                <a:latin typeface="Arial"/>
              </a:defRPr>
            </a:pPr>
            <a:r>
              <a:rPr sz="2800" b="1" dirty="0">
                <a:solidFill>
                  <a:srgbClr val="000000"/>
                </a:solidFill>
                <a:latin typeface="Arial"/>
              </a:rPr>
              <a:t>Spiking Neural Networks</a:t>
            </a:r>
          </a:p>
        </p:txBody>
      </p:sp>
      <p:sp>
        <p:nvSpPr>
          <p:cNvPr id="4" name="TextBox 3"/>
          <p:cNvSpPr txBox="1"/>
          <p:nvPr/>
        </p:nvSpPr>
        <p:spPr>
          <a:xfrm>
            <a:off x="11686032" y="6565392"/>
            <a:ext cx="384048" cy="201168"/>
          </a:xfrm>
          <a:prstGeom prst="rect">
            <a:avLst/>
          </a:prstGeom>
          <a:noFill/>
        </p:spPr>
        <p:txBody>
          <a:bodyPr wrap="none" lIns="27432" tIns="18288" rIns="27432" bIns="18288" anchor="t">
            <a:spAutoFit/>
          </a:bodyPr>
          <a:lstStyle/>
          <a:p>
            <a:pPr algn="ctr">
              <a:defRPr sz="800" b="0">
                <a:solidFill>
                  <a:srgbClr val="000000"/>
                </a:solidFill>
                <a:latin typeface="Arial"/>
              </a:defRPr>
            </a:pPr>
            <a:r>
              <a:rPr sz="800" b="0">
                <a:solidFill>
                  <a:srgbClr val="000000"/>
                </a:solidFill>
                <a:latin typeface="Arial"/>
              </a:rPr>
              <a:t>2</a:t>
            </a:r>
          </a:p>
        </p:txBody>
      </p:sp>
      <p:sp>
        <p:nvSpPr>
          <p:cNvPr id="11" name="TextBox 10"/>
          <p:cNvSpPr txBox="1"/>
          <p:nvPr/>
        </p:nvSpPr>
        <p:spPr>
          <a:xfrm>
            <a:off x="0" y="5832027"/>
            <a:ext cx="5098983" cy="344710"/>
          </a:xfrm>
          <a:prstGeom prst="rect">
            <a:avLst/>
          </a:prstGeom>
          <a:noFill/>
        </p:spPr>
        <p:txBody>
          <a:bodyPr wrap="square" lIns="27432" tIns="18288" rIns="27432" bIns="18288" anchor="t">
            <a:spAutoFit/>
          </a:bodyPr>
          <a:lstStyle/>
          <a:p>
            <a:pPr algn="ctr">
              <a:defRPr>
                <a:latin typeface="Arial"/>
              </a:defRPr>
            </a:pPr>
            <a:r>
              <a:rPr sz="2000" b="1" dirty="0">
                <a:solidFill>
                  <a:srgbClr val="000000"/>
                </a:solidFill>
                <a:latin typeface="Arial"/>
              </a:rPr>
              <a:t>Image → spike trains → output spikes [1]</a:t>
            </a:r>
          </a:p>
        </p:txBody>
      </p:sp>
      <p:sp>
        <p:nvSpPr>
          <p:cNvPr id="13" name="テキスト ボックス 12">
            <a:extLst>
              <a:ext uri="{FF2B5EF4-FFF2-40B4-BE49-F238E27FC236}">
                <a16:creationId xmlns:a16="http://schemas.microsoft.com/office/drawing/2014/main" id="{97C5B27D-5859-61E7-44A7-9C782DA88FFA}"/>
              </a:ext>
            </a:extLst>
          </p:cNvPr>
          <p:cNvSpPr txBox="1"/>
          <p:nvPr/>
        </p:nvSpPr>
        <p:spPr>
          <a:xfrm>
            <a:off x="189952" y="4310212"/>
            <a:ext cx="8121534" cy="1222642"/>
          </a:xfrm>
          <a:prstGeom prst="rect">
            <a:avLst/>
          </a:prstGeom>
          <a:noFill/>
        </p:spPr>
        <p:txBody>
          <a:bodyPr wrap="square" rtlCol="0">
            <a:spAutoFit/>
          </a:bodyPr>
          <a:lstStyle/>
          <a:p>
            <a:pPr lvl="0"/>
            <a:r>
              <a:rPr lang="ja-JP" altLang="ja-JP" dirty="0">
                <a:latin typeface="+mj-lt"/>
              </a:rPr>
              <a:t>xi​: input spike </a:t>
            </a:r>
          </a:p>
          <a:p>
            <a:pPr lvl="0"/>
            <a:r>
              <a:rPr lang="en-US" altLang="ja-JP" dirty="0" err="1">
                <a:latin typeface="+mj-lt"/>
              </a:rPr>
              <a:t>wi,j</a:t>
            </a:r>
            <a:r>
              <a:rPr lang="ja-JP" altLang="ja-JP" dirty="0">
                <a:latin typeface="+mj-lt"/>
              </a:rPr>
              <a:t>: connection weight </a:t>
            </a:r>
          </a:p>
          <a:p>
            <a:pPr lvl="0"/>
            <a:r>
              <a:rPr lang="en-US" altLang="ja-JP" dirty="0">
                <a:latin typeface="+mj-lt"/>
              </a:rPr>
              <a:t>t</a:t>
            </a:r>
            <a:r>
              <a:rPr lang="ja-JP" altLang="ja-JP" dirty="0">
                <a:latin typeface="+mj-lt"/>
              </a:rPr>
              <a:t>: time </a:t>
            </a:r>
          </a:p>
          <a:p>
            <a:pPr lvl="0"/>
            <a:r>
              <a:rPr lang="en-US" altLang="ja-JP" dirty="0">
                <a:latin typeface="+mj-lt"/>
              </a:rPr>
              <a:t>j</a:t>
            </a:r>
            <a:r>
              <a:rPr lang="ja-JP" altLang="ja-JP" dirty="0">
                <a:latin typeface="+mj-lt"/>
              </a:rPr>
              <a:t>: spiking neuron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87595"/>
            <a:ext cx="11109960" cy="502920"/>
          </a:xfrm>
          <a:prstGeom prst="rect">
            <a:avLst/>
          </a:prstGeom>
          <a:noFill/>
          <a:ln>
            <a:noFill/>
          </a:ln>
        </p:spPr>
        <p:txBody>
          <a:bodyPr wrap="none" lIns="27432" tIns="18288" rIns="27432" bIns="18288" anchor="t">
            <a:spAutoFit/>
          </a:bodyPr>
          <a:lstStyle/>
          <a:p>
            <a:pPr algn="l">
              <a:defRPr sz="2800" b="1">
                <a:solidFill>
                  <a:srgbClr val="000000"/>
                </a:solidFill>
                <a:latin typeface="Arial"/>
              </a:defRPr>
            </a:pPr>
            <a:r>
              <a:rPr sz="2800" b="1" dirty="0">
                <a:solidFill>
                  <a:srgbClr val="000000"/>
                </a:solidFill>
                <a:latin typeface="Arial"/>
              </a:rPr>
              <a:t>Spike-Timing-Dependent Plasticity</a:t>
            </a:r>
          </a:p>
        </p:txBody>
      </p:sp>
      <p:sp>
        <p:nvSpPr>
          <p:cNvPr id="4" name="TextBox 3"/>
          <p:cNvSpPr txBox="1"/>
          <p:nvPr/>
        </p:nvSpPr>
        <p:spPr>
          <a:xfrm>
            <a:off x="11686032" y="6565392"/>
            <a:ext cx="384048" cy="201168"/>
          </a:xfrm>
          <a:prstGeom prst="rect">
            <a:avLst/>
          </a:prstGeom>
          <a:noFill/>
        </p:spPr>
        <p:txBody>
          <a:bodyPr wrap="none" lIns="27432" tIns="18288" rIns="27432" bIns="18288" anchor="t">
            <a:spAutoFit/>
          </a:bodyPr>
          <a:lstStyle/>
          <a:p>
            <a:pPr algn="ctr">
              <a:defRPr sz="800" b="0">
                <a:solidFill>
                  <a:srgbClr val="000000"/>
                </a:solidFill>
                <a:latin typeface="Arial"/>
              </a:defRPr>
            </a:pPr>
            <a:r>
              <a:rPr sz="800" b="0">
                <a:solidFill>
                  <a:srgbClr val="000000"/>
                </a:solidFill>
                <a:latin typeface="Arial"/>
              </a:rPr>
              <a:t>3</a:t>
            </a:r>
          </a:p>
        </p:txBody>
      </p:sp>
      <p:pic>
        <p:nvPicPr>
          <p:cNvPr id="5" name="Picture 4" descr="stdp_learning_window_cropped.png"/>
          <p:cNvPicPr>
            <a:picLocks noChangeAspect="1"/>
          </p:cNvPicPr>
          <p:nvPr/>
        </p:nvPicPr>
        <p:blipFill>
          <a:blip r:embed="rId3"/>
          <a:stretch>
            <a:fillRect/>
          </a:stretch>
        </p:blipFill>
        <p:spPr>
          <a:xfrm>
            <a:off x="502920" y="790514"/>
            <a:ext cx="5669838" cy="5564565"/>
          </a:xfrm>
          <a:prstGeom prst="rect">
            <a:avLst/>
          </a:prstGeom>
        </p:spPr>
      </p:pic>
      <p:sp>
        <p:nvSpPr>
          <p:cNvPr id="6" name="TextBox 5"/>
          <p:cNvSpPr txBox="1"/>
          <p:nvPr/>
        </p:nvSpPr>
        <p:spPr>
          <a:xfrm>
            <a:off x="5623560" y="1143000"/>
            <a:ext cx="1764907" cy="323165"/>
          </a:xfrm>
          <a:prstGeom prst="rect">
            <a:avLst/>
          </a:prstGeom>
          <a:noFill/>
        </p:spPr>
        <p:txBody>
          <a:bodyPr wrap="none" lIns="27432" tIns="18288" rIns="27432" bIns="18288" anchor="t">
            <a:spAutoFit/>
          </a:bodyPr>
          <a:lstStyle/>
          <a:p>
            <a:pPr algn="l">
              <a:defRPr>
                <a:latin typeface="Arial"/>
              </a:defRPr>
            </a:pPr>
            <a:r>
              <a:rPr sz="2200" b="1" dirty="0">
                <a:solidFill>
                  <a:srgbClr val="000000"/>
                </a:solidFill>
                <a:latin typeface="Arial"/>
              </a:rPr>
              <a:t>Basic relation</a:t>
            </a:r>
          </a:p>
        </p:txBody>
      </p:sp>
      <p:sp>
        <p:nvSpPr>
          <p:cNvPr id="7" name="TextBox 6"/>
          <p:cNvSpPr txBox="1"/>
          <p:nvPr/>
        </p:nvSpPr>
        <p:spPr>
          <a:xfrm>
            <a:off x="5715000" y="1645920"/>
            <a:ext cx="2168863" cy="338554"/>
          </a:xfrm>
          <a:prstGeom prst="rect">
            <a:avLst/>
          </a:prstGeom>
          <a:noFill/>
        </p:spPr>
        <p:txBody>
          <a:bodyPr wrap="none" lIns="27432" tIns="18288" rIns="27432" bIns="18288" anchor="t">
            <a:spAutoFit/>
          </a:bodyPr>
          <a:lstStyle/>
          <a:p>
            <a:pPr algn="l">
              <a:defRPr>
                <a:latin typeface="Arial"/>
              </a:defRPr>
            </a:pPr>
            <a:r>
              <a:rPr sz="2000" b="1" dirty="0" err="1">
                <a:solidFill>
                  <a:srgbClr val="000000"/>
                </a:solidFill>
                <a:latin typeface="Arial"/>
              </a:rPr>
              <a:t>Δt</a:t>
            </a:r>
            <a:r>
              <a:rPr sz="2000" b="1" dirty="0">
                <a:solidFill>
                  <a:srgbClr val="000000"/>
                </a:solidFill>
                <a:latin typeface="Arial"/>
              </a:rPr>
              <a:t> = </a:t>
            </a:r>
            <a:r>
              <a:rPr sz="2000" b="1" dirty="0" err="1">
                <a:solidFill>
                  <a:srgbClr val="000000"/>
                </a:solidFill>
                <a:latin typeface="Arial"/>
              </a:rPr>
              <a:t>tpost</a:t>
            </a:r>
            <a:r>
              <a:rPr sz="2000" b="1" dirty="0">
                <a:solidFill>
                  <a:srgbClr val="000000"/>
                </a:solidFill>
                <a:latin typeface="Arial"/>
              </a:rPr>
              <a:t> − </a:t>
            </a:r>
            <a:r>
              <a:rPr sz="2000" b="1" dirty="0" err="1">
                <a:solidFill>
                  <a:srgbClr val="000000"/>
                </a:solidFill>
                <a:latin typeface="Arial"/>
              </a:rPr>
              <a:t>tpre</a:t>
            </a:r>
            <a:endParaRPr sz="2200" b="1" dirty="0">
              <a:solidFill>
                <a:srgbClr val="000000"/>
              </a:solidFill>
              <a:latin typeface="+mj-lt"/>
            </a:endParaRPr>
          </a:p>
        </p:txBody>
      </p:sp>
      <p:sp>
        <p:nvSpPr>
          <p:cNvPr id="8" name="TextBox 7"/>
          <p:cNvSpPr txBox="1"/>
          <p:nvPr/>
        </p:nvSpPr>
        <p:spPr>
          <a:xfrm>
            <a:off x="5715000" y="2240280"/>
            <a:ext cx="3571812" cy="584775"/>
          </a:xfrm>
          <a:prstGeom prst="rect">
            <a:avLst/>
          </a:prstGeom>
          <a:noFill/>
        </p:spPr>
        <p:txBody>
          <a:bodyPr wrap="none" lIns="27432" tIns="18288" rIns="27432" bIns="18288" anchor="t">
            <a:spAutoFit/>
          </a:bodyPr>
          <a:lstStyle/>
          <a:p>
            <a:pPr algn="l">
              <a:defRPr>
                <a:latin typeface="Arial"/>
              </a:defRPr>
            </a:pPr>
            <a:r>
              <a:rPr sz="1800" b="0" dirty="0" err="1">
                <a:solidFill>
                  <a:srgbClr val="000000"/>
                </a:solidFill>
                <a:latin typeface="Arial"/>
              </a:rPr>
              <a:t>Δw</a:t>
            </a:r>
            <a:r>
              <a:rPr sz="1800" b="0" dirty="0">
                <a:solidFill>
                  <a:srgbClr val="000000"/>
                </a:solidFill>
                <a:latin typeface="Arial"/>
              </a:rPr>
              <a:t> = A+ exp(−</a:t>
            </a:r>
            <a:r>
              <a:rPr sz="1800" b="0" dirty="0" err="1">
                <a:solidFill>
                  <a:srgbClr val="000000"/>
                </a:solidFill>
                <a:latin typeface="Arial"/>
              </a:rPr>
              <a:t>Δt</a:t>
            </a:r>
            <a:r>
              <a:rPr sz="1800" b="0" dirty="0">
                <a:solidFill>
                  <a:srgbClr val="000000"/>
                </a:solidFill>
                <a:latin typeface="Arial"/>
              </a:rPr>
              <a:t> / τ+)      if </a:t>
            </a:r>
            <a:r>
              <a:rPr sz="1800" b="0" dirty="0" err="1">
                <a:solidFill>
                  <a:srgbClr val="000000"/>
                </a:solidFill>
                <a:latin typeface="Arial"/>
              </a:rPr>
              <a:t>Δt</a:t>
            </a:r>
            <a:r>
              <a:rPr sz="1800" b="0" dirty="0">
                <a:solidFill>
                  <a:srgbClr val="000000"/>
                </a:solidFill>
                <a:latin typeface="Arial"/>
              </a:rPr>
              <a:t> &gt; 0
</a:t>
            </a:r>
            <a:r>
              <a:rPr sz="1800" b="0" dirty="0" err="1">
                <a:solidFill>
                  <a:srgbClr val="000000"/>
                </a:solidFill>
                <a:latin typeface="Arial"/>
              </a:rPr>
              <a:t>Δw</a:t>
            </a:r>
            <a:r>
              <a:rPr sz="1800" b="0" dirty="0">
                <a:solidFill>
                  <a:srgbClr val="000000"/>
                </a:solidFill>
                <a:latin typeface="Arial"/>
              </a:rPr>
              <a:t> = −A− exp( </a:t>
            </a:r>
            <a:r>
              <a:rPr sz="1800" b="0" dirty="0" err="1">
                <a:solidFill>
                  <a:srgbClr val="000000"/>
                </a:solidFill>
                <a:latin typeface="Arial"/>
              </a:rPr>
              <a:t>Δt</a:t>
            </a:r>
            <a:r>
              <a:rPr sz="1800" b="0" dirty="0">
                <a:solidFill>
                  <a:srgbClr val="000000"/>
                </a:solidFill>
                <a:latin typeface="Arial"/>
              </a:rPr>
              <a:t> / τ−)     if </a:t>
            </a:r>
            <a:r>
              <a:rPr sz="1800" b="0" dirty="0" err="1">
                <a:solidFill>
                  <a:srgbClr val="000000"/>
                </a:solidFill>
                <a:latin typeface="Arial"/>
              </a:rPr>
              <a:t>Δt</a:t>
            </a:r>
            <a:r>
              <a:rPr sz="1800" b="0" dirty="0">
                <a:solidFill>
                  <a:srgbClr val="000000"/>
                </a:solidFill>
                <a:latin typeface="Arial"/>
              </a:rPr>
              <a:t> &lt; 0</a:t>
            </a:r>
          </a:p>
        </p:txBody>
      </p:sp>
      <p:sp>
        <p:nvSpPr>
          <p:cNvPr id="9" name="Rectangle 8"/>
          <p:cNvSpPr/>
          <p:nvPr/>
        </p:nvSpPr>
        <p:spPr>
          <a:xfrm>
            <a:off x="5715000" y="3429000"/>
            <a:ext cx="2331720" cy="82296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800" b="1">
                <a:solidFill>
                  <a:srgbClr val="000000"/>
                </a:solidFill>
                <a:latin typeface="Arial"/>
              </a:rPr>
              <a:t>Pre → Post
weight increases</a:t>
            </a:r>
          </a:p>
        </p:txBody>
      </p:sp>
      <p:sp>
        <p:nvSpPr>
          <p:cNvPr id="10" name="Rectangle 9"/>
          <p:cNvSpPr/>
          <p:nvPr/>
        </p:nvSpPr>
        <p:spPr>
          <a:xfrm>
            <a:off x="8275320" y="3429000"/>
            <a:ext cx="2514600" cy="82296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800" b="1">
                <a:solidFill>
                  <a:srgbClr val="000000"/>
                </a:solidFill>
                <a:latin typeface="Arial"/>
              </a:rPr>
              <a:t>Post → Pre
weight decreases</a:t>
            </a:r>
          </a:p>
        </p:txBody>
      </p:sp>
      <p:sp>
        <p:nvSpPr>
          <p:cNvPr id="11" name="TextBox 10"/>
          <p:cNvSpPr txBox="1"/>
          <p:nvPr/>
        </p:nvSpPr>
        <p:spPr>
          <a:xfrm>
            <a:off x="5715000" y="4433725"/>
            <a:ext cx="3449662" cy="276999"/>
          </a:xfrm>
          <a:prstGeom prst="rect">
            <a:avLst/>
          </a:prstGeom>
          <a:noFill/>
        </p:spPr>
        <p:txBody>
          <a:bodyPr wrap="none" lIns="27432" tIns="18288" rIns="27432" bIns="18288" anchor="t">
            <a:spAutoFit/>
          </a:bodyPr>
          <a:lstStyle/>
          <a:p>
            <a:pPr algn="l">
              <a:defRPr>
                <a:latin typeface="Arial"/>
              </a:defRPr>
            </a:pPr>
            <a:r>
              <a:rPr sz="1800" b="0">
                <a:solidFill>
                  <a:srgbClr val="000000"/>
                </a:solidFill>
                <a:latin typeface="Arial"/>
              </a:rPr>
              <a:t>Learning depends on spike timing [2]</a:t>
            </a:r>
          </a:p>
        </p:txBody>
      </p:sp>
      <p:sp>
        <p:nvSpPr>
          <p:cNvPr id="12" name="STDP Symbol Explanation">
            <a:extLst>
              <a:ext uri="{FF2B5EF4-FFF2-40B4-BE49-F238E27FC236}">
                <a16:creationId xmlns:a16="http://schemas.microsoft.com/office/drawing/2014/main" id="{D293FDDB-2ABE-CB52-79F3-6C805222A0B7}"/>
              </a:ext>
            </a:extLst>
          </p:cNvPr>
          <p:cNvSpPr txBox="1"/>
          <p:nvPr/>
        </p:nvSpPr>
        <p:spPr>
          <a:xfrm>
            <a:off x="8549640" y="4754880"/>
            <a:ext cx="2971800" cy="1371600"/>
          </a:xfrm>
          <a:prstGeom prst="rect">
            <a:avLst/>
          </a:prstGeom>
          <a:noFill/>
        </p:spPr>
        <p:txBody>
          <a:bodyPr wrap="square" lIns="27432" tIns="18288" rIns="27432" bIns="18288">
            <a:spAutoFit/>
          </a:bodyPr>
          <a:lstStyle/>
          <a:p>
            <a:pPr>
              <a:spcBef>
                <a:spcPts val="0"/>
              </a:spcBef>
              <a:spcAft>
                <a:spcPts val="0"/>
              </a:spcAft>
              <a:defRPr sz="1450" b="1">
                <a:solidFill>
                  <a:srgbClr val="000000"/>
                </a:solidFill>
                <a:latin typeface="Arial"/>
              </a:defRPr>
            </a:pPr>
            <a:r>
              <a:rPr sz="1600" b="0" dirty="0">
                <a:solidFill>
                  <a:srgbClr val="000000"/>
                </a:solidFill>
                <a:latin typeface="Arial"/>
              </a:rPr>
              <a:t>Symbols</a:t>
            </a:r>
          </a:p>
          <a:p>
            <a:pPr>
              <a:spcBef>
                <a:spcPts val="0"/>
              </a:spcBef>
              <a:spcAft>
                <a:spcPts val="0"/>
              </a:spcAft>
              <a:defRPr sz="1350" b="0">
                <a:solidFill>
                  <a:srgbClr val="000000"/>
                </a:solidFill>
                <a:latin typeface="Arial"/>
              </a:defRPr>
            </a:pPr>
            <a:r>
              <a:rPr sz="1600" b="0" dirty="0" err="1">
                <a:solidFill>
                  <a:srgbClr val="000000"/>
                </a:solidFill>
                <a:latin typeface="Arial"/>
              </a:rPr>
              <a:t>Δt</a:t>
            </a:r>
            <a:r>
              <a:rPr sz="1600" b="0" dirty="0">
                <a:solidFill>
                  <a:srgbClr val="000000"/>
                </a:solidFill>
                <a:latin typeface="Arial"/>
              </a:rPr>
              <a:t>: spike timing difference</a:t>
            </a:r>
          </a:p>
          <a:p>
            <a:pPr>
              <a:spcBef>
                <a:spcPts val="0"/>
              </a:spcBef>
              <a:spcAft>
                <a:spcPts val="0"/>
              </a:spcAft>
              <a:defRPr sz="1350" b="0">
                <a:solidFill>
                  <a:srgbClr val="000000"/>
                </a:solidFill>
                <a:latin typeface="Arial"/>
              </a:defRPr>
            </a:pPr>
            <a:r>
              <a:rPr sz="1600" b="0" dirty="0" err="1">
                <a:solidFill>
                  <a:srgbClr val="000000"/>
                </a:solidFill>
                <a:latin typeface="Arial"/>
              </a:rPr>
              <a:t>t_pre</a:t>
            </a:r>
            <a:r>
              <a:rPr sz="1600" b="0" dirty="0">
                <a:solidFill>
                  <a:srgbClr val="000000"/>
                </a:solidFill>
                <a:latin typeface="Arial"/>
              </a:rPr>
              <a:t>, </a:t>
            </a:r>
            <a:r>
              <a:rPr sz="1600" b="0" dirty="0" err="1">
                <a:solidFill>
                  <a:srgbClr val="000000"/>
                </a:solidFill>
                <a:latin typeface="Arial"/>
              </a:rPr>
              <a:t>t_post</a:t>
            </a:r>
            <a:r>
              <a:rPr sz="1600" b="0" dirty="0">
                <a:solidFill>
                  <a:srgbClr val="000000"/>
                </a:solidFill>
                <a:latin typeface="Arial"/>
              </a:rPr>
              <a:t>: pre-/post-synaptic spike times</a:t>
            </a:r>
          </a:p>
          <a:p>
            <a:pPr>
              <a:spcBef>
                <a:spcPts val="0"/>
              </a:spcBef>
              <a:spcAft>
                <a:spcPts val="0"/>
              </a:spcAft>
              <a:defRPr sz="1350" b="0">
                <a:solidFill>
                  <a:srgbClr val="000000"/>
                </a:solidFill>
                <a:latin typeface="Arial"/>
              </a:defRPr>
            </a:pPr>
            <a:r>
              <a:rPr sz="1600" b="0" dirty="0" err="1">
                <a:solidFill>
                  <a:srgbClr val="000000"/>
                </a:solidFill>
                <a:latin typeface="Arial"/>
              </a:rPr>
              <a:t>Δw</a:t>
            </a:r>
            <a:r>
              <a:rPr sz="1600" b="0" dirty="0">
                <a:solidFill>
                  <a:srgbClr val="000000"/>
                </a:solidFill>
                <a:latin typeface="Arial"/>
              </a:rPr>
              <a:t>: change in synaptic weight</a:t>
            </a:r>
          </a:p>
          <a:p>
            <a:pPr>
              <a:spcBef>
                <a:spcPts val="0"/>
              </a:spcBef>
              <a:spcAft>
                <a:spcPts val="0"/>
              </a:spcAft>
              <a:defRPr sz="1350" b="0">
                <a:solidFill>
                  <a:srgbClr val="000000"/>
                </a:solidFill>
                <a:latin typeface="Arial"/>
              </a:defRPr>
            </a:pPr>
            <a:r>
              <a:rPr sz="1600" b="0" dirty="0">
                <a:solidFill>
                  <a:srgbClr val="000000"/>
                </a:solidFill>
                <a:latin typeface="Arial"/>
              </a:rPr>
              <a:t>A+, A−: max increase/decrease</a:t>
            </a:r>
          </a:p>
          <a:p>
            <a:pPr>
              <a:spcBef>
                <a:spcPts val="0"/>
              </a:spcBef>
              <a:spcAft>
                <a:spcPts val="0"/>
              </a:spcAft>
              <a:defRPr sz="1350" b="0">
                <a:solidFill>
                  <a:srgbClr val="000000"/>
                </a:solidFill>
                <a:latin typeface="Arial"/>
              </a:defRPr>
            </a:pPr>
            <a:r>
              <a:rPr sz="1600" b="0" dirty="0">
                <a:solidFill>
                  <a:srgbClr val="000000"/>
                </a:solidFill>
                <a:latin typeface="Arial"/>
              </a:rPr>
              <a:t>τ+, τ−: time constants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nchor="t">
            <a:spAutoFit/>
          </a:bodyPr>
          <a:lstStyle/>
          <a:p>
            <a:pPr algn="l">
              <a:defRPr sz="2800" b="1">
                <a:solidFill>
                  <a:srgbClr val="000000"/>
                </a:solidFill>
                <a:latin typeface="Arial"/>
              </a:defRPr>
            </a:pPr>
            <a:r>
              <a:rPr sz="2800" b="1">
                <a:solidFill>
                  <a:srgbClr val="000000"/>
                </a:solidFill>
                <a:latin typeface="Arial"/>
              </a:rPr>
              <a:t>EnsembleSTDP</a:t>
            </a:r>
          </a:p>
        </p:txBody>
      </p:sp>
      <p:sp>
        <p:nvSpPr>
          <p:cNvPr id="4" name="TextBox 3"/>
          <p:cNvSpPr txBox="1"/>
          <p:nvPr/>
        </p:nvSpPr>
        <p:spPr>
          <a:xfrm>
            <a:off x="11686032" y="6565392"/>
            <a:ext cx="384048" cy="201168"/>
          </a:xfrm>
          <a:prstGeom prst="rect">
            <a:avLst/>
          </a:prstGeom>
          <a:noFill/>
        </p:spPr>
        <p:txBody>
          <a:bodyPr wrap="none" lIns="27432" tIns="18288" rIns="27432" bIns="18288" anchor="t">
            <a:spAutoFit/>
          </a:bodyPr>
          <a:lstStyle/>
          <a:p>
            <a:pPr algn="ctr">
              <a:defRPr sz="800" b="0">
                <a:solidFill>
                  <a:srgbClr val="000000"/>
                </a:solidFill>
                <a:latin typeface="Arial"/>
              </a:defRPr>
            </a:pPr>
            <a:r>
              <a:rPr sz="800" b="0">
                <a:solidFill>
                  <a:srgbClr val="000000"/>
                </a:solidFill>
                <a:latin typeface="Arial"/>
              </a:rPr>
              <a:t>4</a:t>
            </a:r>
          </a:p>
        </p:txBody>
      </p:sp>
      <p:cxnSp>
        <p:nvCxnSpPr>
          <p:cNvPr id="5" name="Connector 4"/>
          <p:cNvCxnSpPr>
            <a:cxnSpLocks/>
          </p:cNvCxnSpPr>
          <p:nvPr/>
        </p:nvCxnSpPr>
        <p:spPr>
          <a:xfrm>
            <a:off x="2194560" y="2103120"/>
            <a:ext cx="54864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a:cxnSpLocks/>
          </p:cNvCxnSpPr>
          <p:nvPr/>
        </p:nvCxnSpPr>
        <p:spPr>
          <a:xfrm flipV="1">
            <a:off x="3794760" y="1508760"/>
            <a:ext cx="548640" cy="59436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a:cxnSpLocks/>
          </p:cNvCxnSpPr>
          <p:nvPr/>
        </p:nvCxnSpPr>
        <p:spPr>
          <a:xfrm>
            <a:off x="3794760" y="2103120"/>
            <a:ext cx="54864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a:cxnSpLocks/>
            <a:endCxn id="22" idx="1"/>
          </p:cNvCxnSpPr>
          <p:nvPr/>
        </p:nvCxnSpPr>
        <p:spPr>
          <a:xfrm>
            <a:off x="3794760" y="2103120"/>
            <a:ext cx="548640" cy="1184148"/>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a:cxnSpLocks/>
          </p:cNvCxnSpPr>
          <p:nvPr/>
        </p:nvCxnSpPr>
        <p:spPr>
          <a:xfrm>
            <a:off x="5440680" y="1508760"/>
            <a:ext cx="54864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p:cNvCxnSpPr>
          <p:nvPr/>
        </p:nvCxnSpPr>
        <p:spPr>
          <a:xfrm>
            <a:off x="5440680" y="2103120"/>
            <a:ext cx="54864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a:cxnSpLocks/>
          </p:cNvCxnSpPr>
          <p:nvPr/>
        </p:nvCxnSpPr>
        <p:spPr>
          <a:xfrm>
            <a:off x="5440680" y="3346431"/>
            <a:ext cx="54864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a:cxnSpLocks/>
          </p:cNvCxnSpPr>
          <p:nvPr/>
        </p:nvCxnSpPr>
        <p:spPr>
          <a:xfrm>
            <a:off x="7406640" y="1508760"/>
            <a:ext cx="594360" cy="59436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p:cNvCxnSpPr>
          <p:nvPr/>
        </p:nvCxnSpPr>
        <p:spPr>
          <a:xfrm>
            <a:off x="7406640" y="2103120"/>
            <a:ext cx="59436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a:cxnSpLocks/>
            <a:stCxn id="25" idx="3"/>
          </p:cNvCxnSpPr>
          <p:nvPr/>
        </p:nvCxnSpPr>
        <p:spPr>
          <a:xfrm flipV="1">
            <a:off x="7429500" y="2103120"/>
            <a:ext cx="571500" cy="1220724"/>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p:cNvCxnSpPr>
          <p:nvPr/>
        </p:nvCxnSpPr>
        <p:spPr>
          <a:xfrm>
            <a:off x="8595360" y="2377440"/>
            <a:ext cx="0" cy="50292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p:cNvCxnSpPr>
          <p:nvPr/>
        </p:nvCxnSpPr>
        <p:spPr>
          <a:xfrm>
            <a:off x="8595360" y="3337560"/>
            <a:ext cx="0" cy="50292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cxnSpLocks/>
          </p:cNvCxnSpPr>
          <p:nvPr/>
        </p:nvCxnSpPr>
        <p:spPr>
          <a:xfrm>
            <a:off x="8595360" y="4297680"/>
            <a:ext cx="0" cy="54864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1764792"/>
            <a:ext cx="1417320" cy="68580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Training
dataset</a:t>
            </a:r>
          </a:p>
        </p:txBody>
      </p:sp>
      <p:sp>
        <p:nvSpPr>
          <p:cNvPr id="19" name="Rectangle 18"/>
          <p:cNvSpPr/>
          <p:nvPr/>
        </p:nvSpPr>
        <p:spPr>
          <a:xfrm>
            <a:off x="2743200" y="1874520"/>
            <a:ext cx="1051560" cy="45720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Split</a:t>
            </a:r>
          </a:p>
        </p:txBody>
      </p:sp>
      <p:sp>
        <p:nvSpPr>
          <p:cNvPr id="20" name="Rectangle 19"/>
          <p:cNvSpPr/>
          <p:nvPr/>
        </p:nvSpPr>
        <p:spPr>
          <a:xfrm>
            <a:off x="4343400" y="1307592"/>
            <a:ext cx="1097280" cy="41148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a:solidFill>
                  <a:srgbClr val="000000"/>
                </a:solidFill>
                <a:latin typeface="Arial"/>
              </a:rPr>
              <a:t>Subset 1</a:t>
            </a:r>
          </a:p>
        </p:txBody>
      </p:sp>
      <p:sp>
        <p:nvSpPr>
          <p:cNvPr id="21" name="Rectangle 20"/>
          <p:cNvSpPr/>
          <p:nvPr/>
        </p:nvSpPr>
        <p:spPr>
          <a:xfrm>
            <a:off x="4343400" y="1901952"/>
            <a:ext cx="1097280" cy="41148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a:solidFill>
                  <a:srgbClr val="000000"/>
                </a:solidFill>
                <a:latin typeface="Arial"/>
              </a:rPr>
              <a:t>Subset 2</a:t>
            </a:r>
          </a:p>
        </p:txBody>
      </p:sp>
      <p:sp>
        <p:nvSpPr>
          <p:cNvPr id="22" name="Rectangle 21"/>
          <p:cNvSpPr/>
          <p:nvPr/>
        </p:nvSpPr>
        <p:spPr>
          <a:xfrm>
            <a:off x="4343400" y="3081528"/>
            <a:ext cx="1097280" cy="41148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a:solidFill>
                  <a:srgbClr val="000000"/>
                </a:solidFill>
                <a:latin typeface="Arial"/>
              </a:rPr>
              <a:t>Subset N</a:t>
            </a:r>
          </a:p>
        </p:txBody>
      </p:sp>
      <p:sp>
        <p:nvSpPr>
          <p:cNvPr id="23" name="Rectangle 22"/>
          <p:cNvSpPr/>
          <p:nvPr/>
        </p:nvSpPr>
        <p:spPr>
          <a:xfrm>
            <a:off x="5989320" y="1188720"/>
            <a:ext cx="1417320" cy="530352"/>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a:solidFill>
                  <a:srgbClr val="000000"/>
                </a:solidFill>
                <a:latin typeface="Arial"/>
              </a:rPr>
              <a:t>SNN
sub-model 1</a:t>
            </a:r>
          </a:p>
        </p:txBody>
      </p:sp>
      <p:sp>
        <p:nvSpPr>
          <p:cNvPr id="24" name="Rectangle 23"/>
          <p:cNvSpPr/>
          <p:nvPr/>
        </p:nvSpPr>
        <p:spPr>
          <a:xfrm>
            <a:off x="5989320" y="1783080"/>
            <a:ext cx="1417320" cy="530352"/>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a:solidFill>
                  <a:srgbClr val="000000"/>
                </a:solidFill>
                <a:latin typeface="Arial"/>
              </a:rPr>
              <a:t>SNN
sub-model 2</a:t>
            </a:r>
          </a:p>
        </p:txBody>
      </p:sp>
      <p:sp>
        <p:nvSpPr>
          <p:cNvPr id="25" name="Rectangle 24"/>
          <p:cNvSpPr/>
          <p:nvPr/>
        </p:nvSpPr>
        <p:spPr>
          <a:xfrm>
            <a:off x="6012180" y="3058668"/>
            <a:ext cx="1417320" cy="530352"/>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400" b="0" dirty="0">
                <a:solidFill>
                  <a:srgbClr val="000000"/>
                </a:solidFill>
                <a:latin typeface="Arial"/>
              </a:rPr>
              <a:t>SNN
sub-model N</a:t>
            </a:r>
          </a:p>
        </p:txBody>
      </p:sp>
      <p:sp>
        <p:nvSpPr>
          <p:cNvPr id="26" name="Rectangle 25"/>
          <p:cNvSpPr/>
          <p:nvPr/>
        </p:nvSpPr>
        <p:spPr>
          <a:xfrm>
            <a:off x="8001000" y="1856232"/>
            <a:ext cx="1188720" cy="50292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Collect</a:t>
            </a:r>
          </a:p>
        </p:txBody>
      </p:sp>
      <p:sp>
        <p:nvSpPr>
          <p:cNvPr id="27" name="Rectangle 26"/>
          <p:cNvSpPr/>
          <p:nvPr/>
        </p:nvSpPr>
        <p:spPr>
          <a:xfrm>
            <a:off x="8001000" y="2880360"/>
            <a:ext cx="1188720" cy="45720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Merge</a:t>
            </a:r>
          </a:p>
        </p:txBody>
      </p:sp>
      <p:sp>
        <p:nvSpPr>
          <p:cNvPr id="28" name="Rectangle 27"/>
          <p:cNvSpPr/>
          <p:nvPr/>
        </p:nvSpPr>
        <p:spPr>
          <a:xfrm>
            <a:off x="7635240" y="3840480"/>
            <a:ext cx="1920240" cy="45720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Compression</a:t>
            </a:r>
          </a:p>
        </p:txBody>
      </p:sp>
      <p:sp>
        <p:nvSpPr>
          <p:cNvPr id="29" name="Rectangle 28"/>
          <p:cNvSpPr/>
          <p:nvPr/>
        </p:nvSpPr>
        <p:spPr>
          <a:xfrm>
            <a:off x="8001000" y="4846320"/>
            <a:ext cx="1188720" cy="640080"/>
          </a:xfrm>
          <a:prstGeom prst="rect">
            <a:avLst/>
          </a:prstGeom>
          <a:solidFill>
            <a:srgbClr val="FFFFFF"/>
          </a:solidFill>
          <a:ln w="13970">
            <a:solidFill>
              <a:srgbClr val="000000"/>
            </a:solidFill>
          </a:ln>
        </p:spPr>
        <p:style>
          <a:lnRef idx="1">
            <a:schemeClr val="accent1"/>
          </a:lnRef>
          <a:fillRef idx="3">
            <a:schemeClr val="accent1"/>
          </a:fillRef>
          <a:effectRef idx="2">
            <a:schemeClr val="accent1"/>
          </a:effectRef>
          <a:fontRef idx="minor">
            <a:schemeClr val="lt1"/>
          </a:fontRef>
        </p:style>
        <p:txBody>
          <a:bodyPr lIns="27432" tIns="18288" rIns="27432" bIns="18288" rtlCol="0" anchor="ctr"/>
          <a:lstStyle/>
          <a:p>
            <a:pPr algn="ctr">
              <a:defRPr>
                <a:latin typeface="Arial"/>
              </a:defRPr>
            </a:pPr>
            <a:r>
              <a:rPr sz="1600" b="1">
                <a:solidFill>
                  <a:srgbClr val="000000"/>
                </a:solidFill>
                <a:latin typeface="Arial"/>
              </a:rPr>
              <a:t>Final
model</a:t>
            </a:r>
          </a:p>
        </p:txBody>
      </p:sp>
      <p:sp>
        <p:nvSpPr>
          <p:cNvPr id="30" name="TextBox 29"/>
          <p:cNvSpPr txBox="1"/>
          <p:nvPr/>
        </p:nvSpPr>
        <p:spPr>
          <a:xfrm>
            <a:off x="868680" y="4160520"/>
            <a:ext cx="2194560" cy="338554"/>
          </a:xfrm>
          <a:prstGeom prst="rect">
            <a:avLst/>
          </a:prstGeom>
          <a:noFill/>
        </p:spPr>
        <p:txBody>
          <a:bodyPr wrap="square" lIns="27432" tIns="18288" rIns="27432" bIns="18288" anchor="t">
            <a:spAutoFit/>
          </a:bodyPr>
          <a:lstStyle/>
          <a:p>
            <a:pPr algn="l">
              <a:defRPr>
                <a:latin typeface="Arial"/>
              </a:defRPr>
            </a:pPr>
            <a:r>
              <a:rPr lang="en-US" sz="2200" b="1" dirty="0">
                <a:solidFill>
                  <a:srgbClr val="000000"/>
                </a:solidFill>
                <a:latin typeface="Arial"/>
              </a:rPr>
              <a:t>Key point</a:t>
            </a:r>
            <a:endParaRPr sz="2200" b="1" dirty="0">
              <a:solidFill>
                <a:srgbClr val="000000"/>
              </a:solidFill>
              <a:latin typeface="+mj-lt"/>
            </a:endParaRPr>
          </a:p>
        </p:txBody>
      </p:sp>
      <p:sp>
        <p:nvSpPr>
          <p:cNvPr id="31" name="TextBox 30"/>
          <p:cNvSpPr txBox="1"/>
          <p:nvPr/>
        </p:nvSpPr>
        <p:spPr>
          <a:xfrm>
            <a:off x="868680" y="4617720"/>
            <a:ext cx="3566160" cy="338554"/>
          </a:xfrm>
          <a:prstGeom prst="rect">
            <a:avLst/>
          </a:prstGeom>
          <a:noFill/>
        </p:spPr>
        <p:txBody>
          <a:bodyPr wrap="square" lIns="27432" tIns="18288" rIns="27432" bIns="18288" anchor="t">
            <a:spAutoFit/>
          </a:bodyPr>
          <a:lstStyle/>
          <a:p>
            <a:pPr algn="l">
              <a:defRPr>
                <a:latin typeface="Arial"/>
              </a:defRPr>
            </a:pPr>
            <a:r>
              <a:rPr sz="2000" b="0">
                <a:solidFill>
                  <a:srgbClr val="000000"/>
                </a:solidFill>
                <a:latin typeface="Arial"/>
              </a:rPr>
              <a:t>Distributed local learning [3]</a:t>
            </a:r>
            <a:endParaRPr sz="2200" b="0" dirty="0">
              <a:solidFill>
                <a:srgbClr val="000000"/>
              </a:solidFill>
              <a:latin typeface="+mj-lt"/>
            </a:endParaRPr>
          </a:p>
        </p:txBody>
      </p:sp>
      <p:sp>
        <p:nvSpPr>
          <p:cNvPr id="32" name="TextBox 31"/>
          <p:cNvSpPr txBox="1"/>
          <p:nvPr/>
        </p:nvSpPr>
        <p:spPr>
          <a:xfrm>
            <a:off x="868680" y="5010912"/>
            <a:ext cx="4572000" cy="338554"/>
          </a:xfrm>
          <a:prstGeom prst="rect">
            <a:avLst/>
          </a:prstGeom>
          <a:noFill/>
        </p:spPr>
        <p:txBody>
          <a:bodyPr wrap="square" lIns="27432" tIns="18288" rIns="27432" bIns="18288" anchor="t">
            <a:spAutoFit/>
          </a:bodyPr>
          <a:lstStyle/>
          <a:p>
            <a:pPr algn="l">
              <a:defRPr>
                <a:latin typeface="Arial"/>
              </a:defRPr>
            </a:pPr>
            <a:r>
              <a:rPr sz="2000" b="0" dirty="0">
                <a:solidFill>
                  <a:srgbClr val="000000"/>
                </a:solidFill>
                <a:latin typeface="Arial"/>
              </a:rPr>
              <a:t>Centralized merge and compression</a:t>
            </a:r>
          </a:p>
        </p:txBody>
      </p:sp>
      <p:sp>
        <p:nvSpPr>
          <p:cNvPr id="36" name="テキスト ボックス 35">
            <a:extLst>
              <a:ext uri="{FF2B5EF4-FFF2-40B4-BE49-F238E27FC236}">
                <a16:creationId xmlns:a16="http://schemas.microsoft.com/office/drawing/2014/main" id="{68F2901C-3A43-71B8-E08F-D89E9D365602}"/>
              </a:ext>
            </a:extLst>
          </p:cNvPr>
          <p:cNvSpPr txBox="1"/>
          <p:nvPr/>
        </p:nvSpPr>
        <p:spPr>
          <a:xfrm rot="5400000">
            <a:off x="4359697" y="2723126"/>
            <a:ext cx="1097280" cy="369332"/>
          </a:xfrm>
          <a:prstGeom prst="rect">
            <a:avLst/>
          </a:prstGeom>
          <a:noFill/>
        </p:spPr>
        <p:txBody>
          <a:bodyPr wrap="square" lIns="27432" tIns="18288" rIns="27432" bIns="18288" rtlCol="0">
            <a:spAutoFit/>
          </a:bodyPr>
          <a:lstStyle/>
          <a:p>
            <a:pPr>
              <a:defRPr>
                <a:latin typeface="Arial"/>
              </a:defRPr>
            </a:pPr>
            <a:r>
              <a:rPr kumimoji="1" lang="ja-JP" altLang="en-US" sz="1600" b="0" dirty="0">
                <a:solidFill>
                  <a:srgbClr val="000000"/>
                </a:solidFill>
                <a:latin typeface="Arial"/>
              </a:rPr>
              <a:t>・・・</a:t>
            </a:r>
          </a:p>
        </p:txBody>
      </p:sp>
      <p:sp>
        <p:nvSpPr>
          <p:cNvPr id="38" name="テキスト ボックス 37">
            <a:extLst>
              <a:ext uri="{FF2B5EF4-FFF2-40B4-BE49-F238E27FC236}">
                <a16:creationId xmlns:a16="http://schemas.microsoft.com/office/drawing/2014/main" id="{E892BA10-AE4F-7FB7-522B-1ACD405A21C9}"/>
              </a:ext>
            </a:extLst>
          </p:cNvPr>
          <p:cNvSpPr txBox="1"/>
          <p:nvPr/>
        </p:nvSpPr>
        <p:spPr>
          <a:xfrm rot="5400000">
            <a:off x="6149340" y="2723126"/>
            <a:ext cx="1097280" cy="369332"/>
          </a:xfrm>
          <a:prstGeom prst="rect">
            <a:avLst/>
          </a:prstGeom>
          <a:noFill/>
        </p:spPr>
        <p:txBody>
          <a:bodyPr wrap="square" lIns="27432" tIns="18288" rIns="27432" bIns="18288" rtlCol="0">
            <a:spAutoFit/>
          </a:bodyPr>
          <a:lstStyle/>
          <a:p>
            <a:pPr>
              <a:defRPr>
                <a:latin typeface="Arial"/>
              </a:defRPr>
            </a:pPr>
            <a:r>
              <a:rPr kumimoji="1" lang="ja-JP" altLang="en-US" sz="1600" b="0" dirty="0">
                <a:solidFill>
                  <a:srgbClr val="000000"/>
                </a:solidFill>
                <a:latin typeface="Aria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09960" cy="502920"/>
          </a:xfrm>
          <a:prstGeom prst="rect">
            <a:avLst/>
          </a:prstGeom>
          <a:noFill/>
          <a:ln>
            <a:noFill/>
          </a:ln>
        </p:spPr>
        <p:txBody>
          <a:bodyPr wrap="none" lIns="27432" tIns="18288" rIns="27432" bIns="18288" rtlCol="0" anchor="ctr"/>
          <a:lstStyle/>
          <a:p>
            <a:pPr marL="0" indent="0" algn="l">
              <a:buNone/>
              <a:defRPr sz="2800" b="1">
                <a:solidFill>
                  <a:srgbClr val="000000"/>
                </a:solidFill>
                <a:latin typeface="Arial"/>
              </a:defRPr>
            </a:pPr>
            <a:r>
              <a:rPr lang="en-US" sz="2800" b="1" dirty="0">
                <a:solidFill>
                  <a:srgbClr val="000000"/>
                </a:solidFill>
                <a:latin typeface="Arial"/>
                <a:ea typeface="Arial" pitchFamily="34" charset="-122"/>
                <a:cs typeface="Arial" pitchFamily="34" charset="-120"/>
              </a:rPr>
              <a:t>Research Motivation</a:t>
            </a:r>
            <a:endParaRPr lang="en-US" sz="3200" dirty="0">
              <a:latin typeface="+mj-lt"/>
            </a:endParaRPr>
          </a:p>
        </p:txBody>
      </p:sp>
      <p:sp>
        <p:nvSpPr>
          <p:cNvPr id="18" name="テキスト ボックス 17">
            <a:extLst>
              <a:ext uri="{FF2B5EF4-FFF2-40B4-BE49-F238E27FC236}">
                <a16:creationId xmlns:a16="http://schemas.microsoft.com/office/drawing/2014/main" id="{E262D966-AD6A-7241-53DB-216149D803B2}"/>
              </a:ext>
            </a:extLst>
          </p:cNvPr>
          <p:cNvSpPr txBox="1"/>
          <p:nvPr/>
        </p:nvSpPr>
        <p:spPr>
          <a:xfrm>
            <a:off x="502920" y="1240971"/>
            <a:ext cx="10920549" cy="3508653"/>
          </a:xfrm>
          <a:prstGeom prst="rect">
            <a:avLst/>
          </a:prstGeom>
          <a:noFill/>
        </p:spPr>
        <p:txBody>
          <a:bodyPr wrap="square" lIns="27432" tIns="18288" rIns="27432" bIns="18288" rtlCol="0">
            <a:spAutoFit/>
          </a:bodyPr>
          <a:lstStyle/>
          <a:p>
            <a:pPr marL="457200" indent="-457200">
              <a:buFont typeface="Arial" panose="020B0604020202020204" pitchFamily="34" charset="0"/>
              <a:buChar char="•"/>
              <a:defRPr>
                <a:latin typeface="Arial"/>
              </a:defRPr>
            </a:pPr>
            <a:r>
              <a:rPr sz="2200" b="0" dirty="0">
                <a:solidFill>
                  <a:srgbClr val="000000"/>
                </a:solidFill>
                <a:latin typeface="Arial"/>
              </a:rPr>
              <a:t>Parallel sub-model training can reduce training time.</a:t>
            </a:r>
            <a:r>
              <a:rPr sz="2200" b="0" dirty="0">
                <a:latin typeface="Arial"/>
              </a:rPr>
              <a:t> [3]</a:t>
            </a:r>
          </a:p>
          <a:p>
            <a:pPr marL="457200" indent="-457200">
              <a:buFont typeface="Arial" panose="020B0604020202020204" pitchFamily="34" charset="0"/>
              <a:buChar char="•"/>
              <a:defRPr>
                <a:latin typeface="Arial"/>
              </a:defRPr>
            </a:pPr>
            <a:endParaRPr sz="2800" dirty="0">
              <a:latin typeface="+mj-lt"/>
            </a:endParaRPr>
          </a:p>
          <a:p>
            <a:pPr marL="457200" indent="-457200">
              <a:buFont typeface="Arial" panose="020B0604020202020204" pitchFamily="34" charset="0"/>
              <a:buChar char="•"/>
              <a:defRPr>
                <a:latin typeface="Arial"/>
              </a:defRPr>
            </a:pPr>
            <a:r>
              <a:rPr sz="2200" b="0" dirty="0">
                <a:solidFill>
                  <a:srgbClr val="000000"/>
                </a:solidFill>
                <a:latin typeface="Arial"/>
              </a:rPr>
              <a:t>But model-related file transfer, delayed senders, and receiver-side processing may reduce this benefit. </a:t>
            </a:r>
          </a:p>
          <a:p>
            <a:pPr marL="457200" indent="-457200">
              <a:buFont typeface="Arial" panose="020B0604020202020204" pitchFamily="34" charset="0"/>
              <a:buChar char="•"/>
              <a:defRPr>
                <a:latin typeface="Arial"/>
              </a:defRPr>
            </a:pPr>
            <a:endParaRPr sz="2800" dirty="0">
              <a:latin typeface="+mj-lt"/>
            </a:endParaRPr>
          </a:p>
          <a:p>
            <a:pPr marL="457200" indent="-457200">
              <a:buFont typeface="Arial" panose="020B0604020202020204" pitchFamily="34" charset="0"/>
              <a:buChar char="•"/>
              <a:defRPr>
                <a:latin typeface="Arial"/>
              </a:defRPr>
            </a:pPr>
            <a:r>
              <a:rPr lang="en-US" altLang="ja-JP" sz="2200" b="0" dirty="0">
                <a:solidFill>
                  <a:srgbClr val="000000"/>
                </a:solidFill>
                <a:latin typeface="Arial"/>
              </a:rPr>
              <a:t>This study evaluates workflow completion time and final merged-model accuracy.</a:t>
            </a:r>
          </a:p>
          <a:p>
            <a:pPr>
              <a:defRPr>
                <a:latin typeface="Arial"/>
              </a:defRPr>
            </a:pPr>
            <a:endParaRPr sz="2600" dirty="0">
              <a:latin typeface="+mj-lt"/>
            </a:endParaRPr>
          </a:p>
        </p:txBody>
      </p:sp>
      <p:sp>
        <p:nvSpPr>
          <p:cNvPr id="19" name="TextBox 18"/>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a:solidFill>
                  <a:srgbClr val="000000"/>
                </a:solidFill>
                <a:latin typeface="Arial"/>
              </a:rPr>
              <a:t>Table of Contents</a:t>
            </a:r>
          </a:p>
        </p:txBody>
      </p:sp>
      <p:sp>
        <p:nvSpPr>
          <p:cNvPr id="3" name="TextBox 2"/>
          <p:cNvSpPr txBox="1"/>
          <p:nvPr/>
        </p:nvSpPr>
        <p:spPr>
          <a:xfrm>
            <a:off x="594360" y="160020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1. Introduction</a:t>
            </a:r>
          </a:p>
        </p:txBody>
      </p:sp>
      <p:sp>
        <p:nvSpPr>
          <p:cNvPr id="4" name="TextBox 3"/>
          <p:cNvSpPr txBox="1"/>
          <p:nvPr/>
        </p:nvSpPr>
        <p:spPr>
          <a:xfrm>
            <a:off x="594360" y="233172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1">
                <a:solidFill>
                  <a:srgbClr val="000000"/>
                </a:solidFill>
                <a:latin typeface="Arial"/>
              </a:rPr>
              <a:t>2. Proposal</a:t>
            </a:r>
          </a:p>
        </p:txBody>
      </p:sp>
      <p:sp>
        <p:nvSpPr>
          <p:cNvPr id="5" name="TextBox 4"/>
          <p:cNvSpPr txBox="1"/>
          <p:nvPr/>
        </p:nvSpPr>
        <p:spPr>
          <a:xfrm>
            <a:off x="594360" y="306324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3. Evaluation</a:t>
            </a:r>
          </a:p>
        </p:txBody>
      </p:sp>
      <p:sp>
        <p:nvSpPr>
          <p:cNvPr id="6" name="TextBox 5"/>
          <p:cNvSpPr txBox="1"/>
          <p:nvPr/>
        </p:nvSpPr>
        <p:spPr>
          <a:xfrm>
            <a:off x="594360" y="379476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4. Conclusion</a:t>
            </a:r>
          </a:p>
        </p:txBody>
      </p:sp>
      <p:sp>
        <p:nvSpPr>
          <p:cNvPr id="7" name="TextBox 6"/>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dirty="0">
                <a:solidFill>
                  <a:srgbClr val="000000"/>
                </a:solidFill>
                <a:latin typeface="Arial"/>
              </a:rPr>
              <a:t>Overall Experimental Setup</a:t>
            </a:r>
          </a:p>
        </p:txBody>
      </p:sp>
      <p:sp>
        <p:nvSpPr>
          <p:cNvPr id="4" name="TextBox 3"/>
          <p:cNvSpPr txBox="1"/>
          <p:nvPr/>
        </p:nvSpPr>
        <p:spPr>
          <a:xfrm>
            <a:off x="502920" y="1094325"/>
            <a:ext cx="2057400" cy="400110"/>
          </a:xfrm>
          <a:prstGeom prst="rect">
            <a:avLst/>
          </a:prstGeom>
          <a:noFill/>
        </p:spPr>
        <p:txBody>
          <a:bodyPr wrap="square" lIns="27432" tIns="18288" rIns="27432" bIns="18288">
            <a:spAutoFit/>
          </a:bodyPr>
          <a:lstStyle/>
          <a:p>
            <a:pPr algn="ctr">
              <a:defRPr>
                <a:latin typeface="Arial"/>
              </a:defRPr>
            </a:pPr>
            <a:r>
              <a:rPr sz="2000" b="1" dirty="0">
                <a:solidFill>
                  <a:srgbClr val="000000"/>
                </a:solidFill>
                <a:latin typeface="Arial"/>
              </a:rPr>
              <a:t>Sender Nodes</a:t>
            </a:r>
          </a:p>
        </p:txBody>
      </p:sp>
      <p:sp>
        <p:nvSpPr>
          <p:cNvPr id="5" name="TextBox 4"/>
          <p:cNvSpPr txBox="1"/>
          <p:nvPr/>
        </p:nvSpPr>
        <p:spPr>
          <a:xfrm>
            <a:off x="3108960" y="1078992"/>
            <a:ext cx="2240280" cy="400110"/>
          </a:xfrm>
          <a:prstGeom prst="rect">
            <a:avLst/>
          </a:prstGeom>
          <a:noFill/>
        </p:spPr>
        <p:txBody>
          <a:bodyPr wrap="square" lIns="27432" tIns="18288" rIns="27432" bIns="18288">
            <a:spAutoFit/>
          </a:bodyPr>
          <a:lstStyle/>
          <a:p>
            <a:pPr algn="ctr">
              <a:defRPr>
                <a:latin typeface="Arial"/>
              </a:defRPr>
            </a:pPr>
            <a:r>
              <a:rPr sz="2000" b="1">
                <a:solidFill>
                  <a:srgbClr val="000000"/>
                </a:solidFill>
                <a:latin typeface="Arial"/>
              </a:rPr>
              <a:t>Communication</a:t>
            </a:r>
          </a:p>
        </p:txBody>
      </p:sp>
      <p:sp>
        <p:nvSpPr>
          <p:cNvPr id="6" name="TextBox 5"/>
          <p:cNvSpPr txBox="1"/>
          <p:nvPr/>
        </p:nvSpPr>
        <p:spPr>
          <a:xfrm>
            <a:off x="5577840" y="1078992"/>
            <a:ext cx="2057400" cy="400110"/>
          </a:xfrm>
          <a:prstGeom prst="rect">
            <a:avLst/>
          </a:prstGeom>
          <a:noFill/>
        </p:spPr>
        <p:txBody>
          <a:bodyPr wrap="square" lIns="27432" tIns="18288" rIns="27432" bIns="18288">
            <a:spAutoFit/>
          </a:bodyPr>
          <a:lstStyle/>
          <a:p>
            <a:pPr algn="ctr">
              <a:defRPr>
                <a:latin typeface="Arial"/>
              </a:defRPr>
            </a:pPr>
            <a:r>
              <a:rPr sz="2000" b="1">
                <a:solidFill>
                  <a:srgbClr val="000000"/>
                </a:solidFill>
                <a:latin typeface="Arial"/>
              </a:rPr>
              <a:t>Receiver Node</a:t>
            </a:r>
          </a:p>
        </p:txBody>
      </p:sp>
      <p:sp>
        <p:nvSpPr>
          <p:cNvPr id="7" name="TextBox 6"/>
          <p:cNvSpPr txBox="1"/>
          <p:nvPr/>
        </p:nvSpPr>
        <p:spPr>
          <a:xfrm>
            <a:off x="7955279" y="1078992"/>
            <a:ext cx="2240280" cy="400110"/>
          </a:xfrm>
          <a:prstGeom prst="rect">
            <a:avLst/>
          </a:prstGeom>
          <a:noFill/>
        </p:spPr>
        <p:txBody>
          <a:bodyPr wrap="square" lIns="27432" tIns="18288" rIns="27432" bIns="18288">
            <a:spAutoFit/>
          </a:bodyPr>
          <a:lstStyle/>
          <a:p>
            <a:pPr algn="ctr">
              <a:defRPr>
                <a:latin typeface="Arial"/>
              </a:defRPr>
            </a:pPr>
            <a:r>
              <a:rPr sz="2000" b="1" dirty="0">
                <a:solidFill>
                  <a:srgbClr val="000000"/>
                </a:solidFill>
                <a:latin typeface="Arial"/>
              </a:rPr>
              <a:t>Processing</a:t>
            </a:r>
          </a:p>
        </p:txBody>
      </p:sp>
      <p:sp>
        <p:nvSpPr>
          <p:cNvPr id="10" name="Rounded Rectangle 9"/>
          <p:cNvSpPr/>
          <p:nvPr/>
        </p:nvSpPr>
        <p:spPr>
          <a:xfrm>
            <a:off x="502920" y="5153578"/>
            <a:ext cx="2148840" cy="1201502"/>
          </a:xfrm>
          <a:prstGeom prst="roundRect">
            <a:avLst/>
          </a:prstGeom>
          <a:solidFill>
            <a:srgbClr val="F2F2F2"/>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0" dirty="0" err="1">
                <a:solidFill>
                  <a:srgbClr val="000000"/>
                </a:solidFill>
                <a:latin typeface="Arial"/>
              </a:rPr>
              <a:t>vm-nodeN</a:t>
            </a:r>
            <a:br>
              <a:rPr dirty="0">
                <a:latin typeface="+mj-lt"/>
              </a:rPr>
            </a:br>
            <a:r>
              <a:rPr sz="1400" b="0" dirty="0">
                <a:solidFill>
                  <a:srgbClr val="000000"/>
                </a:solidFill>
                <a:latin typeface="Arial"/>
              </a:rPr>
              <a:t>model_*.</a:t>
            </a:r>
            <a:r>
              <a:rPr sz="1400" b="0" dirty="0" err="1">
                <a:solidFill>
                  <a:srgbClr val="000000"/>
                </a:solidFill>
                <a:latin typeface="Arial"/>
              </a:rPr>
              <a:t>pth</a:t>
            </a:r>
            <a:br>
              <a:rPr dirty="0">
                <a:latin typeface="+mj-lt"/>
              </a:rPr>
            </a:br>
            <a:r>
              <a:rPr sz="1400" b="0" dirty="0">
                <a:solidFill>
                  <a:srgbClr val="000000"/>
                </a:solidFill>
                <a:latin typeface="Arial"/>
              </a:rPr>
              <a:t>assignments_*.</a:t>
            </a:r>
            <a:r>
              <a:rPr sz="1400" b="0" dirty="0" err="1">
                <a:solidFill>
                  <a:srgbClr val="000000"/>
                </a:solidFill>
                <a:latin typeface="Arial"/>
              </a:rPr>
              <a:t>pth</a:t>
            </a:r>
            <a:br>
              <a:rPr dirty="0">
                <a:latin typeface="+mj-lt"/>
              </a:rPr>
            </a:br>
            <a:r>
              <a:rPr sz="1400" b="0" dirty="0">
                <a:solidFill>
                  <a:srgbClr val="000000"/>
                </a:solidFill>
                <a:latin typeface="Arial"/>
              </a:rPr>
              <a:t>proportions_*.</a:t>
            </a:r>
            <a:r>
              <a:rPr sz="1400" b="0" dirty="0" err="1">
                <a:solidFill>
                  <a:srgbClr val="000000"/>
                </a:solidFill>
                <a:latin typeface="Arial"/>
              </a:rPr>
              <a:t>pth</a:t>
            </a:r>
            <a:endParaRPr sz="1050" b="0" dirty="0">
              <a:solidFill>
                <a:srgbClr val="000000"/>
              </a:solidFill>
              <a:latin typeface="+mj-lt"/>
            </a:endParaRPr>
          </a:p>
        </p:txBody>
      </p:sp>
      <p:sp>
        <p:nvSpPr>
          <p:cNvPr id="12" name="Rounded Rectangle 11"/>
          <p:cNvSpPr/>
          <p:nvPr/>
        </p:nvSpPr>
        <p:spPr>
          <a:xfrm>
            <a:off x="2980944" y="3039377"/>
            <a:ext cx="2057400" cy="969264"/>
          </a:xfrm>
          <a:prstGeom prst="roundRect">
            <a:avLst/>
          </a:prstGeom>
          <a:solidFill>
            <a:srgbClr val="EBEFF5"/>
          </a:solidFill>
          <a:ln w="17780">
            <a:solidFill>
              <a:srgbClr val="464646"/>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600" b="1" dirty="0">
                <a:solidFill>
                  <a:srgbClr val="000000"/>
                </a:solidFill>
                <a:latin typeface="Arial"/>
              </a:rPr>
              <a:t>TCP</a:t>
            </a:r>
            <a:br>
              <a:rPr dirty="0">
                <a:latin typeface="+mj-lt"/>
              </a:rPr>
            </a:br>
            <a:r>
              <a:rPr sz="1600" b="1" dirty="0" err="1">
                <a:solidFill>
                  <a:srgbClr val="000000"/>
                </a:solidFill>
                <a:latin typeface="Arial"/>
              </a:rPr>
              <a:t>ZeroMQ</a:t>
            </a:r>
            <a:br>
              <a:rPr dirty="0">
                <a:latin typeface="+mj-lt"/>
              </a:rPr>
            </a:br>
            <a:r>
              <a:rPr sz="1600" b="1" dirty="0" err="1">
                <a:solidFill>
                  <a:srgbClr val="000000"/>
                </a:solidFill>
                <a:latin typeface="Arial"/>
              </a:rPr>
              <a:t>gRPC</a:t>
            </a:r>
            <a:endParaRPr sz="1500" b="1" dirty="0">
              <a:solidFill>
                <a:srgbClr val="000000"/>
              </a:solidFill>
              <a:latin typeface="+mj-lt"/>
            </a:endParaRPr>
          </a:p>
        </p:txBody>
      </p:sp>
      <p:sp>
        <p:nvSpPr>
          <p:cNvPr id="13" name="Rounded Rectangle 12"/>
          <p:cNvSpPr/>
          <p:nvPr/>
        </p:nvSpPr>
        <p:spPr>
          <a:xfrm>
            <a:off x="5497830" y="2957081"/>
            <a:ext cx="2057400" cy="1133856"/>
          </a:xfrm>
          <a:prstGeom prst="roundRect">
            <a:avLst/>
          </a:prstGeom>
          <a:solidFill>
            <a:srgbClr val="F5F5F5"/>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1" dirty="0">
                <a:solidFill>
                  <a:srgbClr val="000000"/>
                </a:solidFill>
                <a:latin typeface="Arial"/>
              </a:rPr>
              <a:t>vm-node</a:t>
            </a:r>
            <a:r>
              <a:rPr lang="en-US" sz="1400" b="1" dirty="0">
                <a:solidFill>
                  <a:srgbClr val="000000"/>
                </a:solidFill>
                <a:latin typeface="Arial"/>
              </a:rPr>
              <a:t>0</a:t>
            </a:r>
            <a:br>
              <a:rPr dirty="0">
                <a:latin typeface="+mj-lt"/>
              </a:rPr>
            </a:br>
            <a:r>
              <a:rPr sz="1400" b="1" dirty="0">
                <a:solidFill>
                  <a:srgbClr val="000000"/>
                </a:solidFill>
                <a:latin typeface="Arial"/>
              </a:rPr>
              <a:t>Collect received</a:t>
            </a:r>
            <a:br>
              <a:rPr dirty="0">
                <a:latin typeface="+mj-lt"/>
              </a:rPr>
            </a:br>
            <a:r>
              <a:rPr sz="1400" b="1" dirty="0">
                <a:solidFill>
                  <a:srgbClr val="000000"/>
                </a:solidFill>
                <a:latin typeface="Arial"/>
              </a:rPr>
              <a:t>sub-model files</a:t>
            </a:r>
          </a:p>
        </p:txBody>
      </p:sp>
      <p:sp>
        <p:nvSpPr>
          <p:cNvPr id="14" name="Rounded Rectangle 13"/>
          <p:cNvSpPr/>
          <p:nvPr/>
        </p:nvSpPr>
        <p:spPr>
          <a:xfrm>
            <a:off x="8046720" y="2176830"/>
            <a:ext cx="1965960" cy="749808"/>
          </a:xfrm>
          <a:prstGeom prst="roundRect">
            <a:avLst/>
          </a:prstGeom>
          <a:solidFill>
            <a:srgbClr val="F5F5F5"/>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1">
                <a:solidFill>
                  <a:srgbClr val="000000"/>
                </a:solidFill>
                <a:latin typeface="Arial"/>
              </a:rPr>
              <a:t>Merge +</a:t>
            </a:r>
            <a:br>
              <a:rPr>
                <a:latin typeface="+mj-lt"/>
              </a:rPr>
            </a:br>
            <a:r>
              <a:rPr sz="1400" b="1">
                <a:solidFill>
                  <a:srgbClr val="000000"/>
                </a:solidFill>
                <a:latin typeface="Arial"/>
              </a:rPr>
              <a:t>Compression</a:t>
            </a:r>
          </a:p>
        </p:txBody>
      </p:sp>
      <p:sp>
        <p:nvSpPr>
          <p:cNvPr id="15" name="Rounded Rectangle 14"/>
          <p:cNvSpPr/>
          <p:nvPr/>
        </p:nvSpPr>
        <p:spPr>
          <a:xfrm>
            <a:off x="8046720" y="3456990"/>
            <a:ext cx="1965960" cy="749808"/>
          </a:xfrm>
          <a:prstGeom prst="roundRect">
            <a:avLst/>
          </a:prstGeom>
          <a:solidFill>
            <a:srgbClr val="F5F5F5"/>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1">
                <a:solidFill>
                  <a:srgbClr val="000000"/>
                </a:solidFill>
                <a:latin typeface="Arial"/>
              </a:rPr>
              <a:t>MNIST</a:t>
            </a:r>
            <a:br>
              <a:rPr>
                <a:latin typeface="+mj-lt"/>
              </a:rPr>
            </a:br>
            <a:r>
              <a:rPr sz="1400" b="1">
                <a:solidFill>
                  <a:srgbClr val="000000"/>
                </a:solidFill>
                <a:latin typeface="Arial"/>
              </a:rPr>
              <a:t>Evaluation</a:t>
            </a:r>
          </a:p>
        </p:txBody>
      </p:sp>
      <p:sp>
        <p:nvSpPr>
          <p:cNvPr id="16" name="Rounded Rectangle 15"/>
          <p:cNvSpPr/>
          <p:nvPr/>
        </p:nvSpPr>
        <p:spPr>
          <a:xfrm>
            <a:off x="8046720" y="4737150"/>
            <a:ext cx="1965960" cy="566928"/>
          </a:xfrm>
          <a:prstGeom prst="roundRect">
            <a:avLst/>
          </a:prstGeom>
          <a:solidFill>
            <a:srgbClr val="F5F5F5"/>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1">
                <a:solidFill>
                  <a:srgbClr val="000000"/>
                </a:solidFill>
                <a:latin typeface="Arial"/>
              </a:rPr>
              <a:t>Final Model</a:t>
            </a:r>
            <a:br>
              <a:rPr>
                <a:latin typeface="+mj-lt"/>
              </a:rPr>
            </a:br>
            <a:r>
              <a:rPr sz="1400" b="1">
                <a:solidFill>
                  <a:srgbClr val="000000"/>
                </a:solidFill>
                <a:latin typeface="Arial"/>
              </a:rPr>
              <a:t>Accuracy</a:t>
            </a:r>
          </a:p>
        </p:txBody>
      </p:sp>
      <p:cxnSp>
        <p:nvCxnSpPr>
          <p:cNvPr id="22" name="Connector 21"/>
          <p:cNvCxnSpPr/>
          <p:nvPr/>
        </p:nvCxnSpPr>
        <p:spPr>
          <a:xfrm>
            <a:off x="9029700" y="2926638"/>
            <a:ext cx="0" cy="530352"/>
          </a:xfrm>
          <a:prstGeom prst="line">
            <a:avLst/>
          </a:prstGeom>
          <a:ln w="25400">
            <a:solidFill>
              <a:srgbClr val="3C3C3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29700" y="4206798"/>
            <a:ext cx="0" cy="530352"/>
          </a:xfrm>
          <a:prstGeom prst="line">
            <a:avLst/>
          </a:prstGeom>
          <a:ln w="25400">
            <a:solidFill>
              <a:srgbClr val="3C3C3C"/>
            </a:solidFill>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67D31226-22AD-9751-DB9F-F44F5C20DC89}"/>
              </a:ext>
            </a:extLst>
          </p:cNvPr>
          <p:cNvCxnSpPr>
            <a:cxnSpLocks/>
            <a:stCxn id="54" idx="3"/>
            <a:endCxn id="12" idx="1"/>
          </p:cNvCxnSpPr>
          <p:nvPr/>
        </p:nvCxnSpPr>
        <p:spPr>
          <a:xfrm>
            <a:off x="2441448" y="2256312"/>
            <a:ext cx="539496" cy="12676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AA3A9B21-86C9-A45D-8705-86554F7604A0}"/>
              </a:ext>
            </a:extLst>
          </p:cNvPr>
          <p:cNvCxnSpPr>
            <a:cxnSpLocks/>
            <a:endCxn id="12" idx="1"/>
          </p:cNvCxnSpPr>
          <p:nvPr/>
        </p:nvCxnSpPr>
        <p:spPr>
          <a:xfrm>
            <a:off x="2441448" y="3429000"/>
            <a:ext cx="539496" cy="950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11733FE7-BD2A-66D8-BF23-3E95B8A0B4B3}"/>
              </a:ext>
            </a:extLst>
          </p:cNvPr>
          <p:cNvCxnSpPr>
            <a:cxnSpLocks/>
            <a:stCxn id="10" idx="3"/>
            <a:endCxn id="12" idx="1"/>
          </p:cNvCxnSpPr>
          <p:nvPr/>
        </p:nvCxnSpPr>
        <p:spPr>
          <a:xfrm flipV="1">
            <a:off x="2651760" y="3524009"/>
            <a:ext cx="329184" cy="2230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6D2CAAC5-FF30-EF08-C632-561D49737BCF}"/>
              </a:ext>
            </a:extLst>
          </p:cNvPr>
          <p:cNvCxnSpPr>
            <a:cxnSpLocks/>
            <a:stCxn id="13" idx="3"/>
            <a:endCxn id="14" idx="1"/>
          </p:cNvCxnSpPr>
          <p:nvPr/>
        </p:nvCxnSpPr>
        <p:spPr>
          <a:xfrm flipV="1">
            <a:off x="7555230" y="2551734"/>
            <a:ext cx="491490" cy="9722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3B2041B5-A9E2-1CB4-2797-0293CE887445}"/>
              </a:ext>
            </a:extLst>
          </p:cNvPr>
          <p:cNvCxnSpPr>
            <a:cxnSpLocks/>
            <a:stCxn id="12" idx="3"/>
            <a:endCxn id="13" idx="1"/>
          </p:cNvCxnSpPr>
          <p:nvPr/>
        </p:nvCxnSpPr>
        <p:spPr>
          <a:xfrm>
            <a:off x="5038344" y="3524009"/>
            <a:ext cx="4594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Rounded Rectangle 9">
            <a:extLst>
              <a:ext uri="{FF2B5EF4-FFF2-40B4-BE49-F238E27FC236}">
                <a16:creationId xmlns:a16="http://schemas.microsoft.com/office/drawing/2014/main" id="{F56ADF8B-A1E9-5BEE-7393-2DA1F60ABD7D}"/>
              </a:ext>
            </a:extLst>
          </p:cNvPr>
          <p:cNvSpPr/>
          <p:nvPr/>
        </p:nvSpPr>
        <p:spPr>
          <a:xfrm>
            <a:off x="502920" y="3094073"/>
            <a:ext cx="2148840" cy="1220193"/>
          </a:xfrm>
          <a:prstGeom prst="roundRect">
            <a:avLst/>
          </a:prstGeom>
          <a:solidFill>
            <a:srgbClr val="F2F2F2"/>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lang="en-US" sz="1400" b="0" dirty="0">
                <a:solidFill>
                  <a:srgbClr val="000000"/>
                </a:solidFill>
                <a:latin typeface="Arial"/>
              </a:rPr>
              <a:t>vm-node2</a:t>
            </a:r>
            <a:br>
              <a:rPr lang="en-US" dirty="0">
                <a:latin typeface="+mj-lt"/>
              </a:rPr>
            </a:br>
            <a:r>
              <a:rPr lang="en-US" sz="1400" b="0" dirty="0">
                <a:solidFill>
                  <a:srgbClr val="000000"/>
                </a:solidFill>
                <a:latin typeface="Arial"/>
              </a:rPr>
              <a:t>model_*.</a:t>
            </a:r>
            <a:r>
              <a:rPr lang="en-US" sz="1400" b="0" dirty="0" err="1">
                <a:solidFill>
                  <a:srgbClr val="000000"/>
                </a:solidFill>
                <a:latin typeface="Arial"/>
              </a:rPr>
              <a:t>pth</a:t>
            </a:r>
            <a:br>
              <a:rPr lang="en-US" dirty="0">
                <a:latin typeface="+mj-lt"/>
              </a:rPr>
            </a:br>
            <a:r>
              <a:rPr lang="en-US" sz="1400" b="0" dirty="0">
                <a:solidFill>
                  <a:srgbClr val="000000"/>
                </a:solidFill>
                <a:latin typeface="Arial"/>
              </a:rPr>
              <a:t>assignments_*.</a:t>
            </a:r>
            <a:r>
              <a:rPr lang="en-US" sz="1400" b="0" dirty="0" err="1">
                <a:solidFill>
                  <a:srgbClr val="000000"/>
                </a:solidFill>
                <a:latin typeface="Arial"/>
              </a:rPr>
              <a:t>pth</a:t>
            </a:r>
            <a:br>
              <a:rPr lang="en-US" dirty="0">
                <a:latin typeface="+mj-lt"/>
              </a:rPr>
            </a:br>
            <a:r>
              <a:rPr lang="en-US" sz="1400" b="0" dirty="0">
                <a:solidFill>
                  <a:srgbClr val="000000"/>
                </a:solidFill>
                <a:latin typeface="Arial"/>
              </a:rPr>
              <a:t>proportions_*.</a:t>
            </a:r>
            <a:r>
              <a:rPr lang="en-US" sz="1400" b="0" dirty="0" err="1">
                <a:solidFill>
                  <a:srgbClr val="000000"/>
                </a:solidFill>
                <a:latin typeface="Arial"/>
              </a:rPr>
              <a:t>pth</a:t>
            </a:r>
            <a:endParaRPr lang="en-US" sz="1050" b="0" dirty="0">
              <a:solidFill>
                <a:srgbClr val="000000"/>
              </a:solidFill>
              <a:latin typeface="+mj-lt"/>
            </a:endParaRPr>
          </a:p>
        </p:txBody>
      </p:sp>
      <p:sp>
        <p:nvSpPr>
          <p:cNvPr id="54" name="Rounded Rectangle 9">
            <a:extLst>
              <a:ext uri="{FF2B5EF4-FFF2-40B4-BE49-F238E27FC236}">
                <a16:creationId xmlns:a16="http://schemas.microsoft.com/office/drawing/2014/main" id="{1FD0CCDE-1113-D6A8-F18C-06542A98BD23}"/>
              </a:ext>
            </a:extLst>
          </p:cNvPr>
          <p:cNvSpPr/>
          <p:nvPr/>
        </p:nvSpPr>
        <p:spPr>
          <a:xfrm>
            <a:off x="502920" y="1646215"/>
            <a:ext cx="2148840" cy="1220193"/>
          </a:xfrm>
          <a:prstGeom prst="roundRect">
            <a:avLst/>
          </a:prstGeom>
          <a:solidFill>
            <a:srgbClr val="F2F2F2"/>
          </a:solidFill>
          <a:ln w="17780">
            <a:solidFill>
              <a:srgbClr val="50505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defRPr>
                <a:latin typeface="Arial"/>
              </a:defRPr>
            </a:pPr>
            <a:r>
              <a:rPr sz="1400" b="0" dirty="0">
                <a:solidFill>
                  <a:srgbClr val="000000"/>
                </a:solidFill>
                <a:latin typeface="Arial"/>
              </a:rPr>
              <a:t>vm-node</a:t>
            </a:r>
            <a:r>
              <a:rPr lang="en-US" sz="1400" b="0" dirty="0">
                <a:solidFill>
                  <a:srgbClr val="000000"/>
                </a:solidFill>
                <a:latin typeface="Arial"/>
              </a:rPr>
              <a:t>1</a:t>
            </a:r>
          </a:p>
          <a:p>
            <a:pPr algn="ctr">
              <a:defRPr>
                <a:latin typeface="Arial"/>
              </a:defRPr>
            </a:pPr>
            <a:r>
              <a:rPr sz="1400" b="0" dirty="0">
                <a:solidFill>
                  <a:srgbClr val="000000"/>
                </a:solidFill>
                <a:latin typeface="Arial"/>
              </a:rPr>
              <a:t>model_*.</a:t>
            </a:r>
            <a:r>
              <a:rPr sz="1400" b="0" dirty="0" err="1">
                <a:solidFill>
                  <a:srgbClr val="000000"/>
                </a:solidFill>
                <a:latin typeface="Arial"/>
              </a:rPr>
              <a:t>pth</a:t>
            </a:r>
            <a:br>
              <a:rPr dirty="0">
                <a:latin typeface="+mj-lt"/>
              </a:rPr>
            </a:br>
            <a:r>
              <a:rPr sz="1400" b="0" dirty="0">
                <a:solidFill>
                  <a:srgbClr val="000000"/>
                </a:solidFill>
                <a:latin typeface="Arial"/>
              </a:rPr>
              <a:t>assignments_*.</a:t>
            </a:r>
            <a:r>
              <a:rPr sz="1400" b="0" dirty="0" err="1">
                <a:solidFill>
                  <a:srgbClr val="000000"/>
                </a:solidFill>
                <a:latin typeface="Arial"/>
              </a:rPr>
              <a:t>pth</a:t>
            </a:r>
            <a:br>
              <a:rPr dirty="0">
                <a:latin typeface="+mj-lt"/>
              </a:rPr>
            </a:br>
            <a:r>
              <a:rPr sz="1400" b="0" dirty="0">
                <a:solidFill>
                  <a:srgbClr val="000000"/>
                </a:solidFill>
                <a:latin typeface="Arial"/>
              </a:rPr>
              <a:t>proportions_*.</a:t>
            </a:r>
            <a:r>
              <a:rPr sz="1400" b="0" dirty="0" err="1">
                <a:solidFill>
                  <a:srgbClr val="000000"/>
                </a:solidFill>
                <a:latin typeface="Arial"/>
              </a:rPr>
              <a:t>pth</a:t>
            </a:r>
            <a:endParaRPr sz="1050" b="0" dirty="0">
              <a:solidFill>
                <a:srgbClr val="000000"/>
              </a:solidFill>
              <a:latin typeface="+mj-lt"/>
            </a:endParaRPr>
          </a:p>
        </p:txBody>
      </p:sp>
      <p:sp>
        <p:nvSpPr>
          <p:cNvPr id="62" name="テキスト ボックス 61">
            <a:extLst>
              <a:ext uri="{FF2B5EF4-FFF2-40B4-BE49-F238E27FC236}">
                <a16:creationId xmlns:a16="http://schemas.microsoft.com/office/drawing/2014/main" id="{D8DAD98D-CEAB-9C44-A190-401C34242068}"/>
              </a:ext>
            </a:extLst>
          </p:cNvPr>
          <p:cNvSpPr txBox="1"/>
          <p:nvPr/>
        </p:nvSpPr>
        <p:spPr>
          <a:xfrm>
            <a:off x="3304903" y="4737150"/>
            <a:ext cx="4480560" cy="1617930"/>
          </a:xfrm>
          <a:prstGeom prst="rect">
            <a:avLst/>
          </a:prstGeom>
          <a:noFill/>
        </p:spPr>
        <p:txBody>
          <a:bodyPr wrap="square" lIns="27432" tIns="18288" rIns="27432" bIns="18288" rtlCol="0">
            <a:spAutoFit/>
          </a:bodyPr>
          <a:lstStyle/>
          <a:p>
            <a:pPr marL="285750" indent="-285750">
              <a:buFont typeface="Arial" panose="020B0604020202020204" pitchFamily="34" charset="0"/>
              <a:buChar char="•"/>
              <a:defRPr>
                <a:latin typeface="Arial"/>
              </a:defRPr>
            </a:pPr>
            <a:r>
              <a:rPr lang="ja-JP" altLang="ja-JP" sz="1600" b="1" dirty="0">
                <a:solidFill>
                  <a:srgbClr val="000000"/>
                </a:solidFill>
                <a:latin typeface="Arial" panose="020B0604020202020204" pitchFamily="34" charset="0"/>
                <a:cs typeface="Arial" panose="020B0604020202020204" pitchFamily="34" charset="0"/>
              </a:rPr>
              <a:t>TCP</a:t>
            </a:r>
            <a:br>
              <a:rPr lang="ja-JP" altLang="ja-JP" dirty="0">
                <a:latin typeface="Arial" panose="020B0604020202020204" pitchFamily="34" charset="0"/>
                <a:cs typeface="Arial" panose="020B0604020202020204" pitchFamily="34" charset="0"/>
              </a:rPr>
            </a:br>
            <a:r>
              <a:rPr lang="ja-JP" altLang="ja-JP" sz="1600" b="0" dirty="0">
                <a:solidFill>
                  <a:srgbClr val="000000"/>
                </a:solidFill>
                <a:latin typeface="Arial" panose="020B0604020202020204" pitchFamily="34" charset="0"/>
                <a:cs typeface="Arial" panose="020B0604020202020204" pitchFamily="34" charset="0"/>
              </a:rPr>
              <a:t>Reliable stream-based file transfer</a:t>
            </a:r>
          </a:p>
          <a:p>
            <a:pPr marL="285750" indent="-285750">
              <a:buFont typeface="Arial" panose="020B0604020202020204" pitchFamily="34" charset="0"/>
              <a:buChar char="•"/>
              <a:defRPr>
                <a:latin typeface="Arial"/>
              </a:defRPr>
            </a:pPr>
            <a:r>
              <a:rPr lang="ja-JP" altLang="ja-JP" sz="1600" b="1" dirty="0">
                <a:solidFill>
                  <a:srgbClr val="000000"/>
                </a:solidFill>
                <a:latin typeface="Arial" panose="020B0604020202020204" pitchFamily="34" charset="0"/>
                <a:cs typeface="Arial" panose="020B0604020202020204" pitchFamily="34" charset="0"/>
              </a:rPr>
              <a:t>ZeroMQ</a:t>
            </a:r>
            <a:br>
              <a:rPr lang="ja-JP" altLang="ja-JP" dirty="0">
                <a:latin typeface="Arial" panose="020B0604020202020204" pitchFamily="34" charset="0"/>
                <a:cs typeface="Arial" panose="020B0604020202020204" pitchFamily="34" charset="0"/>
              </a:rPr>
            </a:br>
            <a:r>
              <a:rPr lang="ja-JP" altLang="ja-JP" sz="1600" b="0" dirty="0">
                <a:solidFill>
                  <a:srgbClr val="000000"/>
                </a:solidFill>
                <a:latin typeface="Arial" panose="020B0604020202020204" pitchFamily="34" charset="0"/>
                <a:cs typeface="Arial" panose="020B0604020202020204" pitchFamily="34" charset="0"/>
              </a:rPr>
              <a:t>Lightweight message-based file transfer</a:t>
            </a:r>
          </a:p>
          <a:p>
            <a:pPr marL="285750" indent="-285750">
              <a:buFont typeface="Arial" panose="020B0604020202020204" pitchFamily="34" charset="0"/>
              <a:buChar char="•"/>
              <a:defRPr>
                <a:latin typeface="Arial"/>
              </a:defRPr>
            </a:pPr>
            <a:r>
              <a:rPr lang="ja-JP" altLang="ja-JP" sz="1600" b="1" dirty="0">
                <a:solidFill>
                  <a:srgbClr val="000000"/>
                </a:solidFill>
                <a:latin typeface="Arial" panose="020B0604020202020204" pitchFamily="34" charset="0"/>
                <a:cs typeface="Arial" panose="020B0604020202020204" pitchFamily="34" charset="0"/>
              </a:rPr>
              <a:t>gRPC</a:t>
            </a:r>
            <a:br>
              <a:rPr lang="ja-JP" altLang="ja-JP" dirty="0">
                <a:latin typeface="Arial" panose="020B0604020202020204" pitchFamily="34" charset="0"/>
                <a:cs typeface="Arial" panose="020B0604020202020204" pitchFamily="34" charset="0"/>
              </a:rPr>
            </a:br>
            <a:r>
              <a:rPr lang="ja-JP" altLang="ja-JP" sz="1600" b="0" dirty="0">
                <a:solidFill>
                  <a:srgbClr val="000000"/>
                </a:solidFill>
                <a:latin typeface="Arial" panose="020B0604020202020204" pitchFamily="34" charset="0"/>
                <a:cs typeface="Arial" panose="020B0604020202020204" pitchFamily="34" charset="0"/>
              </a:rPr>
              <a:t>Structured RPC-based file transfer</a:t>
            </a:r>
          </a:p>
          <a:p>
            <a:pPr>
              <a:defRPr>
                <a:latin typeface="Arial"/>
              </a:defRPr>
            </a:pPr>
            <a:endParaRPr kumimoji="1" lang="ja-JP" altLang="en-US" dirty="0">
              <a:latin typeface="Arial" panose="020B0604020202020204" pitchFamily="34" charset="0"/>
              <a:cs typeface="Arial" panose="020B0604020202020204" pitchFamily="34" charset="0"/>
            </a:endParaRPr>
          </a:p>
        </p:txBody>
      </p:sp>
      <p:sp>
        <p:nvSpPr>
          <p:cNvPr id="63" name="TextBox 62"/>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7</a:t>
            </a:r>
          </a:p>
        </p:txBody>
      </p:sp>
      <p:sp>
        <p:nvSpPr>
          <p:cNvPr id="18" name="テキスト ボックス 17">
            <a:extLst>
              <a:ext uri="{FF2B5EF4-FFF2-40B4-BE49-F238E27FC236}">
                <a16:creationId xmlns:a16="http://schemas.microsoft.com/office/drawing/2014/main" id="{88077D6B-1638-8554-EBE7-BBBBFD3D4D2C}"/>
              </a:ext>
            </a:extLst>
          </p:cNvPr>
          <p:cNvSpPr txBox="1"/>
          <p:nvPr/>
        </p:nvSpPr>
        <p:spPr>
          <a:xfrm>
            <a:off x="1186868" y="4372473"/>
            <a:ext cx="461665" cy="839312"/>
          </a:xfrm>
          <a:prstGeom prst="rect">
            <a:avLst/>
          </a:prstGeom>
          <a:noFill/>
        </p:spPr>
        <p:txBody>
          <a:bodyPr vert="eaVert" wrap="square" lIns="27432" tIns="18288" rIns="27432" bIns="18288" rtlCol="0">
            <a:spAutoFit/>
          </a:bodyPr>
          <a:lstStyle/>
          <a:p>
            <a:pPr>
              <a:defRPr>
                <a:latin typeface="Arial"/>
              </a:defRPr>
            </a:pPr>
            <a:r>
              <a:rPr kumimoji="1" lang="ja-JP" altLang="en-US" sz="1600" b="0" dirty="0">
                <a:solidFill>
                  <a:srgbClr val="000000"/>
                </a:solidFill>
                <a:latin typeface="Aria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09960" cy="502920"/>
          </a:xfrm>
          <a:prstGeom prst="rect">
            <a:avLst/>
          </a:prstGeom>
          <a:noFill/>
          <a:ln>
            <a:noFill/>
          </a:ln>
        </p:spPr>
        <p:txBody>
          <a:bodyPr wrap="none" lIns="27432" tIns="18288" rIns="27432" bIns="18288" rtlCol="0" anchor="ctr">
            <a:normAutofit/>
          </a:bodyPr>
          <a:lstStyle/>
          <a:p>
            <a:pPr marL="0" indent="0" algn="l">
              <a:buNone/>
              <a:defRPr sz="2800" b="1">
                <a:solidFill>
                  <a:srgbClr val="000000"/>
                </a:solidFill>
                <a:latin typeface="Arial"/>
              </a:defRPr>
            </a:pPr>
            <a:r>
              <a:rPr lang="en-US" sz="2800" b="1" dirty="0">
                <a:solidFill>
                  <a:srgbClr val="000000"/>
                </a:solidFill>
                <a:latin typeface="Arial"/>
                <a:ea typeface="Arial" pitchFamily="34" charset="-122"/>
                <a:cs typeface="Arial" pitchFamily="34" charset="-120"/>
              </a:rPr>
              <a:t>Sub-model and Quality Evaluation</a:t>
            </a:r>
            <a:endParaRPr lang="en-US" sz="3000" dirty="0">
              <a:latin typeface="+mj-lt"/>
            </a:endParaRPr>
          </a:p>
        </p:txBody>
      </p:sp>
      <p:sp>
        <p:nvSpPr>
          <p:cNvPr id="4" name="Shape 2"/>
          <p:cNvSpPr/>
          <p:nvPr/>
        </p:nvSpPr>
        <p:spPr>
          <a:xfrm>
            <a:off x="594360" y="1234440"/>
            <a:ext cx="1965960" cy="1005840"/>
          </a:xfrm>
          <a:prstGeom prst="roundRect">
            <a:avLst>
              <a:gd name="adj" fmla="val 7273"/>
            </a:avLst>
          </a:prstGeom>
          <a:solidFill>
            <a:srgbClr val="F8F8F8"/>
          </a:solidFill>
          <a:ln w="13970">
            <a:solidFill>
              <a:srgbClr val="111111"/>
            </a:solidFill>
            <a:prstDash val="solid"/>
          </a:ln>
        </p:spPr>
        <p:txBody>
          <a:bodyPr lIns="27432" tIns="18288" rIns="27432" bIns="18288"/>
          <a:lstStyle/>
          <a:p>
            <a:pPr>
              <a:defRPr>
                <a:latin typeface="Arial"/>
              </a:defRPr>
            </a:pPr>
            <a:endParaRPr>
              <a:latin typeface="+mj-lt"/>
            </a:endParaRPr>
          </a:p>
        </p:txBody>
      </p:sp>
      <p:sp>
        <p:nvSpPr>
          <p:cNvPr id="5" name="Text 3"/>
          <p:cNvSpPr/>
          <p:nvPr/>
        </p:nvSpPr>
        <p:spPr>
          <a:xfrm>
            <a:off x="667512" y="1371600"/>
            <a:ext cx="1819656" cy="256032"/>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800" b="1" dirty="0">
                <a:solidFill>
                  <a:srgbClr val="000000"/>
                </a:solidFill>
                <a:latin typeface="Arial"/>
                <a:ea typeface="Arial" pitchFamily="34" charset="-122"/>
                <a:cs typeface="Arial" panose="020B0604020202020204" pitchFamily="34" charset="0"/>
              </a:rPr>
              <a:t>MNIST subset</a:t>
            </a:r>
            <a:endParaRPr lang="en-US" dirty="0">
              <a:latin typeface="+mj-lt"/>
              <a:cs typeface="Arial" panose="020B0604020202020204" pitchFamily="34" charset="0"/>
            </a:endParaRPr>
          </a:p>
        </p:txBody>
      </p:sp>
      <p:sp>
        <p:nvSpPr>
          <p:cNvPr id="6" name="Text 4"/>
          <p:cNvSpPr/>
          <p:nvPr/>
        </p:nvSpPr>
        <p:spPr>
          <a:xfrm>
            <a:off x="704088" y="1709928"/>
            <a:ext cx="1746504" cy="411480"/>
          </a:xfrm>
          <a:prstGeom prst="rect">
            <a:avLst/>
          </a:prstGeom>
          <a:noFill/>
          <a:ln/>
        </p:spPr>
        <p:txBody>
          <a:bodyPr wrap="square" lIns="27432" tIns="18288" rIns="27432" bIns="18288" rtlCol="0" anchor="ctr">
            <a:normAutofit fontScale="92500"/>
          </a:bodyPr>
          <a:lstStyle/>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part of training data</a:t>
            </a:r>
            <a:endParaRPr lang="en-US" sz="1300" dirty="0">
              <a:latin typeface="+mj-lt"/>
              <a:cs typeface="Arial" panose="020B0604020202020204" pitchFamily="34" charset="0"/>
            </a:endParaRPr>
          </a:p>
        </p:txBody>
      </p:sp>
      <p:sp>
        <p:nvSpPr>
          <p:cNvPr id="7" name="Shape 5"/>
          <p:cNvSpPr/>
          <p:nvPr/>
        </p:nvSpPr>
        <p:spPr>
          <a:xfrm>
            <a:off x="2999232" y="1234440"/>
            <a:ext cx="2057400" cy="1005840"/>
          </a:xfrm>
          <a:prstGeom prst="roundRect">
            <a:avLst>
              <a:gd name="adj" fmla="val 7273"/>
            </a:avLst>
          </a:prstGeom>
          <a:solidFill>
            <a:srgbClr val="F8F8F8"/>
          </a:solidFill>
          <a:ln w="13970">
            <a:solidFill>
              <a:srgbClr val="111111"/>
            </a:solidFill>
            <a:prstDash val="solid"/>
          </a:ln>
        </p:spPr>
        <p:txBody>
          <a:bodyPr lIns="27432" tIns="18288" rIns="27432" bIns="18288"/>
          <a:lstStyle/>
          <a:p>
            <a:pPr>
              <a:defRPr>
                <a:latin typeface="Arial"/>
              </a:defRPr>
            </a:pPr>
            <a:endParaRPr>
              <a:latin typeface="+mj-lt"/>
            </a:endParaRPr>
          </a:p>
        </p:txBody>
      </p:sp>
      <p:sp>
        <p:nvSpPr>
          <p:cNvPr id="8" name="Text 6"/>
          <p:cNvSpPr/>
          <p:nvPr/>
        </p:nvSpPr>
        <p:spPr>
          <a:xfrm>
            <a:off x="3072384" y="1371600"/>
            <a:ext cx="1911096" cy="256032"/>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800" b="1" dirty="0">
                <a:solidFill>
                  <a:srgbClr val="000000"/>
                </a:solidFill>
                <a:latin typeface="Arial"/>
                <a:ea typeface="Arial" pitchFamily="34" charset="-122"/>
                <a:cs typeface="Arial" panose="020B0604020202020204" pitchFamily="34" charset="0"/>
              </a:rPr>
              <a:t>Sub-model</a:t>
            </a:r>
            <a:endParaRPr lang="en-US" dirty="0">
              <a:latin typeface="+mj-lt"/>
              <a:cs typeface="Arial" panose="020B0604020202020204" pitchFamily="34" charset="0"/>
            </a:endParaRPr>
          </a:p>
        </p:txBody>
      </p:sp>
      <p:sp>
        <p:nvSpPr>
          <p:cNvPr id="9" name="Text 7"/>
          <p:cNvSpPr/>
          <p:nvPr/>
        </p:nvSpPr>
        <p:spPr>
          <a:xfrm>
            <a:off x="3108960" y="1709928"/>
            <a:ext cx="1837944" cy="411480"/>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one independently</a:t>
            </a:r>
            <a:endParaRPr lang="en-US" sz="1300" dirty="0">
              <a:latin typeface="+mj-lt"/>
              <a:cs typeface="Arial" panose="020B0604020202020204" pitchFamily="34" charset="0"/>
            </a:endParaRPr>
          </a:p>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trained SNN</a:t>
            </a:r>
            <a:endParaRPr lang="en-US" sz="1300" dirty="0">
              <a:latin typeface="+mj-lt"/>
              <a:cs typeface="Arial" panose="020B0604020202020204" pitchFamily="34" charset="0"/>
            </a:endParaRPr>
          </a:p>
        </p:txBody>
      </p:sp>
      <p:sp>
        <p:nvSpPr>
          <p:cNvPr id="10" name="Shape 8"/>
          <p:cNvSpPr/>
          <p:nvPr/>
        </p:nvSpPr>
        <p:spPr>
          <a:xfrm>
            <a:off x="5532120" y="1234440"/>
            <a:ext cx="1874520" cy="1005840"/>
          </a:xfrm>
          <a:prstGeom prst="roundRect">
            <a:avLst>
              <a:gd name="adj" fmla="val 7273"/>
            </a:avLst>
          </a:prstGeom>
          <a:solidFill>
            <a:srgbClr val="F8F8F8"/>
          </a:solidFill>
          <a:ln w="13970">
            <a:solidFill>
              <a:srgbClr val="111111"/>
            </a:solidFill>
            <a:prstDash val="solid"/>
          </a:ln>
        </p:spPr>
        <p:txBody>
          <a:bodyPr lIns="27432" tIns="18288" rIns="27432" bIns="18288"/>
          <a:lstStyle/>
          <a:p>
            <a:pPr>
              <a:defRPr>
                <a:latin typeface="Arial"/>
              </a:defRPr>
            </a:pPr>
            <a:endParaRPr>
              <a:latin typeface="+mj-lt"/>
            </a:endParaRPr>
          </a:p>
        </p:txBody>
      </p:sp>
      <p:sp>
        <p:nvSpPr>
          <p:cNvPr id="11" name="Text 9"/>
          <p:cNvSpPr/>
          <p:nvPr/>
        </p:nvSpPr>
        <p:spPr>
          <a:xfrm>
            <a:off x="5605272" y="1371600"/>
            <a:ext cx="1728216" cy="256032"/>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800" b="1" dirty="0">
                <a:solidFill>
                  <a:srgbClr val="000000"/>
                </a:solidFill>
                <a:latin typeface="Arial"/>
                <a:ea typeface="Arial" pitchFamily="34" charset="-122"/>
                <a:cs typeface="Arial" panose="020B0604020202020204" pitchFamily="34" charset="0"/>
              </a:rPr>
              <a:t>Sender VM</a:t>
            </a:r>
            <a:endParaRPr lang="en-US" dirty="0">
              <a:latin typeface="+mj-lt"/>
              <a:cs typeface="Arial" panose="020B0604020202020204" pitchFamily="34" charset="0"/>
            </a:endParaRPr>
          </a:p>
        </p:txBody>
      </p:sp>
      <p:sp>
        <p:nvSpPr>
          <p:cNvPr id="12" name="Text 10"/>
          <p:cNvSpPr/>
          <p:nvPr/>
        </p:nvSpPr>
        <p:spPr>
          <a:xfrm>
            <a:off x="5641848" y="1709928"/>
            <a:ext cx="1655064" cy="411480"/>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stores one</a:t>
            </a:r>
            <a:endParaRPr lang="en-US" sz="1300" dirty="0">
              <a:latin typeface="+mj-lt"/>
              <a:cs typeface="Arial" panose="020B0604020202020204" pitchFamily="34" charset="0"/>
            </a:endParaRPr>
          </a:p>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sub-model</a:t>
            </a:r>
            <a:endParaRPr lang="en-US" sz="1300" dirty="0">
              <a:latin typeface="+mj-lt"/>
              <a:cs typeface="Arial" panose="020B0604020202020204" pitchFamily="34" charset="0"/>
            </a:endParaRPr>
          </a:p>
        </p:txBody>
      </p:sp>
      <p:sp>
        <p:nvSpPr>
          <p:cNvPr id="13" name="Shape 11"/>
          <p:cNvSpPr/>
          <p:nvPr/>
        </p:nvSpPr>
        <p:spPr>
          <a:xfrm>
            <a:off x="7909560" y="1234440"/>
            <a:ext cx="2240280" cy="1005840"/>
          </a:xfrm>
          <a:prstGeom prst="roundRect">
            <a:avLst>
              <a:gd name="adj" fmla="val 7273"/>
            </a:avLst>
          </a:prstGeom>
          <a:solidFill>
            <a:srgbClr val="F8F8F8"/>
          </a:solidFill>
          <a:ln w="13970">
            <a:solidFill>
              <a:srgbClr val="111111"/>
            </a:solidFill>
            <a:prstDash val="solid"/>
          </a:ln>
        </p:spPr>
        <p:txBody>
          <a:bodyPr lIns="27432" tIns="18288" rIns="27432" bIns="18288"/>
          <a:lstStyle/>
          <a:p>
            <a:pPr>
              <a:defRPr>
                <a:latin typeface="Arial"/>
              </a:defRPr>
            </a:pPr>
            <a:endParaRPr>
              <a:latin typeface="+mj-lt"/>
            </a:endParaRPr>
          </a:p>
        </p:txBody>
      </p:sp>
      <p:sp>
        <p:nvSpPr>
          <p:cNvPr id="14" name="Text 12"/>
          <p:cNvSpPr/>
          <p:nvPr/>
        </p:nvSpPr>
        <p:spPr>
          <a:xfrm>
            <a:off x="7982712" y="1371600"/>
            <a:ext cx="2093976" cy="256032"/>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800" b="1" dirty="0">
                <a:solidFill>
                  <a:srgbClr val="000000"/>
                </a:solidFill>
                <a:latin typeface="Arial"/>
                <a:ea typeface="Arial" pitchFamily="34" charset="-122"/>
                <a:cs typeface="Arial" panose="020B0604020202020204" pitchFamily="34" charset="0"/>
              </a:rPr>
              <a:t>Receiver</a:t>
            </a:r>
            <a:endParaRPr lang="en-US" dirty="0">
              <a:latin typeface="+mj-lt"/>
              <a:cs typeface="Arial" panose="020B0604020202020204" pitchFamily="34" charset="0"/>
            </a:endParaRPr>
          </a:p>
        </p:txBody>
      </p:sp>
      <p:sp>
        <p:nvSpPr>
          <p:cNvPr id="15" name="Text 13"/>
          <p:cNvSpPr/>
          <p:nvPr/>
        </p:nvSpPr>
        <p:spPr>
          <a:xfrm>
            <a:off x="8019288" y="1709928"/>
            <a:ext cx="2020824" cy="411480"/>
          </a:xfrm>
          <a:prstGeom prst="rect">
            <a:avLst/>
          </a:prstGeom>
          <a:noFill/>
          <a:ln/>
        </p:spPr>
        <p:txBody>
          <a:bodyPr wrap="square" lIns="27432" tIns="18288" rIns="27432" bIns="18288" rtlCol="0" anchor="ctr">
            <a:normAutofit fontScale="92500" lnSpcReduction="20000"/>
          </a:bodyPr>
          <a:lstStyle/>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merge, compress,</a:t>
            </a:r>
            <a:endParaRPr lang="en-US" sz="1300" dirty="0">
              <a:latin typeface="+mj-lt"/>
              <a:cs typeface="Arial" panose="020B0604020202020204" pitchFamily="34" charset="0"/>
            </a:endParaRPr>
          </a:p>
          <a:p>
            <a:pPr marL="0" indent="0" algn="ctr">
              <a:buNone/>
              <a:defRPr>
                <a:latin typeface="Arial"/>
              </a:defRPr>
            </a:pPr>
            <a:r>
              <a:rPr lang="en-US" sz="1600" b="0" dirty="0">
                <a:solidFill>
                  <a:srgbClr val="000000"/>
                </a:solidFill>
                <a:latin typeface="Arial"/>
                <a:ea typeface="Arial" pitchFamily="34" charset="-122"/>
                <a:cs typeface="Arial" panose="020B0604020202020204" pitchFamily="34" charset="0"/>
              </a:rPr>
              <a:t>and evaluate</a:t>
            </a:r>
            <a:endParaRPr lang="en-US" sz="1300" dirty="0">
              <a:latin typeface="+mj-lt"/>
              <a:cs typeface="Arial" panose="020B0604020202020204" pitchFamily="34" charset="0"/>
            </a:endParaRPr>
          </a:p>
        </p:txBody>
      </p:sp>
      <p:sp>
        <p:nvSpPr>
          <p:cNvPr id="16" name="Shape 14"/>
          <p:cNvSpPr/>
          <p:nvPr/>
        </p:nvSpPr>
        <p:spPr>
          <a:xfrm>
            <a:off x="2606040" y="1737360"/>
            <a:ext cx="320040" cy="0"/>
          </a:xfrm>
          <a:prstGeom prst="line">
            <a:avLst/>
          </a:prstGeom>
          <a:noFill/>
          <a:ln w="16510">
            <a:solidFill>
              <a:srgbClr val="111111"/>
            </a:solidFill>
            <a:prstDash val="solid"/>
            <a:headEnd type="none"/>
            <a:tailEnd type="triangle"/>
          </a:ln>
        </p:spPr>
        <p:txBody>
          <a:bodyPr lIns="27432" tIns="18288" rIns="27432" bIns="18288"/>
          <a:lstStyle/>
          <a:p>
            <a:pPr>
              <a:defRPr>
                <a:latin typeface="Arial"/>
              </a:defRPr>
            </a:pPr>
            <a:endParaRPr>
              <a:latin typeface="+mj-lt"/>
            </a:endParaRPr>
          </a:p>
        </p:txBody>
      </p:sp>
      <p:sp>
        <p:nvSpPr>
          <p:cNvPr id="17" name="Shape 15"/>
          <p:cNvSpPr/>
          <p:nvPr/>
        </p:nvSpPr>
        <p:spPr>
          <a:xfrm>
            <a:off x="5102352" y="1737360"/>
            <a:ext cx="356616" cy="0"/>
          </a:xfrm>
          <a:prstGeom prst="line">
            <a:avLst/>
          </a:prstGeom>
          <a:noFill/>
          <a:ln w="16510">
            <a:solidFill>
              <a:srgbClr val="111111"/>
            </a:solidFill>
            <a:prstDash val="solid"/>
            <a:headEnd type="none"/>
            <a:tailEnd type="triangle"/>
          </a:ln>
        </p:spPr>
        <p:txBody>
          <a:bodyPr lIns="27432" tIns="18288" rIns="27432" bIns="18288"/>
          <a:lstStyle/>
          <a:p>
            <a:pPr>
              <a:defRPr>
                <a:latin typeface="Arial"/>
              </a:defRPr>
            </a:pPr>
            <a:endParaRPr>
              <a:latin typeface="+mj-lt"/>
            </a:endParaRPr>
          </a:p>
        </p:txBody>
      </p:sp>
      <p:sp>
        <p:nvSpPr>
          <p:cNvPr id="18" name="Shape 16"/>
          <p:cNvSpPr/>
          <p:nvPr/>
        </p:nvSpPr>
        <p:spPr>
          <a:xfrm>
            <a:off x="7452360" y="1737360"/>
            <a:ext cx="365760" cy="0"/>
          </a:xfrm>
          <a:prstGeom prst="line">
            <a:avLst/>
          </a:prstGeom>
          <a:noFill/>
          <a:ln w="16510">
            <a:solidFill>
              <a:srgbClr val="111111"/>
            </a:solidFill>
            <a:prstDash val="solid"/>
            <a:headEnd type="none"/>
            <a:tailEnd type="triangle"/>
          </a:ln>
        </p:spPr>
        <p:txBody>
          <a:bodyPr lIns="27432" tIns="18288" rIns="27432" bIns="18288"/>
          <a:lstStyle/>
          <a:p>
            <a:pPr>
              <a:defRPr>
                <a:latin typeface="Arial"/>
              </a:defRPr>
            </a:pPr>
            <a:endParaRPr>
              <a:latin typeface="+mj-lt"/>
            </a:endParaRPr>
          </a:p>
        </p:txBody>
      </p:sp>
      <p:sp>
        <p:nvSpPr>
          <p:cNvPr id="19" name="Shape 17"/>
          <p:cNvSpPr/>
          <p:nvPr/>
        </p:nvSpPr>
        <p:spPr>
          <a:xfrm>
            <a:off x="1639389" y="2670048"/>
            <a:ext cx="8510451" cy="2390826"/>
          </a:xfrm>
          <a:prstGeom prst="roundRect">
            <a:avLst>
              <a:gd name="adj" fmla="val 5814"/>
            </a:avLst>
          </a:prstGeom>
          <a:solidFill>
            <a:srgbClr val="F2F2F2"/>
          </a:solidFill>
          <a:ln w="10160">
            <a:solidFill>
              <a:srgbClr val="CFCFCF"/>
            </a:solidFill>
            <a:prstDash val="solid"/>
          </a:ln>
        </p:spPr>
        <p:txBody>
          <a:bodyPr lIns="27432" tIns="18288" rIns="27432" bIns="18288"/>
          <a:lstStyle/>
          <a:p>
            <a:pPr>
              <a:defRPr>
                <a:latin typeface="Arial"/>
              </a:defRPr>
            </a:pPr>
            <a:endParaRPr>
              <a:latin typeface="+mj-lt"/>
            </a:endParaRPr>
          </a:p>
        </p:txBody>
      </p:sp>
      <p:sp>
        <p:nvSpPr>
          <p:cNvPr id="20" name="Text 18"/>
          <p:cNvSpPr/>
          <p:nvPr/>
        </p:nvSpPr>
        <p:spPr>
          <a:xfrm>
            <a:off x="2340864" y="2775204"/>
            <a:ext cx="6940296" cy="502920"/>
          </a:xfrm>
          <a:prstGeom prst="rect">
            <a:avLst/>
          </a:prstGeom>
          <a:noFill/>
          <a:ln/>
        </p:spPr>
        <p:txBody>
          <a:bodyPr wrap="square" lIns="27432" tIns="18288" rIns="27432" bIns="18288" rtlCol="0" anchor="ctr">
            <a:noAutofit/>
          </a:bodyPr>
          <a:lstStyle/>
          <a:p>
            <a:pPr marL="0" indent="0" algn="l">
              <a:buNone/>
              <a:defRPr>
                <a:latin typeface="Arial"/>
              </a:defRPr>
            </a:pPr>
            <a:r>
              <a:rPr lang="en-US" sz="2200" b="1" dirty="0">
                <a:solidFill>
                  <a:srgbClr val="000000"/>
                </a:solidFill>
                <a:latin typeface="Arial"/>
                <a:ea typeface="Arial" pitchFamily="34" charset="-122"/>
                <a:cs typeface="Arial" panose="020B0604020202020204" pitchFamily="34" charset="0"/>
              </a:rPr>
              <a:t>Transferred as three files:</a:t>
            </a:r>
            <a:endParaRPr lang="en-US" sz="3000" dirty="0">
              <a:latin typeface="+mj-lt"/>
              <a:cs typeface="Arial" panose="020B0604020202020204" pitchFamily="34" charset="0"/>
            </a:endParaRPr>
          </a:p>
        </p:txBody>
      </p:sp>
      <p:sp>
        <p:nvSpPr>
          <p:cNvPr id="21" name="Text 19"/>
          <p:cNvSpPr/>
          <p:nvPr/>
        </p:nvSpPr>
        <p:spPr>
          <a:xfrm>
            <a:off x="2743200" y="3241548"/>
            <a:ext cx="6135624" cy="411480"/>
          </a:xfrm>
          <a:prstGeom prst="rect">
            <a:avLst/>
          </a:prstGeom>
          <a:noFill/>
          <a:ln/>
        </p:spPr>
        <p:txBody>
          <a:bodyPr wrap="square" lIns="27432" tIns="18288" rIns="27432" bIns="18288" rtlCol="0" anchor="ctr">
            <a:no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model_*.pth</a:t>
            </a:r>
            <a:endParaRPr lang="en-US" sz="3000" dirty="0">
              <a:latin typeface="+mj-lt"/>
              <a:cs typeface="Arial" panose="020B0604020202020204" pitchFamily="34" charset="0"/>
            </a:endParaRPr>
          </a:p>
        </p:txBody>
      </p:sp>
      <p:sp>
        <p:nvSpPr>
          <p:cNvPr id="22" name="Text 20"/>
          <p:cNvSpPr/>
          <p:nvPr/>
        </p:nvSpPr>
        <p:spPr>
          <a:xfrm>
            <a:off x="2743200" y="3735324"/>
            <a:ext cx="6135624" cy="411480"/>
          </a:xfrm>
          <a:prstGeom prst="rect">
            <a:avLst/>
          </a:prstGeom>
          <a:noFill/>
          <a:ln/>
        </p:spPr>
        <p:txBody>
          <a:bodyPr wrap="square" lIns="27432" tIns="18288" rIns="27432" bIns="18288" rtlCol="0" anchor="ctr">
            <a:no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assignments_*.pth</a:t>
            </a:r>
            <a:endParaRPr lang="en-US" sz="3000" dirty="0">
              <a:latin typeface="+mj-lt"/>
              <a:cs typeface="Arial" panose="020B0604020202020204" pitchFamily="34" charset="0"/>
            </a:endParaRPr>
          </a:p>
        </p:txBody>
      </p:sp>
      <p:sp>
        <p:nvSpPr>
          <p:cNvPr id="23" name="Text 21"/>
          <p:cNvSpPr/>
          <p:nvPr/>
        </p:nvSpPr>
        <p:spPr>
          <a:xfrm>
            <a:off x="2743200" y="4229100"/>
            <a:ext cx="6135624" cy="411480"/>
          </a:xfrm>
          <a:prstGeom prst="rect">
            <a:avLst/>
          </a:prstGeom>
          <a:noFill/>
          <a:ln/>
        </p:spPr>
        <p:txBody>
          <a:bodyPr wrap="square" lIns="27432" tIns="18288" rIns="27432" bIns="18288" rtlCol="0" anchor="ctr">
            <a:no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proportions_*.pth</a:t>
            </a:r>
            <a:endParaRPr lang="en-US" sz="3000" dirty="0">
              <a:latin typeface="+mj-lt"/>
              <a:cs typeface="Arial" panose="020B0604020202020204" pitchFamily="34" charset="0"/>
            </a:endParaRPr>
          </a:p>
        </p:txBody>
      </p:sp>
      <p:sp>
        <p:nvSpPr>
          <p:cNvPr id="24" name="Shape 22"/>
          <p:cNvSpPr/>
          <p:nvPr/>
        </p:nvSpPr>
        <p:spPr>
          <a:xfrm>
            <a:off x="4027932" y="2253996"/>
            <a:ext cx="0" cy="416052"/>
          </a:xfrm>
          <a:prstGeom prst="line">
            <a:avLst/>
          </a:prstGeom>
          <a:noFill/>
          <a:ln w="11430">
            <a:solidFill>
              <a:srgbClr val="CFCFCF"/>
            </a:solidFill>
            <a:prstDash val="solid"/>
          </a:ln>
        </p:spPr>
        <p:txBody>
          <a:bodyPr lIns="27432" tIns="18288" rIns="27432" bIns="18288"/>
          <a:lstStyle/>
          <a:p>
            <a:pPr>
              <a:defRPr>
                <a:latin typeface="Arial"/>
              </a:defRPr>
            </a:pPr>
            <a:endParaRPr>
              <a:latin typeface="+mj-lt"/>
            </a:endParaRPr>
          </a:p>
        </p:txBody>
      </p:sp>
      <p:sp>
        <p:nvSpPr>
          <p:cNvPr id="28" name="Text 26"/>
          <p:cNvSpPr/>
          <p:nvPr/>
        </p:nvSpPr>
        <p:spPr>
          <a:xfrm>
            <a:off x="8031481" y="822960"/>
            <a:ext cx="3581399" cy="2186332"/>
          </a:xfrm>
          <a:prstGeom prst="rect">
            <a:avLst/>
          </a:prstGeom>
          <a:noFill/>
          <a:ln/>
        </p:spPr>
        <p:txBody>
          <a:bodyPr wrap="square" lIns="27432" tIns="18288" rIns="27432" bIns="18288" rtlCol="0" anchor="ctr">
            <a:noAutofit/>
          </a:bodyPr>
          <a:lstStyle/>
          <a:p>
            <a:pPr marL="0" indent="0" algn="l">
              <a:buNone/>
              <a:defRPr>
                <a:latin typeface="Arial"/>
              </a:defRPr>
            </a:pPr>
            <a:endParaRPr lang="en-US" sz="3000" dirty="0">
              <a:latin typeface="Arial" panose="020B0604020202020204" pitchFamily="34" charset="0"/>
              <a:cs typeface="Arial" panose="020B0604020202020204" pitchFamily="34" charset="0"/>
            </a:endParaRPr>
          </a:p>
        </p:txBody>
      </p:sp>
      <p:sp>
        <p:nvSpPr>
          <p:cNvPr id="32" name="TextBox 31"/>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dirty="0">
                <a:solidFill>
                  <a:srgbClr val="000000"/>
                </a:solidFill>
                <a:latin typeface="Arial"/>
              </a:rPr>
              <a:t>Table of Contents</a:t>
            </a:r>
          </a:p>
        </p:txBody>
      </p:sp>
      <p:sp>
        <p:nvSpPr>
          <p:cNvPr id="3" name="TextBox 2"/>
          <p:cNvSpPr txBox="1"/>
          <p:nvPr/>
        </p:nvSpPr>
        <p:spPr>
          <a:xfrm>
            <a:off x="594360" y="160020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1. Introduction</a:t>
            </a:r>
          </a:p>
        </p:txBody>
      </p:sp>
      <p:sp>
        <p:nvSpPr>
          <p:cNvPr id="4" name="TextBox 3"/>
          <p:cNvSpPr txBox="1"/>
          <p:nvPr/>
        </p:nvSpPr>
        <p:spPr>
          <a:xfrm>
            <a:off x="594360" y="233172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2. Proposal</a:t>
            </a:r>
          </a:p>
        </p:txBody>
      </p:sp>
      <p:sp>
        <p:nvSpPr>
          <p:cNvPr id="5" name="TextBox 4"/>
          <p:cNvSpPr txBox="1"/>
          <p:nvPr/>
        </p:nvSpPr>
        <p:spPr>
          <a:xfrm>
            <a:off x="594360" y="306324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1">
                <a:solidFill>
                  <a:srgbClr val="000000"/>
                </a:solidFill>
                <a:latin typeface="Arial"/>
              </a:rPr>
              <a:t>3. Evaluation</a:t>
            </a:r>
          </a:p>
        </p:txBody>
      </p:sp>
      <p:sp>
        <p:nvSpPr>
          <p:cNvPr id="6" name="TextBox 5"/>
          <p:cNvSpPr txBox="1"/>
          <p:nvPr/>
        </p:nvSpPr>
        <p:spPr>
          <a:xfrm>
            <a:off x="594360" y="379476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4. Conclusion</a:t>
            </a:r>
          </a:p>
        </p:txBody>
      </p:sp>
      <p:sp>
        <p:nvSpPr>
          <p:cNvPr id="7" name="TextBox 6"/>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38A4238-46E5-BE47-E161-CE3CD628D7DD}"/>
              </a:ext>
            </a:extLst>
          </p:cNvPr>
          <p:cNvSpPr txBox="1"/>
          <p:nvPr/>
        </p:nvSpPr>
        <p:spPr>
          <a:xfrm>
            <a:off x="502920" y="292608"/>
            <a:ext cx="11109960" cy="502920"/>
          </a:xfrm>
          <a:prstGeom prst="rect">
            <a:avLst/>
          </a:prstGeom>
          <a:noFill/>
          <a:ln>
            <a:noFill/>
          </a:ln>
        </p:spPr>
        <p:txBody>
          <a:bodyPr wrap="none" lIns="27432" tIns="18288" rIns="27432" bIns="18288" rtlCol="0">
            <a:spAutoFit/>
          </a:bodyPr>
          <a:lstStyle/>
          <a:p>
            <a:pPr algn="l">
              <a:defRPr sz="2800" b="1">
                <a:solidFill>
                  <a:srgbClr val="000000"/>
                </a:solidFill>
                <a:latin typeface="Arial"/>
              </a:defRPr>
            </a:pPr>
            <a:r>
              <a:rPr kumimoji="1" lang="en-US" altLang="ja-JP" sz="2800" b="1" dirty="0">
                <a:solidFill>
                  <a:srgbClr val="000000"/>
                </a:solidFill>
                <a:latin typeface="Arial"/>
              </a:rPr>
              <a:t>Evaluation Objectives</a:t>
            </a:r>
            <a:endParaRPr kumimoji="1" lang="ja-JP" altLang="en-US" sz="2800" b="1" dirty="0">
              <a:latin typeface="+mj-lt"/>
            </a:endParaRPr>
          </a:p>
        </p:txBody>
      </p:sp>
      <p:sp>
        <p:nvSpPr>
          <p:cNvPr id="6" name="テキスト ボックス 5">
            <a:extLst>
              <a:ext uri="{FF2B5EF4-FFF2-40B4-BE49-F238E27FC236}">
                <a16:creationId xmlns:a16="http://schemas.microsoft.com/office/drawing/2014/main" id="{1034D901-B6CB-5066-62C7-BD6C49CF83A5}"/>
              </a:ext>
            </a:extLst>
          </p:cNvPr>
          <p:cNvSpPr txBox="1"/>
          <p:nvPr/>
        </p:nvSpPr>
        <p:spPr>
          <a:xfrm>
            <a:off x="594360" y="1417320"/>
            <a:ext cx="5349240" cy="4942016"/>
          </a:xfrm>
          <a:prstGeom prst="rect">
            <a:avLst/>
          </a:prstGeom>
          <a:noFill/>
        </p:spPr>
        <p:txBody>
          <a:bodyPr wrap="square" lIns="27432" tIns="18288" rIns="27432" bIns="18288" rtlCol="0">
            <a:spAutoFit/>
          </a:bodyPr>
          <a:lstStyle/>
          <a:p>
            <a:pPr marL="457200" indent="-457200">
              <a:buFont typeface="Arial" panose="020B0604020202020204" pitchFamily="34" charset="0"/>
              <a:buChar char="•"/>
              <a:defRPr>
                <a:latin typeface="Arial"/>
              </a:defRPr>
            </a:pPr>
            <a:r>
              <a:rPr kumimoji="1" lang="en-US" altLang="ja-JP" sz="2200" b="1" dirty="0">
                <a:solidFill>
                  <a:srgbClr val="000000"/>
                </a:solidFill>
                <a:latin typeface="Arial"/>
              </a:rPr>
              <a:t>Workflow feasibility</a:t>
            </a:r>
          </a:p>
          <a:p>
            <a:pPr>
              <a:defRPr>
                <a:latin typeface="Arial"/>
              </a:defRPr>
            </a:pPr>
            <a:r>
              <a:rPr kumimoji="1" lang="ja-JP" altLang="en-US" sz="1800" b="0" dirty="0">
                <a:solidFill>
                  <a:srgbClr val="000000"/>
                </a:solidFill>
                <a:latin typeface="Arial"/>
              </a:rPr>
              <a:t>　   →</a:t>
            </a:r>
            <a:r>
              <a:rPr lang="ja-JP" altLang="ja-JP" sz="1800" b="0" dirty="0">
                <a:solidFill>
                  <a:srgbClr val="000000"/>
                </a:solidFill>
                <a:latin typeface="Arial"/>
              </a:rPr>
              <a:t>Model Transfer and Integration</a:t>
            </a:r>
            <a:endParaRPr kumimoji="1" lang="en-US" altLang="ja-JP" sz="2000" b="1" dirty="0">
              <a:latin typeface="+mj-lt"/>
            </a:endParaRPr>
          </a:p>
          <a:p>
            <a:pPr marL="457200" indent="-457200">
              <a:buFont typeface="Arial" panose="020B0604020202020204" pitchFamily="34" charset="0"/>
              <a:buChar char="•"/>
              <a:defRPr>
                <a:latin typeface="Arial"/>
              </a:defRPr>
            </a:pPr>
            <a:endParaRPr kumimoji="1" lang="en-US" altLang="ja-JP" sz="2600" b="1" dirty="0">
              <a:latin typeface="+mj-lt"/>
            </a:endParaRPr>
          </a:p>
          <a:p>
            <a:pPr marL="457200" indent="-457200">
              <a:buFont typeface="Arial" panose="020B0604020202020204" pitchFamily="34" charset="0"/>
              <a:buChar char="•"/>
              <a:defRPr>
                <a:latin typeface="Arial"/>
              </a:defRPr>
            </a:pPr>
            <a:r>
              <a:rPr kumimoji="1" lang="en-US" altLang="ja-JP" sz="2200" b="1" dirty="0">
                <a:solidFill>
                  <a:srgbClr val="000000"/>
                </a:solidFill>
                <a:latin typeface="Arial"/>
              </a:rPr>
              <a:t>Workflow completion time </a:t>
            </a:r>
          </a:p>
          <a:p>
            <a:pPr>
              <a:defRPr>
                <a:latin typeface="Arial"/>
              </a:defRPr>
            </a:pPr>
            <a:r>
              <a:rPr lang="en-US" altLang="ja-JP" sz="1800" b="0" dirty="0">
                <a:solidFill>
                  <a:srgbClr val="000000"/>
                </a:solidFill>
                <a:latin typeface="Arial"/>
              </a:rPr>
              <a:t>       </a:t>
            </a:r>
            <a:r>
              <a:rPr lang="ja-JP" altLang="ja-JP" sz="1800" b="0" dirty="0">
                <a:solidFill>
                  <a:srgbClr val="000000"/>
                </a:solidFill>
                <a:latin typeface="Arial"/>
              </a:rPr>
              <a:t>→ Sequential vs. Concurrent</a:t>
            </a:r>
            <a:r>
              <a:rPr lang="en-US" altLang="ja-JP" sz="1800" b="0" dirty="0">
                <a:solidFill>
                  <a:srgbClr val="000000"/>
                </a:solidFill>
                <a:latin typeface="Arial"/>
              </a:rPr>
              <a:t> </a:t>
            </a:r>
            <a:br>
              <a:rPr lang="ja-JP" altLang="ja-JP" sz="2000" dirty="0">
                <a:latin typeface="+mj-lt"/>
              </a:rPr>
            </a:br>
            <a:r>
              <a:rPr lang="en-US" altLang="ja-JP" sz="1800" b="0" dirty="0">
                <a:solidFill>
                  <a:srgbClr val="000000"/>
                </a:solidFill>
                <a:latin typeface="Arial"/>
              </a:rPr>
              <a:t>       </a:t>
            </a:r>
            <a:r>
              <a:rPr lang="ja-JP" altLang="ja-JP" sz="1800" b="0" dirty="0">
                <a:solidFill>
                  <a:srgbClr val="000000"/>
                </a:solidFill>
                <a:latin typeface="Arial"/>
              </a:rPr>
              <a:t>→ Controlled Straggler</a:t>
            </a:r>
            <a:br>
              <a:rPr lang="ja-JP" altLang="ja-JP" sz="2000" dirty="0">
                <a:latin typeface="+mj-lt"/>
              </a:rPr>
            </a:br>
            <a:r>
              <a:rPr lang="en-US" altLang="ja-JP" sz="1800" b="0" dirty="0">
                <a:solidFill>
                  <a:srgbClr val="000000"/>
                </a:solidFill>
                <a:latin typeface="Arial"/>
              </a:rPr>
              <a:t>       </a:t>
            </a:r>
            <a:r>
              <a:rPr lang="ja-JP" altLang="ja-JP" sz="1800" b="0" dirty="0">
                <a:solidFill>
                  <a:srgbClr val="000000"/>
                </a:solidFill>
                <a:latin typeface="Arial"/>
              </a:rPr>
              <a:t>→ Arrival Skew</a:t>
            </a:r>
            <a:endParaRPr kumimoji="1" lang="en-US" altLang="ja-JP" sz="2000" b="1" dirty="0">
              <a:latin typeface="+mj-lt"/>
            </a:endParaRPr>
          </a:p>
          <a:p>
            <a:pPr marL="457200" indent="-457200">
              <a:buFont typeface="Arial" panose="020B0604020202020204" pitchFamily="34" charset="0"/>
              <a:buChar char="•"/>
              <a:defRPr>
                <a:latin typeface="Arial"/>
              </a:defRPr>
            </a:pPr>
            <a:endParaRPr kumimoji="1" lang="en-US" altLang="ja-JP" sz="2600" b="1" dirty="0">
              <a:latin typeface="+mj-lt"/>
            </a:endParaRPr>
          </a:p>
          <a:p>
            <a:pPr marL="457200" indent="-457200">
              <a:buFont typeface="Arial" panose="020B0604020202020204" pitchFamily="34" charset="0"/>
              <a:buChar char="•"/>
              <a:defRPr>
                <a:latin typeface="Arial"/>
              </a:defRPr>
            </a:pPr>
            <a:r>
              <a:rPr kumimoji="1" lang="en-US" altLang="ja-JP" sz="2200" b="1" dirty="0">
                <a:solidFill>
                  <a:srgbClr val="000000"/>
                </a:solidFill>
                <a:latin typeface="Arial"/>
              </a:rPr>
              <a:t>Receiver-side processing</a:t>
            </a:r>
          </a:p>
          <a:p>
            <a:pPr>
              <a:defRPr>
                <a:latin typeface="Arial"/>
              </a:defRPr>
            </a:pPr>
            <a:r>
              <a:rPr lang="en-US" altLang="ja-JP" sz="1800" b="0" dirty="0">
                <a:solidFill>
                  <a:srgbClr val="000000"/>
                </a:solidFill>
                <a:latin typeface="Arial"/>
              </a:rPr>
              <a:t>       </a:t>
            </a:r>
            <a:r>
              <a:rPr lang="ja-JP" altLang="ja-JP" sz="1800" b="0" dirty="0">
                <a:solidFill>
                  <a:srgbClr val="000000"/>
                </a:solidFill>
                <a:latin typeface="Arial"/>
              </a:rPr>
              <a:t>→ Bottleneck Breakdown</a:t>
            </a:r>
            <a:endParaRPr kumimoji="1" lang="en-US" altLang="ja-JP" sz="2000" b="1" dirty="0">
              <a:latin typeface="+mj-lt"/>
            </a:endParaRPr>
          </a:p>
          <a:p>
            <a:pPr marL="457200" indent="-457200">
              <a:buFont typeface="Arial" panose="020B0604020202020204" pitchFamily="34" charset="0"/>
              <a:buChar char="•"/>
              <a:defRPr>
                <a:latin typeface="Arial"/>
              </a:defRPr>
            </a:pPr>
            <a:endParaRPr kumimoji="1" lang="en-US" altLang="ja-JP" sz="2600" b="1" dirty="0">
              <a:latin typeface="+mj-lt"/>
            </a:endParaRPr>
          </a:p>
          <a:p>
            <a:pPr marL="457200" indent="-457200">
              <a:buFont typeface="Arial" panose="020B0604020202020204" pitchFamily="34" charset="0"/>
              <a:buChar char="•"/>
              <a:defRPr>
                <a:latin typeface="Arial"/>
              </a:defRPr>
            </a:pPr>
            <a:r>
              <a:rPr kumimoji="1" lang="en-US" altLang="ja-JP" sz="2200" b="1" dirty="0">
                <a:solidFill>
                  <a:srgbClr val="000000"/>
                </a:solidFill>
                <a:latin typeface="Arial"/>
              </a:rPr>
              <a:t>Final merged-model accuracy</a:t>
            </a:r>
          </a:p>
          <a:p>
            <a:pPr>
              <a:defRPr>
                <a:latin typeface="Arial"/>
              </a:defRPr>
            </a:pPr>
            <a:r>
              <a:rPr lang="en-US" altLang="ja-JP" sz="1800" b="0" dirty="0">
                <a:solidFill>
                  <a:srgbClr val="000000"/>
                </a:solidFill>
                <a:latin typeface="Arial"/>
              </a:rPr>
              <a:t>       </a:t>
            </a:r>
            <a:r>
              <a:rPr lang="ja-JP" altLang="ja-JP" sz="1800" b="0" dirty="0">
                <a:solidFill>
                  <a:srgbClr val="000000"/>
                </a:solidFill>
                <a:latin typeface="Arial"/>
              </a:rPr>
              <a:t>→ Same accuracy across protocols</a:t>
            </a:r>
            <a:br>
              <a:rPr lang="ja-JP" altLang="ja-JP" sz="2000" dirty="0">
                <a:latin typeface="+mj-lt"/>
              </a:rPr>
            </a:br>
            <a:r>
              <a:rPr lang="en-US" altLang="ja-JP" sz="1800" b="0" dirty="0">
                <a:solidFill>
                  <a:srgbClr val="000000"/>
                </a:solidFill>
                <a:latin typeface="Arial"/>
              </a:rPr>
              <a:t>       </a:t>
            </a:r>
            <a:r>
              <a:rPr lang="ja-JP" altLang="ja-JP" sz="1800" b="0" dirty="0">
                <a:solidFill>
                  <a:srgbClr val="000000"/>
                </a:solidFill>
                <a:latin typeface="Arial"/>
              </a:rPr>
              <a:t>→ Impact of a Low-Accuracy Sub-model</a:t>
            </a:r>
            <a:endParaRPr kumimoji="1" lang="ja-JP" altLang="en-US" sz="2000" b="1" dirty="0">
              <a:latin typeface="+mj-lt"/>
            </a:endParaRPr>
          </a:p>
        </p:txBody>
      </p:sp>
      <p:sp>
        <p:nvSpPr>
          <p:cNvPr id="7" name="テキスト ボックス 6">
            <a:extLst>
              <a:ext uri="{FF2B5EF4-FFF2-40B4-BE49-F238E27FC236}">
                <a16:creationId xmlns:a16="http://schemas.microsoft.com/office/drawing/2014/main" id="{374C32AE-84FD-435A-7458-E469427250B7}"/>
              </a:ext>
            </a:extLst>
          </p:cNvPr>
          <p:cNvSpPr txBox="1"/>
          <p:nvPr/>
        </p:nvSpPr>
        <p:spPr>
          <a:xfrm>
            <a:off x="5989320" y="1389888"/>
            <a:ext cx="5303520" cy="892552"/>
          </a:xfrm>
          <a:prstGeom prst="rect">
            <a:avLst/>
          </a:prstGeom>
          <a:noFill/>
        </p:spPr>
        <p:txBody>
          <a:bodyPr wrap="square" lIns="27432" tIns="18288" rIns="27432" bIns="18288" rtlCol="0">
            <a:spAutoFit/>
          </a:bodyPr>
          <a:lstStyle/>
          <a:p>
            <a:pPr>
              <a:defRPr>
                <a:latin typeface="Arial"/>
              </a:defRPr>
            </a:pPr>
            <a:r>
              <a:rPr kumimoji="1" lang="en-US" altLang="ja-JP" sz="2200" b="0" dirty="0">
                <a:solidFill>
                  <a:srgbClr val="000000"/>
                </a:solidFill>
                <a:latin typeface="Arial"/>
              </a:rPr>
              <a:t>Confirm successful transfer and integration</a:t>
            </a:r>
          </a:p>
        </p:txBody>
      </p:sp>
      <p:sp>
        <p:nvSpPr>
          <p:cNvPr id="8" name="テキスト ボックス 7">
            <a:extLst>
              <a:ext uri="{FF2B5EF4-FFF2-40B4-BE49-F238E27FC236}">
                <a16:creationId xmlns:a16="http://schemas.microsoft.com/office/drawing/2014/main" id="{F246B68B-6CA7-303A-4C68-497EE8173198}"/>
              </a:ext>
            </a:extLst>
          </p:cNvPr>
          <p:cNvSpPr txBox="1"/>
          <p:nvPr/>
        </p:nvSpPr>
        <p:spPr>
          <a:xfrm>
            <a:off x="5989320" y="2514600"/>
            <a:ext cx="5486400" cy="892552"/>
          </a:xfrm>
          <a:prstGeom prst="rect">
            <a:avLst/>
          </a:prstGeom>
          <a:noFill/>
        </p:spPr>
        <p:txBody>
          <a:bodyPr wrap="square" lIns="27432" tIns="18288" rIns="27432" bIns="18288" rtlCol="0">
            <a:spAutoFit/>
          </a:bodyPr>
          <a:lstStyle/>
          <a:p>
            <a:pPr>
              <a:defRPr>
                <a:latin typeface="Arial"/>
              </a:defRPr>
            </a:pPr>
            <a:r>
              <a:rPr kumimoji="1" lang="en-US" altLang="ja-JP" sz="2200" b="0" dirty="0">
                <a:solidFill>
                  <a:srgbClr val="000000"/>
                </a:solidFill>
                <a:latin typeface="Arial"/>
              </a:rPr>
              <a:t>Evaluate execution mode and sender timing</a:t>
            </a:r>
          </a:p>
        </p:txBody>
      </p:sp>
      <p:sp>
        <p:nvSpPr>
          <p:cNvPr id="9" name="テキスト ボックス 8">
            <a:extLst>
              <a:ext uri="{FF2B5EF4-FFF2-40B4-BE49-F238E27FC236}">
                <a16:creationId xmlns:a16="http://schemas.microsoft.com/office/drawing/2014/main" id="{AD2F90A2-EDD9-D90A-91D8-D54B8D608330}"/>
              </a:ext>
            </a:extLst>
          </p:cNvPr>
          <p:cNvSpPr txBox="1"/>
          <p:nvPr/>
        </p:nvSpPr>
        <p:spPr>
          <a:xfrm>
            <a:off x="5989320" y="4160520"/>
            <a:ext cx="5303520" cy="492443"/>
          </a:xfrm>
          <a:prstGeom prst="rect">
            <a:avLst/>
          </a:prstGeom>
          <a:noFill/>
        </p:spPr>
        <p:txBody>
          <a:bodyPr wrap="square" lIns="27432" tIns="18288" rIns="27432" bIns="18288" rtlCol="0">
            <a:spAutoFit/>
          </a:bodyPr>
          <a:lstStyle/>
          <a:p>
            <a:pPr>
              <a:defRPr>
                <a:latin typeface="Arial"/>
              </a:defRPr>
            </a:pPr>
            <a:r>
              <a:rPr kumimoji="1" lang="en-US" altLang="ja-JP" sz="2200" b="0" dirty="0">
                <a:solidFill>
                  <a:srgbClr val="000000"/>
                </a:solidFill>
                <a:latin typeface="Arial"/>
              </a:rPr>
              <a:t>Identify the dominant bottleneck</a:t>
            </a:r>
          </a:p>
        </p:txBody>
      </p:sp>
      <p:sp>
        <p:nvSpPr>
          <p:cNvPr id="10" name="テキスト ボックス 9">
            <a:extLst>
              <a:ext uri="{FF2B5EF4-FFF2-40B4-BE49-F238E27FC236}">
                <a16:creationId xmlns:a16="http://schemas.microsoft.com/office/drawing/2014/main" id="{C2085BC9-BB81-D152-8CE1-09CC9926A45F}"/>
              </a:ext>
            </a:extLst>
          </p:cNvPr>
          <p:cNvSpPr txBox="1"/>
          <p:nvPr/>
        </p:nvSpPr>
        <p:spPr>
          <a:xfrm>
            <a:off x="5989320" y="5303520"/>
            <a:ext cx="5303520" cy="492443"/>
          </a:xfrm>
          <a:prstGeom prst="rect">
            <a:avLst/>
          </a:prstGeom>
          <a:noFill/>
        </p:spPr>
        <p:txBody>
          <a:bodyPr wrap="square" lIns="27432" tIns="18288" rIns="27432" bIns="18288" rtlCol="0">
            <a:spAutoFit/>
          </a:bodyPr>
          <a:lstStyle/>
          <a:p>
            <a:pPr>
              <a:defRPr>
                <a:latin typeface="Arial"/>
              </a:defRPr>
            </a:pPr>
            <a:r>
              <a:rPr kumimoji="1" lang="en-US" altLang="ja-JP" sz="2200" b="0" dirty="0">
                <a:solidFill>
                  <a:srgbClr val="000000"/>
                </a:solidFill>
                <a:latin typeface="Arial"/>
              </a:rPr>
              <a:t>Examine protocol and sub-model quality</a:t>
            </a:r>
            <a:endParaRPr kumimoji="1" lang="ja-JP" altLang="en-US" sz="2600" dirty="0">
              <a:latin typeface="+mj-lt"/>
            </a:endParaRPr>
          </a:p>
        </p:txBody>
      </p:sp>
      <p:sp>
        <p:nvSpPr>
          <p:cNvPr id="12" name="テキスト ボックス 11">
            <a:extLst>
              <a:ext uri="{FF2B5EF4-FFF2-40B4-BE49-F238E27FC236}">
                <a16:creationId xmlns:a16="http://schemas.microsoft.com/office/drawing/2014/main" id="{A682E348-0640-4D4B-DBDE-A71A3D35280A}"/>
              </a:ext>
            </a:extLst>
          </p:cNvPr>
          <p:cNvSpPr txBox="1"/>
          <p:nvPr/>
        </p:nvSpPr>
        <p:spPr>
          <a:xfrm>
            <a:off x="594360" y="914400"/>
            <a:ext cx="4754880" cy="461665"/>
          </a:xfrm>
          <a:prstGeom prst="rect">
            <a:avLst/>
          </a:prstGeom>
          <a:noFill/>
        </p:spPr>
        <p:txBody>
          <a:bodyPr wrap="square" lIns="27432" tIns="18288" rIns="27432" bIns="18288" rtlCol="0">
            <a:spAutoFit/>
          </a:bodyPr>
          <a:lstStyle/>
          <a:p>
            <a:pPr>
              <a:defRPr>
                <a:latin typeface="Arial"/>
              </a:defRPr>
            </a:pPr>
            <a:r>
              <a:rPr kumimoji="1" lang="en-US" altLang="ja-JP" sz="2400" b="1" dirty="0">
                <a:solidFill>
                  <a:srgbClr val="000000"/>
                </a:solidFill>
                <a:latin typeface="Arial"/>
              </a:rPr>
              <a:t>What to Evaluate</a:t>
            </a:r>
            <a:endParaRPr kumimoji="1" lang="ja-JP" altLang="en-US" sz="2400" b="1" dirty="0">
              <a:latin typeface="+mj-lt"/>
            </a:endParaRPr>
          </a:p>
        </p:txBody>
      </p:sp>
      <p:sp>
        <p:nvSpPr>
          <p:cNvPr id="13" name="テキスト ボックス 12">
            <a:extLst>
              <a:ext uri="{FF2B5EF4-FFF2-40B4-BE49-F238E27FC236}">
                <a16:creationId xmlns:a16="http://schemas.microsoft.com/office/drawing/2014/main" id="{F448E679-8247-A26D-9570-FB46BE0018F0}"/>
              </a:ext>
            </a:extLst>
          </p:cNvPr>
          <p:cNvSpPr txBox="1"/>
          <p:nvPr/>
        </p:nvSpPr>
        <p:spPr>
          <a:xfrm>
            <a:off x="5989320" y="914400"/>
            <a:ext cx="4114800" cy="477054"/>
          </a:xfrm>
          <a:prstGeom prst="rect">
            <a:avLst/>
          </a:prstGeom>
          <a:noFill/>
        </p:spPr>
        <p:txBody>
          <a:bodyPr wrap="square" lIns="27432" tIns="18288" rIns="27432" bIns="18288" rtlCol="0">
            <a:spAutoFit/>
          </a:bodyPr>
          <a:lstStyle/>
          <a:p>
            <a:pPr>
              <a:defRPr>
                <a:latin typeface="Arial"/>
              </a:defRPr>
            </a:pPr>
            <a:r>
              <a:rPr sz="2400" b="1" dirty="0">
                <a:solidFill>
                  <a:srgbClr val="000000"/>
                </a:solidFill>
                <a:latin typeface="Arial"/>
              </a:rPr>
              <a:t>Why</a:t>
            </a:r>
          </a:p>
        </p:txBody>
      </p:sp>
      <p:cxnSp>
        <p:nvCxnSpPr>
          <p:cNvPr id="14" name="Connector 2">
            <a:extLst>
              <a:ext uri="{FF2B5EF4-FFF2-40B4-BE49-F238E27FC236}">
                <a16:creationId xmlns:a16="http://schemas.microsoft.com/office/drawing/2014/main" id="{A3213BB9-259B-5696-A3BC-AD45ACEFA488}"/>
              </a:ext>
            </a:extLst>
          </p:cNvPr>
          <p:cNvCxnSpPr/>
          <p:nvPr/>
        </p:nvCxnSpPr>
        <p:spPr>
          <a:xfrm>
            <a:off x="502920" y="1404206"/>
            <a:ext cx="11109960" cy="0"/>
          </a:xfrm>
          <a:prstGeom prst="line">
            <a:avLst/>
          </a:prstGeom>
          <a:ln w="1651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10</a:t>
            </a:r>
          </a:p>
        </p:txBody>
      </p:sp>
    </p:spTree>
    <p:extLst>
      <p:ext uri="{BB962C8B-B14F-4D97-AF65-F5344CB8AC3E}">
        <p14:creationId xmlns:p14="http://schemas.microsoft.com/office/powerpoint/2010/main" val="1717379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09960" cy="502920"/>
          </a:xfrm>
          <a:prstGeom prst="rect">
            <a:avLst/>
          </a:prstGeom>
          <a:noFill/>
          <a:ln>
            <a:noFill/>
          </a:ln>
        </p:spPr>
        <p:txBody>
          <a:bodyPr wrap="none" lIns="27432" tIns="18288" rIns="27432" bIns="18288" rtlCol="0" anchor="ctr">
            <a:normAutofit/>
          </a:bodyPr>
          <a:lstStyle/>
          <a:p>
            <a:pPr marL="0" indent="0" algn="l">
              <a:buNone/>
              <a:defRPr sz="2800" b="1">
                <a:solidFill>
                  <a:srgbClr val="000000"/>
                </a:solidFill>
                <a:latin typeface="Arial"/>
              </a:defRPr>
            </a:pPr>
            <a:r>
              <a:rPr lang="en-US" sz="2800" b="1" dirty="0">
                <a:solidFill>
                  <a:srgbClr val="000000"/>
                </a:solidFill>
                <a:latin typeface="Arial"/>
                <a:ea typeface="Arial" pitchFamily="34" charset="-122"/>
                <a:cs typeface="Arial" pitchFamily="34" charset="-120"/>
              </a:rPr>
              <a:t>Experimental Environment</a:t>
            </a:r>
            <a:endParaRPr lang="en-US" sz="3400" dirty="0">
              <a:latin typeface="+mj-lt"/>
            </a:endParaRPr>
          </a:p>
        </p:txBody>
      </p:sp>
      <p:sp>
        <p:nvSpPr>
          <p:cNvPr id="4" name="Text 2"/>
          <p:cNvSpPr/>
          <p:nvPr/>
        </p:nvSpPr>
        <p:spPr>
          <a:xfrm>
            <a:off x="594360" y="1618488"/>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Environment:</a:t>
            </a:r>
            <a:endParaRPr lang="en-US" sz="2400" dirty="0">
              <a:latin typeface="+mj-lt"/>
            </a:endParaRPr>
          </a:p>
        </p:txBody>
      </p:sp>
      <p:sp>
        <p:nvSpPr>
          <p:cNvPr id="5" name="Text 3"/>
          <p:cNvSpPr/>
          <p:nvPr/>
        </p:nvSpPr>
        <p:spPr>
          <a:xfrm>
            <a:off x="2971800" y="1678578"/>
            <a:ext cx="374904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0" dirty="0">
                <a:solidFill>
                  <a:srgbClr val="000000"/>
                </a:solidFill>
                <a:latin typeface="Arial"/>
                <a:ea typeface="Arial" pitchFamily="34" charset="-122"/>
                <a:cs typeface="Arial" pitchFamily="34" charset="-120"/>
              </a:rPr>
              <a:t>Ubuntu VMs / VirtualBox</a:t>
            </a:r>
            <a:endParaRPr lang="en-US" sz="2400" dirty="0">
              <a:latin typeface="+mj-lt"/>
            </a:endParaRPr>
          </a:p>
        </p:txBody>
      </p:sp>
      <p:sp>
        <p:nvSpPr>
          <p:cNvPr id="6" name="Text 4"/>
          <p:cNvSpPr/>
          <p:nvPr/>
        </p:nvSpPr>
        <p:spPr>
          <a:xfrm>
            <a:off x="594360" y="2130552"/>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Receiver:</a:t>
            </a:r>
            <a:endParaRPr lang="en-US" sz="2400" dirty="0">
              <a:latin typeface="+mj-lt"/>
            </a:endParaRPr>
          </a:p>
        </p:txBody>
      </p:sp>
      <p:sp>
        <p:nvSpPr>
          <p:cNvPr id="7" name="Text 5"/>
          <p:cNvSpPr/>
          <p:nvPr/>
        </p:nvSpPr>
        <p:spPr>
          <a:xfrm>
            <a:off x="2971800" y="2193254"/>
            <a:ext cx="374904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0" dirty="0">
                <a:solidFill>
                  <a:srgbClr val="000000"/>
                </a:solidFill>
                <a:latin typeface="Arial"/>
                <a:ea typeface="Arial" pitchFamily="34" charset="-122"/>
                <a:cs typeface="Arial" pitchFamily="34" charset="-120"/>
              </a:rPr>
              <a:t>vm-node1</a:t>
            </a:r>
            <a:endParaRPr lang="en-US" sz="2400" dirty="0">
              <a:latin typeface="+mj-lt"/>
            </a:endParaRPr>
          </a:p>
        </p:txBody>
      </p:sp>
      <p:sp>
        <p:nvSpPr>
          <p:cNvPr id="8" name="Text 6"/>
          <p:cNvSpPr/>
          <p:nvPr/>
        </p:nvSpPr>
        <p:spPr>
          <a:xfrm>
            <a:off x="594360" y="2606040"/>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Senders:</a:t>
            </a:r>
            <a:endParaRPr lang="en-US" sz="2400" dirty="0">
              <a:latin typeface="+mj-lt"/>
            </a:endParaRPr>
          </a:p>
        </p:txBody>
      </p:sp>
      <p:sp>
        <p:nvSpPr>
          <p:cNvPr id="9" name="Text 7"/>
          <p:cNvSpPr/>
          <p:nvPr/>
        </p:nvSpPr>
        <p:spPr>
          <a:xfrm>
            <a:off x="2971800" y="2647841"/>
            <a:ext cx="374904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0" dirty="0">
                <a:solidFill>
                  <a:srgbClr val="000000"/>
                </a:solidFill>
                <a:latin typeface="Arial"/>
                <a:ea typeface="Arial" pitchFamily="34" charset="-122"/>
                <a:cs typeface="Arial" pitchFamily="34" charset="-120"/>
              </a:rPr>
              <a:t>up to 9 sender VMs</a:t>
            </a:r>
            <a:endParaRPr lang="en-US" sz="2400" dirty="0">
              <a:latin typeface="+mj-lt"/>
            </a:endParaRPr>
          </a:p>
        </p:txBody>
      </p:sp>
      <p:sp>
        <p:nvSpPr>
          <p:cNvPr id="10" name="Text 8"/>
          <p:cNvSpPr/>
          <p:nvPr/>
        </p:nvSpPr>
        <p:spPr>
          <a:xfrm>
            <a:off x="594360" y="3081528"/>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Protocols:</a:t>
            </a:r>
            <a:endParaRPr lang="en-US" sz="2400" dirty="0">
              <a:latin typeface="+mj-lt"/>
            </a:endParaRPr>
          </a:p>
        </p:txBody>
      </p:sp>
      <p:sp>
        <p:nvSpPr>
          <p:cNvPr id="11" name="Text 9"/>
          <p:cNvSpPr/>
          <p:nvPr/>
        </p:nvSpPr>
        <p:spPr>
          <a:xfrm>
            <a:off x="2971800" y="3068465"/>
            <a:ext cx="374904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0" dirty="0">
                <a:solidFill>
                  <a:srgbClr val="000000"/>
                </a:solidFill>
                <a:latin typeface="Arial"/>
                <a:ea typeface="Arial" pitchFamily="34" charset="-122"/>
                <a:cs typeface="Arial" pitchFamily="34" charset="-120"/>
              </a:rPr>
              <a:t>TCP / ZeroMQ / gRPC</a:t>
            </a:r>
            <a:endParaRPr lang="en-US" sz="2400" dirty="0">
              <a:latin typeface="+mj-lt"/>
            </a:endParaRPr>
          </a:p>
        </p:txBody>
      </p:sp>
      <p:sp>
        <p:nvSpPr>
          <p:cNvPr id="12" name="Text 10"/>
          <p:cNvSpPr/>
          <p:nvPr/>
        </p:nvSpPr>
        <p:spPr>
          <a:xfrm>
            <a:off x="594360" y="3557016"/>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Dataset:</a:t>
            </a:r>
            <a:endParaRPr lang="en-US" sz="2400" dirty="0">
              <a:latin typeface="+mj-lt"/>
            </a:endParaRPr>
          </a:p>
        </p:txBody>
      </p:sp>
      <p:sp>
        <p:nvSpPr>
          <p:cNvPr id="13" name="Text 11"/>
          <p:cNvSpPr/>
          <p:nvPr/>
        </p:nvSpPr>
        <p:spPr>
          <a:xfrm>
            <a:off x="2971800" y="3570079"/>
            <a:ext cx="374904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0" dirty="0">
                <a:solidFill>
                  <a:srgbClr val="000000"/>
                </a:solidFill>
                <a:latin typeface="Arial"/>
                <a:ea typeface="Arial" pitchFamily="34" charset="-122"/>
                <a:cs typeface="Arial" pitchFamily="34" charset="-120"/>
              </a:rPr>
              <a:t>MNIST test set (10,000)</a:t>
            </a:r>
            <a:endParaRPr lang="en-US" sz="2400" dirty="0">
              <a:latin typeface="+mj-lt"/>
            </a:endParaRPr>
          </a:p>
        </p:txBody>
      </p:sp>
      <p:sp>
        <p:nvSpPr>
          <p:cNvPr id="14" name="Text 12"/>
          <p:cNvSpPr/>
          <p:nvPr/>
        </p:nvSpPr>
        <p:spPr>
          <a:xfrm>
            <a:off x="594360" y="4032504"/>
            <a:ext cx="2331720" cy="384048"/>
          </a:xfrm>
          <a:prstGeom prst="rect">
            <a:avLst/>
          </a:prstGeom>
          <a:noFill/>
          <a:ln/>
        </p:spPr>
        <p:txBody>
          <a:bodyPr wrap="square" lIns="27432" tIns="18288" rIns="27432" bIns="18288" rtlCol="0" anchor="ctr">
            <a:noAutofit/>
          </a:bodyPr>
          <a:lstStyle/>
          <a:p>
            <a:pPr marL="0" indent="0">
              <a:buNone/>
              <a:defRPr>
                <a:latin typeface="Arial"/>
              </a:defRPr>
            </a:pPr>
            <a:r>
              <a:rPr lang="en-US" sz="2200" b="1" dirty="0">
                <a:solidFill>
                  <a:srgbClr val="000000"/>
                </a:solidFill>
                <a:latin typeface="Arial"/>
                <a:ea typeface="Arial" pitchFamily="34" charset="-122"/>
                <a:cs typeface="Arial" pitchFamily="34" charset="-120"/>
              </a:rPr>
              <a:t>Framework:</a:t>
            </a:r>
            <a:endParaRPr lang="en-US" sz="2400" dirty="0">
              <a:latin typeface="+mj-lt"/>
            </a:endParaRPr>
          </a:p>
        </p:txBody>
      </p:sp>
      <p:sp>
        <p:nvSpPr>
          <p:cNvPr id="15" name="Text 13"/>
          <p:cNvSpPr/>
          <p:nvPr/>
        </p:nvSpPr>
        <p:spPr>
          <a:xfrm>
            <a:off x="2971800" y="4059936"/>
            <a:ext cx="3749040" cy="384048"/>
          </a:xfrm>
          <a:prstGeom prst="rect">
            <a:avLst/>
          </a:prstGeom>
          <a:noFill/>
          <a:ln/>
        </p:spPr>
        <p:txBody>
          <a:bodyPr wrap="square" lIns="27432" tIns="18288" rIns="27432" bIns="18288" rtlCol="0" anchor="ctr">
            <a:noAutofit/>
          </a:bodyPr>
          <a:lstStyle/>
          <a:p>
            <a:pPr marL="0" indent="0">
              <a:buNone/>
              <a:defRPr>
                <a:latin typeface="Arial"/>
              </a:defRPr>
            </a:pPr>
            <a:r>
              <a:rPr sz="2200" b="0">
                <a:solidFill>
                  <a:srgbClr val="000000"/>
                </a:solidFill>
                <a:latin typeface="Arial"/>
              </a:rPr>
              <a:t>BindsNET [4]</a:t>
            </a:r>
            <a:endParaRPr lang="en-US" sz="2400" dirty="0">
              <a:latin typeface="+mj-lt"/>
            </a:endParaRPr>
          </a:p>
        </p:txBody>
      </p:sp>
      <p:sp>
        <p:nvSpPr>
          <p:cNvPr id="16" name="Text 14"/>
          <p:cNvSpPr/>
          <p:nvPr/>
        </p:nvSpPr>
        <p:spPr>
          <a:xfrm>
            <a:off x="594360" y="5074919"/>
            <a:ext cx="5715000" cy="809897"/>
          </a:xfrm>
          <a:prstGeom prst="rect">
            <a:avLst/>
          </a:prstGeom>
          <a:noFill/>
          <a:ln/>
        </p:spPr>
        <p:txBody>
          <a:bodyPr wrap="square" lIns="27432" tIns="18288" rIns="27432" bIns="18288" rtlCol="0" anchor="ctr">
            <a:normAutofit/>
          </a:bodyPr>
          <a:lstStyle/>
          <a:p>
            <a:pPr marL="0" indent="0">
              <a:buNone/>
              <a:defRPr>
                <a:latin typeface="Arial"/>
              </a:defRPr>
            </a:pPr>
            <a:r>
              <a:rPr lang="en-US" sz="1800" b="1" dirty="0">
                <a:solidFill>
                  <a:srgbClr val="000000"/>
                </a:solidFill>
                <a:latin typeface="Arial"/>
                <a:ea typeface="Arial" pitchFamily="34" charset="-122"/>
                <a:cs typeface="Arial" pitchFamily="34" charset="-120"/>
              </a:rPr>
              <a:t>Sender VMs  →  Receiver VM  →  Merge / Compression  →  MNIST Evaluation</a:t>
            </a:r>
            <a:endParaRPr lang="en-US" sz="2000" dirty="0">
              <a:latin typeface="+mj-lt"/>
            </a:endParaRPr>
          </a:p>
        </p:txBody>
      </p:sp>
      <p:sp>
        <p:nvSpPr>
          <p:cNvPr id="18" name="Text 16"/>
          <p:cNvSpPr/>
          <p:nvPr/>
        </p:nvSpPr>
        <p:spPr>
          <a:xfrm>
            <a:off x="6537960" y="868680"/>
            <a:ext cx="5102352" cy="320040"/>
          </a:xfrm>
          <a:prstGeom prst="rect">
            <a:avLst/>
          </a:prstGeom>
          <a:noFill/>
          <a:ln/>
        </p:spPr>
        <p:txBody>
          <a:bodyPr wrap="square" lIns="27432" tIns="18288" rIns="27432" bIns="18288" rtlCol="0" anchor="ctr">
            <a:normAutofit/>
          </a:bodyPr>
          <a:lstStyle/>
          <a:p>
            <a:pPr marL="0" indent="0">
              <a:buNone/>
              <a:defRPr>
                <a:latin typeface="Arial"/>
              </a:defRPr>
            </a:pPr>
            <a:r>
              <a:rPr lang="en-US" sz="1800" b="1" dirty="0">
                <a:solidFill>
                  <a:srgbClr val="000000"/>
                </a:solidFill>
                <a:latin typeface="Arial"/>
                <a:ea typeface="Arial" pitchFamily="34" charset="-122"/>
                <a:cs typeface="Arial" pitchFamily="34" charset="-120"/>
              </a:rPr>
              <a:t>Receiver VM example</a:t>
            </a:r>
            <a:endParaRPr lang="en-US" sz="1600" dirty="0">
              <a:latin typeface="+mj-lt"/>
            </a:endParaRPr>
          </a:p>
        </p:txBody>
      </p:sp>
      <p:pic>
        <p:nvPicPr>
          <p:cNvPr id="19" name="Image 0" descr="/mnt/data/vm_receiver_screenshot_crop.png"/>
          <p:cNvPicPr>
            <a:picLocks noChangeAspect="1"/>
          </p:cNvPicPr>
          <p:nvPr/>
        </p:nvPicPr>
        <p:blipFill>
          <a:blip r:embed="rId3"/>
          <a:srcRect t="4464" b="4464"/>
          <a:stretch/>
        </p:blipFill>
        <p:spPr>
          <a:xfrm>
            <a:off x="6510528" y="859536"/>
            <a:ext cx="5102352" cy="4370832"/>
          </a:xfrm>
          <a:prstGeom prst="rect">
            <a:avLst/>
          </a:prstGeom>
        </p:spPr>
      </p:pic>
      <p:sp>
        <p:nvSpPr>
          <p:cNvPr id="21" name="Text 18"/>
          <p:cNvSpPr/>
          <p:nvPr/>
        </p:nvSpPr>
        <p:spPr>
          <a:xfrm>
            <a:off x="6556247" y="5577839"/>
            <a:ext cx="5056633" cy="679269"/>
          </a:xfrm>
          <a:prstGeom prst="rect">
            <a:avLst/>
          </a:prstGeom>
          <a:noFill/>
          <a:ln/>
        </p:spPr>
        <p:txBody>
          <a:bodyPr wrap="square" lIns="27432" tIns="18288" rIns="27432" bIns="18288" rtlCol="0" anchor="ctr">
            <a:noAutofit/>
          </a:bodyPr>
          <a:lstStyle/>
          <a:p>
            <a:pPr marL="0" indent="0">
              <a:buNone/>
              <a:defRPr>
                <a:latin typeface="Arial"/>
              </a:defRPr>
            </a:pPr>
            <a:r>
              <a:rPr lang="en-US" sz="1800" b="0" dirty="0">
                <a:solidFill>
                  <a:srgbClr val="000000"/>
                </a:solidFill>
                <a:latin typeface="Arial"/>
              </a:rPr>
              <a:t>vm-node1 running in Oracle VirtualBox</a:t>
            </a:r>
          </a:p>
          <a:p>
            <a:pPr marL="0" indent="0">
              <a:buNone/>
              <a:defRPr>
                <a:latin typeface="Arial"/>
              </a:defRPr>
            </a:pPr>
            <a:endParaRPr lang="en-US" sz="2400" dirty="0">
              <a:latin typeface="+mj-lt"/>
            </a:endParaRPr>
          </a:p>
        </p:txBody>
      </p:sp>
      <p:sp>
        <p:nvSpPr>
          <p:cNvPr id="22" name="TextBox 21"/>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Box 11"/>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12</a:t>
            </a:r>
          </a:p>
        </p:txBody>
      </p:sp>
      <p:sp>
        <p:nvSpPr>
          <p:cNvPr id="13" name="TextBox 12"/>
          <p:cNvSpPr txBox="1"/>
          <p:nvPr/>
        </p:nvSpPr>
        <p:spPr>
          <a:xfrm>
            <a:off x="502920" y="292608"/>
            <a:ext cx="11109960" cy="502920"/>
          </a:xfrm>
          <a:prstGeom prst="rect">
            <a:avLst/>
          </a:prstGeom>
          <a:noFill/>
          <a:ln>
            <a:noFill/>
          </a:ln>
        </p:spPr>
        <p:txBody>
          <a:bodyPr wrap="none" lIns="27432" tIns="18288" rIns="27432" bIns="18288">
            <a:normAutofit/>
          </a:bodyPr>
          <a:lstStyle/>
          <a:p>
            <a:pPr algn="l">
              <a:defRPr sz="2800" b="1">
                <a:solidFill>
                  <a:srgbClr val="000000"/>
                </a:solidFill>
                <a:latin typeface="Arial"/>
              </a:defRPr>
            </a:pPr>
            <a:r>
              <a:rPr sz="2800" b="1">
                <a:solidFill>
                  <a:srgbClr val="000000"/>
                </a:solidFill>
                <a:latin typeface="Arial"/>
              </a:rPr>
              <a:t>Proposed Timing Measurement Method</a:t>
            </a:r>
          </a:p>
        </p:txBody>
      </p:sp>
      <p:sp>
        <p:nvSpPr>
          <p:cNvPr id="14" name="TextBox 13"/>
          <p:cNvSpPr txBox="1"/>
          <p:nvPr/>
        </p:nvSpPr>
        <p:spPr>
          <a:xfrm>
            <a:off x="658368" y="1005840"/>
            <a:ext cx="4754880" cy="320040"/>
          </a:xfrm>
          <a:prstGeom prst="rect">
            <a:avLst/>
          </a:prstGeom>
          <a:noFill/>
        </p:spPr>
        <p:txBody>
          <a:bodyPr wrap="square" lIns="27432" tIns="18288" rIns="27432" bIns="18288">
            <a:normAutofit fontScale="92500" lnSpcReduction="10000"/>
          </a:bodyPr>
          <a:lstStyle/>
          <a:p>
            <a:pPr algn="l">
              <a:defRPr>
                <a:latin typeface="Arial"/>
              </a:defRPr>
            </a:pPr>
            <a:r>
              <a:rPr sz="2000" b="1">
                <a:solidFill>
                  <a:srgbClr val="000000"/>
                </a:solidFill>
                <a:latin typeface="Arial"/>
              </a:rPr>
              <a:t>Receiver-side timestamps</a:t>
            </a:r>
          </a:p>
        </p:txBody>
      </p:sp>
      <p:sp>
        <p:nvSpPr>
          <p:cNvPr id="15" name="Rounded Rectangle 14"/>
          <p:cNvSpPr/>
          <p:nvPr/>
        </p:nvSpPr>
        <p:spPr>
          <a:xfrm>
            <a:off x="685800" y="1435608"/>
            <a:ext cx="1234440" cy="329184"/>
          </a:xfrm>
          <a:prstGeom prst="roundRect">
            <a:avLst/>
          </a:prstGeom>
          <a:solidFill>
            <a:srgbClr val="F2F2F2"/>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normAutofit/>
          </a:bodyPr>
          <a:lstStyle/>
          <a:p>
            <a:pPr algn="ctr">
              <a:defRPr>
                <a:latin typeface="Arial"/>
              </a:defRPr>
            </a:pPr>
            <a:r>
              <a:rPr sz="1600" b="1">
                <a:solidFill>
                  <a:srgbClr val="000000"/>
                </a:solidFill>
                <a:latin typeface="Arial"/>
              </a:rPr>
              <a:t>Sender 1</a:t>
            </a:r>
          </a:p>
        </p:txBody>
      </p:sp>
      <p:cxnSp>
        <p:nvCxnSpPr>
          <p:cNvPr id="16" name="Connector 15"/>
          <p:cNvCxnSpPr/>
          <p:nvPr/>
        </p:nvCxnSpPr>
        <p:spPr>
          <a:xfrm>
            <a:off x="2072640" y="1600200"/>
            <a:ext cx="402336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23160" y="14538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623560" y="14538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57400" y="17647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t_first</a:t>
            </a:r>
          </a:p>
        </p:txBody>
      </p:sp>
      <p:sp>
        <p:nvSpPr>
          <p:cNvPr id="20" name="TextBox 19"/>
          <p:cNvSpPr txBox="1"/>
          <p:nvPr/>
        </p:nvSpPr>
        <p:spPr>
          <a:xfrm>
            <a:off x="5257800" y="17647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t_last</a:t>
            </a:r>
          </a:p>
        </p:txBody>
      </p:sp>
      <p:sp>
        <p:nvSpPr>
          <p:cNvPr id="21" name="TextBox 20"/>
          <p:cNvSpPr txBox="1"/>
          <p:nvPr/>
        </p:nvSpPr>
        <p:spPr>
          <a:xfrm>
            <a:off x="3657600" y="1280160"/>
            <a:ext cx="731520" cy="219456"/>
          </a:xfrm>
          <a:prstGeom prst="rect">
            <a:avLst/>
          </a:prstGeom>
          <a:noFill/>
        </p:spPr>
        <p:txBody>
          <a:bodyPr wrap="square" lIns="27432" tIns="18288" rIns="27432" bIns="18288">
            <a:normAutofit fontScale="92500" lnSpcReduction="10000"/>
          </a:bodyPr>
          <a:lstStyle/>
          <a:p>
            <a:pPr algn="ctr">
              <a:defRPr>
                <a:latin typeface="Arial"/>
              </a:defRPr>
            </a:pPr>
            <a:r>
              <a:rPr sz="1400" b="1">
                <a:solidFill>
                  <a:srgbClr val="000000"/>
                </a:solidFill>
                <a:latin typeface="Arial"/>
              </a:rPr>
              <a:t>span</a:t>
            </a:r>
          </a:p>
        </p:txBody>
      </p:sp>
      <p:sp>
        <p:nvSpPr>
          <p:cNvPr id="22" name="Rounded Rectangle 21"/>
          <p:cNvSpPr/>
          <p:nvPr/>
        </p:nvSpPr>
        <p:spPr>
          <a:xfrm>
            <a:off x="685800" y="2350008"/>
            <a:ext cx="1234440" cy="329184"/>
          </a:xfrm>
          <a:prstGeom prst="roundRect">
            <a:avLst/>
          </a:prstGeom>
          <a:solidFill>
            <a:srgbClr val="F2F2F2"/>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normAutofit/>
          </a:bodyPr>
          <a:lstStyle/>
          <a:p>
            <a:pPr algn="ctr">
              <a:defRPr>
                <a:latin typeface="Arial"/>
              </a:defRPr>
            </a:pPr>
            <a:r>
              <a:rPr sz="1600" b="1">
                <a:solidFill>
                  <a:srgbClr val="000000"/>
                </a:solidFill>
                <a:latin typeface="Arial"/>
              </a:rPr>
              <a:t>Sender 2</a:t>
            </a:r>
          </a:p>
        </p:txBody>
      </p:sp>
      <p:cxnSp>
        <p:nvCxnSpPr>
          <p:cNvPr id="23" name="Connector 22"/>
          <p:cNvCxnSpPr/>
          <p:nvPr/>
        </p:nvCxnSpPr>
        <p:spPr>
          <a:xfrm>
            <a:off x="2057400" y="2514600"/>
            <a:ext cx="402336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23160" y="23682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23560" y="23682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057400" y="26791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t_first</a:t>
            </a:r>
          </a:p>
        </p:txBody>
      </p:sp>
      <p:sp>
        <p:nvSpPr>
          <p:cNvPr id="27" name="TextBox 26"/>
          <p:cNvSpPr txBox="1"/>
          <p:nvPr/>
        </p:nvSpPr>
        <p:spPr>
          <a:xfrm>
            <a:off x="5257800" y="26791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t_last</a:t>
            </a:r>
          </a:p>
        </p:txBody>
      </p:sp>
      <p:sp>
        <p:nvSpPr>
          <p:cNvPr id="28" name="TextBox 27"/>
          <p:cNvSpPr txBox="1"/>
          <p:nvPr/>
        </p:nvSpPr>
        <p:spPr>
          <a:xfrm>
            <a:off x="3657600" y="2194560"/>
            <a:ext cx="731520" cy="219456"/>
          </a:xfrm>
          <a:prstGeom prst="rect">
            <a:avLst/>
          </a:prstGeom>
          <a:noFill/>
        </p:spPr>
        <p:txBody>
          <a:bodyPr wrap="square" lIns="27432" tIns="18288" rIns="27432" bIns="18288">
            <a:normAutofit fontScale="92500" lnSpcReduction="10000"/>
          </a:bodyPr>
          <a:lstStyle/>
          <a:p>
            <a:pPr algn="ctr">
              <a:defRPr>
                <a:latin typeface="Arial"/>
              </a:defRPr>
            </a:pPr>
            <a:r>
              <a:rPr sz="1400" b="1">
                <a:solidFill>
                  <a:srgbClr val="000000"/>
                </a:solidFill>
                <a:latin typeface="Arial"/>
              </a:rPr>
              <a:t>span</a:t>
            </a:r>
          </a:p>
        </p:txBody>
      </p:sp>
      <p:sp>
        <p:nvSpPr>
          <p:cNvPr id="29" name="Rounded Rectangle 28"/>
          <p:cNvSpPr/>
          <p:nvPr/>
        </p:nvSpPr>
        <p:spPr>
          <a:xfrm>
            <a:off x="685800" y="3264408"/>
            <a:ext cx="1234440" cy="329184"/>
          </a:xfrm>
          <a:prstGeom prst="roundRect">
            <a:avLst/>
          </a:prstGeom>
          <a:solidFill>
            <a:srgbClr val="F2F2F2"/>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normAutofit/>
          </a:bodyPr>
          <a:lstStyle/>
          <a:p>
            <a:pPr algn="ctr">
              <a:defRPr>
                <a:latin typeface="Arial"/>
              </a:defRPr>
            </a:pPr>
            <a:r>
              <a:rPr sz="1600" b="1">
                <a:solidFill>
                  <a:srgbClr val="000000"/>
                </a:solidFill>
                <a:latin typeface="Arial"/>
              </a:rPr>
              <a:t>Sender N</a:t>
            </a:r>
          </a:p>
        </p:txBody>
      </p:sp>
      <p:cxnSp>
        <p:nvCxnSpPr>
          <p:cNvPr id="30" name="Connector 29"/>
          <p:cNvCxnSpPr/>
          <p:nvPr/>
        </p:nvCxnSpPr>
        <p:spPr>
          <a:xfrm>
            <a:off x="2057400" y="3429000"/>
            <a:ext cx="402336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423160" y="32826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623560" y="3282696"/>
            <a:ext cx="0" cy="29260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57400" y="35935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t_first</a:t>
            </a:r>
          </a:p>
        </p:txBody>
      </p:sp>
      <p:sp>
        <p:nvSpPr>
          <p:cNvPr id="34" name="TextBox 33"/>
          <p:cNvSpPr txBox="1"/>
          <p:nvPr/>
        </p:nvSpPr>
        <p:spPr>
          <a:xfrm>
            <a:off x="5257800" y="3593592"/>
            <a:ext cx="868680" cy="219456"/>
          </a:xfrm>
          <a:prstGeom prst="rect">
            <a:avLst/>
          </a:prstGeom>
          <a:noFill/>
        </p:spPr>
        <p:txBody>
          <a:bodyPr wrap="square" lIns="27432" tIns="18288" rIns="27432" bIns="18288">
            <a:normAutofit fontScale="92500" lnSpcReduction="10000"/>
          </a:bodyPr>
          <a:lstStyle/>
          <a:p>
            <a:pPr algn="ctr">
              <a:defRPr>
                <a:latin typeface="Arial"/>
              </a:defRPr>
            </a:pPr>
            <a:r>
              <a:rPr sz="1400" b="0">
                <a:solidFill>
                  <a:srgbClr val="000000"/>
                </a:solidFill>
                <a:latin typeface="Arial"/>
              </a:rPr>
              <a:t>t_last</a:t>
            </a:r>
          </a:p>
        </p:txBody>
      </p:sp>
      <p:sp>
        <p:nvSpPr>
          <p:cNvPr id="35" name="TextBox 34"/>
          <p:cNvSpPr txBox="1"/>
          <p:nvPr/>
        </p:nvSpPr>
        <p:spPr>
          <a:xfrm>
            <a:off x="3657600" y="3108960"/>
            <a:ext cx="731520" cy="219456"/>
          </a:xfrm>
          <a:prstGeom prst="rect">
            <a:avLst/>
          </a:prstGeom>
          <a:noFill/>
        </p:spPr>
        <p:txBody>
          <a:bodyPr wrap="square" lIns="27432" tIns="18288" rIns="27432" bIns="18288">
            <a:normAutofit fontScale="92500" lnSpcReduction="10000"/>
          </a:bodyPr>
          <a:lstStyle/>
          <a:p>
            <a:pPr algn="ctr">
              <a:defRPr>
                <a:latin typeface="Arial"/>
              </a:defRPr>
            </a:pPr>
            <a:r>
              <a:rPr sz="1400" b="1">
                <a:solidFill>
                  <a:srgbClr val="000000"/>
                </a:solidFill>
                <a:latin typeface="Arial"/>
              </a:rPr>
              <a:t>span</a:t>
            </a:r>
          </a:p>
        </p:txBody>
      </p:sp>
      <p:sp>
        <p:nvSpPr>
          <p:cNvPr id="36" name="TextBox 35"/>
          <p:cNvSpPr txBox="1"/>
          <p:nvPr/>
        </p:nvSpPr>
        <p:spPr>
          <a:xfrm rot="5400000">
            <a:off x="1024128" y="2889504"/>
            <a:ext cx="548640" cy="228600"/>
          </a:xfrm>
          <a:prstGeom prst="rect">
            <a:avLst/>
          </a:prstGeom>
          <a:noFill/>
        </p:spPr>
        <p:txBody>
          <a:bodyPr wrap="square" lIns="27432" tIns="18288" rIns="27432" bIns="18288">
            <a:normAutofit fontScale="92500" lnSpcReduction="20000"/>
          </a:bodyPr>
          <a:lstStyle/>
          <a:p>
            <a:pPr algn="ctr">
              <a:defRPr>
                <a:latin typeface="Arial"/>
              </a:defRPr>
            </a:pPr>
            <a:r>
              <a:rPr sz="1600" b="1" dirty="0">
                <a:solidFill>
                  <a:srgbClr val="000000"/>
                </a:solidFill>
                <a:latin typeface="Arial"/>
              </a:rPr>
              <a:t>...</a:t>
            </a:r>
          </a:p>
        </p:txBody>
      </p:sp>
      <p:sp>
        <p:nvSpPr>
          <p:cNvPr id="39" name="TextBox 38"/>
          <p:cNvSpPr txBox="1"/>
          <p:nvPr/>
        </p:nvSpPr>
        <p:spPr>
          <a:xfrm>
            <a:off x="685800" y="4663440"/>
            <a:ext cx="4754880" cy="320040"/>
          </a:xfrm>
          <a:prstGeom prst="rect">
            <a:avLst/>
          </a:prstGeom>
          <a:noFill/>
        </p:spPr>
        <p:txBody>
          <a:bodyPr wrap="square" lIns="27432" tIns="18288" rIns="27432" bIns="18288">
            <a:normAutofit fontScale="92500" lnSpcReduction="10000"/>
          </a:bodyPr>
          <a:lstStyle/>
          <a:p>
            <a:pPr algn="l">
              <a:defRPr>
                <a:latin typeface="Arial"/>
              </a:defRPr>
            </a:pPr>
            <a:r>
              <a:rPr sz="2000" b="1">
                <a:solidFill>
                  <a:srgbClr val="000000"/>
                </a:solidFill>
                <a:latin typeface="Arial"/>
              </a:rPr>
              <a:t>Concurrent execution metrics</a:t>
            </a:r>
          </a:p>
        </p:txBody>
      </p:sp>
      <p:cxnSp>
        <p:nvCxnSpPr>
          <p:cNvPr id="40" name="Connector 39"/>
          <p:cNvCxnSpPr/>
          <p:nvPr/>
        </p:nvCxnSpPr>
        <p:spPr>
          <a:xfrm>
            <a:off x="658368" y="5262372"/>
            <a:ext cx="406908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920240" y="4983480"/>
            <a:ext cx="1554480" cy="228600"/>
          </a:xfrm>
          <a:prstGeom prst="rect">
            <a:avLst/>
          </a:prstGeom>
          <a:noFill/>
        </p:spPr>
        <p:txBody>
          <a:bodyPr wrap="square" lIns="27432" tIns="18288" rIns="27432" bIns="18288">
            <a:normAutofit fontScale="92500" lnSpcReduction="20000"/>
          </a:bodyPr>
          <a:lstStyle/>
          <a:p>
            <a:pPr algn="ctr">
              <a:defRPr>
                <a:latin typeface="Arial"/>
              </a:defRPr>
            </a:pPr>
            <a:r>
              <a:rPr sz="1600" b="1">
                <a:solidFill>
                  <a:srgbClr val="000000"/>
                </a:solidFill>
                <a:latin typeface="Arial"/>
              </a:rPr>
              <a:t>Global span</a:t>
            </a:r>
          </a:p>
        </p:txBody>
      </p:sp>
      <p:cxnSp>
        <p:nvCxnSpPr>
          <p:cNvPr id="42" name="Connector 41"/>
          <p:cNvCxnSpPr/>
          <p:nvPr/>
        </p:nvCxnSpPr>
        <p:spPr>
          <a:xfrm>
            <a:off x="685800" y="5650992"/>
            <a:ext cx="2057400" cy="0"/>
          </a:xfrm>
          <a:prstGeom prst="line">
            <a:avLst/>
          </a:prstGeom>
          <a:ln w="15240">
            <a:solidFill>
              <a:srgbClr val="00000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51560" y="5376672"/>
            <a:ext cx="1554480" cy="228600"/>
          </a:xfrm>
          <a:prstGeom prst="rect">
            <a:avLst/>
          </a:prstGeom>
          <a:noFill/>
        </p:spPr>
        <p:txBody>
          <a:bodyPr wrap="square" lIns="27432" tIns="18288" rIns="27432" bIns="18288">
            <a:normAutofit fontScale="92500" lnSpcReduction="20000"/>
          </a:bodyPr>
          <a:lstStyle/>
          <a:p>
            <a:pPr algn="ctr">
              <a:defRPr>
                <a:latin typeface="Arial"/>
              </a:defRPr>
            </a:pPr>
            <a:r>
              <a:rPr sz="1600" b="1">
                <a:solidFill>
                  <a:srgbClr val="000000"/>
                </a:solidFill>
                <a:latin typeface="Arial"/>
              </a:rPr>
              <a:t>Arrival skew</a:t>
            </a:r>
          </a:p>
        </p:txBody>
      </p:sp>
      <p:sp>
        <p:nvSpPr>
          <p:cNvPr id="44" name="Rounded Rectangle 43"/>
          <p:cNvSpPr/>
          <p:nvPr/>
        </p:nvSpPr>
        <p:spPr>
          <a:xfrm>
            <a:off x="6126480" y="4676938"/>
            <a:ext cx="5486400" cy="1447423"/>
          </a:xfrm>
          <a:prstGeom prst="roundRect">
            <a:avLst/>
          </a:pr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normAutofit/>
          </a:bodyPr>
          <a:lstStyle/>
          <a:p>
            <a:pPr algn="ctr">
              <a:defRPr>
                <a:latin typeface="Arial"/>
              </a:defRPr>
            </a:pPr>
            <a:r>
              <a:rPr sz="1600" b="1" dirty="0">
                <a:solidFill>
                  <a:srgbClr val="000000"/>
                </a:solidFill>
                <a:latin typeface="Arial"/>
              </a:rPr>
              <a:t>Global span</a:t>
            </a:r>
            <a:r>
              <a:rPr sz="1600" b="0" dirty="0">
                <a:solidFill>
                  <a:srgbClr val="000000"/>
                </a:solidFill>
                <a:latin typeface="Arial"/>
              </a:rPr>
              <a:t>: first received file → last received file</a:t>
            </a:r>
          </a:p>
          <a:p>
            <a:pPr algn="ctr">
              <a:defRPr>
                <a:latin typeface="Arial"/>
              </a:defRPr>
            </a:pPr>
            <a:r>
              <a:rPr sz="1600" b="1" dirty="0">
                <a:solidFill>
                  <a:srgbClr val="000000"/>
                </a:solidFill>
                <a:latin typeface="Arial"/>
              </a:rPr>
              <a:t>Arrival skew</a:t>
            </a:r>
            <a:r>
              <a:rPr sz="1600" b="0" dirty="0">
                <a:solidFill>
                  <a:srgbClr val="000000"/>
                </a:solidFill>
                <a:latin typeface="Arial"/>
              </a:rPr>
              <a:t>: earliest sender arrival → latest sender arrival</a:t>
            </a:r>
          </a:p>
        </p:txBody>
      </p:sp>
      <p:sp>
        <p:nvSpPr>
          <p:cNvPr id="3" name="テキスト ボックス 2">
            <a:extLst>
              <a:ext uri="{FF2B5EF4-FFF2-40B4-BE49-F238E27FC236}">
                <a16:creationId xmlns:a16="http://schemas.microsoft.com/office/drawing/2014/main" id="{22FF2DAA-67B8-A736-597B-A3F0CC95F663}"/>
              </a:ext>
            </a:extLst>
          </p:cNvPr>
          <p:cNvSpPr txBox="1"/>
          <p:nvPr/>
        </p:nvSpPr>
        <p:spPr>
          <a:xfrm>
            <a:off x="6279968" y="2081034"/>
            <a:ext cx="5790112" cy="652486"/>
          </a:xfrm>
          <a:prstGeom prst="rect">
            <a:avLst/>
          </a:prstGeom>
          <a:noFill/>
        </p:spPr>
        <p:txBody>
          <a:bodyPr wrap="square" lIns="27432" tIns="18288" rIns="27432" bIns="18288">
            <a:spAutoFit/>
          </a:bodyPr>
          <a:lstStyle/>
          <a:p>
            <a:pPr marL="0" indent="0" algn="ctr">
              <a:buNone/>
              <a:defRPr>
                <a:latin typeface="Arial"/>
              </a:defRPr>
            </a:pPr>
            <a:r>
              <a:rPr lang="en-US" altLang="ja-JP" sz="1800" b="0" dirty="0" err="1">
                <a:solidFill>
                  <a:srgbClr val="000000"/>
                </a:solidFill>
                <a:latin typeface="Arial"/>
                <a:ea typeface="Arial" pitchFamily="34" charset="-122"/>
                <a:cs typeface="Arial" panose="020B0604020202020204" pitchFamily="34" charset="0"/>
              </a:rPr>
              <a:t>T_corrected</a:t>
            </a:r>
            <a:r>
              <a:rPr lang="en-US" altLang="ja-JP" sz="1800" b="0" dirty="0">
                <a:solidFill>
                  <a:srgbClr val="000000"/>
                </a:solidFill>
                <a:latin typeface="Arial"/>
                <a:ea typeface="Arial" pitchFamily="34" charset="-122"/>
                <a:cs typeface="Arial" panose="020B0604020202020204" pitchFamily="34" charset="0"/>
              </a:rPr>
              <a:t> =</a:t>
            </a:r>
          </a:p>
          <a:p>
            <a:pPr marL="0" indent="0" algn="ctr">
              <a:buNone/>
              <a:defRPr>
                <a:latin typeface="Arial"/>
              </a:defRPr>
            </a:pPr>
            <a:r>
              <a:rPr lang="en-US" altLang="ja-JP" sz="1800" b="0" dirty="0">
                <a:solidFill>
                  <a:srgbClr val="000000"/>
                </a:solidFill>
                <a:latin typeface="Arial"/>
                <a:ea typeface="Arial" pitchFamily="34" charset="-122"/>
                <a:cs typeface="Arial" panose="020B0604020202020204" pitchFamily="34" charset="0"/>
              </a:rPr>
              <a:t> sum over senders (</a:t>
            </a:r>
            <a:r>
              <a:rPr lang="en-US" altLang="ja-JP" sz="1800" b="0" dirty="0" err="1">
                <a:solidFill>
                  <a:srgbClr val="000000"/>
                </a:solidFill>
                <a:latin typeface="Arial"/>
                <a:ea typeface="Arial" pitchFamily="34" charset="-122"/>
                <a:cs typeface="Arial" panose="020B0604020202020204" pitchFamily="34" charset="0"/>
              </a:rPr>
              <a:t>t_last,sender</a:t>
            </a:r>
            <a:r>
              <a:rPr lang="en-US" altLang="ja-JP" sz="1800" b="0" dirty="0">
                <a:solidFill>
                  <a:srgbClr val="000000"/>
                </a:solidFill>
                <a:latin typeface="Arial"/>
                <a:ea typeface="Arial" pitchFamily="34" charset="-122"/>
                <a:cs typeface="Arial" panose="020B0604020202020204" pitchFamily="34" charset="0"/>
              </a:rPr>
              <a:t> - </a:t>
            </a:r>
            <a:r>
              <a:rPr lang="en-US" altLang="ja-JP" sz="1800" b="0" dirty="0" err="1">
                <a:solidFill>
                  <a:srgbClr val="000000"/>
                </a:solidFill>
                <a:latin typeface="Arial"/>
                <a:ea typeface="Arial" pitchFamily="34" charset="-122"/>
                <a:cs typeface="Arial" panose="020B0604020202020204" pitchFamily="34" charset="0"/>
              </a:rPr>
              <a:t>t_first,sender</a:t>
            </a:r>
            <a:r>
              <a:rPr lang="en-US" altLang="ja-JP" sz="1800" b="0" dirty="0">
                <a:solidFill>
                  <a:srgbClr val="000000"/>
                </a:solidFill>
                <a:latin typeface="Arial"/>
                <a:ea typeface="Arial" pitchFamily="34" charset="-122"/>
                <a:cs typeface="Arial" panose="020B0604020202020204" pitchFamily="34" charset="0"/>
              </a:rPr>
              <a:t>)</a:t>
            </a:r>
            <a:endParaRPr lang="en-US" altLang="ja-JP" sz="2000" dirty="0">
              <a:latin typeface="+mj-lt"/>
              <a:cs typeface="Arial" panose="020B0604020202020204" pitchFamily="34" charset="0"/>
            </a:endParaRPr>
          </a:p>
        </p:txBody>
      </p:sp>
      <p:sp>
        <p:nvSpPr>
          <p:cNvPr id="5" name="Rounded Rectangle 36">
            <a:extLst>
              <a:ext uri="{FF2B5EF4-FFF2-40B4-BE49-F238E27FC236}">
                <a16:creationId xmlns:a16="http://schemas.microsoft.com/office/drawing/2014/main" id="{22DE3BFF-3976-4EFC-82CE-A25251319B46}"/>
              </a:ext>
            </a:extLst>
          </p:cNvPr>
          <p:cNvSpPr/>
          <p:nvPr/>
        </p:nvSpPr>
        <p:spPr>
          <a:xfrm>
            <a:off x="6778754" y="1211580"/>
            <a:ext cx="4343400" cy="777240"/>
          </a:xfrm>
          <a:prstGeom prst="roundRect">
            <a:avLst/>
          </a:pr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normAutofit/>
          </a:bodyPr>
          <a:lstStyle/>
          <a:p>
            <a:pPr algn="ctr">
              <a:defRPr>
                <a:latin typeface="Arial"/>
              </a:defRPr>
            </a:pPr>
            <a:r>
              <a:rPr sz="2000" b="1" dirty="0">
                <a:solidFill>
                  <a:srgbClr val="000000"/>
                </a:solidFill>
                <a:latin typeface="Arial"/>
              </a:rPr>
              <a:t>Corrected transfer time</a:t>
            </a:r>
          </a:p>
          <a:p>
            <a:pPr algn="ctr">
              <a:defRPr>
                <a:latin typeface="Arial"/>
              </a:defRPr>
            </a:pPr>
            <a:r>
              <a:rPr sz="2000" b="1" dirty="0">
                <a:solidFill>
                  <a:srgbClr val="000000"/>
                </a:solidFill>
                <a:latin typeface="Arial"/>
              </a:rPr>
              <a:t>= Σ sender span</a:t>
            </a:r>
          </a:p>
        </p:txBody>
      </p:sp>
      <p:sp>
        <p:nvSpPr>
          <p:cNvPr id="6" name="テキスト ボックス 5">
            <a:extLst>
              <a:ext uri="{FF2B5EF4-FFF2-40B4-BE49-F238E27FC236}">
                <a16:creationId xmlns:a16="http://schemas.microsoft.com/office/drawing/2014/main" id="{CB2868E0-DE7F-1246-01BD-C698DA7A9B00}"/>
              </a:ext>
            </a:extLst>
          </p:cNvPr>
          <p:cNvSpPr txBox="1"/>
          <p:nvPr/>
        </p:nvSpPr>
        <p:spPr>
          <a:xfrm>
            <a:off x="7101096" y="3109067"/>
            <a:ext cx="3534936" cy="923330"/>
          </a:xfrm>
          <a:prstGeom prst="rect">
            <a:avLst/>
          </a:prstGeom>
          <a:noFill/>
        </p:spPr>
        <p:txBody>
          <a:bodyPr wrap="square" lIns="27432" tIns="18288" rIns="27432" bIns="18288" rtlCol="0">
            <a:spAutoFit/>
          </a:bodyPr>
          <a:lstStyle/>
          <a:p>
            <a:pPr algn="ctr">
              <a:defRPr>
                <a:latin typeface="Arial"/>
              </a:defRPr>
            </a:pPr>
            <a:r>
              <a:rPr lang="en-US" altLang="ja-JP" sz="1600" b="0" dirty="0">
                <a:solidFill>
                  <a:srgbClr val="000000"/>
                </a:solidFill>
                <a:latin typeface="Arial"/>
              </a:rPr>
              <a:t>Removes manual idle time</a:t>
            </a:r>
          </a:p>
          <a:p>
            <a:pPr algn="ctr">
              <a:defRPr>
                <a:latin typeface="Arial"/>
              </a:defRPr>
            </a:pPr>
            <a:r>
              <a:rPr lang="en-US" altLang="ja-JP" sz="1600" b="0" dirty="0">
                <a:solidFill>
                  <a:srgbClr val="000000"/>
                </a:solidFill>
                <a:latin typeface="Arial"/>
              </a:rPr>
              <a:t>Not pure network latency</a:t>
            </a:r>
          </a:p>
          <a:p>
            <a:pPr>
              <a:defRPr>
                <a:latin typeface="Arial"/>
              </a:defRPr>
            </a:pPr>
            <a:endParaRPr kumimoji="1" lang="ja-JP" altLang="en-US"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11109960" cy="502920"/>
          </a:xfrm>
          <a:prstGeom prst="rect">
            <a:avLst/>
          </a:prstGeom>
          <a:noFill/>
          <a:ln>
            <a:noFill/>
          </a:ln>
        </p:spPr>
        <p:txBody>
          <a:bodyPr wrap="none" lIns="27432" tIns="18288" rIns="27432" bIns="18288" rtlCol="0" anchor="ctr">
            <a:normAutofit/>
          </a:bodyPr>
          <a:lstStyle/>
          <a:p>
            <a:pPr algn="l">
              <a:defRPr sz="2800" b="1">
                <a:solidFill>
                  <a:srgbClr val="000000"/>
                </a:solidFill>
                <a:latin typeface="Arial"/>
              </a:defRPr>
            </a:pPr>
            <a:r>
              <a:rPr sz="2800" b="1" dirty="0">
                <a:solidFill>
                  <a:srgbClr val="000000"/>
                </a:solidFill>
                <a:latin typeface="Arial"/>
              </a:rPr>
              <a:t>Result 1: Workflow Feasibility</a:t>
            </a:r>
          </a:p>
        </p:txBody>
      </p:sp>
      <p:sp>
        <p:nvSpPr>
          <p:cNvPr id="5" name="Text 3"/>
          <p:cNvSpPr/>
          <p:nvPr/>
        </p:nvSpPr>
        <p:spPr>
          <a:xfrm>
            <a:off x="502920" y="1599531"/>
            <a:ext cx="548640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1" dirty="0">
                <a:solidFill>
                  <a:srgbClr val="000000"/>
                </a:solidFill>
                <a:latin typeface="Arial"/>
                <a:ea typeface="Arial" pitchFamily="34" charset="-122"/>
                <a:cs typeface="Arial" panose="020B0604020202020204" pitchFamily="34" charset="0"/>
              </a:rPr>
              <a:t>Configuration</a:t>
            </a:r>
            <a:endParaRPr lang="en-US" sz="2400" dirty="0">
              <a:latin typeface="+mj-lt"/>
              <a:cs typeface="Arial" panose="020B0604020202020204" pitchFamily="34" charset="0"/>
            </a:endParaRPr>
          </a:p>
        </p:txBody>
      </p:sp>
      <p:sp>
        <p:nvSpPr>
          <p:cNvPr id="6" name="Text 4"/>
          <p:cNvSpPr/>
          <p:nvPr/>
        </p:nvSpPr>
        <p:spPr>
          <a:xfrm>
            <a:off x="5989320" y="1599531"/>
            <a:ext cx="219456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anose="020B0604020202020204" pitchFamily="34" charset="0"/>
              </a:rPr>
              <a:t>Final neurons</a:t>
            </a:r>
            <a:endParaRPr lang="en-US" sz="2400" dirty="0">
              <a:latin typeface="+mj-lt"/>
              <a:cs typeface="Arial" panose="020B0604020202020204" pitchFamily="34" charset="0"/>
            </a:endParaRPr>
          </a:p>
        </p:txBody>
      </p:sp>
      <p:sp>
        <p:nvSpPr>
          <p:cNvPr id="7" name="Text 5"/>
          <p:cNvSpPr/>
          <p:nvPr/>
        </p:nvSpPr>
        <p:spPr>
          <a:xfrm>
            <a:off x="8183880" y="1599531"/>
            <a:ext cx="201168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anose="020B0604020202020204" pitchFamily="34" charset="0"/>
              </a:rPr>
              <a:t>Accuracy</a:t>
            </a:r>
            <a:endParaRPr lang="en-US" sz="2400" dirty="0">
              <a:latin typeface="+mj-lt"/>
              <a:cs typeface="Arial" panose="020B0604020202020204" pitchFamily="34" charset="0"/>
            </a:endParaRPr>
          </a:p>
        </p:txBody>
      </p:sp>
      <p:sp>
        <p:nvSpPr>
          <p:cNvPr id="8" name="Text 6"/>
          <p:cNvSpPr/>
          <p:nvPr/>
        </p:nvSpPr>
        <p:spPr>
          <a:xfrm>
            <a:off x="502920" y="2038443"/>
            <a:ext cx="54864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3-sender asymmetric</a:t>
            </a:r>
            <a:endParaRPr lang="en-US" sz="2400" dirty="0">
              <a:latin typeface="+mj-lt"/>
              <a:cs typeface="Arial" panose="020B0604020202020204" pitchFamily="34" charset="0"/>
            </a:endParaRPr>
          </a:p>
        </p:txBody>
      </p:sp>
      <p:sp>
        <p:nvSpPr>
          <p:cNvPr id="9" name="Text 7"/>
          <p:cNvSpPr/>
          <p:nvPr/>
        </p:nvSpPr>
        <p:spPr>
          <a:xfrm>
            <a:off x="5989320" y="2038443"/>
            <a:ext cx="21945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300</a:t>
            </a:r>
            <a:endParaRPr lang="en-US" sz="2400" dirty="0">
              <a:latin typeface="+mj-lt"/>
              <a:cs typeface="Arial" panose="020B0604020202020204" pitchFamily="34" charset="0"/>
            </a:endParaRPr>
          </a:p>
        </p:txBody>
      </p:sp>
      <p:sp>
        <p:nvSpPr>
          <p:cNvPr id="10" name="Text 8"/>
          <p:cNvSpPr/>
          <p:nvPr/>
        </p:nvSpPr>
        <p:spPr>
          <a:xfrm>
            <a:off x="8183880" y="2038443"/>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0.8676</a:t>
            </a:r>
            <a:endParaRPr lang="en-US" sz="2400" dirty="0">
              <a:latin typeface="+mj-lt"/>
              <a:cs typeface="Arial" panose="020B0604020202020204" pitchFamily="34" charset="0"/>
            </a:endParaRPr>
          </a:p>
        </p:txBody>
      </p:sp>
      <p:sp>
        <p:nvSpPr>
          <p:cNvPr id="11" name="Text 9"/>
          <p:cNvSpPr/>
          <p:nvPr/>
        </p:nvSpPr>
        <p:spPr>
          <a:xfrm>
            <a:off x="502920" y="2477355"/>
            <a:ext cx="54864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9-sender symmetric</a:t>
            </a:r>
            <a:endParaRPr lang="en-US" sz="2400" dirty="0">
              <a:latin typeface="+mj-lt"/>
              <a:cs typeface="Arial" panose="020B0604020202020204" pitchFamily="34" charset="0"/>
            </a:endParaRPr>
          </a:p>
        </p:txBody>
      </p:sp>
      <p:sp>
        <p:nvSpPr>
          <p:cNvPr id="12" name="Text 10"/>
          <p:cNvSpPr/>
          <p:nvPr/>
        </p:nvSpPr>
        <p:spPr>
          <a:xfrm>
            <a:off x="5989320" y="2477355"/>
            <a:ext cx="21945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800</a:t>
            </a:r>
            <a:endParaRPr lang="en-US" sz="2400" dirty="0">
              <a:latin typeface="+mj-lt"/>
              <a:cs typeface="Arial" panose="020B0604020202020204" pitchFamily="34" charset="0"/>
            </a:endParaRPr>
          </a:p>
        </p:txBody>
      </p:sp>
      <p:sp>
        <p:nvSpPr>
          <p:cNvPr id="13" name="Text 11"/>
          <p:cNvSpPr/>
          <p:nvPr/>
        </p:nvSpPr>
        <p:spPr>
          <a:xfrm>
            <a:off x="8183880" y="2477355"/>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0.8800</a:t>
            </a:r>
            <a:endParaRPr lang="en-US" sz="2400" dirty="0">
              <a:latin typeface="+mj-lt"/>
              <a:cs typeface="Arial" panose="020B0604020202020204" pitchFamily="34" charset="0"/>
            </a:endParaRPr>
          </a:p>
        </p:txBody>
      </p:sp>
      <p:sp>
        <p:nvSpPr>
          <p:cNvPr id="14" name="Text 12"/>
          <p:cNvSpPr/>
          <p:nvPr/>
        </p:nvSpPr>
        <p:spPr>
          <a:xfrm>
            <a:off x="502920" y="2916267"/>
            <a:ext cx="54864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9-sender asymmetric, initial</a:t>
            </a:r>
            <a:endParaRPr lang="en-US" sz="2400" dirty="0">
              <a:latin typeface="+mj-lt"/>
              <a:cs typeface="Arial" panose="020B0604020202020204" pitchFamily="34" charset="0"/>
            </a:endParaRPr>
          </a:p>
        </p:txBody>
      </p:sp>
      <p:sp>
        <p:nvSpPr>
          <p:cNvPr id="15" name="Text 13"/>
          <p:cNvSpPr/>
          <p:nvPr/>
        </p:nvSpPr>
        <p:spPr>
          <a:xfrm>
            <a:off x="5989320" y="2916267"/>
            <a:ext cx="21945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1000</a:t>
            </a:r>
            <a:endParaRPr lang="en-US" sz="2400" dirty="0">
              <a:latin typeface="+mj-lt"/>
              <a:cs typeface="Arial" panose="020B0604020202020204" pitchFamily="34" charset="0"/>
            </a:endParaRPr>
          </a:p>
        </p:txBody>
      </p:sp>
      <p:sp>
        <p:nvSpPr>
          <p:cNvPr id="16" name="Text 14"/>
          <p:cNvSpPr/>
          <p:nvPr/>
        </p:nvSpPr>
        <p:spPr>
          <a:xfrm>
            <a:off x="8183880" y="2916267"/>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0.5719</a:t>
            </a:r>
            <a:endParaRPr lang="en-US" sz="2400" dirty="0">
              <a:latin typeface="+mj-lt"/>
              <a:cs typeface="Arial" panose="020B0604020202020204" pitchFamily="34" charset="0"/>
            </a:endParaRPr>
          </a:p>
        </p:txBody>
      </p:sp>
      <p:sp>
        <p:nvSpPr>
          <p:cNvPr id="17" name="Text 15"/>
          <p:cNvSpPr/>
          <p:nvPr/>
        </p:nvSpPr>
        <p:spPr>
          <a:xfrm>
            <a:off x="502920" y="3355179"/>
            <a:ext cx="54864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9-sender asymmetric, improved</a:t>
            </a:r>
            <a:endParaRPr lang="en-US" sz="2400" dirty="0">
              <a:latin typeface="+mj-lt"/>
              <a:cs typeface="Arial" panose="020B0604020202020204" pitchFamily="34" charset="0"/>
            </a:endParaRPr>
          </a:p>
        </p:txBody>
      </p:sp>
      <p:sp>
        <p:nvSpPr>
          <p:cNvPr id="18" name="Text 16"/>
          <p:cNvSpPr/>
          <p:nvPr/>
        </p:nvSpPr>
        <p:spPr>
          <a:xfrm>
            <a:off x="5989320" y="3355179"/>
            <a:ext cx="21945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1000</a:t>
            </a:r>
            <a:endParaRPr lang="en-US" sz="2400" dirty="0">
              <a:latin typeface="+mj-lt"/>
              <a:cs typeface="Arial" panose="020B0604020202020204" pitchFamily="34" charset="0"/>
            </a:endParaRPr>
          </a:p>
        </p:txBody>
      </p:sp>
      <p:sp>
        <p:nvSpPr>
          <p:cNvPr id="19" name="Text 17"/>
          <p:cNvSpPr/>
          <p:nvPr/>
        </p:nvSpPr>
        <p:spPr>
          <a:xfrm>
            <a:off x="8183880" y="3355179"/>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0.8232</a:t>
            </a:r>
            <a:endParaRPr lang="en-US" sz="2400" dirty="0">
              <a:latin typeface="+mj-lt"/>
              <a:cs typeface="Arial" panose="020B0604020202020204" pitchFamily="34" charset="0"/>
            </a:endParaRPr>
          </a:p>
        </p:txBody>
      </p:sp>
      <p:sp>
        <p:nvSpPr>
          <p:cNvPr id="20" name="Text 18"/>
          <p:cNvSpPr/>
          <p:nvPr/>
        </p:nvSpPr>
        <p:spPr>
          <a:xfrm>
            <a:off x="594360" y="4983480"/>
            <a:ext cx="10607040" cy="594360"/>
          </a:xfrm>
          <a:prstGeom prst="rect">
            <a:avLst/>
          </a:prstGeom>
          <a:noFill/>
          <a:ln/>
        </p:spPr>
        <p:txBody>
          <a:bodyPr wrap="square" lIns="27432" tIns="18288" rIns="27432" bIns="18288" rtlCol="0" anchor="t">
            <a:normAutofit/>
          </a:bodyPr>
          <a:lstStyle/>
          <a:p>
            <a:pPr marL="228600" indent="-228600">
              <a:buSzPct val="100000"/>
              <a:buChar char="•"/>
              <a:defRPr>
                <a:latin typeface="Arial"/>
              </a:defRPr>
            </a:pPr>
            <a:r>
              <a:rPr lang="ja-JP" altLang="ja-JP" sz="2000" b="0" dirty="0">
                <a:solidFill>
                  <a:srgbClr val="000000"/>
                </a:solidFill>
                <a:latin typeface="Arial" panose="020B0604020202020204" pitchFamily="34" charset="0"/>
                <a:cs typeface="Arial" panose="020B0604020202020204" pitchFamily="34" charset="0"/>
              </a:rPr>
              <a:t>TCP, ZeroMQ, and gRPC successfully transferred the required model-related files.</a:t>
            </a:r>
            <a:endParaRPr lang="en-US" altLang="ja-JP" sz="2400" dirty="0">
              <a:latin typeface="Arial" panose="020B0604020202020204" pitchFamily="34" charset="0"/>
              <a:cs typeface="Arial" panose="020B0604020202020204" pitchFamily="34" charset="0"/>
            </a:endParaRPr>
          </a:p>
          <a:p>
            <a:pPr>
              <a:buSzPct val="100000"/>
              <a:defRPr>
                <a:latin typeface="Arial"/>
              </a:defRPr>
            </a:pPr>
            <a:endParaRPr lang="en-US" sz="2200" dirty="0">
              <a:latin typeface="Arial" panose="020B0604020202020204" pitchFamily="34" charset="0"/>
              <a:cs typeface="Arial" panose="020B0604020202020204" pitchFamily="34" charset="0"/>
            </a:endParaRPr>
          </a:p>
        </p:txBody>
      </p:sp>
      <p:sp>
        <p:nvSpPr>
          <p:cNvPr id="22" name="TextBox 21"/>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13</a:t>
            </a:r>
          </a:p>
        </p:txBody>
      </p:sp>
      <p:sp>
        <p:nvSpPr>
          <p:cNvPr id="23" name="テキスト ボックス 22">
            <a:extLst>
              <a:ext uri="{FF2B5EF4-FFF2-40B4-BE49-F238E27FC236}">
                <a16:creationId xmlns:a16="http://schemas.microsoft.com/office/drawing/2014/main" id="{1A9ECB05-D3B0-967E-E5CB-412F71A3BE48}"/>
              </a:ext>
            </a:extLst>
          </p:cNvPr>
          <p:cNvSpPr txBox="1"/>
          <p:nvPr/>
        </p:nvSpPr>
        <p:spPr>
          <a:xfrm>
            <a:off x="594360" y="4160520"/>
            <a:ext cx="8961120" cy="411480"/>
          </a:xfrm>
          <a:prstGeom prst="rect">
            <a:avLst/>
          </a:prstGeom>
          <a:noFill/>
        </p:spPr>
        <p:txBody>
          <a:bodyPr wrap="square" lIns="27432" tIns="18288" rIns="27432" bIns="18288">
            <a:spAutoFit/>
          </a:bodyPr>
          <a:lstStyle/>
          <a:p>
            <a:pPr>
              <a:defRPr>
                <a:latin typeface="Arial"/>
              </a:defRPr>
            </a:pPr>
            <a:r>
              <a:rPr lang="ja-JP" altLang="ja-JP" sz="2000" b="0" dirty="0">
                <a:solidFill>
                  <a:srgbClr val="000000"/>
                </a:solidFill>
                <a:latin typeface="Arial"/>
                <a:cs typeface="Arial" panose="020B0604020202020204" pitchFamily="34" charset="0"/>
              </a:rPr>
              <a:t>3-sender asymmetric: TCP = ZeroMQ = gRPC = 0.8676</a:t>
            </a:r>
            <a:endParaRPr lang="ja-JP" altLang="en-US" sz="2400" dirty="0">
              <a:latin typeface="+mj-lt"/>
              <a:cs typeface="Arial" panose="020B0604020202020204" pitchFamily="34" charset="0"/>
            </a:endParaRPr>
          </a:p>
        </p:txBody>
      </p:sp>
      <p:sp>
        <p:nvSpPr>
          <p:cNvPr id="2" name="テキスト ボックス 1">
            <a:extLst>
              <a:ext uri="{FF2B5EF4-FFF2-40B4-BE49-F238E27FC236}">
                <a16:creationId xmlns:a16="http://schemas.microsoft.com/office/drawing/2014/main" id="{DE2AF9AC-DC56-35B1-1DF0-6E3F9780526E}"/>
              </a:ext>
            </a:extLst>
          </p:cNvPr>
          <p:cNvSpPr txBox="1"/>
          <p:nvPr/>
        </p:nvSpPr>
        <p:spPr>
          <a:xfrm>
            <a:off x="594360" y="960120"/>
            <a:ext cx="9875520" cy="430887"/>
          </a:xfrm>
          <a:prstGeom prst="rect">
            <a:avLst/>
          </a:prstGeom>
          <a:noFill/>
        </p:spPr>
        <p:txBody>
          <a:bodyPr wrap="square" lIns="27432" tIns="18288" rIns="27432" bIns="18288" rtlCol="0">
            <a:spAutoFit/>
          </a:bodyPr>
          <a:lstStyle/>
          <a:p>
            <a:pPr>
              <a:defRPr>
                <a:latin typeface="Arial"/>
              </a:defRPr>
            </a:pPr>
            <a:r>
              <a:rPr lang="ja-JP" altLang="ja-JP" sz="1800" b="1" dirty="0">
                <a:solidFill>
                  <a:srgbClr val="000000"/>
                </a:solidFill>
                <a:latin typeface="Arial"/>
              </a:rPr>
              <a:t>Purpose: Verify workflow feasibility and final model correctness.</a:t>
            </a:r>
            <a:endParaRPr kumimoji="1" lang="ja-JP" altLang="en-US" sz="22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11109960" cy="502920"/>
          </a:xfrm>
          <a:prstGeom prst="rect">
            <a:avLst/>
          </a:prstGeom>
          <a:noFill/>
          <a:ln>
            <a:noFill/>
          </a:ln>
        </p:spPr>
        <p:txBody>
          <a:bodyPr wrap="none" lIns="27432" tIns="18288" rIns="27432" bIns="18288" rtlCol="0" anchor="ctr">
            <a:normAutofit/>
          </a:bodyPr>
          <a:lstStyle/>
          <a:p>
            <a:pPr algn="l">
              <a:defRPr sz="2800" b="1">
                <a:solidFill>
                  <a:srgbClr val="000000"/>
                </a:solidFill>
                <a:latin typeface="Arial"/>
              </a:defRPr>
            </a:pPr>
            <a:r>
              <a:rPr sz="2800" b="1" dirty="0">
                <a:solidFill>
                  <a:srgbClr val="000000"/>
                </a:solidFill>
                <a:latin typeface="Arial"/>
              </a:rPr>
              <a:t>Result 2-A: Sequential vs Concurrent Execution</a:t>
            </a:r>
          </a:p>
        </p:txBody>
      </p:sp>
      <p:pic>
        <p:nvPicPr>
          <p:cNvPr id="5" name="Image 0" descr="/mnt/data/sequential_vs_concurrent_global_span(2).png"/>
          <p:cNvPicPr>
            <a:picLocks noChangeAspect="1"/>
          </p:cNvPicPr>
          <p:nvPr/>
        </p:nvPicPr>
        <p:blipFill>
          <a:blip r:embed="rId3"/>
          <a:stretch>
            <a:fillRect/>
          </a:stretch>
        </p:blipFill>
        <p:spPr>
          <a:xfrm>
            <a:off x="502920" y="1848394"/>
            <a:ext cx="6675120" cy="4005072"/>
          </a:xfrm>
          <a:prstGeom prst="rect">
            <a:avLst/>
          </a:prstGeom>
        </p:spPr>
      </p:pic>
      <p:sp>
        <p:nvSpPr>
          <p:cNvPr id="6" name="Text 3"/>
          <p:cNvSpPr/>
          <p:nvPr/>
        </p:nvSpPr>
        <p:spPr>
          <a:xfrm>
            <a:off x="7321731" y="1848394"/>
            <a:ext cx="2011680" cy="484632"/>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1" dirty="0">
                <a:solidFill>
                  <a:srgbClr val="000000"/>
                </a:solidFill>
                <a:latin typeface="Arial"/>
                <a:ea typeface="Arial" pitchFamily="34" charset="-122"/>
                <a:cs typeface="Arial" panose="020B0604020202020204" pitchFamily="34" charset="0"/>
              </a:rPr>
              <a:t>Approach</a:t>
            </a:r>
            <a:endParaRPr lang="en-US" sz="2100" dirty="0">
              <a:latin typeface="+mj-lt"/>
              <a:cs typeface="Arial" panose="020B0604020202020204" pitchFamily="34" charset="0"/>
            </a:endParaRPr>
          </a:p>
        </p:txBody>
      </p:sp>
      <p:sp>
        <p:nvSpPr>
          <p:cNvPr id="7" name="Text 4"/>
          <p:cNvSpPr/>
          <p:nvPr/>
        </p:nvSpPr>
        <p:spPr>
          <a:xfrm>
            <a:off x="9333411" y="1857538"/>
            <a:ext cx="1828800" cy="484632"/>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anose="020B0604020202020204" pitchFamily="34" charset="0"/>
              </a:rPr>
              <a:t>Reduction</a:t>
            </a:r>
            <a:endParaRPr lang="en-US" sz="2100" dirty="0">
              <a:latin typeface="+mj-lt"/>
              <a:cs typeface="Arial" panose="020B0604020202020204" pitchFamily="34" charset="0"/>
            </a:endParaRPr>
          </a:p>
        </p:txBody>
      </p:sp>
      <p:sp>
        <p:nvSpPr>
          <p:cNvPr id="8" name="Text 5"/>
          <p:cNvSpPr/>
          <p:nvPr/>
        </p:nvSpPr>
        <p:spPr>
          <a:xfrm>
            <a:off x="7321731" y="2360458"/>
            <a:ext cx="201168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TCP</a:t>
            </a:r>
            <a:endParaRPr lang="en-US" sz="2100" dirty="0">
              <a:latin typeface="+mj-lt"/>
              <a:cs typeface="Arial" panose="020B0604020202020204" pitchFamily="34" charset="0"/>
            </a:endParaRPr>
          </a:p>
        </p:txBody>
      </p:sp>
      <p:sp>
        <p:nvSpPr>
          <p:cNvPr id="9" name="Text 6"/>
          <p:cNvSpPr/>
          <p:nvPr/>
        </p:nvSpPr>
        <p:spPr>
          <a:xfrm>
            <a:off x="9333411" y="2360458"/>
            <a:ext cx="182880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81.90</a:t>
            </a:r>
            <a:r>
              <a:rPr lang="en-US" sz="2000" b="0" dirty="0">
                <a:solidFill>
                  <a:srgbClr val="000000"/>
                </a:solidFill>
                <a:latin typeface="Arial"/>
                <a:ea typeface="Arial" pitchFamily="34" charset="-122"/>
                <a:cs typeface="Arial" pitchFamily="34" charset="-120"/>
              </a:rPr>
              <a:t>%</a:t>
            </a:r>
            <a:endParaRPr lang="en-US" sz="2100" dirty="0">
              <a:latin typeface="+mj-lt"/>
            </a:endParaRPr>
          </a:p>
        </p:txBody>
      </p:sp>
      <p:sp>
        <p:nvSpPr>
          <p:cNvPr id="10" name="Text 7"/>
          <p:cNvSpPr/>
          <p:nvPr/>
        </p:nvSpPr>
        <p:spPr>
          <a:xfrm>
            <a:off x="7321731" y="2863378"/>
            <a:ext cx="201168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anose="020B0604020202020204" pitchFamily="34" charset="0"/>
              </a:rPr>
              <a:t>ZeroMQ</a:t>
            </a:r>
            <a:endParaRPr lang="en-US" sz="2100" dirty="0">
              <a:latin typeface="+mj-lt"/>
              <a:cs typeface="Arial" panose="020B0604020202020204" pitchFamily="34" charset="0"/>
            </a:endParaRPr>
          </a:p>
        </p:txBody>
      </p:sp>
      <p:sp>
        <p:nvSpPr>
          <p:cNvPr id="11" name="Text 8"/>
          <p:cNvSpPr/>
          <p:nvPr/>
        </p:nvSpPr>
        <p:spPr>
          <a:xfrm>
            <a:off x="9333411" y="2863378"/>
            <a:ext cx="182880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88.64</a:t>
            </a:r>
            <a:r>
              <a:rPr lang="en-US" sz="2000" b="0" dirty="0">
                <a:solidFill>
                  <a:srgbClr val="000000"/>
                </a:solidFill>
                <a:latin typeface="Arial"/>
                <a:ea typeface="Arial" pitchFamily="34" charset="-122"/>
                <a:cs typeface="Arial" pitchFamily="34" charset="-120"/>
              </a:rPr>
              <a:t>%</a:t>
            </a:r>
            <a:endParaRPr lang="en-US" sz="2100" dirty="0">
              <a:latin typeface="+mj-lt"/>
            </a:endParaRPr>
          </a:p>
        </p:txBody>
      </p:sp>
      <p:sp>
        <p:nvSpPr>
          <p:cNvPr id="12" name="Text 9"/>
          <p:cNvSpPr/>
          <p:nvPr/>
        </p:nvSpPr>
        <p:spPr>
          <a:xfrm>
            <a:off x="7321731" y="3366298"/>
            <a:ext cx="201168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err="1">
                <a:solidFill>
                  <a:srgbClr val="000000"/>
                </a:solidFill>
                <a:latin typeface="Arial"/>
                <a:ea typeface="Arial" pitchFamily="34" charset="-122"/>
                <a:cs typeface="Arial" panose="020B0604020202020204" pitchFamily="34" charset="0"/>
              </a:rPr>
              <a:t>gRPC</a:t>
            </a:r>
            <a:endParaRPr lang="en-US" sz="2100" dirty="0">
              <a:latin typeface="+mj-lt"/>
              <a:cs typeface="Arial" panose="020B0604020202020204" pitchFamily="34" charset="0"/>
            </a:endParaRPr>
          </a:p>
        </p:txBody>
      </p:sp>
      <p:sp>
        <p:nvSpPr>
          <p:cNvPr id="13" name="Text 10"/>
          <p:cNvSpPr/>
          <p:nvPr/>
        </p:nvSpPr>
        <p:spPr>
          <a:xfrm>
            <a:off x="9333411" y="3366298"/>
            <a:ext cx="1828800" cy="484632"/>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anose="020B0604020202020204" pitchFamily="34" charset="0"/>
              </a:rPr>
              <a:t>78.37%</a:t>
            </a:r>
            <a:endParaRPr lang="en-US" sz="2100" dirty="0">
              <a:latin typeface="+mj-lt"/>
              <a:cs typeface="Arial" panose="020B0604020202020204" pitchFamily="34" charset="0"/>
            </a:endParaRPr>
          </a:p>
        </p:txBody>
      </p:sp>
      <p:sp>
        <p:nvSpPr>
          <p:cNvPr id="14" name="Text 11"/>
          <p:cNvSpPr/>
          <p:nvPr/>
        </p:nvSpPr>
        <p:spPr>
          <a:xfrm>
            <a:off x="7080069" y="3809129"/>
            <a:ext cx="4532811" cy="2545951"/>
          </a:xfrm>
          <a:prstGeom prst="rect">
            <a:avLst/>
          </a:prstGeom>
          <a:noFill/>
          <a:ln/>
        </p:spPr>
        <p:txBody>
          <a:bodyPr wrap="square" lIns="27432" tIns="18288" rIns="27432" bIns="18288" rtlCol="0" anchor="t">
            <a:normAutofit/>
          </a:bodyPr>
          <a:lstStyle/>
          <a:p>
            <a:pPr>
              <a:buSzPct val="100000"/>
              <a:defRPr>
                <a:latin typeface="Arial"/>
              </a:defRPr>
            </a:pPr>
            <a:endParaRPr lang="en-US" sz="2000" dirty="0">
              <a:solidFill>
                <a:srgbClr val="000000"/>
              </a:solidFill>
              <a:latin typeface="+mj-lt"/>
              <a:ea typeface="Arial" pitchFamily="34" charset="-122"/>
              <a:cs typeface="Arial" panose="020B0604020202020204" pitchFamily="34" charset="0"/>
            </a:endParaRPr>
          </a:p>
          <a:p>
            <a:pPr marL="228600" indent="-228600">
              <a:buSzPct val="100000"/>
              <a:buChar char="•"/>
              <a:defRPr>
                <a:latin typeface="Arial"/>
              </a:defRPr>
            </a:pPr>
            <a:r>
              <a:rPr lang="ja-JP" altLang="ja-JP" sz="2000" dirty="0">
                <a:solidFill>
                  <a:srgbClr val="000000"/>
                </a:solidFill>
                <a:latin typeface="Arial"/>
                <a:cs typeface="Arial" panose="020B0604020202020204" pitchFamily="34" charset="0"/>
              </a:rPr>
              <a:t> The reduction ranged from </a:t>
            </a:r>
            <a:r>
              <a:rPr lang="ja-JP" altLang="ja-JP" sz="2000" b="1" dirty="0">
                <a:solidFill>
                  <a:srgbClr val="000000"/>
                </a:solidFill>
                <a:latin typeface="Arial"/>
                <a:cs typeface="Arial" panose="020B0604020202020204" pitchFamily="34" charset="0"/>
              </a:rPr>
              <a:t>78.37% to 88.64%</a:t>
            </a:r>
            <a:r>
              <a:rPr lang="ja-JP" altLang="ja-JP" sz="2000" dirty="0">
                <a:solidFill>
                  <a:srgbClr val="000000"/>
                </a:solidFill>
                <a:latin typeface="Arial"/>
                <a:cs typeface="Arial" panose="020B0604020202020204" pitchFamily="34" charset="0"/>
              </a:rPr>
              <a:t>.</a:t>
            </a:r>
            <a:endParaRPr lang="en-US" altLang="ja-JP" sz="2000" dirty="0">
              <a:latin typeface="+mj-lt"/>
              <a:cs typeface="Arial" panose="020B0604020202020204" pitchFamily="34" charset="0"/>
            </a:endParaRPr>
          </a:p>
          <a:p>
            <a:pPr marL="228600" indent="-228600">
              <a:buSzPct val="100000"/>
              <a:buChar char="•"/>
              <a:defRPr>
                <a:latin typeface="Arial"/>
              </a:defRPr>
            </a:pPr>
            <a:endParaRPr lang="en-US" altLang="ja-JP" sz="2000" dirty="0">
              <a:latin typeface="+mj-lt"/>
              <a:cs typeface="Arial" panose="020B0604020202020204" pitchFamily="34" charset="0"/>
            </a:endParaRPr>
          </a:p>
          <a:p>
            <a:pPr marL="228600" indent="-228600">
              <a:buSzPct val="100000"/>
              <a:buChar char="•"/>
              <a:defRPr>
                <a:latin typeface="Arial"/>
              </a:defRPr>
            </a:pPr>
            <a:r>
              <a:rPr lang="ja-JP" altLang="ja-JP" sz="2000" dirty="0">
                <a:solidFill>
                  <a:srgbClr val="000000"/>
                </a:solidFill>
                <a:latin typeface="Arial"/>
                <a:cs typeface="Arial" panose="020B0604020202020204" pitchFamily="34" charset="0"/>
              </a:rPr>
              <a:t>Sender execution mode has a large impact on the overall completion time</a:t>
            </a:r>
            <a:r>
              <a:rPr lang="ja-JP" altLang="ja-JP" sz="2000" dirty="0">
                <a:solidFill>
                  <a:srgbClr val="000000"/>
                </a:solidFill>
                <a:latin typeface="Arial"/>
              </a:rPr>
              <a:t>.</a:t>
            </a:r>
            <a:endParaRPr lang="en-US" sz="2000" dirty="0">
              <a:latin typeface="+mj-lt"/>
            </a:endParaRPr>
          </a:p>
        </p:txBody>
      </p:sp>
      <p:sp>
        <p:nvSpPr>
          <p:cNvPr id="15" name="TextBox 14"/>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14</a:t>
            </a:r>
          </a:p>
        </p:txBody>
      </p:sp>
      <p:sp>
        <p:nvSpPr>
          <p:cNvPr id="2" name="テキスト ボックス 1">
            <a:extLst>
              <a:ext uri="{FF2B5EF4-FFF2-40B4-BE49-F238E27FC236}">
                <a16:creationId xmlns:a16="http://schemas.microsoft.com/office/drawing/2014/main" id="{DF6A3A77-5052-6B14-48AD-BC3746D2A8E6}"/>
              </a:ext>
            </a:extLst>
          </p:cNvPr>
          <p:cNvSpPr txBox="1"/>
          <p:nvPr/>
        </p:nvSpPr>
        <p:spPr>
          <a:xfrm>
            <a:off x="594360" y="850392"/>
            <a:ext cx="10881360" cy="365760"/>
          </a:xfrm>
          <a:prstGeom prst="rect">
            <a:avLst/>
          </a:prstGeom>
          <a:noFill/>
        </p:spPr>
        <p:txBody>
          <a:bodyPr wrap="square" lIns="27432" tIns="18288" rIns="27432" bIns="18288" rtlCol="0">
            <a:spAutoFit/>
          </a:bodyPr>
          <a:lstStyle/>
          <a:p>
            <a:pPr>
              <a:defRPr>
                <a:latin typeface="Arial"/>
              </a:defRPr>
            </a:pPr>
            <a:r>
              <a:rPr sz="1800" b="1" dirty="0">
                <a:solidFill>
                  <a:srgbClr val="000000"/>
                </a:solidFill>
                <a:latin typeface="Arial"/>
              </a:rPr>
              <a:t>Purpose: Determine whether concurrent execution reduces workflow completion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11109960" cy="502920"/>
          </a:xfrm>
          <a:prstGeom prst="rect">
            <a:avLst/>
          </a:prstGeom>
          <a:noFill/>
          <a:ln>
            <a:noFill/>
          </a:ln>
        </p:spPr>
        <p:txBody>
          <a:bodyPr wrap="none" lIns="27432" tIns="18288" rIns="27432" bIns="18288" rtlCol="0" anchor="ctr">
            <a:normAutofit/>
          </a:bodyPr>
          <a:lstStyle/>
          <a:p>
            <a:pPr algn="l">
              <a:defRPr sz="2800" b="1">
                <a:solidFill>
                  <a:srgbClr val="000000"/>
                </a:solidFill>
                <a:latin typeface="Arial"/>
              </a:defRPr>
            </a:pPr>
            <a:r>
              <a:rPr sz="2800" b="1" dirty="0">
                <a:solidFill>
                  <a:srgbClr val="000000"/>
                </a:solidFill>
                <a:latin typeface="Arial"/>
              </a:rPr>
              <a:t>Result 2-B: Controlled Straggler Effect</a:t>
            </a:r>
          </a:p>
        </p:txBody>
      </p:sp>
      <p:pic>
        <p:nvPicPr>
          <p:cNvPr id="5" name="Image 0" descr="/mnt/data/controlled_straggler_effect(2).png"/>
          <p:cNvPicPr>
            <a:picLocks noChangeAspect="1"/>
          </p:cNvPicPr>
          <p:nvPr/>
        </p:nvPicPr>
        <p:blipFill>
          <a:blip r:embed="rId3"/>
          <a:stretch>
            <a:fillRect/>
          </a:stretch>
        </p:blipFill>
        <p:spPr>
          <a:xfrm>
            <a:off x="502920" y="1921546"/>
            <a:ext cx="6583680" cy="4232366"/>
          </a:xfrm>
          <a:prstGeom prst="rect">
            <a:avLst/>
          </a:prstGeom>
        </p:spPr>
      </p:pic>
      <p:sp>
        <p:nvSpPr>
          <p:cNvPr id="6" name="Text 3"/>
          <p:cNvSpPr/>
          <p:nvPr/>
        </p:nvSpPr>
        <p:spPr>
          <a:xfrm>
            <a:off x="7543800" y="1234440"/>
            <a:ext cx="173736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1" dirty="0">
                <a:solidFill>
                  <a:srgbClr val="000000"/>
                </a:solidFill>
                <a:latin typeface="Arial"/>
                <a:ea typeface="Arial" pitchFamily="34" charset="-122"/>
                <a:cs typeface="Arial" panose="020B0604020202020204" pitchFamily="34" charset="0"/>
              </a:rPr>
              <a:t>Delay</a:t>
            </a:r>
            <a:endParaRPr lang="en-US" sz="2000" dirty="0">
              <a:latin typeface="+mj-lt"/>
              <a:cs typeface="Arial" panose="020B0604020202020204" pitchFamily="34" charset="0"/>
            </a:endParaRPr>
          </a:p>
        </p:txBody>
      </p:sp>
      <p:sp>
        <p:nvSpPr>
          <p:cNvPr id="7" name="Text 4"/>
          <p:cNvSpPr/>
          <p:nvPr/>
        </p:nvSpPr>
        <p:spPr>
          <a:xfrm>
            <a:off x="9281160" y="1234440"/>
            <a:ext cx="201168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anose="020B0604020202020204" pitchFamily="34" charset="0"/>
              </a:rPr>
              <a:t>Global span</a:t>
            </a:r>
            <a:endParaRPr lang="en-US" sz="2000" dirty="0">
              <a:latin typeface="+mj-lt"/>
              <a:cs typeface="Arial" panose="020B0604020202020204" pitchFamily="34" charset="0"/>
            </a:endParaRPr>
          </a:p>
        </p:txBody>
      </p:sp>
      <p:sp>
        <p:nvSpPr>
          <p:cNvPr id="8" name="Text 5"/>
          <p:cNvSpPr/>
          <p:nvPr/>
        </p:nvSpPr>
        <p:spPr>
          <a:xfrm>
            <a:off x="7543800" y="1673352"/>
            <a:ext cx="17373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0.5 s</a:t>
            </a:r>
            <a:endParaRPr lang="en-US" sz="2000" dirty="0">
              <a:latin typeface="+mj-lt"/>
            </a:endParaRPr>
          </a:p>
        </p:txBody>
      </p:sp>
      <p:sp>
        <p:nvSpPr>
          <p:cNvPr id="9" name="Text 6"/>
          <p:cNvSpPr/>
          <p:nvPr/>
        </p:nvSpPr>
        <p:spPr>
          <a:xfrm>
            <a:off x="9281160" y="1673352"/>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1.009 s</a:t>
            </a:r>
            <a:endParaRPr lang="en-US" sz="2000" dirty="0">
              <a:latin typeface="+mj-lt"/>
            </a:endParaRPr>
          </a:p>
        </p:txBody>
      </p:sp>
      <p:sp>
        <p:nvSpPr>
          <p:cNvPr id="10" name="Text 7"/>
          <p:cNvSpPr/>
          <p:nvPr/>
        </p:nvSpPr>
        <p:spPr>
          <a:xfrm>
            <a:off x="7543800" y="2112264"/>
            <a:ext cx="17373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1.0 s</a:t>
            </a:r>
            <a:endParaRPr lang="en-US" sz="2000" dirty="0">
              <a:latin typeface="+mj-lt"/>
            </a:endParaRPr>
          </a:p>
        </p:txBody>
      </p:sp>
      <p:sp>
        <p:nvSpPr>
          <p:cNvPr id="11" name="Text 8"/>
          <p:cNvSpPr/>
          <p:nvPr/>
        </p:nvSpPr>
        <p:spPr>
          <a:xfrm>
            <a:off x="9281160" y="2112264"/>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1.229 s</a:t>
            </a:r>
            <a:endParaRPr lang="en-US" sz="2000" dirty="0">
              <a:latin typeface="+mj-lt"/>
            </a:endParaRPr>
          </a:p>
        </p:txBody>
      </p:sp>
      <p:sp>
        <p:nvSpPr>
          <p:cNvPr id="12" name="Text 9"/>
          <p:cNvSpPr/>
          <p:nvPr/>
        </p:nvSpPr>
        <p:spPr>
          <a:xfrm>
            <a:off x="7543800" y="2551176"/>
            <a:ext cx="17373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2.0 s</a:t>
            </a:r>
            <a:endParaRPr lang="en-US" sz="2000" dirty="0">
              <a:latin typeface="+mj-lt"/>
            </a:endParaRPr>
          </a:p>
        </p:txBody>
      </p:sp>
      <p:sp>
        <p:nvSpPr>
          <p:cNvPr id="13" name="Text 10"/>
          <p:cNvSpPr/>
          <p:nvPr/>
        </p:nvSpPr>
        <p:spPr>
          <a:xfrm>
            <a:off x="9281160" y="2551176"/>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2.269 s</a:t>
            </a:r>
            <a:endParaRPr lang="en-US" sz="2000" dirty="0">
              <a:latin typeface="+mj-lt"/>
            </a:endParaRPr>
          </a:p>
        </p:txBody>
      </p:sp>
      <p:sp>
        <p:nvSpPr>
          <p:cNvPr id="14" name="Text 11"/>
          <p:cNvSpPr/>
          <p:nvPr/>
        </p:nvSpPr>
        <p:spPr>
          <a:xfrm>
            <a:off x="7543800" y="2990088"/>
            <a:ext cx="173736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5.0 s</a:t>
            </a:r>
            <a:endParaRPr lang="en-US" sz="2000" dirty="0">
              <a:latin typeface="+mj-lt"/>
            </a:endParaRPr>
          </a:p>
        </p:txBody>
      </p:sp>
      <p:sp>
        <p:nvSpPr>
          <p:cNvPr id="15" name="Text 12"/>
          <p:cNvSpPr/>
          <p:nvPr/>
        </p:nvSpPr>
        <p:spPr>
          <a:xfrm>
            <a:off x="9281160" y="2990088"/>
            <a:ext cx="20116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5.475 s</a:t>
            </a:r>
            <a:endParaRPr lang="en-US" sz="2000" dirty="0">
              <a:latin typeface="+mj-lt"/>
            </a:endParaRPr>
          </a:p>
        </p:txBody>
      </p:sp>
      <p:sp>
        <p:nvSpPr>
          <p:cNvPr id="18" name="TextBox 17"/>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15</a:t>
            </a:r>
          </a:p>
        </p:txBody>
      </p:sp>
      <p:sp>
        <p:nvSpPr>
          <p:cNvPr id="2" name="テキスト ボックス 1">
            <a:extLst>
              <a:ext uri="{FF2B5EF4-FFF2-40B4-BE49-F238E27FC236}">
                <a16:creationId xmlns:a16="http://schemas.microsoft.com/office/drawing/2014/main" id="{01D59B82-52FD-31AD-1E41-0A5DB1987CBD}"/>
              </a:ext>
            </a:extLst>
          </p:cNvPr>
          <p:cNvSpPr txBox="1"/>
          <p:nvPr/>
        </p:nvSpPr>
        <p:spPr>
          <a:xfrm>
            <a:off x="594360" y="850392"/>
            <a:ext cx="10881360" cy="365760"/>
          </a:xfrm>
          <a:prstGeom prst="rect">
            <a:avLst/>
          </a:prstGeom>
          <a:noFill/>
        </p:spPr>
        <p:txBody>
          <a:bodyPr wrap="square" lIns="27432" tIns="18288" rIns="27432" bIns="18288" rtlCol="0">
            <a:spAutoFit/>
          </a:bodyPr>
          <a:lstStyle/>
          <a:p>
            <a:pPr>
              <a:defRPr>
                <a:latin typeface="Arial"/>
              </a:defRPr>
            </a:pPr>
            <a:r>
              <a:rPr lang="ja-JP" altLang="ja-JP" sz="1800" b="1" dirty="0">
                <a:solidFill>
                  <a:srgbClr val="000000"/>
                </a:solidFill>
                <a:latin typeface="Arial"/>
              </a:rPr>
              <a:t>Purpose: Examine whether one delayed sender determines global completion time.</a:t>
            </a:r>
            <a:endParaRPr kumimoji="1" lang="ja-JP" altLang="en-US" dirty="0">
              <a:latin typeface="+mj-lt"/>
            </a:endParaRPr>
          </a:p>
        </p:txBody>
      </p:sp>
      <p:sp>
        <p:nvSpPr>
          <p:cNvPr id="19" name="Text 13">
            <a:extLst>
              <a:ext uri="{FF2B5EF4-FFF2-40B4-BE49-F238E27FC236}">
                <a16:creationId xmlns:a16="http://schemas.microsoft.com/office/drawing/2014/main" id="{E4835D8A-5DBA-18B7-3707-0F53ECF31187}"/>
              </a:ext>
            </a:extLst>
          </p:cNvPr>
          <p:cNvSpPr/>
          <p:nvPr/>
        </p:nvSpPr>
        <p:spPr>
          <a:xfrm>
            <a:off x="6995160" y="3886200"/>
            <a:ext cx="4526280" cy="1417320"/>
          </a:xfrm>
          <a:prstGeom prst="rect">
            <a:avLst/>
          </a:prstGeom>
          <a:noFill/>
          <a:ln/>
        </p:spPr>
        <p:txBody>
          <a:bodyPr wrap="square" lIns="27432" tIns="18288" rIns="27432" bIns="18288" rtlCol="0" anchor="t">
            <a:normAutofit/>
          </a:bodyPr>
          <a:lstStyle/>
          <a:p>
            <a:pPr algn="l">
              <a:defRPr>
                <a:latin typeface="Arial"/>
              </a:defRPr>
            </a:pPr>
            <a:r>
              <a:rPr sz="2000" b="0" dirty="0">
                <a:solidFill>
                  <a:srgbClr val="000000"/>
                </a:solidFill>
                <a:latin typeface="Arial"/>
              </a:rPr>
              <a:t>• Delay added to one sender</a:t>
            </a:r>
          </a:p>
          <a:p>
            <a:pPr algn="l">
              <a:defRPr>
                <a:latin typeface="Arial"/>
              </a:defRPr>
            </a:pPr>
            <a:r>
              <a:rPr sz="2000" b="0" dirty="0">
                <a:solidFill>
                  <a:srgbClr val="000000"/>
                </a:solidFill>
                <a:latin typeface="Arial"/>
              </a:rPr>
              <a:t>• Delay ↑ → global span ↑</a:t>
            </a:r>
          </a:p>
          <a:p>
            <a:pPr algn="l">
              <a:defRPr>
                <a:latin typeface="Arial"/>
              </a:defRPr>
            </a:pPr>
            <a:r>
              <a:rPr sz="2000" b="0" dirty="0">
                <a:solidFill>
                  <a:srgbClr val="000000"/>
                </a:solidFill>
                <a:latin typeface="Arial"/>
              </a:rPr>
              <a:t>• One straggler can determine completion 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11109960" cy="502920"/>
          </a:xfrm>
          <a:prstGeom prst="rect">
            <a:avLst/>
          </a:prstGeom>
          <a:noFill/>
          <a:ln>
            <a:noFill/>
          </a:ln>
        </p:spPr>
        <p:txBody>
          <a:bodyPr wrap="none" lIns="27432" tIns="18288" rIns="27432" bIns="18288" rtlCol="0" anchor="ctr">
            <a:normAutofit/>
          </a:bodyPr>
          <a:lstStyle/>
          <a:p>
            <a:pPr algn="l">
              <a:defRPr sz="2800" b="1">
                <a:solidFill>
                  <a:srgbClr val="000000"/>
                </a:solidFill>
                <a:latin typeface="Arial"/>
              </a:defRPr>
            </a:pPr>
            <a:r>
              <a:rPr sz="2800" b="1" dirty="0">
                <a:solidFill>
                  <a:srgbClr val="000000"/>
                </a:solidFill>
                <a:latin typeface="Arial"/>
              </a:rPr>
              <a:t>Result 2-C: Arrival Skew in Concurrent Execution</a:t>
            </a:r>
          </a:p>
        </p:txBody>
      </p:sp>
      <p:pic>
        <p:nvPicPr>
          <p:cNvPr id="5" name="Image 0" descr="/mnt/data/arrival_skew_protocol_comparison(2).png"/>
          <p:cNvPicPr>
            <a:picLocks noChangeAspect="1"/>
          </p:cNvPicPr>
          <p:nvPr/>
        </p:nvPicPr>
        <p:blipFill>
          <a:blip r:embed="rId3"/>
          <a:stretch>
            <a:fillRect/>
          </a:stretch>
        </p:blipFill>
        <p:spPr>
          <a:xfrm>
            <a:off x="685800" y="1467612"/>
            <a:ext cx="6766560" cy="4059936"/>
          </a:xfrm>
          <a:prstGeom prst="rect">
            <a:avLst/>
          </a:prstGeom>
        </p:spPr>
      </p:pic>
      <p:sp>
        <p:nvSpPr>
          <p:cNvPr id="9" name="テキスト ボックス 8">
            <a:extLst>
              <a:ext uri="{FF2B5EF4-FFF2-40B4-BE49-F238E27FC236}">
                <a16:creationId xmlns:a16="http://schemas.microsoft.com/office/drawing/2014/main" id="{8D1B2DAB-D861-36D0-4E8F-37F2CD61DDF2}"/>
              </a:ext>
            </a:extLst>
          </p:cNvPr>
          <p:cNvSpPr txBox="1"/>
          <p:nvPr/>
        </p:nvSpPr>
        <p:spPr>
          <a:xfrm>
            <a:off x="7498080" y="4069080"/>
            <a:ext cx="1828800" cy="365760"/>
          </a:xfrm>
          <a:prstGeom prst="rect">
            <a:avLst/>
          </a:prstGeom>
          <a:noFill/>
        </p:spPr>
        <p:txBody>
          <a:bodyPr wrap="none" lIns="27432" tIns="18288" rIns="27432" bIns="18288" rtlCol="0">
            <a:spAutoFit/>
          </a:bodyPr>
          <a:lstStyle/>
          <a:p>
            <a:pPr>
              <a:defRPr>
                <a:latin typeface="Arial"/>
              </a:defRPr>
            </a:pPr>
            <a:r>
              <a:rPr kumimoji="1" lang="en-US" altLang="ja-JP" sz="2200" b="1" dirty="0">
                <a:solidFill>
                  <a:srgbClr val="000000"/>
                </a:solidFill>
                <a:latin typeface="Arial"/>
                <a:cs typeface="Arial" panose="020B0604020202020204" pitchFamily="34" charset="0"/>
              </a:rPr>
              <a:t>Finding</a:t>
            </a:r>
            <a:endParaRPr kumimoji="1" lang="ja-JP" altLang="en-US" sz="2300" b="1" dirty="0">
              <a:latin typeface="+mj-lt"/>
              <a:cs typeface="Arial" panose="020B0604020202020204" pitchFamily="34" charset="0"/>
            </a:endParaRPr>
          </a:p>
        </p:txBody>
      </p:sp>
      <p:sp>
        <p:nvSpPr>
          <p:cNvPr id="10" name="テキスト ボックス 9">
            <a:extLst>
              <a:ext uri="{FF2B5EF4-FFF2-40B4-BE49-F238E27FC236}">
                <a16:creationId xmlns:a16="http://schemas.microsoft.com/office/drawing/2014/main" id="{2B9B51CB-25FD-DF2D-2257-853A443CF732}"/>
              </a:ext>
            </a:extLst>
          </p:cNvPr>
          <p:cNvSpPr txBox="1"/>
          <p:nvPr/>
        </p:nvSpPr>
        <p:spPr>
          <a:xfrm>
            <a:off x="7498080" y="4434840"/>
            <a:ext cx="4069080" cy="1325880"/>
          </a:xfrm>
          <a:prstGeom prst="rect">
            <a:avLst/>
          </a:prstGeom>
          <a:noFill/>
        </p:spPr>
        <p:txBody>
          <a:bodyPr wrap="square" lIns="27432" tIns="18288" rIns="27432" bIns="18288" rtlCol="0">
            <a:spAutoFit/>
          </a:bodyPr>
          <a:lstStyle/>
          <a:p>
            <a:r>
              <a:rPr sz="2000" b="0">
                <a:solidFill>
                  <a:srgbClr val="000000"/>
                </a:solidFill>
                <a:latin typeface="Arial"/>
              </a:rPr>
              <a:t>• Short sender span ≠ short global span</a:t>
            </a:r>
          </a:p>
          <a:p>
            <a:r>
              <a:rPr sz="2000" b="0">
                <a:solidFill>
                  <a:srgbClr val="000000"/>
                </a:solidFill>
                <a:latin typeface="Arial"/>
              </a:rPr>
              <a:t>• Arrival skew increases completion time</a:t>
            </a:r>
          </a:p>
        </p:txBody>
      </p:sp>
      <p:sp>
        <p:nvSpPr>
          <p:cNvPr id="11" name="TextBox 10"/>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16</a:t>
            </a:r>
          </a:p>
        </p:txBody>
      </p:sp>
      <p:sp>
        <p:nvSpPr>
          <p:cNvPr id="2" name="テキスト ボックス 1">
            <a:extLst>
              <a:ext uri="{FF2B5EF4-FFF2-40B4-BE49-F238E27FC236}">
                <a16:creationId xmlns:a16="http://schemas.microsoft.com/office/drawing/2014/main" id="{F3D63FF9-1B70-69FA-3718-9409C89F7D19}"/>
              </a:ext>
            </a:extLst>
          </p:cNvPr>
          <p:cNvSpPr txBox="1"/>
          <p:nvPr/>
        </p:nvSpPr>
        <p:spPr>
          <a:xfrm>
            <a:off x="594360" y="850392"/>
            <a:ext cx="10881360" cy="365760"/>
          </a:xfrm>
          <a:prstGeom prst="rect">
            <a:avLst/>
          </a:prstGeom>
          <a:noFill/>
        </p:spPr>
        <p:txBody>
          <a:bodyPr wrap="square" lIns="27432" tIns="18288" rIns="27432" bIns="18288" rtlCol="0">
            <a:spAutoFit/>
          </a:bodyPr>
          <a:lstStyle/>
          <a:p>
            <a:pPr>
              <a:defRPr>
                <a:latin typeface="Arial"/>
              </a:defRPr>
            </a:pPr>
            <a:r>
              <a:rPr lang="ja-JP" altLang="ja-JP" sz="1800" b="1" dirty="0">
                <a:solidFill>
                  <a:srgbClr val="000000"/>
                </a:solidFill>
                <a:latin typeface="Arial"/>
              </a:rPr>
              <a:t>Purpose: Evaluate the effect of sender arrival imbalance on global completion.</a:t>
            </a:r>
            <a:endParaRPr kumimoji="1" lang="ja-JP" altLang="en-US" b="1" dirty="0">
              <a:latin typeface="+mj-lt"/>
            </a:endParaRPr>
          </a:p>
        </p:txBody>
      </p:sp>
      <p:sp>
        <p:nvSpPr>
          <p:cNvPr id="7" name="Text 3">
            <a:extLst>
              <a:ext uri="{FF2B5EF4-FFF2-40B4-BE49-F238E27FC236}">
                <a16:creationId xmlns:a16="http://schemas.microsoft.com/office/drawing/2014/main" id="{E10388CE-EBBA-D1E5-C45F-FD92CE6B3854}"/>
              </a:ext>
            </a:extLst>
          </p:cNvPr>
          <p:cNvSpPr/>
          <p:nvPr/>
        </p:nvSpPr>
        <p:spPr>
          <a:xfrm>
            <a:off x="7360920" y="1691640"/>
            <a:ext cx="4206240" cy="1828800"/>
          </a:xfrm>
          <a:prstGeom prst="rect">
            <a:avLst/>
          </a:prstGeom>
          <a:noFill/>
          <a:ln/>
        </p:spPr>
        <p:txBody>
          <a:bodyPr wrap="square" lIns="27432" tIns="18288" rIns="27432" bIns="18288" rtlCol="0" anchor="t">
            <a:normAutofit/>
          </a:bodyPr>
          <a:lstStyle/>
          <a:p>
            <a:pPr algn="l">
              <a:defRPr>
                <a:latin typeface="Arial"/>
              </a:defRPr>
            </a:pPr>
            <a:r>
              <a:rPr sz="2000" b="0" dirty="0" err="1">
                <a:solidFill>
                  <a:srgbClr val="000000"/>
                </a:solidFill>
                <a:latin typeface="Arial"/>
              </a:rPr>
              <a:t>gRPC</a:t>
            </a:r>
            <a:r>
              <a:rPr sz="2000" b="0" dirty="0">
                <a:solidFill>
                  <a:srgbClr val="000000"/>
                </a:solidFill>
                <a:latin typeface="Arial"/>
              </a:rPr>
              <a:t>:</a:t>
            </a:r>
          </a:p>
          <a:p>
            <a:pPr algn="l">
              <a:defRPr>
                <a:latin typeface="Arial"/>
              </a:defRPr>
            </a:pPr>
            <a:r>
              <a:rPr sz="2000" b="0" dirty="0">
                <a:solidFill>
                  <a:srgbClr val="000000"/>
                </a:solidFill>
                <a:latin typeface="Arial"/>
              </a:rPr>
              <a:t>• per-sender span: 0.070 s</a:t>
            </a:r>
          </a:p>
          <a:p>
            <a:pPr algn="l">
              <a:defRPr>
                <a:latin typeface="Arial"/>
              </a:defRPr>
            </a:pPr>
            <a:r>
              <a:rPr sz="2000" b="0" dirty="0">
                <a:solidFill>
                  <a:srgbClr val="000000"/>
                </a:solidFill>
                <a:latin typeface="Arial"/>
              </a:rPr>
              <a:t>• arrival skew: 1.193 s</a:t>
            </a:r>
          </a:p>
          <a:p>
            <a:pPr algn="l">
              <a:defRPr>
                <a:latin typeface="Arial"/>
              </a:defRPr>
            </a:pPr>
            <a:r>
              <a:rPr sz="2000" b="0" dirty="0">
                <a:solidFill>
                  <a:srgbClr val="000000"/>
                </a:solidFill>
                <a:latin typeface="Arial"/>
              </a:rPr>
              <a:t>• global span: 1.293 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11109960" cy="502920"/>
          </a:xfrm>
          <a:prstGeom prst="rect">
            <a:avLst/>
          </a:prstGeom>
          <a:noFill/>
          <a:ln>
            <a:noFill/>
          </a:ln>
        </p:spPr>
        <p:txBody>
          <a:bodyPr wrap="none" lIns="27432" tIns="18288" rIns="27432" bIns="18288" rtlCol="0" anchor="ctr">
            <a:normAutofit/>
          </a:bodyPr>
          <a:lstStyle/>
          <a:p>
            <a:pPr algn="l">
              <a:defRPr sz="2800" b="1">
                <a:solidFill>
                  <a:srgbClr val="000000"/>
                </a:solidFill>
                <a:latin typeface="Arial"/>
              </a:defRPr>
            </a:pPr>
            <a:r>
              <a:rPr sz="2800" b="1">
                <a:solidFill>
                  <a:srgbClr val="000000"/>
                </a:solidFill>
                <a:latin typeface="Arial"/>
              </a:rPr>
              <a:t>Result 3: Receiver-Side Bottleneck</a:t>
            </a:r>
          </a:p>
        </p:txBody>
      </p:sp>
      <p:pic>
        <p:nvPicPr>
          <p:cNvPr id="5" name="Image 0" descr="/mnt/data/bottleneck_breakdown(2).png"/>
          <p:cNvPicPr>
            <a:picLocks noChangeAspect="1"/>
          </p:cNvPicPr>
          <p:nvPr/>
        </p:nvPicPr>
        <p:blipFill>
          <a:blip r:embed="rId3"/>
          <a:stretch>
            <a:fillRect/>
          </a:stretch>
        </p:blipFill>
        <p:spPr>
          <a:xfrm>
            <a:off x="502920" y="2108345"/>
            <a:ext cx="6583680" cy="4232366"/>
          </a:xfrm>
          <a:prstGeom prst="rect">
            <a:avLst/>
          </a:prstGeom>
        </p:spPr>
      </p:pic>
      <p:sp>
        <p:nvSpPr>
          <p:cNvPr id="6" name="Text 3"/>
          <p:cNvSpPr/>
          <p:nvPr/>
        </p:nvSpPr>
        <p:spPr>
          <a:xfrm>
            <a:off x="7360920" y="1764792"/>
            <a:ext cx="2514600" cy="457200"/>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1" dirty="0">
                <a:solidFill>
                  <a:srgbClr val="000000"/>
                </a:solidFill>
                <a:latin typeface="Arial"/>
                <a:ea typeface="Arial" pitchFamily="34" charset="-122"/>
                <a:cs typeface="Arial" pitchFamily="34" charset="-120"/>
              </a:rPr>
              <a:t>Stage</a:t>
            </a:r>
            <a:endParaRPr lang="en-US" sz="2000" dirty="0">
              <a:latin typeface="+mj-lt"/>
            </a:endParaRPr>
          </a:p>
        </p:txBody>
      </p:sp>
      <p:sp>
        <p:nvSpPr>
          <p:cNvPr id="7" name="Text 4"/>
          <p:cNvSpPr/>
          <p:nvPr/>
        </p:nvSpPr>
        <p:spPr>
          <a:xfrm>
            <a:off x="9875520" y="1764792"/>
            <a:ext cx="1737360" cy="457200"/>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itchFamily="34" charset="-120"/>
              </a:rPr>
              <a:t>Mean time</a:t>
            </a:r>
            <a:endParaRPr lang="en-US" sz="2000" dirty="0">
              <a:latin typeface="+mj-lt"/>
            </a:endParaRPr>
          </a:p>
        </p:txBody>
      </p:sp>
      <p:sp>
        <p:nvSpPr>
          <p:cNvPr id="8" name="Text 5"/>
          <p:cNvSpPr/>
          <p:nvPr/>
        </p:nvSpPr>
        <p:spPr>
          <a:xfrm>
            <a:off x="7360920" y="2240280"/>
            <a:ext cx="251460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Transfer</a:t>
            </a:r>
            <a:endParaRPr lang="en-US" sz="2000" dirty="0">
              <a:latin typeface="+mj-lt"/>
            </a:endParaRPr>
          </a:p>
        </p:txBody>
      </p:sp>
      <p:sp>
        <p:nvSpPr>
          <p:cNvPr id="9" name="Text 6"/>
          <p:cNvSpPr/>
          <p:nvPr/>
        </p:nvSpPr>
        <p:spPr>
          <a:xfrm>
            <a:off x="9875520" y="2240280"/>
            <a:ext cx="173736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1.26 s</a:t>
            </a:r>
            <a:endParaRPr lang="en-US" sz="2000" dirty="0">
              <a:latin typeface="+mj-lt"/>
            </a:endParaRPr>
          </a:p>
        </p:txBody>
      </p:sp>
      <p:sp>
        <p:nvSpPr>
          <p:cNvPr id="10" name="Text 7"/>
          <p:cNvSpPr/>
          <p:nvPr/>
        </p:nvSpPr>
        <p:spPr>
          <a:xfrm>
            <a:off x="7360920" y="2715768"/>
            <a:ext cx="251460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Merge + compression</a:t>
            </a:r>
            <a:endParaRPr lang="en-US" sz="2000" dirty="0">
              <a:latin typeface="+mj-lt"/>
            </a:endParaRPr>
          </a:p>
        </p:txBody>
      </p:sp>
      <p:sp>
        <p:nvSpPr>
          <p:cNvPr id="11" name="Text 8"/>
          <p:cNvSpPr/>
          <p:nvPr/>
        </p:nvSpPr>
        <p:spPr>
          <a:xfrm>
            <a:off x="9875520" y="2715768"/>
            <a:ext cx="173736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26.23 s</a:t>
            </a:r>
            <a:endParaRPr lang="en-US" sz="2000" dirty="0">
              <a:latin typeface="+mj-lt"/>
            </a:endParaRPr>
          </a:p>
        </p:txBody>
      </p:sp>
      <p:sp>
        <p:nvSpPr>
          <p:cNvPr id="12" name="Text 9"/>
          <p:cNvSpPr/>
          <p:nvPr/>
        </p:nvSpPr>
        <p:spPr>
          <a:xfrm>
            <a:off x="7360920" y="3191256"/>
            <a:ext cx="251460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Evaluation</a:t>
            </a:r>
            <a:endParaRPr lang="en-US" sz="2000" dirty="0">
              <a:latin typeface="+mj-lt"/>
            </a:endParaRPr>
          </a:p>
        </p:txBody>
      </p:sp>
      <p:sp>
        <p:nvSpPr>
          <p:cNvPr id="13" name="Text 10"/>
          <p:cNvSpPr/>
          <p:nvPr/>
        </p:nvSpPr>
        <p:spPr>
          <a:xfrm>
            <a:off x="9875520" y="3191256"/>
            <a:ext cx="1737360" cy="457200"/>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890.75 s</a:t>
            </a:r>
            <a:endParaRPr lang="en-US" sz="2000" dirty="0">
              <a:latin typeface="+mj-lt"/>
            </a:endParaRPr>
          </a:p>
        </p:txBody>
      </p:sp>
      <p:sp>
        <p:nvSpPr>
          <p:cNvPr id="14" name="Text 11"/>
          <p:cNvSpPr/>
          <p:nvPr/>
        </p:nvSpPr>
        <p:spPr>
          <a:xfrm>
            <a:off x="7360920" y="4160521"/>
            <a:ext cx="4251960" cy="685800"/>
          </a:xfrm>
          <a:prstGeom prst="rect">
            <a:avLst/>
          </a:prstGeom>
          <a:noFill/>
          <a:ln/>
        </p:spPr>
        <p:txBody>
          <a:bodyPr wrap="square" lIns="27432" tIns="18288" rIns="27432" bIns="18288" rtlCol="0" anchor="ctr">
            <a:normAutofit fontScale="92500"/>
          </a:bodyPr>
          <a:lstStyle/>
          <a:p>
            <a:pPr marL="0" indent="0" algn="ctr">
              <a:buNone/>
              <a:defRPr>
                <a:latin typeface="Arial"/>
              </a:defRPr>
            </a:pPr>
            <a:r>
              <a:rPr lang="en-US" sz="2000" b="1" dirty="0">
                <a:solidFill>
                  <a:srgbClr val="000000"/>
                </a:solidFill>
                <a:latin typeface="Arial"/>
                <a:ea typeface="Arial" pitchFamily="34" charset="-122"/>
                <a:cs typeface="Arial" panose="020B0604020202020204" pitchFamily="34" charset="0"/>
              </a:rPr>
              <a:t>Evaluation accounted for about 97% of the measured workflow time.</a:t>
            </a:r>
            <a:endParaRPr lang="en-US" sz="2000" dirty="0">
              <a:latin typeface="+mj-lt"/>
              <a:cs typeface="Arial" panose="020B0604020202020204" pitchFamily="34" charset="0"/>
            </a:endParaRPr>
          </a:p>
        </p:txBody>
      </p:sp>
      <p:sp>
        <p:nvSpPr>
          <p:cNvPr id="16" name="TextBox 15"/>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17</a:t>
            </a:r>
          </a:p>
        </p:txBody>
      </p:sp>
      <p:sp>
        <p:nvSpPr>
          <p:cNvPr id="2" name="テキスト ボックス 1">
            <a:extLst>
              <a:ext uri="{FF2B5EF4-FFF2-40B4-BE49-F238E27FC236}">
                <a16:creationId xmlns:a16="http://schemas.microsoft.com/office/drawing/2014/main" id="{B7B55F30-2950-C682-B1B5-A0E82E3C5885}"/>
              </a:ext>
            </a:extLst>
          </p:cNvPr>
          <p:cNvSpPr txBox="1"/>
          <p:nvPr/>
        </p:nvSpPr>
        <p:spPr>
          <a:xfrm>
            <a:off x="594360" y="850392"/>
            <a:ext cx="10881360" cy="365760"/>
          </a:xfrm>
          <a:prstGeom prst="rect">
            <a:avLst/>
          </a:prstGeom>
          <a:noFill/>
        </p:spPr>
        <p:txBody>
          <a:bodyPr wrap="square" lIns="27432" tIns="18288" rIns="27432" bIns="18288" rtlCol="0">
            <a:spAutoFit/>
          </a:bodyPr>
          <a:lstStyle/>
          <a:p>
            <a:pPr>
              <a:defRPr>
                <a:latin typeface="Arial"/>
              </a:defRPr>
            </a:pPr>
            <a:r>
              <a:rPr lang="ja-JP" altLang="ja-JP" sz="1800" b="1" dirty="0">
                <a:solidFill>
                  <a:srgbClr val="000000"/>
                </a:solidFill>
                <a:latin typeface="Arial"/>
              </a:rPr>
              <a:t>Purpose: Identify the dominant receiver-side processing stage.</a:t>
            </a:r>
            <a:endParaRPr kumimoji="1" lang="ja-JP" altLang="en-US"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883920" y="1383912"/>
            <a:ext cx="283464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1" dirty="0">
                <a:solidFill>
                  <a:srgbClr val="000000"/>
                </a:solidFill>
                <a:latin typeface="Arial"/>
                <a:ea typeface="Arial" pitchFamily="34" charset="-122"/>
                <a:cs typeface="Arial" pitchFamily="34" charset="-120"/>
              </a:rPr>
              <a:t>Check</a:t>
            </a:r>
            <a:endParaRPr lang="en-US" sz="2400" dirty="0">
              <a:latin typeface="+mj-lt"/>
            </a:endParaRPr>
          </a:p>
        </p:txBody>
      </p:sp>
      <p:sp>
        <p:nvSpPr>
          <p:cNvPr id="6" name="Text 4"/>
          <p:cNvSpPr/>
          <p:nvPr/>
        </p:nvSpPr>
        <p:spPr>
          <a:xfrm>
            <a:off x="3718560" y="1383912"/>
            <a:ext cx="475488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itchFamily="34" charset="-120"/>
              </a:rPr>
              <a:t>Condition</a:t>
            </a:r>
            <a:endParaRPr lang="en-US" sz="2400" dirty="0">
              <a:latin typeface="+mj-lt"/>
            </a:endParaRPr>
          </a:p>
        </p:txBody>
      </p:sp>
      <p:sp>
        <p:nvSpPr>
          <p:cNvPr id="7" name="Text 5"/>
          <p:cNvSpPr/>
          <p:nvPr/>
        </p:nvSpPr>
        <p:spPr>
          <a:xfrm>
            <a:off x="8473440" y="1383912"/>
            <a:ext cx="1828800" cy="420624"/>
          </a:xfrm>
          <a:prstGeom prst="rect">
            <a:avLst/>
          </a:prstGeom>
          <a:solidFill>
            <a:srgbClr val="EBEBEB"/>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1" dirty="0">
                <a:solidFill>
                  <a:srgbClr val="000000"/>
                </a:solidFill>
                <a:latin typeface="Arial"/>
                <a:ea typeface="Arial" pitchFamily="34" charset="-122"/>
                <a:cs typeface="Arial" pitchFamily="34" charset="-120"/>
              </a:rPr>
              <a:t>Accuracy</a:t>
            </a:r>
            <a:endParaRPr lang="en-US" sz="2400" dirty="0">
              <a:latin typeface="+mj-lt"/>
            </a:endParaRPr>
          </a:p>
        </p:txBody>
      </p:sp>
      <p:sp>
        <p:nvSpPr>
          <p:cNvPr id="8" name="Text 6"/>
          <p:cNvSpPr/>
          <p:nvPr/>
        </p:nvSpPr>
        <p:spPr>
          <a:xfrm>
            <a:off x="883920" y="1822824"/>
            <a:ext cx="283464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Original model_1</a:t>
            </a:r>
            <a:endParaRPr lang="en-US" sz="2400" dirty="0">
              <a:latin typeface="+mj-lt"/>
            </a:endParaRPr>
          </a:p>
        </p:txBody>
      </p:sp>
      <p:sp>
        <p:nvSpPr>
          <p:cNvPr id="9" name="Text 7"/>
          <p:cNvSpPr/>
          <p:nvPr/>
        </p:nvSpPr>
        <p:spPr>
          <a:xfrm>
            <a:off x="3718560" y="1822824"/>
            <a:ext cx="47548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250 neurons, 0-6000</a:t>
            </a:r>
            <a:endParaRPr lang="en-US" sz="2400" dirty="0">
              <a:latin typeface="+mj-lt"/>
            </a:endParaRPr>
          </a:p>
        </p:txBody>
      </p:sp>
      <p:sp>
        <p:nvSpPr>
          <p:cNvPr id="10" name="Text 8"/>
          <p:cNvSpPr/>
          <p:nvPr/>
        </p:nvSpPr>
        <p:spPr>
          <a:xfrm>
            <a:off x="8473440" y="1822824"/>
            <a:ext cx="18288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0.5349</a:t>
            </a:r>
            <a:endParaRPr lang="en-US" sz="2400" dirty="0">
              <a:latin typeface="+mj-lt"/>
            </a:endParaRPr>
          </a:p>
        </p:txBody>
      </p:sp>
      <p:sp>
        <p:nvSpPr>
          <p:cNvPr id="11" name="Text 9"/>
          <p:cNvSpPr/>
          <p:nvPr/>
        </p:nvSpPr>
        <p:spPr>
          <a:xfrm>
            <a:off x="883920" y="2261736"/>
            <a:ext cx="283464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Remove model_1</a:t>
            </a:r>
            <a:endParaRPr lang="en-US" sz="2400" dirty="0">
              <a:latin typeface="+mj-lt"/>
            </a:endParaRPr>
          </a:p>
        </p:txBody>
      </p:sp>
      <p:sp>
        <p:nvSpPr>
          <p:cNvPr id="12" name="Text 10"/>
          <p:cNvSpPr/>
          <p:nvPr/>
        </p:nvSpPr>
        <p:spPr>
          <a:xfrm>
            <a:off x="3718560" y="2261736"/>
            <a:ext cx="47548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model_2-9 only</a:t>
            </a:r>
            <a:endParaRPr lang="en-US" sz="2400" dirty="0">
              <a:latin typeface="+mj-lt"/>
            </a:endParaRPr>
          </a:p>
        </p:txBody>
      </p:sp>
      <p:sp>
        <p:nvSpPr>
          <p:cNvPr id="13" name="Text 11"/>
          <p:cNvSpPr/>
          <p:nvPr/>
        </p:nvSpPr>
        <p:spPr>
          <a:xfrm>
            <a:off x="8473440" y="2261736"/>
            <a:ext cx="18288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0.8033</a:t>
            </a:r>
            <a:endParaRPr lang="en-US" sz="2400" dirty="0">
              <a:latin typeface="+mj-lt"/>
            </a:endParaRPr>
          </a:p>
        </p:txBody>
      </p:sp>
      <p:sp>
        <p:nvSpPr>
          <p:cNvPr id="14" name="Text 12"/>
          <p:cNvSpPr/>
          <p:nvPr/>
        </p:nvSpPr>
        <p:spPr>
          <a:xfrm>
            <a:off x="883920" y="2700648"/>
            <a:ext cx="283464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Change data range</a:t>
            </a:r>
            <a:endParaRPr lang="en-US" sz="2400" dirty="0">
              <a:latin typeface="+mj-lt"/>
            </a:endParaRPr>
          </a:p>
        </p:txBody>
      </p:sp>
      <p:sp>
        <p:nvSpPr>
          <p:cNvPr id="15" name="Text 13"/>
          <p:cNvSpPr/>
          <p:nvPr/>
        </p:nvSpPr>
        <p:spPr>
          <a:xfrm>
            <a:off x="3718560" y="2700648"/>
            <a:ext cx="47548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250 neurons, 6000-12000</a:t>
            </a:r>
            <a:endParaRPr lang="en-US" sz="2400" dirty="0">
              <a:latin typeface="+mj-lt"/>
            </a:endParaRPr>
          </a:p>
        </p:txBody>
      </p:sp>
      <p:sp>
        <p:nvSpPr>
          <p:cNvPr id="16" name="Text 14"/>
          <p:cNvSpPr/>
          <p:nvPr/>
        </p:nvSpPr>
        <p:spPr>
          <a:xfrm>
            <a:off x="8473440" y="2700648"/>
            <a:ext cx="18288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0.7358</a:t>
            </a:r>
            <a:endParaRPr lang="en-US" sz="2400" dirty="0">
              <a:latin typeface="+mj-lt"/>
            </a:endParaRPr>
          </a:p>
        </p:txBody>
      </p:sp>
      <p:sp>
        <p:nvSpPr>
          <p:cNvPr id="17" name="Text 15"/>
          <p:cNvSpPr/>
          <p:nvPr/>
        </p:nvSpPr>
        <p:spPr>
          <a:xfrm>
            <a:off x="883920" y="3121272"/>
            <a:ext cx="283464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l">
              <a:buNone/>
              <a:defRPr>
                <a:latin typeface="Arial"/>
              </a:defRPr>
            </a:pPr>
            <a:r>
              <a:rPr lang="en-US" sz="2000" b="0" dirty="0">
                <a:solidFill>
                  <a:srgbClr val="000000"/>
                </a:solidFill>
                <a:latin typeface="Arial"/>
                <a:ea typeface="Arial" pitchFamily="34" charset="-122"/>
                <a:cs typeface="Arial" pitchFamily="34" charset="-120"/>
              </a:rPr>
              <a:t>Change neurons</a:t>
            </a:r>
            <a:endParaRPr lang="en-US" sz="2400" dirty="0">
              <a:latin typeface="+mj-lt"/>
            </a:endParaRPr>
          </a:p>
        </p:txBody>
      </p:sp>
      <p:sp>
        <p:nvSpPr>
          <p:cNvPr id="18" name="Text 16"/>
          <p:cNvSpPr/>
          <p:nvPr/>
        </p:nvSpPr>
        <p:spPr>
          <a:xfrm>
            <a:off x="3718560" y="3139560"/>
            <a:ext cx="475488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200 neurons, 0-6000</a:t>
            </a:r>
            <a:endParaRPr lang="en-US" sz="2400" dirty="0">
              <a:latin typeface="+mj-lt"/>
            </a:endParaRPr>
          </a:p>
        </p:txBody>
      </p:sp>
      <p:sp>
        <p:nvSpPr>
          <p:cNvPr id="19" name="Text 17"/>
          <p:cNvSpPr/>
          <p:nvPr/>
        </p:nvSpPr>
        <p:spPr>
          <a:xfrm>
            <a:off x="8473440" y="3139560"/>
            <a:ext cx="1828800" cy="420624"/>
          </a:xfrm>
          <a:prstGeom prst="rect">
            <a:avLst/>
          </a:prstGeom>
          <a:solidFill>
            <a:srgbClr val="FFFFFF"/>
          </a:solidFill>
          <a:ln w="9525">
            <a:solidFill>
              <a:srgbClr val="000000"/>
            </a:solidFill>
            <a:prstDash val="solid"/>
          </a:ln>
        </p:spPr>
        <p:txBody>
          <a:bodyPr wrap="square" lIns="27432" tIns="18288" rIns="27432" bIns="18288" rtlCol="0" anchor="ctr">
            <a:normAutofit/>
          </a:bodyPr>
          <a:lstStyle/>
          <a:p>
            <a:pPr marL="0" indent="0" algn="ctr">
              <a:buNone/>
              <a:defRPr>
                <a:latin typeface="Arial"/>
              </a:defRPr>
            </a:pPr>
            <a:r>
              <a:rPr lang="en-US" sz="2000" b="0" dirty="0">
                <a:solidFill>
                  <a:srgbClr val="000000"/>
                </a:solidFill>
                <a:latin typeface="Arial"/>
                <a:ea typeface="Arial" pitchFamily="34" charset="-122"/>
                <a:cs typeface="Arial" pitchFamily="34" charset="-120"/>
              </a:rPr>
              <a:t>0.8290</a:t>
            </a:r>
            <a:endParaRPr lang="en-US" sz="2400" dirty="0">
              <a:latin typeface="+mj-lt"/>
            </a:endParaRPr>
          </a:p>
        </p:txBody>
      </p:sp>
      <p:sp>
        <p:nvSpPr>
          <p:cNvPr id="20" name="Text 18"/>
          <p:cNvSpPr/>
          <p:nvPr/>
        </p:nvSpPr>
        <p:spPr>
          <a:xfrm>
            <a:off x="594360" y="4114800"/>
            <a:ext cx="10698480" cy="914400"/>
          </a:xfrm>
          <a:prstGeom prst="rect">
            <a:avLst/>
          </a:prstGeom>
          <a:noFill/>
          <a:ln/>
        </p:spPr>
        <p:txBody>
          <a:bodyPr wrap="square" lIns="27432" tIns="18288" rIns="27432" bIns="18288" rtlCol="0" anchor="t">
            <a:normAutofit/>
          </a:bodyPr>
          <a:lstStyle/>
          <a:p>
            <a:pPr marL="228600" indent="-228600">
              <a:buSzPct val="100000"/>
              <a:buChar char="•"/>
              <a:defRPr>
                <a:latin typeface="Arial"/>
              </a:defRPr>
            </a:pPr>
            <a:r>
              <a:rPr lang="ja-JP" altLang="ja-JP" sz="2000" dirty="0">
                <a:solidFill>
                  <a:srgbClr val="000000"/>
                </a:solidFill>
                <a:latin typeface="Arial"/>
                <a:cs typeface="Arial" panose="020B0604020202020204" pitchFamily="34" charset="0"/>
              </a:rPr>
              <a:t>These results indicate that </a:t>
            </a:r>
            <a:r>
              <a:rPr lang="ja-JP" altLang="ja-JP" sz="2000" b="1" dirty="0">
                <a:solidFill>
                  <a:srgbClr val="000000"/>
                </a:solidFill>
                <a:latin typeface="Arial"/>
                <a:cs typeface="Arial" panose="020B0604020202020204" pitchFamily="34" charset="0"/>
              </a:rPr>
              <a:t>sub-model quality</a:t>
            </a:r>
            <a:r>
              <a:rPr lang="ja-JP" altLang="ja-JP" sz="2000" dirty="0">
                <a:solidFill>
                  <a:srgbClr val="000000"/>
                </a:solidFill>
                <a:latin typeface="Arial"/>
                <a:cs typeface="Arial" panose="020B0604020202020204" pitchFamily="34" charset="0"/>
              </a:rPr>
              <a:t>, rather than the communication approach, was a major factor in the low asymmetric-model accuracy.</a:t>
            </a:r>
            <a:endParaRPr lang="en-US" sz="2200" dirty="0">
              <a:latin typeface="+mj-lt"/>
              <a:cs typeface="Arial" panose="020B0604020202020204" pitchFamily="34" charset="0"/>
            </a:endParaRPr>
          </a:p>
        </p:txBody>
      </p:sp>
      <p:sp>
        <p:nvSpPr>
          <p:cNvPr id="21" name="TextBox 20"/>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18</a:t>
            </a:r>
          </a:p>
        </p:txBody>
      </p:sp>
      <p:sp>
        <p:nvSpPr>
          <p:cNvPr id="22" name="テキスト ボックス 21">
            <a:extLst>
              <a:ext uri="{FF2B5EF4-FFF2-40B4-BE49-F238E27FC236}">
                <a16:creationId xmlns:a16="http://schemas.microsoft.com/office/drawing/2014/main" id="{C3323107-57DF-0124-6695-CED25F109570}"/>
              </a:ext>
            </a:extLst>
          </p:cNvPr>
          <p:cNvSpPr txBox="1"/>
          <p:nvPr/>
        </p:nvSpPr>
        <p:spPr>
          <a:xfrm>
            <a:off x="502920" y="804672"/>
            <a:ext cx="11109960" cy="320040"/>
          </a:xfrm>
          <a:prstGeom prst="rect">
            <a:avLst/>
          </a:prstGeom>
          <a:noFill/>
        </p:spPr>
        <p:txBody>
          <a:bodyPr wrap="square" lIns="27432" tIns="18288" rIns="27432" bIns="18288" rtlCol="0">
            <a:spAutoFit/>
          </a:bodyPr>
          <a:lstStyle/>
          <a:p>
            <a:pPr>
              <a:defRPr sz="2000" b="0">
                <a:solidFill>
                  <a:srgbClr val="2D2D2D"/>
                </a:solidFill>
                <a:latin typeface="Arial"/>
              </a:defRPr>
            </a:pPr>
            <a:r>
              <a:rPr lang="ja-JP" altLang="ja-JP" sz="2000" b="0" dirty="0">
                <a:solidFill>
                  <a:srgbClr val="000000"/>
                </a:solidFill>
                <a:latin typeface="Arial"/>
                <a:cs typeface="Arial" panose="020B0604020202020204" pitchFamily="34" charset="0"/>
              </a:rPr>
              <a:t>Impact of a Low-Accuracy Sub-model</a:t>
            </a:r>
            <a:endParaRPr kumimoji="1" lang="ja-JP" altLang="en-US" sz="2400" dirty="0">
              <a:latin typeface="+mj-lt"/>
              <a:cs typeface="Arial" panose="020B0604020202020204" pitchFamily="34" charset="0"/>
            </a:endParaRPr>
          </a:p>
        </p:txBody>
      </p:sp>
      <p:sp>
        <p:nvSpPr>
          <p:cNvPr id="3" name="テキスト ボックス 2">
            <a:extLst>
              <a:ext uri="{FF2B5EF4-FFF2-40B4-BE49-F238E27FC236}">
                <a16:creationId xmlns:a16="http://schemas.microsoft.com/office/drawing/2014/main" id="{C284CF00-46AD-B022-1135-2DF09B5DF8C6}"/>
              </a:ext>
            </a:extLst>
          </p:cNvPr>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a:solidFill>
                  <a:srgbClr val="000000"/>
                </a:solidFill>
                <a:latin typeface="Arial"/>
              </a:rPr>
              <a:t>Result 4: Final Model Quality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a:solidFill>
                  <a:srgbClr val="000000"/>
                </a:solidFill>
                <a:latin typeface="Arial"/>
              </a:rPr>
              <a:t>Table of Contents</a:t>
            </a:r>
          </a:p>
        </p:txBody>
      </p:sp>
      <p:sp>
        <p:nvSpPr>
          <p:cNvPr id="3" name="TextBox 2"/>
          <p:cNvSpPr txBox="1"/>
          <p:nvPr/>
        </p:nvSpPr>
        <p:spPr>
          <a:xfrm>
            <a:off x="594360" y="160020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1. Introduction</a:t>
            </a:r>
          </a:p>
        </p:txBody>
      </p:sp>
      <p:sp>
        <p:nvSpPr>
          <p:cNvPr id="4" name="TextBox 3"/>
          <p:cNvSpPr txBox="1"/>
          <p:nvPr/>
        </p:nvSpPr>
        <p:spPr>
          <a:xfrm>
            <a:off x="594360" y="233172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2. Proposal</a:t>
            </a:r>
          </a:p>
        </p:txBody>
      </p:sp>
      <p:sp>
        <p:nvSpPr>
          <p:cNvPr id="5" name="TextBox 4"/>
          <p:cNvSpPr txBox="1"/>
          <p:nvPr/>
        </p:nvSpPr>
        <p:spPr>
          <a:xfrm>
            <a:off x="594360" y="306324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0">
                <a:solidFill>
                  <a:srgbClr val="000000"/>
                </a:solidFill>
                <a:latin typeface="Arial"/>
              </a:rPr>
              <a:t>3. Evaluation</a:t>
            </a:r>
          </a:p>
        </p:txBody>
      </p:sp>
      <p:sp>
        <p:nvSpPr>
          <p:cNvPr id="6" name="TextBox 5"/>
          <p:cNvSpPr txBox="1"/>
          <p:nvPr/>
        </p:nvSpPr>
        <p:spPr>
          <a:xfrm>
            <a:off x="594360" y="3794760"/>
            <a:ext cx="3977639" cy="475488"/>
          </a:xfrm>
          <a:prstGeom prst="rect">
            <a:avLst/>
          </a:prstGeom>
          <a:noFill/>
        </p:spPr>
        <p:txBody>
          <a:bodyPr wrap="none" lIns="0" tIns="18288" rIns="0" bIns="18288">
            <a:spAutoFit/>
          </a:bodyPr>
          <a:lstStyle/>
          <a:p>
            <a:pPr>
              <a:defRPr sz="2500">
                <a:solidFill>
                  <a:srgbClr val="000000"/>
                </a:solidFill>
                <a:latin typeface="Arial"/>
              </a:defRPr>
            </a:pPr>
            <a:r>
              <a:rPr sz="2400" b="1">
                <a:solidFill>
                  <a:srgbClr val="000000"/>
                </a:solidFill>
                <a:latin typeface="Arial"/>
              </a:rPr>
              <a:t>4. Conclusion</a:t>
            </a:r>
          </a:p>
        </p:txBody>
      </p:sp>
      <p:sp>
        <p:nvSpPr>
          <p:cNvPr id="7" name="TextBox 6"/>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normAutofit/>
          </a:bodyPr>
          <a:lstStyle/>
          <a:p>
            <a:pPr algn="l">
              <a:defRPr sz="2800" b="1">
                <a:solidFill>
                  <a:srgbClr val="000000"/>
                </a:solidFill>
                <a:latin typeface="Arial"/>
              </a:defRPr>
            </a:pPr>
            <a:r>
              <a:rPr sz="2800" b="1" dirty="0">
                <a:solidFill>
                  <a:srgbClr val="000000"/>
                </a:solidFill>
                <a:latin typeface="Arial"/>
              </a:rPr>
              <a:t>Conclusion and Future Work</a:t>
            </a:r>
          </a:p>
        </p:txBody>
      </p:sp>
      <p:sp>
        <p:nvSpPr>
          <p:cNvPr id="12" name="TextBox 11"/>
          <p:cNvSpPr txBox="1"/>
          <p:nvPr/>
        </p:nvSpPr>
        <p:spPr>
          <a:xfrm>
            <a:off x="11686032" y="6565392"/>
            <a:ext cx="384048" cy="201168"/>
          </a:xfrm>
          <a:prstGeom prst="rect">
            <a:avLst/>
          </a:prstGeom>
          <a:noFill/>
        </p:spPr>
        <p:txBody>
          <a:bodyPr wrap="square" lIns="27432" tIns="18288" rIns="27432" bIns="18288">
            <a:normAutofit/>
          </a:bodyPr>
          <a:lstStyle/>
          <a:p>
            <a:pPr algn="ctr">
              <a:defRPr sz="800" b="0">
                <a:solidFill>
                  <a:srgbClr val="000000"/>
                </a:solidFill>
                <a:latin typeface="Arial"/>
              </a:defRPr>
            </a:pPr>
            <a:r>
              <a:rPr sz="800" b="0">
                <a:solidFill>
                  <a:srgbClr val="000000"/>
                </a:solidFill>
                <a:latin typeface="Arial"/>
              </a:rPr>
              <a:t>20</a:t>
            </a:r>
          </a:p>
        </p:txBody>
      </p:sp>
      <p:sp>
        <p:nvSpPr>
          <p:cNvPr id="3" name="テキスト ボックス 2">
            <a:extLst>
              <a:ext uri="{FF2B5EF4-FFF2-40B4-BE49-F238E27FC236}">
                <a16:creationId xmlns:a16="http://schemas.microsoft.com/office/drawing/2014/main" id="{CF61D3B9-3ED7-5232-96B6-458F459FA1CE}"/>
              </a:ext>
            </a:extLst>
          </p:cNvPr>
          <p:cNvSpPr txBox="1"/>
          <p:nvPr/>
        </p:nvSpPr>
        <p:spPr>
          <a:xfrm>
            <a:off x="777240" y="1097280"/>
            <a:ext cx="10607040" cy="504514"/>
          </a:xfrm>
          <a:prstGeom prst="rect">
            <a:avLst/>
          </a:prstGeom>
          <a:noFill/>
        </p:spPr>
        <p:txBody>
          <a:bodyPr wrap="square" lIns="27432" tIns="18288" rIns="27432" bIns="18288" rtlCol="0">
            <a:spAutoFit/>
          </a:bodyPr>
          <a:lstStyle/>
          <a:p>
            <a:pPr>
              <a:defRPr sz="2400" b="1">
                <a:solidFill>
                  <a:srgbClr val="000000"/>
                </a:solidFill>
                <a:latin typeface="Arial"/>
              </a:defRPr>
            </a:pPr>
            <a:r>
              <a:rPr sz="2400" b="1" dirty="0">
                <a:solidFill>
                  <a:srgbClr val="000000"/>
                </a:solidFill>
                <a:latin typeface="Arial"/>
              </a:rPr>
              <a:t>Conclusion</a:t>
            </a:r>
          </a:p>
        </p:txBody>
      </p:sp>
      <p:sp>
        <p:nvSpPr>
          <p:cNvPr id="11" name="テキスト ボックス 10">
            <a:extLst>
              <a:ext uri="{FF2B5EF4-FFF2-40B4-BE49-F238E27FC236}">
                <a16:creationId xmlns:a16="http://schemas.microsoft.com/office/drawing/2014/main" id="{C2FF34B8-8AEA-6743-A6B5-B82858410784}"/>
              </a:ext>
            </a:extLst>
          </p:cNvPr>
          <p:cNvSpPr txBox="1"/>
          <p:nvPr/>
        </p:nvSpPr>
        <p:spPr>
          <a:xfrm>
            <a:off x="914400" y="1627632"/>
            <a:ext cx="10332720" cy="2148840"/>
          </a:xfrm>
          <a:prstGeom prst="rect">
            <a:avLst/>
          </a:prstGeom>
          <a:noFill/>
        </p:spPr>
        <p:txBody>
          <a:bodyPr wrap="square" lIns="27432" tIns="18288" rIns="27432" bIns="18288" rtlCol="0">
            <a:spAutoFit/>
          </a:bodyPr>
          <a:lstStyle/>
          <a:p>
            <a:pPr marL="285750" lvl="0" indent="-285750">
              <a:buFont typeface="Arial" panose="020B0604020202020204" pitchFamily="34" charset="0"/>
              <a:buChar char="•"/>
              <a:defRPr>
                <a:latin typeface="Arial"/>
              </a:defRPr>
            </a:pPr>
            <a:r>
              <a:rPr lang="ja-JP" altLang="ja-JP" sz="2200" dirty="0">
                <a:solidFill>
                  <a:srgbClr val="000000"/>
                </a:solidFill>
                <a:latin typeface="Arial"/>
              </a:rPr>
              <a:t>Implemented and validated the model-transfer and receiver-side integration workflow using TCP, ZeroMQ, and gRPC. </a:t>
            </a:r>
            <a:endParaRPr lang="en-US" altLang="ja-JP" sz="2600" dirty="0">
              <a:latin typeface="+mj-lt"/>
            </a:endParaRPr>
          </a:p>
          <a:p>
            <a:pPr marL="285750" lvl="0" indent="-285750">
              <a:buFont typeface="Arial" panose="020B0604020202020204" pitchFamily="34" charset="0"/>
              <a:buChar char="•"/>
              <a:defRPr>
                <a:latin typeface="Arial"/>
              </a:defRPr>
            </a:pPr>
            <a:endParaRPr lang="ja-JP" altLang="ja-JP" sz="2600" dirty="0">
              <a:latin typeface="+mj-lt"/>
            </a:endParaRPr>
          </a:p>
          <a:p>
            <a:pPr marL="285750" lvl="0" indent="-285750">
              <a:buFont typeface="Arial" panose="020B0604020202020204" pitchFamily="34" charset="0"/>
              <a:buChar char="•"/>
              <a:defRPr>
                <a:latin typeface="Arial"/>
              </a:defRPr>
            </a:pPr>
            <a:r>
              <a:rPr lang="ja-JP" altLang="ja-JP" sz="2200" dirty="0">
                <a:solidFill>
                  <a:srgbClr val="000000"/>
                </a:solidFill>
                <a:latin typeface="Arial"/>
              </a:rPr>
              <a:t>Workflow performance depended on sender coordination, receiver-side processing, and sub-model quality—not on communication approach alone</a:t>
            </a:r>
            <a:r>
              <a:rPr lang="ja-JP" altLang="ja-JP" sz="2200" b="1" dirty="0">
                <a:solidFill>
                  <a:srgbClr val="000000"/>
                </a:solidFill>
                <a:latin typeface="Arial"/>
              </a:rPr>
              <a:t>.</a:t>
            </a:r>
            <a:endParaRPr lang="ja-JP" altLang="ja-JP" sz="2600" dirty="0">
              <a:latin typeface="+mj-lt"/>
            </a:endParaRPr>
          </a:p>
          <a:p>
            <a:pPr>
              <a:defRPr>
                <a:latin typeface="Arial"/>
              </a:defRPr>
            </a:pPr>
            <a:endParaRPr kumimoji="1" lang="ja-JP" altLang="en-US" sz="2600" dirty="0">
              <a:latin typeface="+mj-lt"/>
            </a:endParaRPr>
          </a:p>
        </p:txBody>
      </p:sp>
      <p:sp>
        <p:nvSpPr>
          <p:cNvPr id="14" name="テキスト ボックス 13">
            <a:extLst>
              <a:ext uri="{FF2B5EF4-FFF2-40B4-BE49-F238E27FC236}">
                <a16:creationId xmlns:a16="http://schemas.microsoft.com/office/drawing/2014/main" id="{749B293A-9C1F-D429-A960-5E51AF62960F}"/>
              </a:ext>
            </a:extLst>
          </p:cNvPr>
          <p:cNvSpPr txBox="1"/>
          <p:nvPr/>
        </p:nvSpPr>
        <p:spPr>
          <a:xfrm>
            <a:off x="777240" y="4251960"/>
            <a:ext cx="10607040" cy="384048"/>
          </a:xfrm>
          <a:prstGeom prst="rect">
            <a:avLst/>
          </a:prstGeom>
          <a:noFill/>
        </p:spPr>
        <p:txBody>
          <a:bodyPr wrap="square" lIns="27432" tIns="18288" rIns="27432" bIns="18288" rtlCol="0">
            <a:spAutoFit/>
          </a:bodyPr>
          <a:lstStyle/>
          <a:p>
            <a:pPr>
              <a:defRPr sz="2400" b="1">
                <a:solidFill>
                  <a:srgbClr val="000000"/>
                </a:solidFill>
                <a:latin typeface="Arial"/>
              </a:defRPr>
            </a:pPr>
            <a:r>
              <a:rPr kumimoji="1" lang="en-US" altLang="ja-JP" sz="2400" b="1" dirty="0">
                <a:solidFill>
                  <a:srgbClr val="000000"/>
                </a:solidFill>
                <a:latin typeface="Arial"/>
              </a:rPr>
              <a:t>Future work</a:t>
            </a:r>
            <a:endParaRPr kumimoji="1" lang="ja-JP" altLang="en-US" sz="2600" dirty="0">
              <a:latin typeface="+mj-lt"/>
            </a:endParaRPr>
          </a:p>
        </p:txBody>
      </p:sp>
      <p:sp>
        <p:nvSpPr>
          <p:cNvPr id="16" name="テキスト ボックス 15">
            <a:extLst>
              <a:ext uri="{FF2B5EF4-FFF2-40B4-BE49-F238E27FC236}">
                <a16:creationId xmlns:a16="http://schemas.microsoft.com/office/drawing/2014/main" id="{FC2717E2-7BD3-03C5-4CA3-D5A41DDAAD5E}"/>
              </a:ext>
            </a:extLst>
          </p:cNvPr>
          <p:cNvSpPr txBox="1"/>
          <p:nvPr/>
        </p:nvSpPr>
        <p:spPr>
          <a:xfrm>
            <a:off x="914400" y="4736592"/>
            <a:ext cx="10332720" cy="1052596"/>
          </a:xfrm>
          <a:prstGeom prst="rect">
            <a:avLst/>
          </a:prstGeom>
          <a:noFill/>
        </p:spPr>
        <p:txBody>
          <a:bodyPr wrap="square" lIns="27432" tIns="18288" rIns="27432" bIns="18288" rtlCol="0">
            <a:spAutoFit/>
          </a:bodyPr>
          <a:lstStyle/>
          <a:p>
            <a:pPr marL="285750" lvl="0" indent="-285750">
              <a:buFont typeface="Arial" panose="020B0604020202020204" pitchFamily="34" charset="0"/>
              <a:buChar char="•"/>
              <a:defRPr>
                <a:latin typeface="Arial"/>
              </a:defRPr>
            </a:pPr>
            <a:r>
              <a:rPr lang="en-US" altLang="ja-JP" sz="2200" dirty="0">
                <a:latin typeface="+mj-lt"/>
              </a:rPr>
              <a:t>Evaluate the workflow on physical devices and different types of devices.</a:t>
            </a:r>
          </a:p>
          <a:p>
            <a:pPr lvl="0">
              <a:defRPr>
                <a:latin typeface="Arial"/>
              </a:defRPr>
            </a:pPr>
            <a:endParaRPr lang="ja-JP" altLang="ja-JP" sz="2200" dirty="0">
              <a:latin typeface="+mj-lt"/>
            </a:endParaRPr>
          </a:p>
          <a:p>
            <a:pPr marL="285750" lvl="0" indent="-285750">
              <a:buFont typeface="Arial" panose="020B0604020202020204" pitchFamily="34" charset="0"/>
              <a:buChar char="•"/>
              <a:defRPr>
                <a:latin typeface="Arial"/>
              </a:defRPr>
            </a:pPr>
            <a:r>
              <a:rPr lang="ja-JP" altLang="ja-JP" sz="2200" b="0" dirty="0">
                <a:solidFill>
                  <a:srgbClr val="000000"/>
                </a:solidFill>
                <a:latin typeface="Arial"/>
              </a:rPr>
              <a:t>Improve sender coordination and reduce receiver-side processing cost.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09960" cy="502920"/>
          </a:xfrm>
          <a:prstGeom prst="rect">
            <a:avLst/>
          </a:prstGeom>
          <a:noFill/>
          <a:ln>
            <a:noFill/>
          </a:ln>
        </p:spPr>
        <p:txBody>
          <a:bodyPr wrap="none" lIns="27432" tIns="18288" rIns="27432" bIns="18288">
            <a:spAutoFit/>
          </a:bodyPr>
          <a:lstStyle/>
          <a:p>
            <a:pPr algn="l">
              <a:defRPr sz="2800" b="1">
                <a:solidFill>
                  <a:srgbClr val="000000"/>
                </a:solidFill>
                <a:latin typeface="Arial"/>
              </a:defRPr>
            </a:pPr>
            <a:r>
              <a:rPr sz="2800" b="1">
                <a:solidFill>
                  <a:srgbClr val="000000"/>
                </a:solidFill>
                <a:latin typeface="Arial"/>
              </a:rPr>
              <a:t>References</a:t>
            </a:r>
          </a:p>
        </p:txBody>
      </p:sp>
      <p:sp>
        <p:nvSpPr>
          <p:cNvPr id="3" name="TextBox 2"/>
          <p:cNvSpPr txBox="1"/>
          <p:nvPr/>
        </p:nvSpPr>
        <p:spPr>
          <a:xfrm>
            <a:off x="685800" y="1143000"/>
            <a:ext cx="10881360" cy="4389120"/>
          </a:xfrm>
          <a:prstGeom prst="rect">
            <a:avLst/>
          </a:prstGeom>
          <a:noFill/>
        </p:spPr>
        <p:txBody>
          <a:bodyPr wrap="square" lIns="27432" tIns="18288" rIns="27432" bIns="18288">
            <a:spAutoFit/>
          </a:bodyPr>
          <a:lstStyle/>
          <a:p>
            <a:pPr algn="l">
              <a:spcAft>
                <a:spcPts val="600"/>
              </a:spcAft>
              <a:defRPr sz="1800">
                <a:solidFill>
                  <a:srgbClr val="000000"/>
                </a:solidFill>
                <a:latin typeface="Arial"/>
              </a:defRPr>
            </a:pPr>
            <a:r>
              <a:rPr sz="1600" b="0">
                <a:solidFill>
                  <a:srgbClr val="000000"/>
                </a:solidFill>
                <a:latin typeface="Arial"/>
              </a:rPr>
              <a:t>[1] W. Maass, “Networks of spiking neurons: The third generation of neural network models,” Neural Networks, vol. 10, no. 9, pp. 1659–1671, 1997.</a:t>
            </a:r>
          </a:p>
          <a:p>
            <a:pPr>
              <a:spcAft>
                <a:spcPts val="600"/>
              </a:spcAft>
            </a:pPr>
            <a:r>
              <a:rPr sz="1600" b="0">
                <a:solidFill>
                  <a:srgbClr val="000000"/>
                </a:solidFill>
                <a:latin typeface="Arial"/>
              </a:rPr>
              <a:t>[2] H. Markram, W. Gerstner, and P. J. Sjöström, “Spike-Timing-Dependent Plasticity: A Comprehensive Overview,” Frontiers in Synaptic Neuroscience, vol. 4, Art. 2, 2012.</a:t>
            </a:r>
          </a:p>
          <a:p>
            <a:pPr>
              <a:spcAft>
                <a:spcPts val="600"/>
              </a:spcAft>
            </a:pPr>
            <a:r>
              <a:rPr sz="1600" b="0">
                <a:solidFill>
                  <a:srgbClr val="000000"/>
                </a:solidFill>
                <a:latin typeface="Arial"/>
              </a:rPr>
              <a:t>[3] Y. Hanyu and K. N. Dang, “EnsembleSTDP: Distributed in-situ Spike Timing Dependent Plasticity Learning in Spiking Neural Networks,” 2024 IEEE 17th International Symposium on Embedded Multicore/Many-core Systems-on-Chip (MCSoC), pp. 434–440, 2024.</a:t>
            </a:r>
          </a:p>
          <a:p>
            <a:pPr>
              <a:spcAft>
                <a:spcPts val="600"/>
              </a:spcAft>
            </a:pPr>
            <a:r>
              <a:rPr sz="1600" b="0">
                <a:solidFill>
                  <a:srgbClr val="000000"/>
                </a:solidFill>
                <a:latin typeface="Arial"/>
              </a:rPr>
              <a:t>[4] H. Hazan et al., “BindsNET: A Machine Learning-Oriented Spiking Neural Networks Library in Python,” Frontiers in Neuroinformatics, vol. 12, Art. 89, 2018.</a:t>
            </a:r>
          </a:p>
          <a:p>
            <a:pPr>
              <a:spcAft>
                <a:spcPts val="300"/>
              </a:spcAft>
            </a:pPr>
            <a:r>
              <a:rPr sz="1600" b="0">
                <a:solidFill>
                  <a:srgbClr val="000000"/>
                </a:solidFill>
                <a:latin typeface="Arial"/>
              </a:rPr>
              <a:t>Research group GitHub: </a:t>
            </a:r>
            <a:r>
              <a:rPr sz="1600" b="0">
                <a:solidFill>
                  <a:srgbClr val="000000"/>
                </a:solidFill>
                <a:latin typeface="Arial"/>
                <a:hlinkClick r:id="rId3"/>
              </a:rPr>
              <a:t>https://github.com/klab-aizu</a:t>
            </a:r>
          </a:p>
          <a:p>
            <a:pPr>
              <a:spcAft>
                <a:spcPts val="300"/>
              </a:spcAft>
            </a:pPr>
            <a:r>
              <a:rPr sz="1600" b="0">
                <a:solidFill>
                  <a:srgbClr val="000000"/>
                </a:solidFill>
                <a:latin typeface="Arial"/>
              </a:rPr>
              <a:t>EnsembleSTDP source code: </a:t>
            </a:r>
            <a:r>
              <a:rPr sz="1600" b="0">
                <a:solidFill>
                  <a:srgbClr val="000000"/>
                </a:solidFill>
                <a:latin typeface="Arial"/>
                <a:hlinkClick r:id="rId4"/>
              </a:rPr>
              <a:t>https://github.com/klab-aizu/EnsembleSTDP</a:t>
            </a:r>
          </a:p>
        </p:txBody>
      </p:sp>
      <p:sp>
        <p:nvSpPr>
          <p:cNvPr id="4" name="TextBox 3"/>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920240" y="2788920"/>
            <a:ext cx="8412480" cy="640080"/>
          </a:xfrm>
          <a:prstGeom prst="rect">
            <a:avLst/>
          </a:prstGeom>
          <a:noFill/>
          <a:ln/>
        </p:spPr>
        <p:txBody>
          <a:bodyPr wrap="square" lIns="27432" tIns="18288" rIns="27432" bIns="18288" rtlCol="0" anchor="ctr"/>
          <a:lstStyle/>
          <a:p>
            <a:pPr marL="0" indent="0" algn="ctr">
              <a:buNone/>
              <a:defRPr sz="3800" b="0">
                <a:solidFill>
                  <a:srgbClr val="000000"/>
                </a:solidFill>
                <a:latin typeface="Arial"/>
              </a:defRPr>
            </a:pPr>
            <a:r>
              <a:rPr lang="en-US" sz="3800" b="0" dirty="0">
                <a:solidFill>
                  <a:srgbClr val="000000"/>
                </a:solidFill>
                <a:latin typeface="Arial"/>
                <a:ea typeface="Arial" pitchFamily="34" charset="-122"/>
                <a:cs typeface="Arial" pitchFamily="34" charset="-120"/>
              </a:rPr>
              <a:t>Thank you for your attention!</a:t>
            </a:r>
            <a:endParaRPr lang="en-US" sz="3800" dirty="0">
              <a:latin typeface="+mj-lt"/>
            </a:endParaRPr>
          </a:p>
        </p:txBody>
      </p:sp>
      <p:sp>
        <p:nvSpPr>
          <p:cNvPr id="3" name="Text 1"/>
          <p:cNvSpPr/>
          <p:nvPr/>
        </p:nvSpPr>
        <p:spPr>
          <a:xfrm>
            <a:off x="4251960" y="3703320"/>
            <a:ext cx="3749040" cy="365760"/>
          </a:xfrm>
          <a:prstGeom prst="rect">
            <a:avLst/>
          </a:prstGeom>
          <a:noFill/>
          <a:ln/>
        </p:spPr>
        <p:txBody>
          <a:bodyPr wrap="square" lIns="27432" tIns="18288" rIns="27432" bIns="18288" rtlCol="0" anchor="ctr"/>
          <a:lstStyle/>
          <a:p>
            <a:pPr marL="0" indent="0" algn="ctr">
              <a:buNone/>
              <a:defRPr sz="2200" b="0">
                <a:solidFill>
                  <a:srgbClr val="000000"/>
                </a:solidFill>
                <a:latin typeface="Arial"/>
              </a:defRPr>
            </a:pPr>
            <a:r>
              <a:rPr lang="en-US" sz="2200" b="0" dirty="0">
                <a:solidFill>
                  <a:srgbClr val="000000"/>
                </a:solidFill>
                <a:latin typeface="Arial"/>
                <a:ea typeface="Arial" pitchFamily="34" charset="-122"/>
                <a:cs typeface="Arial" pitchFamily="34" charset="-120"/>
              </a:rPr>
              <a:t>Any questions?</a:t>
            </a:r>
            <a:endParaRPr lang="en-US" sz="2200" dirty="0">
              <a:latin typeface="+mj-lt"/>
            </a:endParaRPr>
          </a:p>
        </p:txBody>
      </p:sp>
      <p:sp>
        <p:nvSpPr>
          <p:cNvPr id="4" name="TextBox 3"/>
          <p:cNvSpPr txBox="1"/>
          <p:nvPr/>
        </p:nvSpPr>
        <p:spPr>
          <a:xfrm>
            <a:off x="11686032" y="6565392"/>
            <a:ext cx="384048" cy="201168"/>
          </a:xfrm>
          <a:prstGeom prst="rect">
            <a:avLst/>
          </a:prstGeom>
          <a:noFill/>
        </p:spPr>
        <p:txBody>
          <a:bodyPr wrap="none" lIns="27432" tIns="18288" rIns="27432" bIns="18288">
            <a:spAutoFit/>
          </a:bodyPr>
          <a:lstStyle/>
          <a:p>
            <a:pPr algn="ctr">
              <a:defRPr sz="800" b="0">
                <a:solidFill>
                  <a:srgbClr val="000000"/>
                </a:solidFill>
                <a:latin typeface="Arial"/>
              </a:defRPr>
            </a:pPr>
            <a:r>
              <a:rPr sz="800" b="0">
                <a:solidFill>
                  <a:srgbClr val="000000"/>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ajorFont>
      <a:minorFont>
        <a:latin typeface="Arial"/>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ajorFont>
      <a:minorFont>
        <a:latin typeface="Arial" panose="020F0502020204030204"/>
        <a:ea typeface="Arial"/>
        <a:cs typeface="Arial"/>
        <a:font script="Jpan" typeface="Arial"/>
        <a:font script="Hang" typeface="Arial"/>
        <a:font script="Hans" typeface="Arial"/>
        <a:font script="Hant" typeface="Arial"/>
        <a:font script="Arab" typeface="Arial"/>
        <a:font script="Hebr" typeface="Arial"/>
        <a:font script="Thai" typeface="Arial"/>
        <a:font script="Ethi" typeface="Arial"/>
        <a:font script="Beng" typeface="Arial"/>
        <a:font script="Gujr" typeface="Arial"/>
        <a:font script="Khmr" typeface="Arial"/>
        <a:font script="Knda" typeface="Arial"/>
        <a:font script="Guru" typeface="Arial"/>
        <a:font script="Cans" typeface="Arial"/>
        <a:font script="Cher" typeface="Arial"/>
        <a:font script="Yiii" typeface="Arial"/>
        <a:font script="Tibt" typeface="Arial"/>
        <a:font script="Thaa" typeface="Arial"/>
        <a:font script="Deva" typeface="Arial"/>
        <a:font script="Telu" typeface="Arial"/>
        <a:font script="Taml" typeface="Arial"/>
        <a:font script="Syrc" typeface="Arial"/>
        <a:font script="Orya" typeface="Arial"/>
        <a:font script="Mlym" typeface="Arial"/>
        <a:font script="Laoo" typeface="Arial"/>
        <a:font script="Sinh" typeface="Arial"/>
        <a:font script="Mong" typeface="Arial"/>
        <a:font script="Viet" typeface="Arial"/>
        <a:font script="Uigh" typeface="Arial"/>
        <a:font script="Geor" typeface="Arial"/>
        <a:font script="Armn" typeface="Arial"/>
        <a:font script="Bugi" typeface="Arial"/>
        <a:font script="Bopo" typeface="Arial"/>
        <a:font script="Java" typeface="Arial"/>
        <a:font script="Lisu" typeface="Arial"/>
        <a:font script="Mymr" typeface="Arial"/>
        <a:font script="Nkoo" typeface="Arial"/>
        <a:font script="Olck" typeface="Arial"/>
        <a:font script="Osma" typeface="Arial"/>
        <a:font script="Phag" typeface="Arial"/>
        <a:font script="Syrn" typeface="Arial"/>
        <a:font script="Syrj" typeface="Arial"/>
        <a:font script="Syre" typeface="Arial"/>
        <a:font script="Sora" typeface="Arial"/>
        <a:font script="Tale" typeface="Arial"/>
        <a:font script="Talu" typeface="Arial"/>
        <a:font script="Tfng"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4462</TotalTime>
  <Words>3829</Words>
  <Application>Microsoft Office PowerPoint</Application>
  <PresentationFormat>ワイド画面</PresentationFormat>
  <Paragraphs>429</Paragraphs>
  <Slides>23</Slides>
  <Notes>23</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23</vt:i4>
      </vt:variant>
    </vt:vector>
  </HeadingPairs>
  <TitlesOfParts>
    <vt:vector size="25" baseType="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University of Aizu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and Evaluation of a Model Transfer and Integration Workflow for Distributed Spiking Neural Network Learning</dc:title>
  <dc:subject>Graduation Thesis Presentation</dc:subject>
  <dc:creator>Hayato Takimoto</dc:creator>
  <cp:lastModifiedBy>颯人 滝本</cp:lastModifiedBy>
  <cp:revision>70</cp:revision>
  <dcterms:created xsi:type="dcterms:W3CDTF">2026-07-22T02:06:02Z</dcterms:created>
  <dcterms:modified xsi:type="dcterms:W3CDTF">2026-08-09T22:39:20Z</dcterms:modified>
</cp:coreProperties>
</file>
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70" r:id="rId3"/>
    <p:sldId id="271" r:id="rId4"/>
    <p:sldId id="257" r:id="rId5"/>
    <p:sldId id="259" r:id="rId6"/>
    <p:sldId id="272" r:id="rId7"/>
    <p:sldId id="266" r:id="rId8"/>
    <p:sldId id="274" r:id="rId9"/>
    <p:sldId id="275" r:id="rId10"/>
    <p:sldId id="276" r:id="rId11"/>
    <p:sldId id="262" r:id="rId12"/>
    <p:sldId id="277" r:id="rId13"/>
    <p:sldId id="278" r:id="rId14"/>
    <p:sldId id="264" r:id="rId15"/>
    <p:sldId id="281" r:id="rId16"/>
    <p:sldId id="280" r:id="rId17"/>
    <p:sldId id="265" r:id="rId18"/>
    <p:sldId id="279" r:id="rId19"/>
    <p:sldId id="282" r:id="rId20"/>
    <p:sldId id="267" r:id="rId21"/>
    <p:sldId id="286" r:id="rId22"/>
    <p:sldId id="288" r:id="rId23"/>
    <p:sldId id="283" r:id="rId24"/>
    <p:sldId id="290" r:id="rId25"/>
    <p:sldId id="291" r:id="rId26"/>
    <p:sldId id="292" r:id="rId27"/>
    <p:sldId id="294" r:id="rId28"/>
    <p:sldId id="296" r:id="rId29"/>
    <p:sldId id="297" r:id="rId30"/>
    <p:sldId id="299" r:id="rId31"/>
    <p:sldId id="298" r:id="rId32"/>
    <p:sldId id="26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6" autoAdjust="0"/>
    <p:restoredTop sz="86644" autoAdjust="0"/>
  </p:normalViewPr>
  <p:slideViewPr>
    <p:cSldViewPr snapToGrid="0">
      <p:cViewPr varScale="1">
        <p:scale>
          <a:sx n="85" d="100"/>
          <a:sy n="85" d="100"/>
        </p:scale>
        <p:origin x="1164" y="68"/>
      </p:cViewPr>
      <p:guideLst/>
    </p:cSldViewPr>
  </p:slideViewPr>
  <p:outlineViewPr>
    <p:cViewPr>
      <p:scale>
        <a:sx n="33" d="100"/>
        <a:sy n="33" d="100"/>
      </p:scale>
      <p:origin x="0" y="-62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488F9-3039-4005-83CE-6358447F6E8E}" type="datetimeFigureOut">
              <a:rPr lang="en-IN" smtClean="0"/>
              <a:t>09-08-2026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EF24B-1AFB-433A-A896-25AF713B58A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867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9060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SNNs are 3</a:t>
            </a:r>
            <a:r>
              <a:rPr lang="en-US" baseline="30000" dirty="0"/>
              <a:t>rd</a:t>
            </a:r>
            <a:r>
              <a:rPr lang="en-US" dirty="0"/>
              <a:t> generation of neural networks.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Designed to mimic biological neurons, use spikes to convey information.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Due to this, promise energy efficiency.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Figure shows how input is converted to spike trains, fed to the network and then the output is obtained.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168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 combines bio-plausibility with computational efficiency.</a:t>
            </a:r>
          </a:p>
          <a:p>
            <a:r>
              <a:rPr lang="en-US" dirty="0"/>
              <a:t>Left fig shows the LIF potential dynamics.</a:t>
            </a:r>
          </a:p>
          <a:p>
            <a:r>
              <a:rPr lang="en-US" dirty="0"/>
              <a:t>Here every input spike results in an increase in potential but the potential leaks over time. </a:t>
            </a:r>
          </a:p>
          <a:p>
            <a:r>
              <a:rPr lang="en-US" dirty="0"/>
              <a:t>When the threshold is reached, an output spike is released. </a:t>
            </a:r>
          </a:p>
          <a:p>
            <a:r>
              <a:rPr lang="en-IN" dirty="0"/>
              <a:t>Formulized with the given equation.</a:t>
            </a:r>
          </a:p>
          <a:p>
            <a:r>
              <a:rPr lang="en-IN" dirty="0"/>
              <a:t>Right fig shows a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typical SNN neuron, input spikes are received at the dendrites and the output spikes are released at the axon.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951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Converts input intensity into spiking frequency or firing rate</a:t>
            </a:r>
          </a:p>
          <a:p>
            <a:r>
              <a:rPr lang="en-US" dirty="0"/>
              <a:t>Pixels intensities are used as input features for spike generation</a:t>
            </a:r>
          </a:p>
          <a:p>
            <a:r>
              <a:rPr lang="en-US" dirty="0"/>
              <a:t>Black pixel means no spike will be generated</a:t>
            </a:r>
          </a:p>
          <a:p>
            <a:r>
              <a:rPr lang="en-US" dirty="0"/>
              <a:t>Grey pixel means there is 50% chance of spike generation</a:t>
            </a:r>
          </a:p>
          <a:p>
            <a:r>
              <a:rPr lang="en-US" dirty="0"/>
              <a:t>White pixel means 100% chance of spike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11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figure shows that only timing and location of active spikes (1) are recorded.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262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774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shows the overall framework of FSPC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119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FSPC supports both lossless and lossy compression, controlled by PMT. </a:t>
            </a:r>
          </a:p>
          <a:p>
            <a:r>
              <a:rPr lang="en-US" dirty="0"/>
              <a:t>PMT = 1 indicates lossless compression while PMT &lt; 1 means lossy compression</a:t>
            </a:r>
            <a:r>
              <a:rPr lang="en-IN" dirty="0"/>
              <a:t>.</a:t>
            </a:r>
          </a:p>
          <a:p>
            <a:r>
              <a:rPr lang="en-IN" dirty="0"/>
              <a:t>In PMT = 0.7, the pattern in timesteps 2 and 7 is chosen as ¾ elements of alpha_1 are present.</a:t>
            </a:r>
          </a:p>
          <a:p>
            <a:r>
              <a:rPr lang="en-US" dirty="0"/>
              <a:t>It should be noted that in lossy compression, the recovered spike data may not be same as the initial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250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graphs, the left vertical axis is accuracy and right vertical axis is compression.</a:t>
            </a:r>
          </a:p>
          <a:p>
            <a:r>
              <a:rPr lang="en-US" dirty="0"/>
              <a:t>The horizonal axis shows number of FSPs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dirty="0">
                <a:solidFill>
                  <a:srgbClr val="7030A0"/>
                </a:solidFill>
              </a:rPr>
              <a:t>Compression increases with FSP in both datasets</a:t>
            </a:r>
          </a:p>
          <a:p>
            <a:r>
              <a:rPr lang="en-IN" dirty="0"/>
              <a:t>Avg. Accuracy either drops or stabilizes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630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here as well</a:t>
            </a:r>
          </a:p>
          <a:p>
            <a:r>
              <a:rPr lang="en-US" dirty="0"/>
              <a:t>PMT increase linked with decrease in compression and increase in accuracy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EF24B-1AFB-433A-A896-25AF713B58A3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04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49B4-4160-4ED8-8C9D-60ABC3C60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446C9-E39D-4FB2-B589-2B315ED97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86302-2FDD-42E5-A8FD-AA164B5B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5D38F-20C1-4ACB-A230-75A73E028F07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02BC-8C76-46B2-A0BC-95C577DB1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782A1-C8F0-4E62-AB6B-72554212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E3251CBD-CA29-4411-ACE2-CC776FB30F9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11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97F0-3FAD-44B8-82F5-844B9A0E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6AC81-A463-4746-AC68-F781D8A5C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30E3A-9A5D-4175-9938-6489BBD0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57215-8450-434E-902B-FBD47332F580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737E5-80B6-4641-9569-6CDB343B3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261B-5180-401C-94CC-B13C72FD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923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56FF-DA5E-4EDA-BFB8-E2A21778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F6470-E719-427F-92FA-271B2A24A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97ED5-BF92-430A-A7BC-072C5891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30CA9-7715-4C1A-A4D2-895B4778340B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77737-8572-478D-9202-29271E6B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7A7C7-7DB4-495A-922F-75990349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33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796B-A62D-4987-959F-3A3AB317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F4A2-4A42-4FFF-8B54-45A1A7940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1EAE7-A8C7-481D-9D0D-DAA606B1F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175E4-CB49-426B-AC98-9B41D1DE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609F-7597-4F50-929B-13575887D4F2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0BA72-47E1-471C-A40C-28A56254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7DBDF-1CC5-4384-9484-32988981B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160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22BBF-5429-4C28-A520-E7BBA9A4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BBC16-B94D-4A14-811F-9E8F93C5C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8C80F-C2A8-4618-B64A-062A5DAB6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64F18-E1A0-4334-B694-931265BD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D205-67EB-4938-AFB0-D729D3E5F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6E300-4436-433B-AEC7-A8B23F33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57E7D-206B-488A-8871-FFAAF0BD8FC2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36AF3-9D4F-4157-990D-41A64A85B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7EA3D-461F-4CD9-96FF-CCB65799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736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C0CE1-84C0-4284-914A-23BDC6912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E8C47-83CD-4AEA-8B82-8949C119F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054B-A69F-44AC-ACE3-920B85473B89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1933A-7A0F-4641-8FA0-871CFD25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A7246-4116-4DD8-83B5-C7E64E552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2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828E6-1475-475B-93CA-6DAA180BE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F08DB-96B3-4560-9B5D-03C735FF1C95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9CE36-D9A6-4366-915A-6A904AAD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3CDD6-AC04-4FD2-8F12-9019DD51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81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A8EC-F8E0-43B9-A350-1EDB6AC6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D13F5-0BFB-49B0-8281-10085D5AA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3EF28-76D1-4469-90A0-241BF53B1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629D4-5553-4C02-846B-2EC59978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25C6F-15EA-424D-9395-C65C87720C4E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D8054-D6A5-41A9-9683-BAE4EBE5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9705C-39AA-43EC-9F1B-9BFA0E4D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981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0667-3EB3-4F89-918A-E3E95773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F6468-DCFE-447A-95EE-D1EA2FD62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52B94-AE00-4E78-ACCD-898139D38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1E85D-B776-4A88-A36C-0401A20A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6F63F-161E-419C-9373-EE7F21522A25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9616F-5B0B-4270-A853-5C376217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EB749-8F02-4084-9360-14B10BD0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089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CBCE-C2AE-4E3D-B69F-25656519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A1CDC-42E8-4F26-9EB7-99346D662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9295F-0A27-4E09-AFB3-CF865463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A3BB0-7CF6-4E93-ABBE-BC8245DD7F2C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11E8A-4308-4605-B357-596C3DA0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907A4-7FF4-4E17-8978-AC32CF249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70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A1DBE-7EAB-444F-9C2A-A92B82EDC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B1348-06E7-4C9F-828A-09DC3E061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5A64D-1D31-46CA-8B8F-940016223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491A3-DF56-448F-8D60-2BCA55F5885C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30B10-BA14-4499-BE41-95BAF70B2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F2502-EE74-426C-A521-33B19BAE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74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8E22A0-8B50-4021-BB0D-55FFC2BEC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0444F-5402-4336-B24F-D39C37D64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1AAAA-EF39-4C02-9643-4D9F6F470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0C9B9-A0A9-4DFE-ADEB-4A6088B49C9E}" type="datetime1">
              <a:rPr lang="en-IN" smtClean="0"/>
              <a:t>09-08-2026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D4C7D-BF85-489F-81B9-CB64B752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46B70-3EA8-4E61-977D-A94E5290F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251CBD-CA29-4411-ACE2-CC776FB30F9D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21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lab-aizu/fspc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B566-839A-453E-9493-42BA69003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5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 and Evaluation of a Lossy Spike Compression Framework for Spiking Neural Networks</a:t>
            </a:r>
            <a:endParaRPr lang="en-IN" sz="4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295A0-126C-432C-8A99-6C8B6EA22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6888"/>
            <a:ext cx="9144000" cy="1655762"/>
          </a:xfrm>
        </p:spPr>
        <p:txBody>
          <a:bodyPr>
            <a:noAutofit/>
          </a:bodyPr>
          <a:lstStyle/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Satvik GANESH (s1302003)</a:t>
            </a: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Supervisor: Khanh N. Dang</a:t>
            </a: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School of Computer Science and Engineering</a:t>
            </a: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University of Aizu, Fukushima, Japan</a:t>
            </a:r>
          </a:p>
          <a:p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Date: August 10th 2026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5AF9113-B4FF-C09F-35C3-89B375005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92" y="192351"/>
            <a:ext cx="1659501" cy="930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960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70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Spiking Neural Networks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LIF Neuron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Rate Coding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AER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1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1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1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1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517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E927-972D-461A-AA36-AD3B2B7C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Spiking Neural Networks (SNNs)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45C6B-F109-43E0-971A-CC9064918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92556" cy="4351338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Designed to mimic biological neurons, use spikes to convey information [1]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6B6DF-D3C1-43C9-99A6-C1CBEA56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4</a:t>
            </a:fld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D19690-C6A7-431B-87FE-5E655F56E1E5}"/>
              </a:ext>
            </a:extLst>
          </p:cNvPr>
          <p:cNvGrpSpPr/>
          <p:nvPr/>
        </p:nvGrpSpPr>
        <p:grpSpPr>
          <a:xfrm>
            <a:off x="1068409" y="2374137"/>
            <a:ext cx="9732135" cy="3669930"/>
            <a:chOff x="45100" y="1518993"/>
            <a:chExt cx="11959912" cy="451001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CEAEF3-0270-4A4C-A228-4E1CEDCE1554}"/>
                </a:ext>
              </a:extLst>
            </p:cNvPr>
            <p:cNvGrpSpPr/>
            <p:nvPr/>
          </p:nvGrpSpPr>
          <p:grpSpPr>
            <a:xfrm>
              <a:off x="2519229" y="1518993"/>
              <a:ext cx="7153542" cy="4510012"/>
              <a:chOff x="1176197" y="134763"/>
              <a:chExt cx="9818923" cy="6190425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83C7DD1-8848-4678-AB16-BD6022E6A5B3}"/>
                  </a:ext>
                </a:extLst>
              </p:cNvPr>
              <p:cNvGrpSpPr/>
              <p:nvPr/>
            </p:nvGrpSpPr>
            <p:grpSpPr>
              <a:xfrm>
                <a:off x="1176197" y="134763"/>
                <a:ext cx="9818923" cy="6190425"/>
                <a:chOff x="1176197" y="134763"/>
                <a:chExt cx="9818923" cy="6190425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C0E23C9E-E830-47C3-939B-2C3C70D3FAA8}"/>
                    </a:ext>
                  </a:extLst>
                </p:cNvPr>
                <p:cNvGrpSpPr/>
                <p:nvPr/>
              </p:nvGrpSpPr>
              <p:grpSpPr>
                <a:xfrm>
                  <a:off x="1176197" y="134763"/>
                  <a:ext cx="9818923" cy="6190425"/>
                  <a:chOff x="1176197" y="134763"/>
                  <a:chExt cx="9818923" cy="6190425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86FB88EC-C5A5-4B05-A008-4190189951DF}"/>
                      </a:ext>
                    </a:extLst>
                  </p:cNvPr>
                  <p:cNvGrpSpPr/>
                  <p:nvPr/>
                </p:nvGrpSpPr>
                <p:grpSpPr>
                  <a:xfrm>
                    <a:off x="1176197" y="134763"/>
                    <a:ext cx="9818923" cy="6190425"/>
                    <a:chOff x="1170335" y="134762"/>
                    <a:chExt cx="9768559" cy="6190425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B3545498-AB12-4C15-96A9-494A924235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70335" y="134762"/>
                      <a:ext cx="9768559" cy="6190425"/>
                      <a:chOff x="1170335" y="134762"/>
                      <a:chExt cx="9768559" cy="6190425"/>
                    </a:xfrm>
                  </p:grpSpPr>
                  <p:sp>
                    <p:nvSpPr>
                      <p:cNvPr id="44" name="TextBox 43">
                        <a:extLst>
                          <a:ext uri="{FF2B5EF4-FFF2-40B4-BE49-F238E27FC236}">
                            <a16:creationId xmlns:a16="http://schemas.microsoft.com/office/drawing/2014/main" id="{060F04D9-320D-4922-86BB-C033895BAC2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38317" y="609113"/>
                        <a:ext cx="1300577" cy="83065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Output Spikes</a:t>
                        </a:r>
                        <a:endParaRPr lang="en-IN" sz="13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88A22603-9E10-4E25-9CED-EF5575360D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70335" y="134762"/>
                        <a:ext cx="9752293" cy="6190425"/>
                        <a:chOff x="1170335" y="134762"/>
                        <a:chExt cx="9752293" cy="6190425"/>
                      </a:xfrm>
                    </p:grpSpPr>
                    <p:grpSp>
                      <p:nvGrpSpPr>
                        <p:cNvPr id="46" name="Group 45">
                          <a:extLst>
                            <a:ext uri="{FF2B5EF4-FFF2-40B4-BE49-F238E27FC236}">
                              <a16:creationId xmlns:a16="http://schemas.microsoft.com/office/drawing/2014/main" id="{8535147F-44B4-43C4-A2DE-6B673F6D19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766600" y="1526163"/>
                          <a:ext cx="547352" cy="4368610"/>
                          <a:chOff x="2668342" y="1244688"/>
                          <a:chExt cx="547352" cy="4368610"/>
                        </a:xfrm>
                      </p:grpSpPr>
                      <p:grpSp>
                        <p:nvGrpSpPr>
                          <p:cNvPr id="156" name="Group 155">
                            <a:extLst>
                              <a:ext uri="{FF2B5EF4-FFF2-40B4-BE49-F238E27FC236}">
                                <a16:creationId xmlns:a16="http://schemas.microsoft.com/office/drawing/2014/main" id="{DD5B526D-CD65-4E4F-870E-C7124612886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668342" y="1244688"/>
                            <a:ext cx="547352" cy="4368610"/>
                            <a:chOff x="2839792" y="906618"/>
                            <a:chExt cx="547352" cy="4368610"/>
                          </a:xfrm>
                        </p:grpSpPr>
                        <p:sp>
                          <p:nvSpPr>
                            <p:cNvPr id="159" name="Rectangle 158">
                              <a:extLst>
                                <a:ext uri="{FF2B5EF4-FFF2-40B4-BE49-F238E27FC236}">
                                  <a16:creationId xmlns:a16="http://schemas.microsoft.com/office/drawing/2014/main" id="{16E51E1C-722F-4A45-8D17-E63916217B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39792" y="906618"/>
                              <a:ext cx="547352" cy="43686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60" name="Oval 159">
                              <a:extLst>
                                <a:ext uri="{FF2B5EF4-FFF2-40B4-BE49-F238E27FC236}">
                                  <a16:creationId xmlns:a16="http://schemas.microsoft.com/office/drawing/2014/main" id="{35C4EE36-DB63-42F3-9BA1-F17C005FFA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78429" y="110767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61" name="Oval 160">
                              <a:extLst>
                                <a:ext uri="{FF2B5EF4-FFF2-40B4-BE49-F238E27FC236}">
                                  <a16:creationId xmlns:a16="http://schemas.microsoft.com/office/drawing/2014/main" id="{8AB628A2-8CAB-4D20-BFEE-98E8266EA7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78428" y="188550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62" name="Oval 161">
                              <a:extLst>
                                <a:ext uri="{FF2B5EF4-FFF2-40B4-BE49-F238E27FC236}">
                                  <a16:creationId xmlns:a16="http://schemas.microsoft.com/office/drawing/2014/main" id="{57FF2DCC-6CAD-493C-850C-0BF9DB7C4B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878427" y="453336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5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j</a:t>
                              </a:r>
                              <a:endParaRPr lang="en-IN" sz="150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57" name="Oval 156">
                            <a:extLst>
                              <a:ext uri="{FF2B5EF4-FFF2-40B4-BE49-F238E27FC236}">
                                <a16:creationId xmlns:a16="http://schemas.microsoft.com/office/drawing/2014/main" id="{3CDA8CC4-47DF-4241-BC46-99FE1A1A25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82923" y="3538939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8" name="Oval 157">
                            <a:extLst>
                              <a:ext uri="{FF2B5EF4-FFF2-40B4-BE49-F238E27FC236}">
                                <a16:creationId xmlns:a16="http://schemas.microsoft.com/office/drawing/2014/main" id="{86FD52A9-7680-483D-B8C1-AF032BD048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027" y="3881278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grpSp>
                      <p:nvGrpSpPr>
                        <p:cNvPr id="47" name="Group 46">
                          <a:extLst>
                            <a:ext uri="{FF2B5EF4-FFF2-40B4-BE49-F238E27FC236}">
                              <a16:creationId xmlns:a16="http://schemas.microsoft.com/office/drawing/2014/main" id="{AFC5789C-DDC0-4F12-A975-36130090DBD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455241" y="990852"/>
                          <a:ext cx="547352" cy="5334335"/>
                          <a:chOff x="5651679" y="709377"/>
                          <a:chExt cx="547352" cy="5334335"/>
                        </a:xfrm>
                      </p:grpSpPr>
                      <p:grpSp>
                        <p:nvGrpSpPr>
                          <p:cNvPr id="147" name="Group 146">
                            <a:extLst>
                              <a:ext uri="{FF2B5EF4-FFF2-40B4-BE49-F238E27FC236}">
                                <a16:creationId xmlns:a16="http://schemas.microsoft.com/office/drawing/2014/main" id="{997F2CDA-E19D-4DD7-BCA0-C00C6289137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5651679" y="709377"/>
                            <a:ext cx="547352" cy="5334335"/>
                            <a:chOff x="5381222" y="709376"/>
                            <a:chExt cx="547352" cy="5334335"/>
                          </a:xfrm>
                        </p:grpSpPr>
                        <p:sp>
                          <p:nvSpPr>
                            <p:cNvPr id="151" name="Rectangle 150">
                              <a:extLst>
                                <a:ext uri="{FF2B5EF4-FFF2-40B4-BE49-F238E27FC236}">
                                  <a16:creationId xmlns:a16="http://schemas.microsoft.com/office/drawing/2014/main" id="{C529675A-602A-471A-B096-52B6DC8B4C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381222" y="709376"/>
                              <a:ext cx="547352" cy="533433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2" name="Oval 151">
                              <a:extLst>
                                <a:ext uri="{FF2B5EF4-FFF2-40B4-BE49-F238E27FC236}">
                                  <a16:creationId xmlns:a16="http://schemas.microsoft.com/office/drawing/2014/main" id="{6D12FB95-DB39-4281-9E9F-F81D6A2EF08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8" y="943200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3" name="Oval 152">
                              <a:extLst>
                                <a:ext uri="{FF2B5EF4-FFF2-40B4-BE49-F238E27FC236}">
                                  <a16:creationId xmlns:a16="http://schemas.microsoft.com/office/drawing/2014/main" id="{119D3AC3-92EC-47B1-B5B2-836B55891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8" y="1740435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4" name="Oval 153">
                              <a:extLst>
                                <a:ext uri="{FF2B5EF4-FFF2-40B4-BE49-F238E27FC236}">
                                  <a16:creationId xmlns:a16="http://schemas.microsoft.com/office/drawing/2014/main" id="{1CCB5F60-4CFF-422F-98A9-1C0A94EC29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7" y="2612713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IN" dirty="0"/>
                            </a:p>
                          </p:txBody>
                        </p:sp>
                        <p:sp>
                          <p:nvSpPr>
                            <p:cNvPr id="155" name="Oval 154">
                              <a:extLst>
                                <a:ext uri="{FF2B5EF4-FFF2-40B4-BE49-F238E27FC236}">
                                  <a16:creationId xmlns:a16="http://schemas.microsoft.com/office/drawing/2014/main" id="{0B92E352-7A4E-4657-B259-D51449533B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5419856" y="5233919"/>
                              <a:ext cx="470079" cy="495837"/>
                            </a:xfrm>
                            <a:prstGeom prst="ellipse">
                              <a:avLst/>
                            </a:prstGeom>
                            <a:solidFill>
                              <a:schemeClr val="bg2">
                                <a:lumMod val="50000"/>
                              </a:schemeClr>
                            </a:solidFill>
                            <a:ln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sz="15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i</a:t>
                              </a:r>
                              <a:endParaRPr lang="en-IN" sz="1500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48" name="Oval 147">
                            <a:extLst>
                              <a:ext uri="{FF2B5EF4-FFF2-40B4-BE49-F238E27FC236}">
                                <a16:creationId xmlns:a16="http://schemas.microsoft.com/office/drawing/2014/main" id="{D2384ECF-361A-4F77-8AEB-F79E8A077F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58344" y="3781291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9" name="Oval 148">
                            <a:extLst>
                              <a:ext uri="{FF2B5EF4-FFF2-40B4-BE49-F238E27FC236}">
                                <a16:creationId xmlns:a16="http://schemas.microsoft.com/office/drawing/2014/main" id="{3E87068D-1A91-4A38-853E-4FA641D3696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58343" y="4192644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0" name="Oval 149">
                            <a:extLst>
                              <a:ext uri="{FF2B5EF4-FFF2-40B4-BE49-F238E27FC236}">
                                <a16:creationId xmlns:a16="http://schemas.microsoft.com/office/drawing/2014/main" id="{3A660E4B-1539-4416-B217-8A26D206E09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858343" y="4571233"/>
                            <a:ext cx="126103" cy="12610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grpSp>
                      <p:nvGrpSpPr>
                        <p:cNvPr id="48" name="Group 47">
                          <a:extLst>
                            <a:ext uri="{FF2B5EF4-FFF2-40B4-BE49-F238E27FC236}">
                              <a16:creationId xmlns:a16="http://schemas.microsoft.com/office/drawing/2014/main" id="{00D03F14-6FE5-496B-9A47-834ACA3324C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781054" y="1526163"/>
                          <a:ext cx="547352" cy="4368605"/>
                          <a:chOff x="2839792" y="906619"/>
                          <a:chExt cx="547352" cy="4368605"/>
                        </a:xfrm>
                      </p:grpSpPr>
                      <p:sp>
                        <p:nvSpPr>
                          <p:cNvPr id="143" name="Rectangle 142">
                            <a:extLst>
                              <a:ext uri="{FF2B5EF4-FFF2-40B4-BE49-F238E27FC236}">
                                <a16:creationId xmlns:a16="http://schemas.microsoft.com/office/drawing/2014/main" id="{3BD67B2E-A4BC-4CCD-AD59-558765F075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39792" y="906619"/>
                            <a:ext cx="547352" cy="4368605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4" name="Oval 143">
                            <a:extLst>
                              <a:ext uri="{FF2B5EF4-FFF2-40B4-BE49-F238E27FC236}">
                                <a16:creationId xmlns:a16="http://schemas.microsoft.com/office/drawing/2014/main" id="{F528E184-5D07-474A-B085-B948D67682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429" y="1107674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5" name="Oval 144">
                            <a:extLst>
                              <a:ext uri="{FF2B5EF4-FFF2-40B4-BE49-F238E27FC236}">
                                <a16:creationId xmlns:a16="http://schemas.microsoft.com/office/drawing/2014/main" id="{B555F569-EA75-4399-8FD0-0A522D02C6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428" y="1890145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46" name="Oval 145">
                            <a:extLst>
                              <a:ext uri="{FF2B5EF4-FFF2-40B4-BE49-F238E27FC236}">
                                <a16:creationId xmlns:a16="http://schemas.microsoft.com/office/drawing/2014/main" id="{E4251408-F148-40CB-B382-10A8170074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878427" y="4533364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cxnSp>
                      <p:nvCxnSpPr>
                        <p:cNvPr id="49" name="Straight Arrow Connector 48">
                          <a:extLst>
                            <a:ext uri="{FF2B5EF4-FFF2-40B4-BE49-F238E27FC236}">
                              <a16:creationId xmlns:a16="http://schemas.microsoft.com/office/drawing/2014/main" id="{83051655-316D-4F3C-B34E-4630B6F4D39F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2" idx="2"/>
                        </p:cNvCxnSpPr>
                        <p:nvPr/>
                      </p:nvCxnSpPr>
                      <p:spPr>
                        <a:xfrm flipV="1">
                          <a:off x="3275316" y="1472595"/>
                          <a:ext cx="1218560" cy="50254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0" name="Straight Arrow Connector 49">
                          <a:extLst>
                            <a:ext uri="{FF2B5EF4-FFF2-40B4-BE49-F238E27FC236}">
                              <a16:creationId xmlns:a16="http://schemas.microsoft.com/office/drawing/2014/main" id="{2ECC8867-8448-479F-8012-97BD39C7D59D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3" idx="2"/>
                        </p:cNvCxnSpPr>
                        <p:nvPr/>
                      </p:nvCxnSpPr>
                      <p:spPr>
                        <a:xfrm>
                          <a:off x="3275316" y="1975137"/>
                          <a:ext cx="1218560" cy="294693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1" name="Straight Arrow Connector 50">
                          <a:extLst>
                            <a:ext uri="{FF2B5EF4-FFF2-40B4-BE49-F238E27FC236}">
                              <a16:creationId xmlns:a16="http://schemas.microsoft.com/office/drawing/2014/main" id="{A07E65A4-977A-4098-9D7C-D5B228675ED7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4" idx="2"/>
                        </p:cNvCxnSpPr>
                        <p:nvPr/>
                      </p:nvCxnSpPr>
                      <p:spPr>
                        <a:xfrm>
                          <a:off x="3275316" y="1975137"/>
                          <a:ext cx="1218559" cy="116697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2" name="Straight Arrow Connector 51">
                          <a:extLst>
                            <a:ext uri="{FF2B5EF4-FFF2-40B4-BE49-F238E27FC236}">
                              <a16:creationId xmlns:a16="http://schemas.microsoft.com/office/drawing/2014/main" id="{60FB455D-155E-4C77-87CF-6D1E6DBBB0EB}"/>
                            </a:ext>
                          </a:extLst>
                        </p:cNvPr>
                        <p:cNvCxnSpPr>
                          <a:cxnSpLocks/>
                          <a:stCxn id="160" idx="6"/>
                          <a:endCxn id="155" idx="2"/>
                        </p:cNvCxnSpPr>
                        <p:nvPr/>
                      </p:nvCxnSpPr>
                      <p:spPr>
                        <a:xfrm>
                          <a:off x="3275316" y="1975137"/>
                          <a:ext cx="1218558" cy="378817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3" name="Straight Arrow Connector 52">
                          <a:extLst>
                            <a:ext uri="{FF2B5EF4-FFF2-40B4-BE49-F238E27FC236}">
                              <a16:creationId xmlns:a16="http://schemas.microsoft.com/office/drawing/2014/main" id="{F40A2566-ADAA-4B7B-8486-18AF0A9FCE28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2" idx="2"/>
                        </p:cNvCxnSpPr>
                        <p:nvPr/>
                      </p:nvCxnSpPr>
                      <p:spPr>
                        <a:xfrm flipV="1">
                          <a:off x="3275315" y="1472595"/>
                          <a:ext cx="1218561" cy="128037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4" name="Straight Arrow Connector 53">
                          <a:extLst>
                            <a:ext uri="{FF2B5EF4-FFF2-40B4-BE49-F238E27FC236}">
                              <a16:creationId xmlns:a16="http://schemas.microsoft.com/office/drawing/2014/main" id="{3C9CBA9F-4F8D-452E-A3E0-3E06FE3F56D7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3" idx="2"/>
                        </p:cNvCxnSpPr>
                        <p:nvPr/>
                      </p:nvCxnSpPr>
                      <p:spPr>
                        <a:xfrm flipV="1">
                          <a:off x="3275315" y="2269830"/>
                          <a:ext cx="1218561" cy="48313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5" name="Straight Arrow Connector 54">
                          <a:extLst>
                            <a:ext uri="{FF2B5EF4-FFF2-40B4-BE49-F238E27FC236}">
                              <a16:creationId xmlns:a16="http://schemas.microsoft.com/office/drawing/2014/main" id="{B639FF28-3CEF-45F8-8606-FA4F705D9FC1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4" idx="2"/>
                        </p:cNvCxnSpPr>
                        <p:nvPr/>
                      </p:nvCxnSpPr>
                      <p:spPr>
                        <a:xfrm>
                          <a:off x="3275315" y="2752967"/>
                          <a:ext cx="1218560" cy="38914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6" name="Straight Arrow Connector 55">
                          <a:extLst>
                            <a:ext uri="{FF2B5EF4-FFF2-40B4-BE49-F238E27FC236}">
                              <a16:creationId xmlns:a16="http://schemas.microsoft.com/office/drawing/2014/main" id="{A5BC5CC3-F892-415B-B72A-E870413757C9}"/>
                            </a:ext>
                          </a:extLst>
                        </p:cNvPr>
                        <p:cNvCxnSpPr>
                          <a:cxnSpLocks/>
                          <a:stCxn id="161" idx="6"/>
                          <a:endCxn id="155" idx="2"/>
                        </p:cNvCxnSpPr>
                        <p:nvPr/>
                      </p:nvCxnSpPr>
                      <p:spPr>
                        <a:xfrm>
                          <a:off x="3275315" y="2752967"/>
                          <a:ext cx="1218559" cy="301034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7" name="Straight Arrow Connector 56">
                          <a:extLst>
                            <a:ext uri="{FF2B5EF4-FFF2-40B4-BE49-F238E27FC236}">
                              <a16:creationId xmlns:a16="http://schemas.microsoft.com/office/drawing/2014/main" id="{5BEDB5F6-FA96-4EDD-BD16-E3E4C7E30D78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2" idx="2"/>
                        </p:cNvCxnSpPr>
                        <p:nvPr/>
                      </p:nvCxnSpPr>
                      <p:spPr>
                        <a:xfrm flipV="1">
                          <a:off x="3275314" y="1472595"/>
                          <a:ext cx="1218562" cy="392823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8" name="Straight Arrow Connector 57">
                          <a:extLst>
                            <a:ext uri="{FF2B5EF4-FFF2-40B4-BE49-F238E27FC236}">
                              <a16:creationId xmlns:a16="http://schemas.microsoft.com/office/drawing/2014/main" id="{27508A46-5816-4BD5-96F0-C792E6382A46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3" idx="2"/>
                        </p:cNvCxnSpPr>
                        <p:nvPr/>
                      </p:nvCxnSpPr>
                      <p:spPr>
                        <a:xfrm flipV="1">
                          <a:off x="3275314" y="2269830"/>
                          <a:ext cx="1218562" cy="313099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59" name="Straight Arrow Connector 58">
                          <a:extLst>
                            <a:ext uri="{FF2B5EF4-FFF2-40B4-BE49-F238E27FC236}">
                              <a16:creationId xmlns:a16="http://schemas.microsoft.com/office/drawing/2014/main" id="{3A31DF6A-B666-4C2B-B0B0-21916417BAC9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4" idx="2"/>
                        </p:cNvCxnSpPr>
                        <p:nvPr/>
                      </p:nvCxnSpPr>
                      <p:spPr>
                        <a:xfrm flipV="1">
                          <a:off x="3275314" y="3142108"/>
                          <a:ext cx="1218561" cy="2258719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0" name="Straight Arrow Connector 59">
                          <a:extLst>
                            <a:ext uri="{FF2B5EF4-FFF2-40B4-BE49-F238E27FC236}">
                              <a16:creationId xmlns:a16="http://schemas.microsoft.com/office/drawing/2014/main" id="{804BEC35-B890-410F-8DB0-49BDC290F948}"/>
                            </a:ext>
                          </a:extLst>
                        </p:cNvPr>
                        <p:cNvCxnSpPr>
                          <a:cxnSpLocks/>
                          <a:stCxn id="162" idx="6"/>
                          <a:endCxn id="155" idx="2"/>
                        </p:cNvCxnSpPr>
                        <p:nvPr/>
                      </p:nvCxnSpPr>
                      <p:spPr>
                        <a:xfrm>
                          <a:off x="3275314" y="5400827"/>
                          <a:ext cx="1218560" cy="36248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61" name="Group 60">
                          <a:extLst>
                            <a:ext uri="{FF2B5EF4-FFF2-40B4-BE49-F238E27FC236}">
                              <a16:creationId xmlns:a16="http://schemas.microsoft.com/office/drawing/2014/main" id="{53418DAE-F140-46C2-ADFE-24154C57F8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96400" y="1524806"/>
                          <a:ext cx="1626228" cy="455784"/>
                          <a:chOff x="8421756" y="1524806"/>
                          <a:chExt cx="1626228" cy="455784"/>
                        </a:xfrm>
                      </p:grpSpPr>
                      <p:cxnSp>
                        <p:nvCxnSpPr>
                          <p:cNvPr id="140" name="Straight Arrow Connector 139">
                            <a:extLst>
                              <a:ext uri="{FF2B5EF4-FFF2-40B4-BE49-F238E27FC236}">
                                <a16:creationId xmlns:a16="http://schemas.microsoft.com/office/drawing/2014/main" id="{946CF819-F0EB-4BB6-8D3C-CC42151F2D1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421756" y="1975136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solid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41" name="Straight Connector 140">
                            <a:extLst>
                              <a:ext uri="{FF2B5EF4-FFF2-40B4-BE49-F238E27FC236}">
                                <a16:creationId xmlns:a16="http://schemas.microsoft.com/office/drawing/2014/main" id="{6B222E53-93FB-4960-BCDD-22D32DA43FA7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763674" y="1524806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42" name="Straight Connector 141">
                            <a:extLst>
                              <a:ext uri="{FF2B5EF4-FFF2-40B4-BE49-F238E27FC236}">
                                <a16:creationId xmlns:a16="http://schemas.microsoft.com/office/drawing/2014/main" id="{AF41AF21-4EFE-402F-9C8B-94A57149B877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479954" y="1530260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2" name="Group 61">
                          <a:extLst>
                            <a:ext uri="{FF2B5EF4-FFF2-40B4-BE49-F238E27FC236}">
                              <a16:creationId xmlns:a16="http://schemas.microsoft.com/office/drawing/2014/main" id="{36C6B9AC-9BDD-4043-9316-EE02926FDA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96399" y="2301823"/>
                          <a:ext cx="1626228" cy="456321"/>
                          <a:chOff x="8421755" y="2301823"/>
                          <a:chExt cx="1626228" cy="456321"/>
                        </a:xfrm>
                      </p:grpSpPr>
                      <p:cxnSp>
                        <p:nvCxnSpPr>
                          <p:cNvPr id="135" name="Straight Arrow Connector 134">
                            <a:extLst>
                              <a:ext uri="{FF2B5EF4-FFF2-40B4-BE49-F238E27FC236}">
                                <a16:creationId xmlns:a16="http://schemas.microsoft.com/office/drawing/2014/main" id="{C79C50CF-8910-4AD3-92A5-1469A16D7F5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421755" y="2758143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solid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6" name="Straight Connector 135">
                            <a:extLst>
                              <a:ext uri="{FF2B5EF4-FFF2-40B4-BE49-F238E27FC236}">
                                <a16:creationId xmlns:a16="http://schemas.microsoft.com/office/drawing/2014/main" id="{AA45C0E9-B217-4D6A-B87D-32E43551DD7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793680" y="2301823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7" name="Straight Connector 136">
                            <a:extLst>
                              <a:ext uri="{FF2B5EF4-FFF2-40B4-BE49-F238E27FC236}">
                                <a16:creationId xmlns:a16="http://schemas.microsoft.com/office/drawing/2014/main" id="{C561289E-8A3B-4B68-A175-6491C46F0C44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052760" y="2301823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8" name="Straight Connector 137">
                            <a:extLst>
                              <a:ext uri="{FF2B5EF4-FFF2-40B4-BE49-F238E27FC236}">
                                <a16:creationId xmlns:a16="http://schemas.microsoft.com/office/drawing/2014/main" id="{44B04FEF-7998-4FA6-836C-B99F0C44412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998785" y="2307277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9" name="Straight Connector 138">
                            <a:extLst>
                              <a:ext uri="{FF2B5EF4-FFF2-40B4-BE49-F238E27FC236}">
                                <a16:creationId xmlns:a16="http://schemas.microsoft.com/office/drawing/2014/main" id="{5149952A-DE21-456E-8D07-2F5458338455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565840" y="2307277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3" name="Group 62">
                          <a:extLst>
                            <a:ext uri="{FF2B5EF4-FFF2-40B4-BE49-F238E27FC236}">
                              <a16:creationId xmlns:a16="http://schemas.microsoft.com/office/drawing/2014/main" id="{57072396-D577-4AD7-858E-8CAF0EA91AA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96399" y="4947470"/>
                          <a:ext cx="1626228" cy="458274"/>
                          <a:chOff x="8421755" y="4947470"/>
                          <a:chExt cx="1626228" cy="458274"/>
                        </a:xfrm>
                      </p:grpSpPr>
                      <p:cxnSp>
                        <p:nvCxnSpPr>
                          <p:cNvPr id="132" name="Straight Arrow Connector 131">
                            <a:extLst>
                              <a:ext uri="{FF2B5EF4-FFF2-40B4-BE49-F238E27FC236}">
                                <a16:creationId xmlns:a16="http://schemas.microsoft.com/office/drawing/2014/main" id="{B744DDD9-8B83-478E-9942-69140752732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8421755" y="5405743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solid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3" name="Straight Connector 132">
                            <a:extLst>
                              <a:ext uri="{FF2B5EF4-FFF2-40B4-BE49-F238E27FC236}">
                                <a16:creationId xmlns:a16="http://schemas.microsoft.com/office/drawing/2014/main" id="{6E432913-4514-4A60-A729-6CE2AA39889B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8859102" y="4947470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4" name="Straight Connector 133">
                            <a:extLst>
                              <a:ext uri="{FF2B5EF4-FFF2-40B4-BE49-F238E27FC236}">
                                <a16:creationId xmlns:a16="http://schemas.microsoft.com/office/drawing/2014/main" id="{E87E748C-F9CA-4EFE-B35A-4817807B388F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9575382" y="4948690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64" name="TextBox 63">
                          <a:extLst>
                            <a:ext uri="{FF2B5EF4-FFF2-40B4-BE49-F238E27FC236}">
                              <a16:creationId xmlns:a16="http://schemas.microsoft.com/office/drawing/2014/main" id="{C579046A-7119-4021-BF38-9EE15ABA5FE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32716" y="309835"/>
                          <a:ext cx="1201419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Layer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E24DC9C3-995E-4B03-B487-EA89425B5D7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424754" y="134762"/>
                          <a:ext cx="1201419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Hidden Layers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66" name="TextBox 65">
                          <a:extLst>
                            <a:ext uri="{FF2B5EF4-FFF2-40B4-BE49-F238E27FC236}">
                              <a16:creationId xmlns:a16="http://schemas.microsoft.com/office/drawing/2014/main" id="{45682151-EC25-4615-A5D4-D669D19C8EC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409710" y="297889"/>
                          <a:ext cx="1141539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Output Layer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67" name="TextBox 66">
                          <a:extLst>
                            <a:ext uri="{FF2B5EF4-FFF2-40B4-BE49-F238E27FC236}">
                              <a16:creationId xmlns:a16="http://schemas.microsoft.com/office/drawing/2014/main" id="{D59B1F98-C0C5-4B02-A415-3E844E7F858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225309" y="537308"/>
                          <a:ext cx="1270511" cy="83065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US" sz="13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Input Spikes</a:t>
                          </a:r>
                          <a:endParaRPr lang="en-IN" sz="13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grpSp>
                      <p:nvGrpSpPr>
                        <p:cNvPr id="68" name="Group 67">
                          <a:extLst>
                            <a:ext uri="{FF2B5EF4-FFF2-40B4-BE49-F238E27FC236}">
                              <a16:creationId xmlns:a16="http://schemas.microsoft.com/office/drawing/2014/main" id="{64FE5CCC-B355-40BF-982E-1E1419D247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79633" y="1539276"/>
                          <a:ext cx="1626228" cy="455784"/>
                          <a:chOff x="2007274" y="1524805"/>
                          <a:chExt cx="1626228" cy="455784"/>
                        </a:xfrm>
                      </p:grpSpPr>
                      <p:cxnSp>
                        <p:nvCxnSpPr>
                          <p:cNvPr id="127" name="Straight Arrow Connector 126">
                            <a:extLst>
                              <a:ext uri="{FF2B5EF4-FFF2-40B4-BE49-F238E27FC236}">
                                <a16:creationId xmlns:a16="http://schemas.microsoft.com/office/drawing/2014/main" id="{4295B12E-13EB-4C47-8FDD-AB172F6FB08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007274" y="1975136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dash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8" name="Straight Connector 127">
                            <a:extLst>
                              <a:ext uri="{FF2B5EF4-FFF2-40B4-BE49-F238E27FC236}">
                                <a16:creationId xmlns:a16="http://schemas.microsoft.com/office/drawing/2014/main" id="{78E626B4-73CC-4430-8822-51B635CFC1B1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286674" y="152480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9" name="Straight Connector 128">
                            <a:extLst>
                              <a:ext uri="{FF2B5EF4-FFF2-40B4-BE49-F238E27FC236}">
                                <a16:creationId xmlns:a16="http://schemas.microsoft.com/office/drawing/2014/main" id="{A76F3CB2-2937-41B7-A38D-53FB3E419F5A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545754" y="152480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0" name="Straight Connector 129">
                            <a:extLst>
                              <a:ext uri="{FF2B5EF4-FFF2-40B4-BE49-F238E27FC236}">
                                <a16:creationId xmlns:a16="http://schemas.microsoft.com/office/drawing/2014/main" id="{7929B979-4B4D-4550-8EED-0321A803961F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002954" y="153025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31" name="Straight Connector 130">
                            <a:extLst>
                              <a:ext uri="{FF2B5EF4-FFF2-40B4-BE49-F238E27FC236}">
                                <a16:creationId xmlns:a16="http://schemas.microsoft.com/office/drawing/2014/main" id="{2C995D3A-6936-4225-861E-2C69F6216058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058834" y="153025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69" name="Group 68">
                          <a:extLst>
                            <a:ext uri="{FF2B5EF4-FFF2-40B4-BE49-F238E27FC236}">
                              <a16:creationId xmlns:a16="http://schemas.microsoft.com/office/drawing/2014/main" id="{AFE75258-2EDF-4078-80D0-15DAA434FF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70335" y="4958685"/>
                          <a:ext cx="1626227" cy="455784"/>
                          <a:chOff x="2007274" y="3280535"/>
                          <a:chExt cx="1626227" cy="455784"/>
                        </a:xfrm>
                      </p:grpSpPr>
                      <p:cxnSp>
                        <p:nvCxnSpPr>
                          <p:cNvPr id="121" name="Straight Arrow Connector 120">
                            <a:extLst>
                              <a:ext uri="{FF2B5EF4-FFF2-40B4-BE49-F238E27FC236}">
                                <a16:creationId xmlns:a16="http://schemas.microsoft.com/office/drawing/2014/main" id="{181298EA-ED0F-4A09-BBAE-5360B5B5A04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007274" y="3730865"/>
                            <a:ext cx="1626227" cy="2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dash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2" name="Straight Connector 121">
                            <a:extLst>
                              <a:ext uri="{FF2B5EF4-FFF2-40B4-BE49-F238E27FC236}">
                                <a16:creationId xmlns:a16="http://schemas.microsoft.com/office/drawing/2014/main" id="{ADBF5AC0-89C4-43A7-96B3-940112A2C929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448599" y="328053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3" name="Straight Connector 122">
                            <a:extLst>
                              <a:ext uri="{FF2B5EF4-FFF2-40B4-BE49-F238E27FC236}">
                                <a16:creationId xmlns:a16="http://schemas.microsoft.com/office/drawing/2014/main" id="{BF02884A-C7FF-4D3A-9019-21EC1D797EE9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545754" y="328053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4" name="Straight Connector 123">
                            <a:extLst>
                              <a:ext uri="{FF2B5EF4-FFF2-40B4-BE49-F238E27FC236}">
                                <a16:creationId xmlns:a16="http://schemas.microsoft.com/office/drawing/2014/main" id="{CA5F8641-B68D-462C-A627-B01F84F81C46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269654" y="32859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5" name="Straight Connector 124">
                            <a:extLst>
                              <a:ext uri="{FF2B5EF4-FFF2-40B4-BE49-F238E27FC236}">
                                <a16:creationId xmlns:a16="http://schemas.microsoft.com/office/drawing/2014/main" id="{2EE0314F-5708-4539-8292-8EC63064D035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058834" y="32859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6" name="Straight Connector 125">
                            <a:extLst>
                              <a:ext uri="{FF2B5EF4-FFF2-40B4-BE49-F238E27FC236}">
                                <a16:creationId xmlns:a16="http://schemas.microsoft.com/office/drawing/2014/main" id="{2B44C7C0-6B31-41B7-9F11-2115FE8B60EE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126654" y="3284494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70" name="Group 69">
                          <a:extLst>
                            <a:ext uri="{FF2B5EF4-FFF2-40B4-BE49-F238E27FC236}">
                              <a16:creationId xmlns:a16="http://schemas.microsoft.com/office/drawing/2014/main" id="{7EFA6E8F-A407-49FA-B6F3-FB9DF49E0F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174012" y="2315582"/>
                          <a:ext cx="1626228" cy="457950"/>
                          <a:chOff x="2014518" y="3965335"/>
                          <a:chExt cx="1626228" cy="457950"/>
                        </a:xfrm>
                      </p:grpSpPr>
                      <p:cxnSp>
                        <p:nvCxnSpPr>
                          <p:cNvPr id="116" name="Straight Arrow Connector 115">
                            <a:extLst>
                              <a:ext uri="{FF2B5EF4-FFF2-40B4-BE49-F238E27FC236}">
                                <a16:creationId xmlns:a16="http://schemas.microsoft.com/office/drawing/2014/main" id="{0CC488F2-AE81-455C-BC90-05CA5A34215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014518" y="4423284"/>
                            <a:ext cx="1626228" cy="1"/>
                          </a:xfrm>
                          <a:prstGeom prst="straightConnector1">
                            <a:avLst/>
                          </a:prstGeom>
                          <a:ln w="12700">
                            <a:solidFill>
                              <a:schemeClr val="tx1"/>
                            </a:solidFill>
                            <a:prstDash val="dash"/>
                            <a:tailEnd type="triangle"/>
                          </a:ln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7" name="Straight Connector 116">
                            <a:extLst>
                              <a:ext uri="{FF2B5EF4-FFF2-40B4-BE49-F238E27FC236}">
                                <a16:creationId xmlns:a16="http://schemas.microsoft.com/office/drawing/2014/main" id="{42A12083-1F82-4727-AE22-CC5FAB51EF4F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879341" y="3967452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8" name="Straight Connector 117">
                            <a:extLst>
                              <a:ext uri="{FF2B5EF4-FFF2-40B4-BE49-F238E27FC236}">
                                <a16:creationId xmlns:a16="http://schemas.microsoft.com/office/drawing/2014/main" id="{94086356-E3D3-4105-B23C-6C693F29BE40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2612429" y="3965335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9" name="Straight Connector 118">
                            <a:extLst>
                              <a:ext uri="{FF2B5EF4-FFF2-40B4-BE49-F238E27FC236}">
                                <a16:creationId xmlns:a16="http://schemas.microsoft.com/office/drawing/2014/main" id="{FFDC80E5-7BE4-4E5B-AA2C-E6640C6D0D2B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336329" y="39707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0" name="Straight Connector 119">
                            <a:extLst>
                              <a:ext uri="{FF2B5EF4-FFF2-40B4-BE49-F238E27FC236}">
                                <a16:creationId xmlns:a16="http://schemas.microsoft.com/office/drawing/2014/main" id="{F627BFBE-1A77-4BB5-A816-C76B14DE0852}"/>
                              </a:ext>
                            </a:extLst>
                          </p:cNvPr>
                          <p:cNvCxnSpPr/>
                          <p:nvPr/>
                        </p:nvCxnSpPr>
                        <p:spPr>
                          <a:xfrm>
                            <a:off x="3125509" y="3970789"/>
                            <a:ext cx="0" cy="450330"/>
                          </a:xfrm>
                          <a:prstGeom prst="line">
                            <a:avLst/>
                          </a:prstGeom>
                        </p:spPr>
                        <p:style>
                          <a:lnRef idx="3">
                            <a:schemeClr val="dk1"/>
                          </a:lnRef>
                          <a:fillRef idx="0">
                            <a:schemeClr val="dk1"/>
                          </a:fillRef>
                          <a:effectRef idx="2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71" name="Group 70">
                          <a:extLst>
                            <a:ext uri="{FF2B5EF4-FFF2-40B4-BE49-F238E27FC236}">
                              <a16:creationId xmlns:a16="http://schemas.microsoft.com/office/drawing/2014/main" id="{DB74BD7C-5165-4FF9-810B-79AEBA0821A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063560" y="990851"/>
                          <a:ext cx="547352" cy="5332732"/>
                          <a:chOff x="5387406" y="709377"/>
                          <a:chExt cx="547352" cy="5332732"/>
                        </a:xfrm>
                      </p:grpSpPr>
                      <p:sp>
                        <p:nvSpPr>
                          <p:cNvPr id="111" name="Rectangle 110">
                            <a:extLst>
                              <a:ext uri="{FF2B5EF4-FFF2-40B4-BE49-F238E27FC236}">
                                <a16:creationId xmlns:a16="http://schemas.microsoft.com/office/drawing/2014/main" id="{E1EA6F72-B346-4B8D-ACE8-7179AF0BEE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387406" y="709377"/>
                            <a:ext cx="547352" cy="5332732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2" name="Oval 111">
                            <a:extLst>
                              <a:ext uri="{FF2B5EF4-FFF2-40B4-BE49-F238E27FC236}">
                                <a16:creationId xmlns:a16="http://schemas.microsoft.com/office/drawing/2014/main" id="{0FF872AC-FFFB-4C94-9886-5BC50D024E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943202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3" name="Oval 112">
                            <a:extLst>
                              <a:ext uri="{FF2B5EF4-FFF2-40B4-BE49-F238E27FC236}">
                                <a16:creationId xmlns:a16="http://schemas.microsoft.com/office/drawing/2014/main" id="{8D4A37E2-D98D-4DEC-AA62-8ED8AA59A5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1734380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4" name="Oval 113">
                            <a:extLst>
                              <a:ext uri="{FF2B5EF4-FFF2-40B4-BE49-F238E27FC236}">
                                <a16:creationId xmlns:a16="http://schemas.microsoft.com/office/drawing/2014/main" id="{BC5F3703-ADC9-4463-A5E8-05D3E4067F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7" y="2610436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15" name="Oval 114">
                            <a:extLst>
                              <a:ext uri="{FF2B5EF4-FFF2-40B4-BE49-F238E27FC236}">
                                <a16:creationId xmlns:a16="http://schemas.microsoft.com/office/drawing/2014/main" id="{B4656871-9221-4291-AA6A-6BE12D92A5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6" y="5247072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</p:grpSp>
                    <p:sp>
                      <p:nvSpPr>
                        <p:cNvPr id="72" name="Oval 71">
                          <a:extLst>
                            <a:ext uri="{FF2B5EF4-FFF2-40B4-BE49-F238E27FC236}">
                              <a16:creationId xmlns:a16="http://schemas.microsoft.com/office/drawing/2014/main" id="{D786F8AC-8B4A-45D6-9E29-F954E08818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39305" y="4088960"/>
                          <a:ext cx="195651" cy="195651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73" name="Oval 72">
                          <a:extLst>
                            <a:ext uri="{FF2B5EF4-FFF2-40B4-BE49-F238E27FC236}">
                              <a16:creationId xmlns:a16="http://schemas.microsoft.com/office/drawing/2014/main" id="{C04863F3-B80E-4CF1-B326-71A7AB18081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959305" y="4088959"/>
                          <a:ext cx="195651" cy="195651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74" name="Oval 73">
                          <a:extLst>
                            <a:ext uri="{FF2B5EF4-FFF2-40B4-BE49-F238E27FC236}">
                              <a16:creationId xmlns:a16="http://schemas.microsoft.com/office/drawing/2014/main" id="{ACDF51ED-8A39-4227-93EC-168426C432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475689" y="4088958"/>
                          <a:ext cx="195651" cy="195651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cxnSp>
                      <p:nvCxnSpPr>
                        <p:cNvPr id="75" name="Straight Connector 74">
                          <a:extLst>
                            <a:ext uri="{FF2B5EF4-FFF2-40B4-BE49-F238E27FC236}">
                              <a16:creationId xmlns:a16="http://schemas.microsoft.com/office/drawing/2014/main" id="{73244B54-4174-44F1-811F-896AC34CC762}"/>
                            </a:ext>
                          </a:extLst>
                        </p:cNvPr>
                        <p:cNvCxnSpPr>
                          <a:cxnSpLocks/>
                          <a:stCxn id="152" idx="6"/>
                        </p:cNvCxnSpPr>
                        <p:nvPr/>
                      </p:nvCxnSpPr>
                      <p:spPr>
                        <a:xfrm>
                          <a:off x="4963956" y="1472595"/>
                          <a:ext cx="613884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6" name="Straight Connector 75">
                          <a:extLst>
                            <a:ext uri="{FF2B5EF4-FFF2-40B4-BE49-F238E27FC236}">
                              <a16:creationId xmlns:a16="http://schemas.microsoft.com/office/drawing/2014/main" id="{EEE8CD16-B9AC-43BA-B78F-019153550802}"/>
                            </a:ext>
                          </a:extLst>
                        </p:cNvPr>
                        <p:cNvCxnSpPr>
                          <a:cxnSpLocks/>
                          <a:stCxn id="152" idx="6"/>
                        </p:cNvCxnSpPr>
                        <p:nvPr/>
                      </p:nvCxnSpPr>
                      <p:spPr>
                        <a:xfrm>
                          <a:off x="4963956" y="1472595"/>
                          <a:ext cx="556113" cy="12928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7" name="Straight Connector 76">
                          <a:extLst>
                            <a:ext uri="{FF2B5EF4-FFF2-40B4-BE49-F238E27FC236}">
                              <a16:creationId xmlns:a16="http://schemas.microsoft.com/office/drawing/2014/main" id="{B6F2A809-B3CE-42A6-8A0D-93177CC9F44C}"/>
                            </a:ext>
                          </a:extLst>
                        </p:cNvPr>
                        <p:cNvCxnSpPr>
                          <a:cxnSpLocks/>
                          <a:stCxn id="152" idx="6"/>
                        </p:cNvCxnSpPr>
                        <p:nvPr/>
                      </p:nvCxnSpPr>
                      <p:spPr>
                        <a:xfrm>
                          <a:off x="4963956" y="1472595"/>
                          <a:ext cx="512085" cy="241159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8" name="Straight Connector 77">
                          <a:extLst>
                            <a:ext uri="{FF2B5EF4-FFF2-40B4-BE49-F238E27FC236}">
                              <a16:creationId xmlns:a16="http://schemas.microsoft.com/office/drawing/2014/main" id="{55E6E47C-EE55-4240-95AD-6CAD0E3B8EDD}"/>
                            </a:ext>
                          </a:extLst>
                        </p:cNvPr>
                        <p:cNvCxnSpPr>
                          <a:cxnSpLocks/>
                          <a:stCxn id="153" idx="6"/>
                        </p:cNvCxnSpPr>
                        <p:nvPr/>
                      </p:nvCxnSpPr>
                      <p:spPr>
                        <a:xfrm flipV="1">
                          <a:off x="4963956" y="2074234"/>
                          <a:ext cx="505383" cy="195596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9" name="Straight Connector 78">
                          <a:extLst>
                            <a:ext uri="{FF2B5EF4-FFF2-40B4-BE49-F238E27FC236}">
                              <a16:creationId xmlns:a16="http://schemas.microsoft.com/office/drawing/2014/main" id="{279D8271-7E68-4DFE-8B79-D69EEA207365}"/>
                            </a:ext>
                          </a:extLst>
                        </p:cNvPr>
                        <p:cNvCxnSpPr>
                          <a:cxnSpLocks/>
                          <a:stCxn id="153" idx="6"/>
                        </p:cNvCxnSpPr>
                        <p:nvPr/>
                      </p:nvCxnSpPr>
                      <p:spPr>
                        <a:xfrm flipV="1">
                          <a:off x="4963956" y="2269827"/>
                          <a:ext cx="537835" cy="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0" name="Straight Connector 79">
                          <a:extLst>
                            <a:ext uri="{FF2B5EF4-FFF2-40B4-BE49-F238E27FC236}">
                              <a16:creationId xmlns:a16="http://schemas.microsoft.com/office/drawing/2014/main" id="{B091F50F-807F-470F-B593-59F8E012E13A}"/>
                            </a:ext>
                          </a:extLst>
                        </p:cNvPr>
                        <p:cNvCxnSpPr>
                          <a:cxnSpLocks/>
                          <a:stCxn id="153" idx="6"/>
                        </p:cNvCxnSpPr>
                        <p:nvPr/>
                      </p:nvCxnSpPr>
                      <p:spPr>
                        <a:xfrm>
                          <a:off x="4963956" y="2269830"/>
                          <a:ext cx="505383" cy="16222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1" name="Straight Connector 80">
                          <a:extLst>
                            <a:ext uri="{FF2B5EF4-FFF2-40B4-BE49-F238E27FC236}">
                              <a16:creationId xmlns:a16="http://schemas.microsoft.com/office/drawing/2014/main" id="{6D442EB0-16AD-4973-B25E-3C8A1DE20144}"/>
                            </a:ext>
                          </a:extLst>
                        </p:cNvPr>
                        <p:cNvCxnSpPr>
                          <a:cxnSpLocks/>
                          <a:stCxn id="154" idx="6"/>
                        </p:cNvCxnSpPr>
                        <p:nvPr/>
                      </p:nvCxnSpPr>
                      <p:spPr>
                        <a:xfrm flipV="1">
                          <a:off x="4963955" y="3009676"/>
                          <a:ext cx="475350" cy="132432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2" name="Straight Connector 81">
                          <a:extLst>
                            <a:ext uri="{FF2B5EF4-FFF2-40B4-BE49-F238E27FC236}">
                              <a16:creationId xmlns:a16="http://schemas.microsoft.com/office/drawing/2014/main" id="{1B6F7719-C8EC-4EB9-A7C4-5027C5776593}"/>
                            </a:ext>
                          </a:extLst>
                        </p:cNvPr>
                        <p:cNvCxnSpPr>
                          <a:cxnSpLocks/>
                          <a:stCxn id="154" idx="6"/>
                        </p:cNvCxnSpPr>
                        <p:nvPr/>
                      </p:nvCxnSpPr>
                      <p:spPr>
                        <a:xfrm flipV="1">
                          <a:off x="4963955" y="3142105"/>
                          <a:ext cx="505384" cy="3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3" name="Straight Connector 82">
                          <a:extLst>
                            <a:ext uri="{FF2B5EF4-FFF2-40B4-BE49-F238E27FC236}">
                              <a16:creationId xmlns:a16="http://schemas.microsoft.com/office/drawing/2014/main" id="{345F9317-99CD-44FC-9076-7E5A1F0CEEEB}"/>
                            </a:ext>
                          </a:extLst>
                        </p:cNvPr>
                        <p:cNvCxnSpPr>
                          <a:cxnSpLocks/>
                          <a:stCxn id="154" idx="6"/>
                        </p:cNvCxnSpPr>
                        <p:nvPr/>
                      </p:nvCxnSpPr>
                      <p:spPr>
                        <a:xfrm>
                          <a:off x="4963955" y="3142108"/>
                          <a:ext cx="470078" cy="110755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4" name="Straight Connector 83">
                          <a:extLst>
                            <a:ext uri="{FF2B5EF4-FFF2-40B4-BE49-F238E27FC236}">
                              <a16:creationId xmlns:a16="http://schemas.microsoft.com/office/drawing/2014/main" id="{D54C99FF-87C0-4B1C-9BC7-98041084CE4A}"/>
                            </a:ext>
                          </a:extLst>
                        </p:cNvPr>
                        <p:cNvCxnSpPr>
                          <a:cxnSpLocks/>
                          <a:stCxn id="155" idx="6"/>
                        </p:cNvCxnSpPr>
                        <p:nvPr/>
                      </p:nvCxnSpPr>
                      <p:spPr>
                        <a:xfrm flipV="1">
                          <a:off x="4963954" y="5583403"/>
                          <a:ext cx="571836" cy="179911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5" name="Straight Connector 84">
                          <a:extLst>
                            <a:ext uri="{FF2B5EF4-FFF2-40B4-BE49-F238E27FC236}">
                              <a16:creationId xmlns:a16="http://schemas.microsoft.com/office/drawing/2014/main" id="{2DF5201A-BFAB-437E-A930-AF3A2902DB14}"/>
                            </a:ext>
                          </a:extLst>
                        </p:cNvPr>
                        <p:cNvCxnSpPr>
                          <a:cxnSpLocks/>
                          <a:stCxn id="155" idx="6"/>
                        </p:cNvCxnSpPr>
                        <p:nvPr/>
                      </p:nvCxnSpPr>
                      <p:spPr>
                        <a:xfrm>
                          <a:off x="4963954" y="5763314"/>
                          <a:ext cx="613886" cy="0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6" name="Straight Connector 85">
                          <a:extLst>
                            <a:ext uri="{FF2B5EF4-FFF2-40B4-BE49-F238E27FC236}">
                              <a16:creationId xmlns:a16="http://schemas.microsoft.com/office/drawing/2014/main" id="{AD2C7D94-5E20-4955-B8A3-7B1EF322B4A2}"/>
                            </a:ext>
                          </a:extLst>
                        </p:cNvPr>
                        <p:cNvCxnSpPr>
                          <a:cxnSpLocks/>
                          <a:stCxn id="155" idx="6"/>
                        </p:cNvCxnSpPr>
                        <p:nvPr/>
                      </p:nvCxnSpPr>
                      <p:spPr>
                        <a:xfrm flipV="1">
                          <a:off x="4963954" y="5461000"/>
                          <a:ext cx="498165" cy="302314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7" name="Straight Arrow Connector 86">
                          <a:extLst>
                            <a:ext uri="{FF2B5EF4-FFF2-40B4-BE49-F238E27FC236}">
                              <a16:creationId xmlns:a16="http://schemas.microsoft.com/office/drawing/2014/main" id="{97BE0EC0-2CB4-4456-802E-6EA3108EB5F8}"/>
                            </a:ext>
                          </a:extLst>
                        </p:cNvPr>
                        <p:cNvCxnSpPr>
                          <a:cxnSpLocks/>
                          <a:endCxn id="112" idx="2"/>
                        </p:cNvCxnSpPr>
                        <p:nvPr/>
                      </p:nvCxnSpPr>
                      <p:spPr>
                        <a:xfrm>
                          <a:off x="6439306" y="1472595"/>
                          <a:ext cx="656706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8" name="Straight Arrow Connector 87">
                          <a:extLst>
                            <a:ext uri="{FF2B5EF4-FFF2-40B4-BE49-F238E27FC236}">
                              <a16:creationId xmlns:a16="http://schemas.microsoft.com/office/drawing/2014/main" id="{48EB2D5A-BC2E-4E87-A687-007704BB0163}"/>
                            </a:ext>
                          </a:extLst>
                        </p:cNvPr>
                        <p:cNvCxnSpPr>
                          <a:cxnSpLocks/>
                          <a:endCxn id="112" idx="2"/>
                        </p:cNvCxnSpPr>
                        <p:nvPr/>
                      </p:nvCxnSpPr>
                      <p:spPr>
                        <a:xfrm flipV="1">
                          <a:off x="6462508" y="1472595"/>
                          <a:ext cx="633504" cy="113709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89" name="Straight Arrow Connector 88">
                          <a:extLst>
                            <a:ext uri="{FF2B5EF4-FFF2-40B4-BE49-F238E27FC236}">
                              <a16:creationId xmlns:a16="http://schemas.microsoft.com/office/drawing/2014/main" id="{F236E08E-D982-435D-8FEE-47BDA3DF025A}"/>
                            </a:ext>
                          </a:extLst>
                        </p:cNvPr>
                        <p:cNvCxnSpPr>
                          <a:cxnSpLocks/>
                          <a:endCxn id="112" idx="2"/>
                        </p:cNvCxnSpPr>
                        <p:nvPr/>
                      </p:nvCxnSpPr>
                      <p:spPr>
                        <a:xfrm flipV="1">
                          <a:off x="6502102" y="1472595"/>
                          <a:ext cx="593910" cy="22421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0" name="Straight Arrow Connector 89">
                          <a:extLst>
                            <a:ext uri="{FF2B5EF4-FFF2-40B4-BE49-F238E27FC236}">
                              <a16:creationId xmlns:a16="http://schemas.microsoft.com/office/drawing/2014/main" id="{1B604D8C-6C05-4723-8C12-670FE194A5E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550851" y="2089853"/>
                          <a:ext cx="543574" cy="17392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1" name="Straight Arrow Connector 90">
                          <a:extLst>
                            <a:ext uri="{FF2B5EF4-FFF2-40B4-BE49-F238E27FC236}">
                              <a16:creationId xmlns:a16="http://schemas.microsoft.com/office/drawing/2014/main" id="{3822F3B1-1CE0-4159-BADE-563CFD032F9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502102" y="2263773"/>
                          <a:ext cx="592323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2" name="Straight Arrow Connector 91">
                          <a:extLst>
                            <a:ext uri="{FF2B5EF4-FFF2-40B4-BE49-F238E27FC236}">
                              <a16:creationId xmlns:a16="http://schemas.microsoft.com/office/drawing/2014/main" id="{D56AE325-03F9-4564-A6F8-1F09ED134A7C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6535285" y="2263774"/>
                          <a:ext cx="559140" cy="15795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3" name="Straight Arrow Connector 92">
                          <a:extLst>
                            <a:ext uri="{FF2B5EF4-FFF2-40B4-BE49-F238E27FC236}">
                              <a16:creationId xmlns:a16="http://schemas.microsoft.com/office/drawing/2014/main" id="{01E381EE-EF4C-4247-BE1C-C85CD187379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678301" y="2983896"/>
                          <a:ext cx="423904" cy="157534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4" name="Straight Arrow Connector 93">
                          <a:extLst>
                            <a:ext uri="{FF2B5EF4-FFF2-40B4-BE49-F238E27FC236}">
                              <a16:creationId xmlns:a16="http://schemas.microsoft.com/office/drawing/2014/main" id="{24EEF6B0-6C9D-46D7-A466-14CD0FF24C8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6642996" y="3139828"/>
                          <a:ext cx="459209" cy="160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5" name="Straight Arrow Connector 94">
                          <a:extLst>
                            <a:ext uri="{FF2B5EF4-FFF2-40B4-BE49-F238E27FC236}">
                              <a16:creationId xmlns:a16="http://schemas.microsoft.com/office/drawing/2014/main" id="{9BB7B621-6BD7-4D33-A2EB-714BB670C6AA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6678302" y="3141431"/>
                          <a:ext cx="423903" cy="13733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6" name="Straight Arrow Connector 95">
                          <a:extLst>
                            <a:ext uri="{FF2B5EF4-FFF2-40B4-BE49-F238E27FC236}">
                              <a16:creationId xmlns:a16="http://schemas.microsoft.com/office/drawing/2014/main" id="{7BEBC3B8-D9D2-4E40-AF7A-8237C0ECFD0C}"/>
                            </a:ext>
                          </a:extLst>
                        </p:cNvPr>
                        <p:cNvCxnSpPr>
                          <a:cxnSpLocks/>
                          <a:endCxn id="115" idx="2"/>
                        </p:cNvCxnSpPr>
                        <p:nvPr/>
                      </p:nvCxnSpPr>
                      <p:spPr>
                        <a:xfrm>
                          <a:off x="6546084" y="5776464"/>
                          <a:ext cx="549926" cy="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7" name="Straight Arrow Connector 96">
                          <a:extLst>
                            <a:ext uri="{FF2B5EF4-FFF2-40B4-BE49-F238E27FC236}">
                              <a16:creationId xmlns:a16="http://schemas.microsoft.com/office/drawing/2014/main" id="{C3A5B192-F270-426F-8710-31CFDE99BB4B}"/>
                            </a:ext>
                          </a:extLst>
                        </p:cNvPr>
                        <p:cNvCxnSpPr>
                          <a:cxnSpLocks/>
                          <a:endCxn id="115" idx="2"/>
                        </p:cNvCxnSpPr>
                        <p:nvPr/>
                      </p:nvCxnSpPr>
                      <p:spPr>
                        <a:xfrm>
                          <a:off x="6582932" y="5608858"/>
                          <a:ext cx="513078" cy="16760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8" name="Straight Arrow Connector 97">
                          <a:extLst>
                            <a:ext uri="{FF2B5EF4-FFF2-40B4-BE49-F238E27FC236}">
                              <a16:creationId xmlns:a16="http://schemas.microsoft.com/office/drawing/2014/main" id="{1845986F-D308-4A49-B17F-09123E88E9E6}"/>
                            </a:ext>
                          </a:extLst>
                        </p:cNvPr>
                        <p:cNvCxnSpPr>
                          <a:cxnSpLocks/>
                          <a:endCxn id="115" idx="2"/>
                        </p:cNvCxnSpPr>
                        <p:nvPr/>
                      </p:nvCxnSpPr>
                      <p:spPr>
                        <a:xfrm>
                          <a:off x="6656212" y="5474153"/>
                          <a:ext cx="439798" cy="30231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99" name="Straight Arrow Connector 98">
                          <a:extLst>
                            <a:ext uri="{FF2B5EF4-FFF2-40B4-BE49-F238E27FC236}">
                              <a16:creationId xmlns:a16="http://schemas.microsoft.com/office/drawing/2014/main" id="{F7C0AC25-A05B-4773-96D6-68D7935A9978}"/>
                            </a:ext>
                          </a:extLst>
                        </p:cNvPr>
                        <p:cNvCxnSpPr>
                          <a:cxnSpLocks/>
                          <a:stCxn id="112" idx="6"/>
                          <a:endCxn id="144" idx="2"/>
                        </p:cNvCxnSpPr>
                        <p:nvPr/>
                      </p:nvCxnSpPr>
                      <p:spPr>
                        <a:xfrm>
                          <a:off x="7566091" y="1472595"/>
                          <a:ext cx="1253600" cy="50254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0" name="Straight Arrow Connector 99">
                          <a:extLst>
                            <a:ext uri="{FF2B5EF4-FFF2-40B4-BE49-F238E27FC236}">
                              <a16:creationId xmlns:a16="http://schemas.microsoft.com/office/drawing/2014/main" id="{802C819B-14F2-424F-A828-B36A384880F9}"/>
                            </a:ext>
                          </a:extLst>
                        </p:cNvPr>
                        <p:cNvCxnSpPr>
                          <a:cxnSpLocks/>
                          <a:stCxn id="112" idx="6"/>
                          <a:endCxn id="145" idx="2"/>
                        </p:cNvCxnSpPr>
                        <p:nvPr/>
                      </p:nvCxnSpPr>
                      <p:spPr>
                        <a:xfrm>
                          <a:off x="7566091" y="1472595"/>
                          <a:ext cx="1253599" cy="1285013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1" name="Straight Arrow Connector 100">
                          <a:extLst>
                            <a:ext uri="{FF2B5EF4-FFF2-40B4-BE49-F238E27FC236}">
                              <a16:creationId xmlns:a16="http://schemas.microsoft.com/office/drawing/2014/main" id="{F15F149E-F5B0-49FA-8F24-C1DE4F7901C5}"/>
                            </a:ext>
                          </a:extLst>
                        </p:cNvPr>
                        <p:cNvCxnSpPr>
                          <a:cxnSpLocks/>
                          <a:stCxn id="112" idx="6"/>
                          <a:endCxn id="146" idx="2"/>
                        </p:cNvCxnSpPr>
                        <p:nvPr/>
                      </p:nvCxnSpPr>
                      <p:spPr>
                        <a:xfrm>
                          <a:off x="7566091" y="1472595"/>
                          <a:ext cx="1253598" cy="392823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2" name="Straight Arrow Connector 101">
                          <a:extLst>
                            <a:ext uri="{FF2B5EF4-FFF2-40B4-BE49-F238E27FC236}">
                              <a16:creationId xmlns:a16="http://schemas.microsoft.com/office/drawing/2014/main" id="{B5EF6666-A7A2-4BF8-9566-E2DC20B7F549}"/>
                            </a:ext>
                          </a:extLst>
                        </p:cNvPr>
                        <p:cNvCxnSpPr>
                          <a:cxnSpLocks/>
                          <a:stCxn id="113" idx="6"/>
                          <a:endCxn id="144" idx="2"/>
                        </p:cNvCxnSpPr>
                        <p:nvPr/>
                      </p:nvCxnSpPr>
                      <p:spPr>
                        <a:xfrm flipV="1">
                          <a:off x="7566091" y="1975137"/>
                          <a:ext cx="1253600" cy="288636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3" name="Straight Arrow Connector 102">
                          <a:extLst>
                            <a:ext uri="{FF2B5EF4-FFF2-40B4-BE49-F238E27FC236}">
                              <a16:creationId xmlns:a16="http://schemas.microsoft.com/office/drawing/2014/main" id="{22F88A53-8AC2-4270-8181-520450FF4FFE}"/>
                            </a:ext>
                          </a:extLst>
                        </p:cNvPr>
                        <p:cNvCxnSpPr>
                          <a:cxnSpLocks/>
                          <a:stCxn id="113" idx="6"/>
                          <a:endCxn id="145" idx="2"/>
                        </p:cNvCxnSpPr>
                        <p:nvPr/>
                      </p:nvCxnSpPr>
                      <p:spPr>
                        <a:xfrm>
                          <a:off x="7566091" y="2263773"/>
                          <a:ext cx="1253599" cy="493835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4" name="Straight Arrow Connector 103">
                          <a:extLst>
                            <a:ext uri="{FF2B5EF4-FFF2-40B4-BE49-F238E27FC236}">
                              <a16:creationId xmlns:a16="http://schemas.microsoft.com/office/drawing/2014/main" id="{EA6CE4CC-0231-40B6-A250-9F827EC5B85A}"/>
                            </a:ext>
                          </a:extLst>
                        </p:cNvPr>
                        <p:cNvCxnSpPr>
                          <a:cxnSpLocks/>
                          <a:stCxn id="114" idx="6"/>
                          <a:endCxn id="146" idx="2"/>
                        </p:cNvCxnSpPr>
                        <p:nvPr/>
                      </p:nvCxnSpPr>
                      <p:spPr>
                        <a:xfrm>
                          <a:off x="7566090" y="3139829"/>
                          <a:ext cx="1253599" cy="226099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5" name="Straight Arrow Connector 104">
                          <a:extLst>
                            <a:ext uri="{FF2B5EF4-FFF2-40B4-BE49-F238E27FC236}">
                              <a16:creationId xmlns:a16="http://schemas.microsoft.com/office/drawing/2014/main" id="{75137992-82C5-4C05-B05B-7E72B6B3F52E}"/>
                            </a:ext>
                          </a:extLst>
                        </p:cNvPr>
                        <p:cNvCxnSpPr>
                          <a:cxnSpLocks/>
                          <a:stCxn id="113" idx="6"/>
                          <a:endCxn id="146" idx="2"/>
                        </p:cNvCxnSpPr>
                        <p:nvPr/>
                      </p:nvCxnSpPr>
                      <p:spPr>
                        <a:xfrm>
                          <a:off x="7566091" y="2263773"/>
                          <a:ext cx="1253598" cy="3137054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6" name="Straight Arrow Connector 105">
                          <a:extLst>
                            <a:ext uri="{FF2B5EF4-FFF2-40B4-BE49-F238E27FC236}">
                              <a16:creationId xmlns:a16="http://schemas.microsoft.com/office/drawing/2014/main" id="{2B3E6282-D2B7-4F0D-97D3-157412A4375D}"/>
                            </a:ext>
                          </a:extLst>
                        </p:cNvPr>
                        <p:cNvCxnSpPr>
                          <a:cxnSpLocks/>
                          <a:stCxn id="115" idx="6"/>
                          <a:endCxn id="144" idx="2"/>
                        </p:cNvCxnSpPr>
                        <p:nvPr/>
                      </p:nvCxnSpPr>
                      <p:spPr>
                        <a:xfrm flipV="1">
                          <a:off x="7566089" y="1975137"/>
                          <a:ext cx="1253602" cy="380132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7" name="Straight Arrow Connector 106">
                          <a:extLst>
                            <a:ext uri="{FF2B5EF4-FFF2-40B4-BE49-F238E27FC236}">
                              <a16:creationId xmlns:a16="http://schemas.microsoft.com/office/drawing/2014/main" id="{22838055-92FF-4C92-9F90-A2E5B19594A4}"/>
                            </a:ext>
                          </a:extLst>
                        </p:cNvPr>
                        <p:cNvCxnSpPr>
                          <a:cxnSpLocks/>
                          <a:stCxn id="115" idx="6"/>
                          <a:endCxn id="145" idx="2"/>
                        </p:cNvCxnSpPr>
                        <p:nvPr/>
                      </p:nvCxnSpPr>
                      <p:spPr>
                        <a:xfrm flipV="1">
                          <a:off x="7566089" y="2757608"/>
                          <a:ext cx="1253601" cy="3018857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8" name="Straight Arrow Connector 107">
                          <a:extLst>
                            <a:ext uri="{FF2B5EF4-FFF2-40B4-BE49-F238E27FC236}">
                              <a16:creationId xmlns:a16="http://schemas.microsoft.com/office/drawing/2014/main" id="{3257AC2B-6AEE-444F-ACDE-F85B3AEC8F8B}"/>
                            </a:ext>
                          </a:extLst>
                        </p:cNvPr>
                        <p:cNvCxnSpPr>
                          <a:cxnSpLocks/>
                          <a:stCxn id="115" idx="6"/>
                          <a:endCxn id="146" idx="2"/>
                        </p:cNvCxnSpPr>
                        <p:nvPr/>
                      </p:nvCxnSpPr>
                      <p:spPr>
                        <a:xfrm flipV="1">
                          <a:off x="7566089" y="5400827"/>
                          <a:ext cx="1253600" cy="375638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9" name="Straight Arrow Connector 108">
                          <a:extLst>
                            <a:ext uri="{FF2B5EF4-FFF2-40B4-BE49-F238E27FC236}">
                              <a16:creationId xmlns:a16="http://schemas.microsoft.com/office/drawing/2014/main" id="{8E24600C-CF2C-4BF5-9AD4-537BEA013415}"/>
                            </a:ext>
                          </a:extLst>
                        </p:cNvPr>
                        <p:cNvCxnSpPr>
                          <a:cxnSpLocks/>
                          <a:stCxn id="114" idx="6"/>
                          <a:endCxn id="144" idx="2"/>
                        </p:cNvCxnSpPr>
                        <p:nvPr/>
                      </p:nvCxnSpPr>
                      <p:spPr>
                        <a:xfrm flipV="1">
                          <a:off x="7566090" y="1975137"/>
                          <a:ext cx="1253601" cy="1164692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10" name="Straight Arrow Connector 109">
                          <a:extLst>
                            <a:ext uri="{FF2B5EF4-FFF2-40B4-BE49-F238E27FC236}">
                              <a16:creationId xmlns:a16="http://schemas.microsoft.com/office/drawing/2014/main" id="{C259AB28-1772-477D-9383-444D6E24CB78}"/>
                            </a:ext>
                          </a:extLst>
                        </p:cNvPr>
                        <p:cNvCxnSpPr>
                          <a:cxnSpLocks/>
                          <a:stCxn id="114" idx="6"/>
                          <a:endCxn id="145" idx="2"/>
                        </p:cNvCxnSpPr>
                        <p:nvPr/>
                      </p:nvCxnSpPr>
                      <p:spPr>
                        <a:xfrm flipV="1">
                          <a:off x="7566090" y="2757608"/>
                          <a:ext cx="1253600" cy="382221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grpSp>
                  <p:nvGrpSpPr>
                    <p:cNvPr id="35" name="Group 34">
                      <a:extLst>
                        <a:ext uri="{FF2B5EF4-FFF2-40B4-BE49-F238E27FC236}">
                          <a16:creationId xmlns:a16="http://schemas.microsoft.com/office/drawing/2014/main" id="{998A87FB-CC88-4E7D-B01A-ADB6EB97A2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63954" y="1472595"/>
                      <a:ext cx="2132058" cy="4303870"/>
                      <a:chOff x="4963954" y="1472595"/>
                      <a:chExt cx="2132058" cy="4303870"/>
                    </a:xfrm>
                  </p:grpSpPr>
                  <p:cxnSp>
                    <p:nvCxnSpPr>
                      <p:cNvPr id="36" name="Straight Connector 35">
                        <a:extLst>
                          <a:ext uri="{FF2B5EF4-FFF2-40B4-BE49-F238E27FC236}">
                            <a16:creationId xmlns:a16="http://schemas.microsoft.com/office/drawing/2014/main" id="{3FBF0A99-8855-409D-9704-0C7FEC8C0326}"/>
                          </a:ext>
                        </a:extLst>
                      </p:cNvPr>
                      <p:cNvCxnSpPr>
                        <a:cxnSpLocks/>
                        <a:stCxn id="152" idx="6"/>
                      </p:cNvCxnSpPr>
                      <p:nvPr/>
                    </p:nvCxnSpPr>
                    <p:spPr>
                      <a:xfrm>
                        <a:off x="4963956" y="1472595"/>
                        <a:ext cx="475349" cy="33503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Connector 36">
                        <a:extLst>
                          <a:ext uri="{FF2B5EF4-FFF2-40B4-BE49-F238E27FC236}">
                            <a16:creationId xmlns:a16="http://schemas.microsoft.com/office/drawing/2014/main" id="{2B81BD8B-16A2-4DAA-AC9F-4C0AD3A45269}"/>
                          </a:ext>
                        </a:extLst>
                      </p:cNvPr>
                      <p:cNvCxnSpPr>
                        <a:cxnSpLocks/>
                        <a:stCxn id="153" idx="6"/>
                      </p:cNvCxnSpPr>
                      <p:nvPr/>
                    </p:nvCxnSpPr>
                    <p:spPr>
                      <a:xfrm>
                        <a:off x="4963956" y="2269830"/>
                        <a:ext cx="392219" cy="32097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" name="Straight Connector 37">
                        <a:extLst>
                          <a:ext uri="{FF2B5EF4-FFF2-40B4-BE49-F238E27FC236}">
                            <a16:creationId xmlns:a16="http://schemas.microsoft.com/office/drawing/2014/main" id="{F30E708C-53D0-478D-9AC0-0033203F4ADE}"/>
                          </a:ext>
                        </a:extLst>
                      </p:cNvPr>
                      <p:cNvCxnSpPr>
                        <a:cxnSpLocks/>
                        <a:stCxn id="154" idx="6"/>
                      </p:cNvCxnSpPr>
                      <p:nvPr/>
                    </p:nvCxnSpPr>
                    <p:spPr>
                      <a:xfrm>
                        <a:off x="4963955" y="3142108"/>
                        <a:ext cx="431428" cy="221511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Straight Connector 38">
                        <a:extLst>
                          <a:ext uri="{FF2B5EF4-FFF2-40B4-BE49-F238E27FC236}">
                            <a16:creationId xmlns:a16="http://schemas.microsoft.com/office/drawing/2014/main" id="{8EA875E9-E69E-42C5-837B-34642D51D8A2}"/>
                          </a:ext>
                        </a:extLst>
                      </p:cNvPr>
                      <p:cNvCxnSpPr>
                        <a:cxnSpLocks/>
                        <a:stCxn id="155" idx="6"/>
                      </p:cNvCxnSpPr>
                      <p:nvPr/>
                    </p:nvCxnSpPr>
                    <p:spPr>
                      <a:xfrm flipV="1">
                        <a:off x="4963954" y="5344580"/>
                        <a:ext cx="404705" cy="41873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Straight Arrow Connector 39">
                        <a:extLst>
                          <a:ext uri="{FF2B5EF4-FFF2-40B4-BE49-F238E27FC236}">
                            <a16:creationId xmlns:a16="http://schemas.microsoft.com/office/drawing/2014/main" id="{A6DD5A47-C7CB-4A98-9F74-275968E432DA}"/>
                          </a:ext>
                        </a:extLst>
                      </p:cNvPr>
                      <p:cNvCxnSpPr>
                        <a:cxnSpLocks/>
                        <a:endCxn id="112" idx="2"/>
                      </p:cNvCxnSpPr>
                      <p:nvPr/>
                    </p:nvCxnSpPr>
                    <p:spPr>
                      <a:xfrm flipV="1">
                        <a:off x="6539899" y="1472595"/>
                        <a:ext cx="556113" cy="32550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Straight Arrow Connector 40">
                        <a:extLst>
                          <a:ext uri="{FF2B5EF4-FFF2-40B4-BE49-F238E27FC236}">
                            <a16:creationId xmlns:a16="http://schemas.microsoft.com/office/drawing/2014/main" id="{D7C71DBF-45F3-46C3-A534-D739AF63ADBB}"/>
                          </a:ext>
                        </a:extLst>
                      </p:cNvPr>
                      <p:cNvCxnSpPr>
                        <a:cxnSpLocks/>
                        <a:endCxn id="113" idx="2"/>
                      </p:cNvCxnSpPr>
                      <p:nvPr/>
                    </p:nvCxnSpPr>
                    <p:spPr>
                      <a:xfrm flipV="1">
                        <a:off x="6582932" y="2263773"/>
                        <a:ext cx="513080" cy="323884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Straight Arrow Connector 41">
                        <a:extLst>
                          <a:ext uri="{FF2B5EF4-FFF2-40B4-BE49-F238E27FC236}">
                            <a16:creationId xmlns:a16="http://schemas.microsoft.com/office/drawing/2014/main" id="{F97D7F3F-C3E9-4CF7-91E7-B2D2EB4C885E}"/>
                          </a:ext>
                        </a:extLst>
                      </p:cNvPr>
                      <p:cNvCxnSpPr>
                        <a:cxnSpLocks/>
                        <a:endCxn id="114" idx="2"/>
                      </p:cNvCxnSpPr>
                      <p:nvPr/>
                    </p:nvCxnSpPr>
                    <p:spPr>
                      <a:xfrm flipV="1">
                        <a:off x="6709978" y="3139829"/>
                        <a:ext cx="386033" cy="24220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Straight Arrow Connector 42">
                        <a:extLst>
                          <a:ext uri="{FF2B5EF4-FFF2-40B4-BE49-F238E27FC236}">
                            <a16:creationId xmlns:a16="http://schemas.microsoft.com/office/drawing/2014/main" id="{C452680E-3D41-443B-A591-CD0DD7344C21}"/>
                          </a:ext>
                        </a:extLst>
                      </p:cNvPr>
                      <p:cNvCxnSpPr>
                        <a:cxnSpLocks/>
                        <a:endCxn id="115" idx="2"/>
                      </p:cNvCxnSpPr>
                      <p:nvPr/>
                    </p:nvCxnSpPr>
                    <p:spPr>
                      <a:xfrm>
                        <a:off x="6736671" y="5369039"/>
                        <a:ext cx="359339" cy="40742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57B1FAC-C60C-4A23-AB65-94C34071BC4A}"/>
                      </a:ext>
                    </a:extLst>
                  </p:cNvPr>
                  <p:cNvSpPr txBox="1"/>
                  <p:nvPr/>
                </p:nvSpPr>
                <p:spPr>
                  <a:xfrm rot="1003126">
                    <a:off x="3575897" y="5078122"/>
                    <a:ext cx="644079" cy="54511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</a:t>
                    </a:r>
                    <a:r>
                      <a:rPr lang="en-US" sz="1500" baseline="-25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ji</a:t>
                    </a:r>
                    <a:endParaRPr lang="en-IN" sz="1500" baseline="-25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10C7AD8F-759D-4EAF-91AB-23E01C71A908}"/>
                    </a:ext>
                  </a:extLst>
                </p:cNvPr>
                <p:cNvSpPr/>
                <p:nvPr/>
              </p:nvSpPr>
              <p:spPr>
                <a:xfrm>
                  <a:off x="2990107" y="3142109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A6C775E0-3BB3-43C1-95A4-13C253554B1A}"/>
                    </a:ext>
                  </a:extLst>
                </p:cNvPr>
                <p:cNvSpPr/>
                <p:nvPr/>
              </p:nvSpPr>
              <p:spPr>
                <a:xfrm>
                  <a:off x="2990107" y="3478076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81589BE-FE79-4423-89CF-8CBEFDF4D125}"/>
                    </a:ext>
                  </a:extLst>
                </p:cNvPr>
                <p:cNvSpPr/>
                <p:nvPr/>
              </p:nvSpPr>
              <p:spPr>
                <a:xfrm>
                  <a:off x="2996795" y="4528570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B28D6D20-EF10-448C-86EF-1991AA991A74}"/>
                    </a:ext>
                  </a:extLst>
                </p:cNvPr>
                <p:cNvSpPr/>
                <p:nvPr/>
              </p:nvSpPr>
              <p:spPr>
                <a:xfrm>
                  <a:off x="2996795" y="4837650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CC8D6FB-ED9A-4D2A-A44D-16C2BF07AE9E}"/>
                    </a:ext>
                  </a:extLst>
                </p:cNvPr>
                <p:cNvSpPr/>
                <p:nvPr/>
              </p:nvSpPr>
              <p:spPr>
                <a:xfrm>
                  <a:off x="4685769" y="3675277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DB2228B-CDD9-4F25-BF98-03305107FA50}"/>
                    </a:ext>
                  </a:extLst>
                </p:cNvPr>
                <p:cNvSpPr/>
                <p:nvPr/>
              </p:nvSpPr>
              <p:spPr>
                <a:xfrm>
                  <a:off x="4685769" y="5198015"/>
                  <a:ext cx="126753" cy="126103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</p:grp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B2E521A-1F1F-4260-9B3B-019C1F9F7CD9}"/>
                  </a:ext>
                </a:extLst>
              </p:cNvPr>
              <p:cNvSpPr/>
              <p:nvPr/>
            </p:nvSpPr>
            <p:spPr>
              <a:xfrm>
                <a:off x="7309676" y="4062767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79A0158-DEEF-43D8-B327-7605FB1CCF71}"/>
                  </a:ext>
                </a:extLst>
              </p:cNvPr>
              <p:cNvSpPr/>
              <p:nvPr/>
            </p:nvSpPr>
            <p:spPr>
              <a:xfrm>
                <a:off x="7310370" y="4474119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7F6DBD5-98D2-426D-AA05-C49B8D51CCF3}"/>
                  </a:ext>
                </a:extLst>
              </p:cNvPr>
              <p:cNvSpPr/>
              <p:nvPr/>
            </p:nvSpPr>
            <p:spPr>
              <a:xfrm>
                <a:off x="7309675" y="4852940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08F45B9-FAE3-4C99-A570-377BC68A058A}"/>
                  </a:ext>
                </a:extLst>
              </p:cNvPr>
              <p:cNvSpPr/>
              <p:nvPr/>
            </p:nvSpPr>
            <p:spPr>
              <a:xfrm>
                <a:off x="7309675" y="3675277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331382E-2916-4485-B100-4CE2668EF3D4}"/>
                  </a:ext>
                </a:extLst>
              </p:cNvPr>
              <p:cNvSpPr/>
              <p:nvPr/>
            </p:nvSpPr>
            <p:spPr>
              <a:xfrm>
                <a:off x="7313551" y="5202870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78198484-DA04-4013-909F-FB2191AFA072}"/>
                  </a:ext>
                </a:extLst>
              </p:cNvPr>
              <p:cNvSpPr/>
              <p:nvPr/>
            </p:nvSpPr>
            <p:spPr>
              <a:xfrm>
                <a:off x="9039278" y="3816583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1FF1A742-19E0-41FD-BAF2-69B32CE08D5C}"/>
                  </a:ext>
                </a:extLst>
              </p:cNvPr>
              <p:cNvSpPr/>
              <p:nvPr/>
            </p:nvSpPr>
            <p:spPr>
              <a:xfrm>
                <a:off x="9037285" y="4158922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8A91553-91F5-4F70-82E1-014E5A4468BD}"/>
                  </a:ext>
                </a:extLst>
              </p:cNvPr>
              <p:cNvSpPr/>
              <p:nvPr/>
            </p:nvSpPr>
            <p:spPr>
              <a:xfrm>
                <a:off x="9035934" y="3138277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1213C07-7558-4BE7-97B7-84DE058FDFD9}"/>
                  </a:ext>
                </a:extLst>
              </p:cNvPr>
              <p:cNvSpPr/>
              <p:nvPr/>
            </p:nvSpPr>
            <p:spPr>
              <a:xfrm>
                <a:off x="9035934" y="3474244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CEF102C-9C89-41BA-8421-D419DDC4BAC2}"/>
                  </a:ext>
                </a:extLst>
              </p:cNvPr>
              <p:cNvSpPr/>
              <p:nvPr/>
            </p:nvSpPr>
            <p:spPr>
              <a:xfrm>
                <a:off x="9042622" y="4524738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ED600F-ED3C-4990-8513-9F2C9960C461}"/>
                  </a:ext>
                </a:extLst>
              </p:cNvPr>
              <p:cNvSpPr/>
              <p:nvPr/>
            </p:nvSpPr>
            <p:spPr>
              <a:xfrm>
                <a:off x="9042622" y="4833818"/>
                <a:ext cx="126753" cy="12610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A8D027-F8AF-4BF1-BE15-E57C3292D1D8}"/>
                </a:ext>
              </a:extLst>
            </p:cNvPr>
            <p:cNvSpPr txBox="1"/>
            <p:nvPr/>
          </p:nvSpPr>
          <p:spPr>
            <a:xfrm>
              <a:off x="45100" y="3379418"/>
              <a:ext cx="150554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(Eg: Images)</a:t>
              </a:r>
              <a:endParaRPr lang="en-I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EFE226C-956D-44D9-8F68-D866A913E09E}"/>
                </a:ext>
              </a:extLst>
            </p:cNvPr>
            <p:cNvSpPr/>
            <p:nvPr/>
          </p:nvSpPr>
          <p:spPr>
            <a:xfrm>
              <a:off x="1461966" y="3778154"/>
              <a:ext cx="906868" cy="265678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74601CD-6671-4A2E-95B2-8AA6A475A1ED}"/>
                </a:ext>
              </a:extLst>
            </p:cNvPr>
            <p:cNvSpPr txBox="1"/>
            <p:nvPr/>
          </p:nvSpPr>
          <p:spPr>
            <a:xfrm>
              <a:off x="1362423" y="3132718"/>
              <a:ext cx="1093283" cy="64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Spike</a:t>
              </a:r>
              <a:r>
                <a:rPr lang="en-IN" sz="1400" dirty="0"/>
                <a:t> Encoding</a:t>
              </a:r>
              <a:endParaRPr lang="en-US" sz="1400" dirty="0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03DA5F5E-8317-4D9A-87DE-04A88F3E8D65}"/>
                </a:ext>
              </a:extLst>
            </p:cNvPr>
            <p:cNvSpPr/>
            <p:nvPr/>
          </p:nvSpPr>
          <p:spPr>
            <a:xfrm>
              <a:off x="9729802" y="3780277"/>
              <a:ext cx="906868" cy="265678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D72BE0-E627-404B-AAB9-7EE8D4A01F46}"/>
                </a:ext>
              </a:extLst>
            </p:cNvPr>
            <p:cNvSpPr txBox="1"/>
            <p:nvPr/>
          </p:nvSpPr>
          <p:spPr>
            <a:xfrm>
              <a:off x="9630259" y="3134841"/>
              <a:ext cx="1093283" cy="64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Spike</a:t>
              </a:r>
              <a:r>
                <a:rPr lang="en-IN" sz="1400" dirty="0"/>
                <a:t> Decoding</a:t>
              </a:r>
              <a:endParaRPr lang="en-US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4C70A3-25F6-4C83-A9C5-B4155AD768DB}"/>
                </a:ext>
              </a:extLst>
            </p:cNvPr>
            <p:cNvSpPr txBox="1"/>
            <p:nvPr/>
          </p:nvSpPr>
          <p:spPr>
            <a:xfrm>
              <a:off x="10572095" y="3351795"/>
              <a:ext cx="143291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  <a:p>
              <a:pPr algn="ctr"/>
              <a:r>
                <a:rPr lang="en-IN" sz="1400" dirty="0">
                  <a:latin typeface="Arial" panose="020B0604020202020204" pitchFamily="34" charset="0"/>
                  <a:cs typeface="Arial" panose="020B0604020202020204" pitchFamily="34" charset="0"/>
                </a:rPr>
                <a:t>(Eg: Neuron </a:t>
              </a:r>
            </a:p>
            <a:p>
              <a:pPr algn="ctr"/>
              <a:r>
                <a:rPr lang="en-IN" sz="1400" dirty="0">
                  <a:latin typeface="Arial" panose="020B0604020202020204" pitchFamily="34" charset="0"/>
                  <a:cs typeface="Arial" panose="020B0604020202020204" pitchFamily="34" charset="0"/>
                </a:rPr>
                <a:t>Index)</a:t>
              </a:r>
            </a:p>
          </p:txBody>
        </p: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78086A6A-7673-4E41-BE6A-04C33878D610}"/>
              </a:ext>
            </a:extLst>
          </p:cNvPr>
          <p:cNvSpPr txBox="1"/>
          <p:nvPr/>
        </p:nvSpPr>
        <p:spPr>
          <a:xfrm>
            <a:off x="4828911" y="6254507"/>
            <a:ext cx="2278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Fig. 1: Structure of SNN 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79FE573-39D2-474A-8AD0-971A0BF2ECA0}"/>
              </a:ext>
            </a:extLst>
          </p:cNvPr>
          <p:cNvSpPr txBox="1"/>
          <p:nvPr/>
        </p:nvSpPr>
        <p:spPr>
          <a:xfrm>
            <a:off x="209235" y="5916436"/>
            <a:ext cx="3116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j: Pre-synaptic neuron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i: Post-synaptic neuron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200" baseline="-25000" dirty="0">
                <a:latin typeface="Arial" panose="020B0604020202020204" pitchFamily="34" charset="0"/>
                <a:cs typeface="Arial" panose="020B0604020202020204" pitchFamily="34" charset="0"/>
              </a:rPr>
              <a:t>ji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Synaptic weight between i and j</a:t>
            </a:r>
            <a:endParaRPr lang="en-IN" sz="12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077B-8F72-4A52-8002-DF3AC7528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519583" cy="1325563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Arial" panose="020B0604020202020204" pitchFamily="34" charset="0"/>
                <a:cs typeface="Arial" panose="020B0604020202020204" pitchFamily="34" charset="0"/>
              </a:rPr>
              <a:t>Leaky Integrate and Fire (LIF) Neuron </a:t>
            </a:r>
            <a:endParaRPr lang="en-IN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8234FA-14EB-42EC-A7A4-59153075F475}"/>
              </a:ext>
            </a:extLst>
          </p:cNvPr>
          <p:cNvGrpSpPr/>
          <p:nvPr/>
        </p:nvGrpSpPr>
        <p:grpSpPr>
          <a:xfrm>
            <a:off x="1247309" y="1995209"/>
            <a:ext cx="3220733" cy="2534490"/>
            <a:chOff x="1356091" y="317894"/>
            <a:chExt cx="3954499" cy="311191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031CDFE-EFBE-4F2B-8E3E-6C993ED1655F}"/>
                </a:ext>
              </a:extLst>
            </p:cNvPr>
            <p:cNvGrpSpPr/>
            <p:nvPr/>
          </p:nvGrpSpPr>
          <p:grpSpPr>
            <a:xfrm>
              <a:off x="1356091" y="317894"/>
              <a:ext cx="3954499" cy="3111911"/>
              <a:chOff x="1585553" y="4626348"/>
              <a:chExt cx="3286131" cy="258595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EB5D3A6-3B68-442A-8CF5-79D485551B89}"/>
                  </a:ext>
                </a:extLst>
              </p:cNvPr>
              <p:cNvGrpSpPr/>
              <p:nvPr/>
            </p:nvGrpSpPr>
            <p:grpSpPr>
              <a:xfrm>
                <a:off x="1585553" y="4626348"/>
                <a:ext cx="3286131" cy="2560320"/>
                <a:chOff x="1408732" y="3928508"/>
                <a:chExt cx="3286131" cy="2560320"/>
              </a:xfrm>
            </p:grpSpPr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8075A2DB-DF82-4CFD-9BB0-8FCF1D186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03720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FF463F81-8F53-494A-99C7-741A49BF2E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29170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6F61341E-2E7C-4AA0-9A75-87B818D45A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90719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5AAA5948-C2BC-4098-AED9-71A172F70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5694" y="4229100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597D128-6367-4BD2-A995-0E99C7764F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2514" y="5068911"/>
                  <a:ext cx="2246440" cy="4739"/>
                </a:xfrm>
                <a:prstGeom prst="line">
                  <a:avLst/>
                </a:prstGeom>
                <a:ln w="19050" cap="flat" cmpd="sng" algn="ctr">
                  <a:solidFill>
                    <a:srgbClr val="00B05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85C50DF-EF9A-4AA5-ABEA-9B88C117A3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03720" y="5292725"/>
                  <a:ext cx="0" cy="31062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E46ACBB-C8DB-4F27-8CA2-A929E658D074}"/>
                    </a:ext>
                  </a:extLst>
                </p:cNvPr>
                <p:cNvGrpSpPr/>
                <p:nvPr/>
              </p:nvGrpSpPr>
              <p:grpSpPr>
                <a:xfrm>
                  <a:off x="1872514" y="3928508"/>
                  <a:ext cx="2705487" cy="2560320"/>
                  <a:chOff x="1551944" y="3916680"/>
                  <a:chExt cx="2705487" cy="2560320"/>
                </a:xfrm>
              </p:grpSpPr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58BA4A61-BA2A-4562-8406-BBFB75CDA70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554480" y="3916680"/>
                    <a:ext cx="0" cy="256032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Arrow Connector 31">
                    <a:extLst>
                      <a:ext uri="{FF2B5EF4-FFF2-40B4-BE49-F238E27FC236}">
                        <a16:creationId xmlns:a16="http://schemas.microsoft.com/office/drawing/2014/main" id="{FE073DF1-B981-480A-823E-6009385FB0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54480" y="4780280"/>
                    <a:ext cx="2702951" cy="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8FBA5EE7-E8A6-477A-9BEB-8438A32CB8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51944" y="5608320"/>
                    <a:ext cx="2702951" cy="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2949614F-D69C-4412-B5CD-FC804BE8A5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551944" y="6477000"/>
                    <a:ext cx="2702951" cy="0"/>
                  </a:xfrm>
                  <a:prstGeom prst="straightConnector1">
                    <a:avLst/>
                  </a:prstGeom>
                  <a:ln w="19050">
                    <a:solidFill>
                      <a:schemeClr val="accent2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46FD55A-3813-4B82-B5EC-793635F62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34832" y="5213350"/>
                  <a:ext cx="0" cy="34512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535516D-5B81-4FBE-8E02-D8CCAE5D6B25}"/>
                    </a:ext>
                  </a:extLst>
                </p:cNvPr>
                <p:cNvCxnSpPr>
                  <a:cxnSpLocks/>
                  <a:endCxn id="24" idx="0"/>
                </p:cNvCxnSpPr>
                <p:nvPr/>
              </p:nvCxnSpPr>
              <p:spPr>
                <a:xfrm flipH="1">
                  <a:off x="3289666" y="5132585"/>
                  <a:ext cx="1052" cy="33172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DD12320D-02E3-4BFC-994A-BE5945DB48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5694" y="5086606"/>
                  <a:ext cx="0" cy="51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3" name="Arc 22">
                  <a:extLst>
                    <a:ext uri="{FF2B5EF4-FFF2-40B4-BE49-F238E27FC236}">
                      <a16:creationId xmlns:a16="http://schemas.microsoft.com/office/drawing/2014/main" id="{DE2043FA-A03F-4C16-AEC7-F3C97995E79C}"/>
                    </a:ext>
                  </a:extLst>
                </p:cNvPr>
                <p:cNvSpPr/>
                <p:nvPr/>
              </p:nvSpPr>
              <p:spPr>
                <a:xfrm rot="10800000">
                  <a:off x="2403718" y="5081769"/>
                  <a:ext cx="792323" cy="478000"/>
                </a:xfrm>
                <a:prstGeom prst="arc">
                  <a:avLst>
                    <a:gd name="adj1" fmla="val 15620398"/>
                    <a:gd name="adj2" fmla="val 10885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342CD978-F168-4A85-BE18-F4DEDBC9A046}"/>
                    </a:ext>
                  </a:extLst>
                </p:cNvPr>
                <p:cNvSpPr/>
                <p:nvPr/>
              </p:nvSpPr>
              <p:spPr>
                <a:xfrm rot="10800000">
                  <a:off x="2834418" y="4987447"/>
                  <a:ext cx="829523" cy="478000"/>
                </a:xfrm>
                <a:prstGeom prst="arc">
                  <a:avLst>
                    <a:gd name="adj1" fmla="val 15620398"/>
                    <a:gd name="adj2" fmla="val 10885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CF8EB715-2B1A-49B5-A514-AE087244990E}"/>
                    </a:ext>
                  </a:extLst>
                </p:cNvPr>
                <p:cNvSpPr/>
                <p:nvPr/>
              </p:nvSpPr>
              <p:spPr>
                <a:xfrm rot="10800000">
                  <a:off x="3290718" y="4903149"/>
                  <a:ext cx="792327" cy="478000"/>
                </a:xfrm>
                <a:prstGeom prst="arc">
                  <a:avLst>
                    <a:gd name="adj1" fmla="val 15620398"/>
                    <a:gd name="adj2" fmla="val 108852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9CCA51D9-778F-491B-BE9A-F2A0FE9F7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5696" y="5922422"/>
                  <a:ext cx="0" cy="56300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3EBD10-3447-4B79-A7E1-E778F961D229}"/>
                    </a:ext>
                  </a:extLst>
                </p:cNvPr>
                <p:cNvSpPr txBox="1"/>
                <p:nvPr/>
              </p:nvSpPr>
              <p:spPr>
                <a:xfrm>
                  <a:off x="1408732" y="5132637"/>
                  <a:ext cx="555154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U(t)</a:t>
                  </a:r>
                  <a:endParaRPr lang="en-IN" sz="1300" i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1E6037D-AACF-49C7-BFF4-89778E639CA6}"/>
                    </a:ext>
                  </a:extLst>
                </p:cNvPr>
                <p:cNvSpPr txBox="1"/>
                <p:nvPr/>
              </p:nvSpPr>
              <p:spPr>
                <a:xfrm>
                  <a:off x="1495795" y="4394221"/>
                  <a:ext cx="380470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r>
                    <a:rPr lang="en-US" sz="1300" i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in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375430C-9DAC-4E5A-8F14-62A54DFCCACE}"/>
                    </a:ext>
                  </a:extLst>
                </p:cNvPr>
                <p:cNvSpPr txBox="1"/>
                <p:nvPr/>
              </p:nvSpPr>
              <p:spPr>
                <a:xfrm>
                  <a:off x="1521744" y="5988559"/>
                  <a:ext cx="382388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r>
                    <a:rPr lang="en-US" sz="1300" i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en-IN" sz="1300" i="1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1AEB07-6008-4304-9F0B-1B6E4D32877C}"/>
                    </a:ext>
                  </a:extLst>
                </p:cNvPr>
                <p:cNvSpPr txBox="1"/>
                <p:nvPr/>
              </p:nvSpPr>
              <p:spPr>
                <a:xfrm>
                  <a:off x="4043727" y="4915023"/>
                  <a:ext cx="651136" cy="3501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3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</a:t>
                  </a:r>
                  <a:r>
                    <a:rPr lang="en-US" sz="13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thres</a:t>
                  </a:r>
                  <a:endParaRPr lang="en-IN" sz="1300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1A8AD-0335-42F3-837E-765117501BB6}"/>
                  </a:ext>
                </a:extLst>
              </p:cNvPr>
              <p:cNvSpPr txBox="1"/>
              <p:nvPr/>
            </p:nvSpPr>
            <p:spPr>
              <a:xfrm>
                <a:off x="4403465" y="6862162"/>
                <a:ext cx="276810" cy="35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dirty="0">
                    <a:latin typeface="Arial" panose="020B0604020202020204" pitchFamily="34" charset="0"/>
                    <a:cs typeface="Arial" panose="020B0604020202020204" pitchFamily="34" charset="0"/>
                  </a:rPr>
                  <a:t>t</a:t>
                </a:r>
                <a:endParaRPr lang="en-IN" sz="1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7D031E-99FE-4D67-A525-C85A61575C8C}"/>
                  </a:ext>
                </a:extLst>
              </p:cNvPr>
              <p:cNvSpPr txBox="1"/>
              <p:nvPr/>
            </p:nvSpPr>
            <p:spPr>
              <a:xfrm>
                <a:off x="4206165" y="5959747"/>
                <a:ext cx="651136" cy="350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sz="13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reset</a:t>
                </a:r>
                <a:endParaRPr lang="en-IN" sz="1300" baseline="-25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299F11-3BDC-48AE-8A87-9F3552AF4F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23267" y="2333385"/>
              <a:ext cx="2703343" cy="710"/>
            </a:xfrm>
            <a:prstGeom prst="line">
              <a:avLst/>
            </a:prstGeom>
            <a:ln w="19050" cap="flat" cmpd="sng" algn="ctr">
              <a:solidFill>
                <a:srgbClr val="00B05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3D0032C-8CC4-49B7-8A89-EBD86F145AE2}"/>
              </a:ext>
            </a:extLst>
          </p:cNvPr>
          <p:cNvGrpSpPr/>
          <p:nvPr/>
        </p:nvGrpSpPr>
        <p:grpSpPr>
          <a:xfrm>
            <a:off x="7071536" y="2332687"/>
            <a:ext cx="3767565" cy="2371717"/>
            <a:chOff x="1097188" y="8224927"/>
            <a:chExt cx="4246520" cy="2673225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C1A7FAF8-970C-4553-8AF8-AF1406DDF415}"/>
                </a:ext>
              </a:extLst>
            </p:cNvPr>
            <p:cNvSpPr/>
            <p:nvPr/>
          </p:nvSpPr>
          <p:spPr>
            <a:xfrm>
              <a:off x="3076636" y="9553698"/>
              <a:ext cx="399714" cy="39971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63FFEF87-36EC-4E57-B5FB-18CC24A214EB}"/>
                </a:ext>
              </a:extLst>
            </p:cNvPr>
            <p:cNvCxnSpPr>
              <a:cxnSpLocks/>
              <a:endCxn id="106" idx="1"/>
            </p:cNvCxnSpPr>
            <p:nvPr/>
          </p:nvCxnSpPr>
          <p:spPr>
            <a:xfrm>
              <a:off x="2391430" y="9003945"/>
              <a:ext cx="743743" cy="608290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2E1FEE7-FF0C-47C9-BB5C-E6975D1D70FA}"/>
                </a:ext>
              </a:extLst>
            </p:cNvPr>
            <p:cNvCxnSpPr>
              <a:cxnSpLocks/>
              <a:endCxn id="106" idx="2"/>
            </p:cNvCxnSpPr>
            <p:nvPr/>
          </p:nvCxnSpPr>
          <p:spPr>
            <a:xfrm>
              <a:off x="2078196" y="9750672"/>
              <a:ext cx="998440" cy="2883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499F3953-8F7A-4218-9843-CAA2BC1D6A3D}"/>
                </a:ext>
              </a:extLst>
            </p:cNvPr>
            <p:cNvCxnSpPr>
              <a:cxnSpLocks/>
              <a:endCxn id="106" idx="3"/>
            </p:cNvCxnSpPr>
            <p:nvPr/>
          </p:nvCxnSpPr>
          <p:spPr>
            <a:xfrm flipV="1">
              <a:off x="2441861" y="9894876"/>
              <a:ext cx="693312" cy="532576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EF11F8DF-5A1E-453A-8452-187EE39979B9}"/>
                </a:ext>
              </a:extLst>
            </p:cNvPr>
            <p:cNvGrpSpPr/>
            <p:nvPr/>
          </p:nvGrpSpPr>
          <p:grpSpPr>
            <a:xfrm>
              <a:off x="1392989" y="8731483"/>
              <a:ext cx="998441" cy="279834"/>
              <a:chOff x="159466" y="6391683"/>
              <a:chExt cx="1626228" cy="455784"/>
            </a:xfrm>
          </p:grpSpPr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9C5D41F1-E6C9-4EA6-93F1-8379679BF4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51E92B09-8334-458B-A659-2AA868E1A6BC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3B2E2E70-FCD8-46B2-B106-06CE8328D4D2}"/>
                  </a:ext>
                </a:extLst>
              </p:cNvPr>
              <p:cNvCxnSpPr/>
              <p:nvPr/>
            </p:nvCxnSpPr>
            <p:spPr>
              <a:xfrm>
                <a:off x="69794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4B01F36D-8C0C-44DF-BE5A-94EB733A326C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25323BE6-ABEC-4164-8EFA-5E8F72EF7A17}"/>
                  </a:ext>
                </a:extLst>
              </p:cNvPr>
              <p:cNvCxnSpPr/>
              <p:nvPr/>
            </p:nvCxnSpPr>
            <p:spPr>
              <a:xfrm>
                <a:off x="121102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4CDA889-874E-4D49-8B2F-66C3A5592FA7}"/>
                </a:ext>
              </a:extLst>
            </p:cNvPr>
            <p:cNvGrpSpPr/>
            <p:nvPr/>
          </p:nvGrpSpPr>
          <p:grpSpPr>
            <a:xfrm>
              <a:off x="1097188" y="9474297"/>
              <a:ext cx="998441" cy="279834"/>
              <a:chOff x="159466" y="6391683"/>
              <a:chExt cx="1626228" cy="455784"/>
            </a:xfrm>
          </p:grpSpPr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093E7432-AC6F-48AA-9875-B53262F94B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26992A21-26E4-47F9-B260-C65CAC130C32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FAD19CC-2CF0-4B88-B172-344126DB14AF}"/>
                  </a:ext>
                </a:extLst>
              </p:cNvPr>
              <p:cNvCxnSpPr/>
              <p:nvPr/>
            </p:nvCxnSpPr>
            <p:spPr>
              <a:xfrm>
                <a:off x="69794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AE1DE8F4-0F96-48EF-9837-C139C1E3D8D2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43AB0A28-0D5B-4C7F-8304-6E1F088F5E5C}"/>
                  </a:ext>
                </a:extLst>
              </p:cNvPr>
              <p:cNvCxnSpPr/>
              <p:nvPr/>
            </p:nvCxnSpPr>
            <p:spPr>
              <a:xfrm>
                <a:off x="942116" y="6397138"/>
                <a:ext cx="0" cy="4503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81D2AF63-1DA8-4AC1-ACC9-D52FFF17D2CC}"/>
                </a:ext>
              </a:extLst>
            </p:cNvPr>
            <p:cNvGrpSpPr/>
            <p:nvPr/>
          </p:nvGrpSpPr>
          <p:grpSpPr>
            <a:xfrm>
              <a:off x="1442580" y="10150732"/>
              <a:ext cx="998441" cy="279834"/>
              <a:chOff x="159466" y="6391683"/>
              <a:chExt cx="1626228" cy="455784"/>
            </a:xfrm>
          </p:grpSpPr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86A5875E-1FE9-44A8-84BE-59EAFDA19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1EDA185E-38D9-4E44-9848-D1D4209DE197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EC43E988-64CD-455D-9D4C-5DF3D7A2E5EA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24C1167C-B74E-4F1F-BC91-5A5488350CA8}"/>
                  </a:ext>
                </a:extLst>
              </p:cNvPr>
              <p:cNvCxnSpPr/>
              <p:nvPr/>
            </p:nvCxnSpPr>
            <p:spPr>
              <a:xfrm>
                <a:off x="543923" y="6397138"/>
                <a:ext cx="0" cy="45032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EA7E41B9-B9B8-4F53-840F-81D4DC807751}"/>
                </a:ext>
              </a:extLst>
            </p:cNvPr>
            <p:cNvCxnSpPr>
              <a:cxnSpLocks/>
              <a:stCxn id="106" idx="6"/>
            </p:cNvCxnSpPr>
            <p:nvPr/>
          </p:nvCxnSpPr>
          <p:spPr>
            <a:xfrm flipV="1">
              <a:off x="3476350" y="9750672"/>
              <a:ext cx="854350" cy="2883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01A7C1E-2CEF-45B4-8C85-43F16FFC177E}"/>
                </a:ext>
              </a:extLst>
            </p:cNvPr>
            <p:cNvGrpSpPr/>
            <p:nvPr/>
          </p:nvGrpSpPr>
          <p:grpSpPr>
            <a:xfrm>
              <a:off x="4345267" y="9474297"/>
              <a:ext cx="998441" cy="279834"/>
              <a:chOff x="159466" y="6391683"/>
              <a:chExt cx="1626228" cy="455784"/>
            </a:xfrm>
          </p:grpSpPr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33746478-CF39-4526-A788-7CF8A63EE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466" y="6842014"/>
                <a:ext cx="1626228" cy="1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938190DB-5C5A-4E4C-BA35-4AD2AF3FDDD8}"/>
                  </a:ext>
                </a:extLst>
              </p:cNvPr>
              <p:cNvCxnSpPr/>
              <p:nvPr/>
            </p:nvCxnSpPr>
            <p:spPr>
              <a:xfrm>
                <a:off x="438866" y="6391683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7F7F23C-6BEC-416D-B354-44DEAE83723D}"/>
                  </a:ext>
                </a:extLst>
              </p:cNvPr>
              <p:cNvCxnSpPr/>
              <p:nvPr/>
            </p:nvCxnSpPr>
            <p:spPr>
              <a:xfrm>
                <a:off x="1155146" y="6397137"/>
                <a:ext cx="0" cy="4503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4109C315-2AEF-432D-BD2A-BA4D1CAECD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146" y="6391683"/>
                <a:ext cx="0" cy="45578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8B1257B2-1D25-473B-A2E2-DC49C135B9ED}"/>
                </a:ext>
              </a:extLst>
            </p:cNvPr>
            <p:cNvSpPr txBox="1"/>
            <p:nvPr/>
          </p:nvSpPr>
          <p:spPr>
            <a:xfrm>
              <a:off x="2149677" y="8954081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0B780DC5-46C3-4B27-A458-462967E66F98}"/>
                </a:ext>
              </a:extLst>
            </p:cNvPr>
            <p:cNvSpPr txBox="1"/>
            <p:nvPr/>
          </p:nvSpPr>
          <p:spPr>
            <a:xfrm>
              <a:off x="1866284" y="9699608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E8370C20-73CB-4BE2-8583-52FF88DECA7B}"/>
                </a:ext>
              </a:extLst>
            </p:cNvPr>
            <p:cNvSpPr txBox="1"/>
            <p:nvPr/>
          </p:nvSpPr>
          <p:spPr>
            <a:xfrm>
              <a:off x="2210571" y="10374636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26797CA-F867-40E7-809D-33839555E11F}"/>
                </a:ext>
              </a:extLst>
            </p:cNvPr>
            <p:cNvSpPr txBox="1"/>
            <p:nvPr/>
          </p:nvSpPr>
          <p:spPr>
            <a:xfrm>
              <a:off x="5086263" y="9688483"/>
              <a:ext cx="208193" cy="283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1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E02089D-4C24-4274-9A84-CB12411943AA}"/>
                </a:ext>
              </a:extLst>
            </p:cNvPr>
            <p:cNvSpPr txBox="1"/>
            <p:nvPr/>
          </p:nvSpPr>
          <p:spPr>
            <a:xfrm>
              <a:off x="1386889" y="8224927"/>
              <a:ext cx="907402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Inputs</a:t>
              </a:r>
              <a:endParaRPr lang="en-IN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68F22846-EADE-463F-BAD8-9A452A883B5E}"/>
                </a:ext>
              </a:extLst>
            </p:cNvPr>
            <p:cNvSpPr txBox="1"/>
            <p:nvPr/>
          </p:nvSpPr>
          <p:spPr>
            <a:xfrm>
              <a:off x="2574922" y="8401745"/>
              <a:ext cx="1275636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Dendrites</a:t>
              </a:r>
              <a:endParaRPr lang="en-IN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E906BE9-8696-453B-B2EA-A89AD3D2504F}"/>
                </a:ext>
              </a:extLst>
            </p:cNvPr>
            <p:cNvSpPr txBox="1"/>
            <p:nvPr/>
          </p:nvSpPr>
          <p:spPr>
            <a:xfrm>
              <a:off x="2738649" y="10199870"/>
              <a:ext cx="1105159" cy="6982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Neuron </a:t>
              </a:r>
            </a:p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Body</a:t>
              </a:r>
              <a:endParaRPr lang="en-IN" sz="13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22088A7-EE39-47EB-B4E4-16C82B48BB60}"/>
                </a:ext>
              </a:extLst>
            </p:cNvPr>
            <p:cNvSpPr txBox="1"/>
            <p:nvPr/>
          </p:nvSpPr>
          <p:spPr>
            <a:xfrm>
              <a:off x="3440663" y="9036147"/>
              <a:ext cx="800569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Axon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7C455CA-4660-4D8B-BF22-03E8EA97B55D}"/>
                </a:ext>
              </a:extLst>
            </p:cNvPr>
            <p:cNvSpPr txBox="1"/>
            <p:nvPr/>
          </p:nvSpPr>
          <p:spPr>
            <a:xfrm>
              <a:off x="4318850" y="10240101"/>
              <a:ext cx="973321" cy="4146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cxnSp>
          <p:nvCxnSpPr>
            <p:cNvPr id="124" name="Connector: Elbow 123">
              <a:extLst>
                <a:ext uri="{FF2B5EF4-FFF2-40B4-BE49-F238E27FC236}">
                  <a16:creationId xmlns:a16="http://schemas.microsoft.com/office/drawing/2014/main" id="{F8A23BD9-13EE-4F02-B706-6980B069E22E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 rot="5400000">
              <a:off x="2752326" y="8833693"/>
              <a:ext cx="477757" cy="44307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Connector: Elbow 124">
              <a:extLst>
                <a:ext uri="{FF2B5EF4-FFF2-40B4-BE49-F238E27FC236}">
                  <a16:creationId xmlns:a16="http://schemas.microsoft.com/office/drawing/2014/main" id="{F725F4F5-4DE6-4FC2-B8CE-477BCB2E46C1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 rot="5400000">
              <a:off x="2409885" y="8947815"/>
              <a:ext cx="934322" cy="67139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7BC4041E-C493-4A12-BFAE-3E04B326BB38}"/>
                </a:ext>
              </a:extLst>
            </p:cNvPr>
            <p:cNvCxnSpPr>
              <a:cxnSpLocks/>
              <a:stCxn id="120" idx="2"/>
            </p:cNvCxnSpPr>
            <p:nvPr/>
          </p:nvCxnSpPr>
          <p:spPr>
            <a:xfrm rot="5400000">
              <a:off x="2320711" y="9269137"/>
              <a:ext cx="1344816" cy="43924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CCB09FDB-79D7-4E8D-A4A8-8501F223999F}"/>
                </a:ext>
              </a:extLst>
            </p:cNvPr>
            <p:cNvCxnSpPr>
              <a:stCxn id="122" idx="2"/>
            </p:cNvCxnSpPr>
            <p:nvPr/>
          </p:nvCxnSpPr>
          <p:spPr>
            <a:xfrm>
              <a:off x="3840947" y="9450752"/>
              <a:ext cx="0" cy="299919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0E7FE-D90C-4623-81D7-6575CBAC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5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6475F-DCCC-45CE-9BEF-08E2A9E53AF3}"/>
              </a:ext>
            </a:extLst>
          </p:cNvPr>
          <p:cNvSpPr txBox="1"/>
          <p:nvPr/>
        </p:nvSpPr>
        <p:spPr>
          <a:xfrm>
            <a:off x="2802727" y="4614824"/>
            <a:ext cx="39145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(a)</a:t>
            </a:r>
            <a:endParaRPr lang="en-IN" sz="15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2022695-5799-4C84-B3C4-820480E7E488}"/>
              </a:ext>
            </a:extLst>
          </p:cNvPr>
          <p:cNvSpPr txBox="1"/>
          <p:nvPr/>
        </p:nvSpPr>
        <p:spPr>
          <a:xfrm>
            <a:off x="8787651" y="4635029"/>
            <a:ext cx="4010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/>
              <a:t>(b)</a:t>
            </a:r>
            <a:endParaRPr lang="en-IN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FE93D-018D-402B-AB31-A17224F1B363}"/>
              </a:ext>
            </a:extLst>
          </p:cNvPr>
          <p:cNvSpPr txBox="1"/>
          <p:nvPr/>
        </p:nvSpPr>
        <p:spPr>
          <a:xfrm>
            <a:off x="2878961" y="6161506"/>
            <a:ext cx="62054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Fig. 2: (a) LIF potential dynamics (b) A typical SNN neuron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A93E8D56-CF76-40AB-BCB6-236A798751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5199" y="5090286"/>
                <a:ext cx="7732890" cy="90431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900" dirty="0">
                    <a:latin typeface="Arial" panose="020B0604020202020204" pitchFamily="34" charset="0"/>
                    <a:cs typeface="Arial" panose="020B0604020202020204" pitchFamily="34" charset="0"/>
                  </a:rPr>
                  <a:t>LIF equation: 		</a:t>
                </a:r>
                <a14:m>
                  <m:oMath xmlns:m="http://schemas.openxmlformats.org/officeDocument/2006/math">
                    <m:r>
                      <a:rPr lang="en-US" sz="1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1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den>
                    </m:f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=−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US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19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6" name="Content Placeholder 2">
                <a:extLst>
                  <a:ext uri="{FF2B5EF4-FFF2-40B4-BE49-F238E27FC236}">
                    <a16:creationId xmlns:a16="http://schemas.microsoft.com/office/drawing/2014/main" id="{A93E8D56-CF76-40AB-BCB6-236A798751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5199" y="5090286"/>
                <a:ext cx="7732890" cy="904316"/>
              </a:xfrm>
              <a:blipFill>
                <a:blip r:embed="rId3"/>
                <a:stretch>
                  <a:fillRect l="-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78AA5B-DA53-480E-B188-67176CD444CC}"/>
                  </a:ext>
                </a:extLst>
              </p:cNvPr>
              <p:cNvSpPr txBox="1"/>
              <p:nvPr/>
            </p:nvSpPr>
            <p:spPr>
              <a:xfrm>
                <a:off x="9484432" y="357845"/>
                <a:ext cx="248376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IN" sz="1400" dirty="0"/>
                  <a:t>: Time constant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𝑈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sz="1400" dirty="0"/>
                  <a:t>: Membrane potential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IN" sz="1400" dirty="0"/>
                  <a:t>: Membrane resistance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𝑖𝑛</m:t>
                    </m:r>
                  </m:oMath>
                </a14:m>
                <a:r>
                  <a:rPr lang="en-IN" sz="1400" dirty="0"/>
                  <a:t>: Input current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78AA5B-DA53-480E-B188-67176CD44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432" y="357845"/>
                <a:ext cx="2483769" cy="954107"/>
              </a:xfrm>
              <a:prstGeom prst="rect">
                <a:avLst/>
              </a:prstGeom>
              <a:blipFill>
                <a:blip r:embed="rId4"/>
                <a:stretch>
                  <a:fillRect t="-1282" b="-57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F42023-A9EE-4D47-8054-5FDD39B36CB0}"/>
                  </a:ext>
                </a:extLst>
              </p:cNvPr>
              <p:cNvSpPr txBox="1"/>
              <p:nvPr/>
            </p:nvSpPr>
            <p:spPr>
              <a:xfrm>
                <a:off x="9484432" y="1399200"/>
                <a:ext cx="2483769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1400" dirty="0"/>
                  <a:t>: Output spike</a:t>
                </a: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𝑡h𝑟𝑒</m:t>
                    </m:r>
                    <m:r>
                      <m:rPr>
                        <m:sty m:val="p"/>
                      </m:rPr>
                      <a:rPr lang="en-US" sz="1400" b="0" i="0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s</m:t>
                    </m:r>
                  </m:oMath>
                </a14:m>
                <a:r>
                  <a:rPr lang="en-IN" sz="1400" dirty="0"/>
                  <a:t>: Threshold potential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𝑉</m:t>
                    </m:r>
                    <m:r>
                      <a:rPr lang="en-US" sz="1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𝑟𝑒𝑠𝑒𝑡</m:t>
                    </m:r>
                  </m:oMath>
                </a14:m>
                <a:r>
                  <a:rPr lang="en-IN" sz="1400" dirty="0"/>
                  <a:t>: Reset potential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4F42023-A9EE-4D47-8054-5FDD39B36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4432" y="1399200"/>
                <a:ext cx="2483769" cy="738664"/>
              </a:xfrm>
              <a:prstGeom prst="rect">
                <a:avLst/>
              </a:prstGeom>
              <a:blipFill>
                <a:blip r:embed="rId5"/>
                <a:stretch>
                  <a:fillRect t="-1653" b="-7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69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5480-AACF-4D05-9CBC-D8000E087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Rate Coding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679CE-F6B5-4E1E-913E-DE2B40EC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6</a:t>
            </a:fld>
            <a:endParaRPr lang="en-I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5130DB3-C911-493B-B8D7-43203EDFEBA4}"/>
              </a:ext>
            </a:extLst>
          </p:cNvPr>
          <p:cNvGrpSpPr/>
          <p:nvPr/>
        </p:nvGrpSpPr>
        <p:grpSpPr>
          <a:xfrm>
            <a:off x="1321118" y="1027906"/>
            <a:ext cx="9590403" cy="5270251"/>
            <a:chOff x="314556" y="199623"/>
            <a:chExt cx="11665483" cy="64105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0FE4965-FB8E-4907-8443-6292A856AA08}"/>
                </a:ext>
              </a:extLst>
            </p:cNvPr>
            <p:cNvGrpSpPr/>
            <p:nvPr/>
          </p:nvGrpSpPr>
          <p:grpSpPr>
            <a:xfrm>
              <a:off x="528037" y="1829103"/>
              <a:ext cx="3651617" cy="3079296"/>
              <a:chOff x="528037" y="1829103"/>
              <a:chExt cx="3651617" cy="307929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CE2E2F61-BD21-427F-B024-34A88AC5FF97}"/>
                  </a:ext>
                </a:extLst>
              </p:cNvPr>
              <p:cNvGrpSpPr/>
              <p:nvPr/>
            </p:nvGrpSpPr>
            <p:grpSpPr>
              <a:xfrm>
                <a:off x="528037" y="1834103"/>
                <a:ext cx="3651617" cy="3074296"/>
                <a:chOff x="528037" y="1834103"/>
                <a:chExt cx="3651617" cy="3074296"/>
              </a:xfrm>
            </p:grpSpPr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70C17DFC-D5D5-44CA-A5F6-D7D51C3EA3E5}"/>
                    </a:ext>
                  </a:extLst>
                </p:cNvPr>
                <p:cNvGrpSpPr/>
                <p:nvPr/>
              </p:nvGrpSpPr>
              <p:grpSpPr>
                <a:xfrm>
                  <a:off x="1220856" y="1949601"/>
                  <a:ext cx="2958798" cy="2958798"/>
                  <a:chOff x="1163809" y="470316"/>
                  <a:chExt cx="2359025" cy="2359025"/>
                </a:xfrm>
              </p:grpSpPr>
              <p:pic>
                <p:nvPicPr>
                  <p:cNvPr id="55" name="Picture 2">
                    <a:extLst>
                      <a:ext uri="{FF2B5EF4-FFF2-40B4-BE49-F238E27FC236}">
                        <a16:creationId xmlns:a16="http://schemas.microsoft.com/office/drawing/2014/main" id="{7B12C61B-EB04-445E-BF26-E841D057D22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63809" y="470316"/>
                    <a:ext cx="2359025" cy="235902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6EA0AB97-2CFF-41AD-9A5A-0E012AD94DF8}"/>
                      </a:ext>
                    </a:extLst>
                  </p:cNvPr>
                  <p:cNvSpPr/>
                  <p:nvPr/>
                </p:nvSpPr>
                <p:spPr>
                  <a:xfrm>
                    <a:off x="2984142" y="774789"/>
                    <a:ext cx="114300" cy="114300"/>
                  </a:xfrm>
                  <a:prstGeom prst="rect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3D290170-B02E-484E-A4BF-10F12B8DC005}"/>
                      </a:ext>
                    </a:extLst>
                  </p:cNvPr>
                  <p:cNvSpPr/>
                  <p:nvPr/>
                </p:nvSpPr>
                <p:spPr>
                  <a:xfrm>
                    <a:off x="2562583" y="1233903"/>
                    <a:ext cx="114300" cy="114300"/>
                  </a:xfrm>
                  <a:prstGeom prst="rect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C459E45F-ABA2-4BC8-8F92-2433968FB04A}"/>
                      </a:ext>
                    </a:extLst>
                  </p:cNvPr>
                  <p:cNvSpPr/>
                  <p:nvPr/>
                </p:nvSpPr>
                <p:spPr>
                  <a:xfrm>
                    <a:off x="2476858" y="1621253"/>
                    <a:ext cx="114300" cy="114300"/>
                  </a:xfrm>
                  <a:prstGeom prst="rect">
                    <a:avLst/>
                  </a:prstGeom>
                  <a:noFill/>
                  <a:ln w="28575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E9AD48C9-BCA4-4E95-BE76-96C6708D26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8037" y="1834104"/>
                  <a:ext cx="844201" cy="24233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8ADCA967-E729-4AF3-95B9-81548369BD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340" y="1834103"/>
                  <a:ext cx="912476" cy="242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B0D919A1-20AB-4A12-A195-A8B2058DA0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8037" y="4475412"/>
                  <a:ext cx="830684" cy="312488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EC53E3DA-EB46-4C11-93CD-D0DFF4FFD97B}"/>
                  </a:ext>
                </a:extLst>
              </p:cNvPr>
              <p:cNvCxnSpPr/>
              <p:nvPr/>
            </p:nvCxnSpPr>
            <p:spPr>
              <a:xfrm>
                <a:off x="528037" y="1834103"/>
                <a:ext cx="0" cy="26413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BC611A8-A61B-49A7-92B2-9D75BC7936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037" y="1829103"/>
                <a:ext cx="2643316" cy="499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E6CC0A-ACBB-412D-8F30-E8FC0EDE6A33}"/>
                </a:ext>
              </a:extLst>
            </p:cNvPr>
            <p:cNvSpPr/>
            <p:nvPr/>
          </p:nvSpPr>
          <p:spPr>
            <a:xfrm>
              <a:off x="5967756" y="1157585"/>
              <a:ext cx="510696" cy="510696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31460C3-D3CF-47F1-B0F1-825A20FD4C6F}"/>
                </a:ext>
              </a:extLst>
            </p:cNvPr>
            <p:cNvCxnSpPr>
              <a:cxnSpLocks/>
              <a:stCxn id="56" idx="0"/>
            </p:cNvCxnSpPr>
            <p:nvPr/>
          </p:nvCxnSpPr>
          <p:spPr>
            <a:xfrm flipV="1">
              <a:off x="3575682" y="1157585"/>
              <a:ext cx="2392074" cy="1173900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22962E-7724-4A66-8462-6154A40A9FE4}"/>
                </a:ext>
              </a:extLst>
            </p:cNvPr>
            <p:cNvCxnSpPr>
              <a:cxnSpLocks/>
              <a:stCxn id="56" idx="2"/>
            </p:cNvCxnSpPr>
            <p:nvPr/>
          </p:nvCxnSpPr>
          <p:spPr>
            <a:xfrm flipV="1">
              <a:off x="3575682" y="1679050"/>
              <a:ext cx="2392074" cy="795795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49F3-89FD-4D43-BB17-B3A49EA6C9E7}"/>
                </a:ext>
              </a:extLst>
            </p:cNvPr>
            <p:cNvSpPr/>
            <p:nvPr/>
          </p:nvSpPr>
          <p:spPr>
            <a:xfrm>
              <a:off x="5967756" y="2758257"/>
              <a:ext cx="510696" cy="510696"/>
            </a:xfrm>
            <a:prstGeom prst="rect">
              <a:avLst/>
            </a:prstGeom>
            <a:solidFill>
              <a:srgbClr val="9A9A9A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E20564F-0924-413C-B9EE-835D0A6A3629}"/>
                </a:ext>
              </a:extLst>
            </p:cNvPr>
            <p:cNvCxnSpPr>
              <a:cxnSpLocks/>
              <a:stCxn id="57" idx="0"/>
              <a:endCxn id="12" idx="0"/>
            </p:cNvCxnSpPr>
            <p:nvPr/>
          </p:nvCxnSpPr>
          <p:spPr>
            <a:xfrm flipV="1">
              <a:off x="3046943" y="2758257"/>
              <a:ext cx="3176161" cy="149070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45959A1-5DDB-4619-9EE9-40A0E7A36459}"/>
                </a:ext>
              </a:extLst>
            </p:cNvPr>
            <p:cNvCxnSpPr>
              <a:cxnSpLocks/>
              <a:stCxn id="57" idx="2"/>
              <a:endCxn id="12" idx="2"/>
            </p:cNvCxnSpPr>
            <p:nvPr/>
          </p:nvCxnSpPr>
          <p:spPr>
            <a:xfrm>
              <a:off x="3046943" y="3050687"/>
              <a:ext cx="3176161" cy="218266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6E15C66-F36B-4678-B952-4A55E1EAD696}"/>
                </a:ext>
              </a:extLst>
            </p:cNvPr>
            <p:cNvSpPr/>
            <p:nvPr/>
          </p:nvSpPr>
          <p:spPr>
            <a:xfrm>
              <a:off x="5999506" y="4532552"/>
              <a:ext cx="510696" cy="510696"/>
            </a:xfrm>
            <a:prstGeom prst="rect">
              <a:avLst/>
            </a:prstGeom>
            <a:solidFill>
              <a:srgbClr val="FDFDFD"/>
            </a:solidFill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F61CA35-D53D-49B4-ACB5-AECF404876CE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>
              <a:off x="2939423" y="3393159"/>
              <a:ext cx="3060083" cy="1139393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73F6B8-AE6B-48D3-B7C7-7D8573E61485}"/>
                </a:ext>
              </a:extLst>
            </p:cNvPr>
            <p:cNvCxnSpPr>
              <a:cxnSpLocks/>
              <a:stCxn id="58" idx="2"/>
            </p:cNvCxnSpPr>
            <p:nvPr/>
          </p:nvCxnSpPr>
          <p:spPr>
            <a:xfrm>
              <a:off x="2939423" y="3536519"/>
              <a:ext cx="3060083" cy="1506729"/>
            </a:xfrm>
            <a:prstGeom prst="line">
              <a:avLst/>
            </a:prstGeom>
            <a:ln w="28575">
              <a:solidFill>
                <a:schemeClr val="accent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4CAD67-787E-480A-A77C-47B8A8337FD5}"/>
                </a:ext>
              </a:extLst>
            </p:cNvPr>
            <p:cNvSpPr txBox="1"/>
            <p:nvPr/>
          </p:nvSpPr>
          <p:spPr>
            <a:xfrm>
              <a:off x="5603471" y="633746"/>
              <a:ext cx="1302767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= 0 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2835E5-36A9-4630-A33A-329213951B5B}"/>
                </a:ext>
              </a:extLst>
            </p:cNvPr>
            <p:cNvSpPr txBox="1"/>
            <p:nvPr/>
          </p:nvSpPr>
          <p:spPr>
            <a:xfrm>
              <a:off x="5494787" y="2237371"/>
              <a:ext cx="1520136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= 0.5 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3381A3F-483C-41D3-B615-81C746305956}"/>
                </a:ext>
              </a:extLst>
            </p:cNvPr>
            <p:cNvSpPr txBox="1"/>
            <p:nvPr/>
          </p:nvSpPr>
          <p:spPr>
            <a:xfrm>
              <a:off x="5603471" y="3989330"/>
              <a:ext cx="1302767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= 1 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6AEC0A7-994A-41F1-A1A1-9782C44E1ED8}"/>
                </a:ext>
              </a:extLst>
            </p:cNvPr>
            <p:cNvCxnSpPr>
              <a:cxnSpLocks/>
            </p:cNvCxnSpPr>
            <p:nvPr/>
          </p:nvCxnSpPr>
          <p:spPr>
            <a:xfrm>
              <a:off x="7212169" y="199623"/>
              <a:ext cx="0" cy="6355723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C85128F-4FCC-4D76-B0E1-CD6BB37616E3}"/>
                </a:ext>
              </a:extLst>
            </p:cNvPr>
            <p:cNvSpPr txBox="1"/>
            <p:nvPr/>
          </p:nvSpPr>
          <p:spPr>
            <a:xfrm>
              <a:off x="1436277" y="1117117"/>
              <a:ext cx="1813585" cy="521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Input Data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B00EFCAF-D43B-46A6-85F3-A325FA771464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6478452" y="1412933"/>
              <a:ext cx="2080926" cy="606366"/>
            </a:xfrm>
            <a:prstGeom prst="bent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8244B763-49C2-45B1-998C-ECCC86217976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6478452" y="3013605"/>
              <a:ext cx="1859098" cy="608441"/>
            </a:xfrm>
            <a:prstGeom prst="bent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CF3BD8FE-BF11-4ABD-9C0E-44C7C6F04FA1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6510202" y="4787900"/>
              <a:ext cx="1819852" cy="584200"/>
            </a:xfrm>
            <a:prstGeom prst="bentConnector3">
              <a:avLst/>
            </a:prstGeom>
            <a:ln w="381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0A74FD0-004E-4FC6-B2F7-63843C25245F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17" y="2019299"/>
              <a:ext cx="1857083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32DD55E-FDEC-40AA-A448-83C9108B7890}"/>
                </a:ext>
              </a:extLst>
            </p:cNvPr>
            <p:cNvSpPr txBox="1"/>
            <p:nvPr/>
          </p:nvSpPr>
          <p:spPr>
            <a:xfrm>
              <a:off x="10663904" y="2067769"/>
              <a:ext cx="248013" cy="388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08B5D55-82AB-46F9-A1D8-560B0D2E4FE5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17" y="3622046"/>
              <a:ext cx="1857083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308A36-5FB1-4E49-968A-E96F35D5C34E}"/>
                </a:ext>
              </a:extLst>
            </p:cNvPr>
            <p:cNvSpPr txBox="1"/>
            <p:nvPr/>
          </p:nvSpPr>
          <p:spPr>
            <a:xfrm>
              <a:off x="10663904" y="3670516"/>
              <a:ext cx="248013" cy="388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CF5CEED-E0EC-4342-9459-20F55452A87B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17" y="5372100"/>
              <a:ext cx="1857083" cy="0"/>
            </a:xfrm>
            <a:prstGeom prst="straightConnector1">
              <a:avLst/>
            </a:prstGeom>
            <a:ln w="38100">
              <a:solidFill>
                <a:schemeClr val="accent2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8986F9D-0B71-40C4-B915-FBC13B1BBB4E}"/>
                </a:ext>
              </a:extLst>
            </p:cNvPr>
            <p:cNvSpPr txBox="1"/>
            <p:nvPr/>
          </p:nvSpPr>
          <p:spPr>
            <a:xfrm>
              <a:off x="10663904" y="5420569"/>
              <a:ext cx="248013" cy="388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endParaRPr lang="en-IN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AFCDB9D-E915-48F0-93FF-23C33216DCCF}"/>
                </a:ext>
              </a:extLst>
            </p:cNvPr>
            <p:cNvCxnSpPr/>
            <p:nvPr/>
          </p:nvCxnSpPr>
          <p:spPr>
            <a:xfrm flipV="1">
              <a:off x="9315450" y="30506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38B5360-13DD-4FB1-ADBE-056DA7AE9AE1}"/>
                </a:ext>
              </a:extLst>
            </p:cNvPr>
            <p:cNvCxnSpPr/>
            <p:nvPr/>
          </p:nvCxnSpPr>
          <p:spPr>
            <a:xfrm flipV="1">
              <a:off x="10166350" y="30506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B862E97-A503-4676-915A-9C088B84C658}"/>
                </a:ext>
              </a:extLst>
            </p:cNvPr>
            <p:cNvCxnSpPr/>
            <p:nvPr/>
          </p:nvCxnSpPr>
          <p:spPr>
            <a:xfrm flipV="1">
              <a:off x="9315450" y="47905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1CE937C-2FC6-40F3-90EC-50DC670026E7}"/>
                </a:ext>
              </a:extLst>
            </p:cNvPr>
            <p:cNvCxnSpPr/>
            <p:nvPr/>
          </p:nvCxnSpPr>
          <p:spPr>
            <a:xfrm flipV="1">
              <a:off x="10166350" y="479058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F1128FE-27AB-4AA3-9E0D-11C6B501B24D}"/>
                </a:ext>
              </a:extLst>
            </p:cNvPr>
            <p:cNvCxnSpPr/>
            <p:nvPr/>
          </p:nvCxnSpPr>
          <p:spPr>
            <a:xfrm flipV="1">
              <a:off x="9715500" y="479693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5E9B8F0-F084-412B-91C6-8FDFF5FB5C6F}"/>
                </a:ext>
              </a:extLst>
            </p:cNvPr>
            <p:cNvCxnSpPr/>
            <p:nvPr/>
          </p:nvCxnSpPr>
          <p:spPr>
            <a:xfrm flipV="1">
              <a:off x="10560050" y="4796937"/>
              <a:ext cx="0" cy="5713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F90C570-53BA-4600-A74F-50AD268BD430}"/>
                </a:ext>
              </a:extLst>
            </p:cNvPr>
            <p:cNvSpPr txBox="1"/>
            <p:nvPr/>
          </p:nvSpPr>
          <p:spPr>
            <a:xfrm>
              <a:off x="9052209" y="1037178"/>
              <a:ext cx="1629846" cy="4187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B(n=1, p=0)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078253F-F9EA-4E36-A82A-7DE5F7CE8265}"/>
                </a:ext>
              </a:extLst>
            </p:cNvPr>
            <p:cNvSpPr txBox="1"/>
            <p:nvPr/>
          </p:nvSpPr>
          <p:spPr>
            <a:xfrm>
              <a:off x="8958302" y="2493590"/>
              <a:ext cx="1858854" cy="4187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B(n=1, p=0.5)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80EF4A9-5EE8-42DD-9AE1-C22BE915F928}"/>
                </a:ext>
              </a:extLst>
            </p:cNvPr>
            <p:cNvSpPr txBox="1"/>
            <p:nvPr/>
          </p:nvSpPr>
          <p:spPr>
            <a:xfrm>
              <a:off x="9052207" y="4170497"/>
              <a:ext cx="1629846" cy="4187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B(n=1, p=1)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CDF415-C730-40E7-A01B-11C779C8BE05}"/>
                </a:ext>
              </a:extLst>
            </p:cNvPr>
            <p:cNvSpPr txBox="1"/>
            <p:nvPr/>
          </p:nvSpPr>
          <p:spPr>
            <a:xfrm>
              <a:off x="8753515" y="339194"/>
              <a:ext cx="2145074" cy="5216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latin typeface="Arial" panose="020B0604020202020204" pitchFamily="34" charset="0"/>
                  <a:cs typeface="Arial" panose="020B0604020202020204" pitchFamily="34" charset="0"/>
                </a:rPr>
                <a:t>Rate Coding</a:t>
              </a:r>
              <a:endParaRPr lang="en-IN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22F5B68-906D-497D-8062-CDE1A058ADCF}"/>
                </a:ext>
              </a:extLst>
            </p:cNvPr>
            <p:cNvGrpSpPr/>
            <p:nvPr/>
          </p:nvGrpSpPr>
          <p:grpSpPr>
            <a:xfrm>
              <a:off x="583790" y="1883660"/>
              <a:ext cx="755750" cy="257028"/>
              <a:chOff x="583790" y="1883660"/>
              <a:chExt cx="755750" cy="257028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120D2B25-A306-42BA-A10A-9178ED1AD7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488" y="1974849"/>
                <a:ext cx="487052" cy="165839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3E69B2A8-8669-4AED-8132-E6AA357498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83790" y="1883660"/>
                <a:ext cx="442004" cy="149935"/>
              </a:xfrm>
              <a:prstGeom prst="straightConnector1">
                <a:avLst/>
              </a:prstGeom>
              <a:ln w="28575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B79F0BB-1BA7-4736-B93C-8538AE31BECD}"/>
                </a:ext>
              </a:extLst>
            </p:cNvPr>
            <p:cNvSpPr txBox="1"/>
            <p:nvPr/>
          </p:nvSpPr>
          <p:spPr>
            <a:xfrm rot="1043004">
              <a:off x="314556" y="1995288"/>
              <a:ext cx="1236583" cy="660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No. of steps</a:t>
              </a:r>
              <a:endParaRPr lang="en-IN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F97CE37-AE6F-43D7-A0C0-53983B31C56D}"/>
                </a:ext>
              </a:extLst>
            </p:cNvPr>
            <p:cNvSpPr txBox="1"/>
            <p:nvPr/>
          </p:nvSpPr>
          <p:spPr>
            <a:xfrm>
              <a:off x="942613" y="5963103"/>
              <a:ext cx="5266135" cy="4173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Input data is repeated for a number of steps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13EAE59-4E22-46A7-8A16-09D392A7E8F8}"/>
                </a:ext>
              </a:extLst>
            </p:cNvPr>
            <p:cNvSpPr txBox="1"/>
            <p:nvPr/>
          </p:nvSpPr>
          <p:spPr>
            <a:xfrm>
              <a:off x="7413621" y="5879838"/>
              <a:ext cx="4566418" cy="730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Binomial distribution of input features used to identify the spike</a:t>
              </a:r>
              <a:endParaRPr lang="en-IN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47ED7259-74F9-4BD7-8B01-7486BA619554}"/>
              </a:ext>
            </a:extLst>
          </p:cNvPr>
          <p:cNvSpPr txBox="1"/>
          <p:nvPr/>
        </p:nvSpPr>
        <p:spPr>
          <a:xfrm>
            <a:off x="4755468" y="6349102"/>
            <a:ext cx="28985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Fig. 3: Rate Coding for SNNs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47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8ACD-FA76-449F-8A68-34610713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Address Event Representation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82039-EEDD-4AC7-B946-8ACEEEDDD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2391" cy="154339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Neuromorphic protocol encoding timing and location of spike events [2]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Only conveys the timing and location of active spikes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BFC8D-B1E9-4798-A359-FC18D8354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7</a:t>
            </a:fld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767B6ED-7727-4E41-9512-3D7011497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6805"/>
              </p:ext>
            </p:extLst>
          </p:nvPr>
        </p:nvGraphicFramePr>
        <p:xfrm>
          <a:off x="3535715" y="4314995"/>
          <a:ext cx="1051668" cy="868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2097424072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4061870441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571110803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48765358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1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0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0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1</a:t>
                      </a:r>
                      <a:endParaRPr lang="en-IN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1456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69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9517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14B166A-C256-4009-B318-A2324AD12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594334"/>
              </p:ext>
            </p:extLst>
          </p:nvPr>
        </p:nvGraphicFramePr>
        <p:xfrm>
          <a:off x="3535715" y="4023801"/>
          <a:ext cx="1051668" cy="28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174443054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77074191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994386750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504189909"/>
                    </a:ext>
                  </a:extLst>
                </a:gridCol>
              </a:tblGrid>
              <a:tr h="28231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51845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BE65F7D-645A-4D3E-8BDC-A40F60828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159407"/>
              </p:ext>
            </p:extLst>
          </p:nvPr>
        </p:nvGraphicFramePr>
        <p:xfrm>
          <a:off x="3247531" y="4314994"/>
          <a:ext cx="288183" cy="868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8183">
                  <a:extLst>
                    <a:ext uri="{9D8B030D-6E8A-4147-A177-3AD203B41FA5}">
                      <a16:colId xmlns:a16="http://schemas.microsoft.com/office/drawing/2014/main" val="1066994054"/>
                    </a:ext>
                  </a:extLst>
                </a:gridCol>
              </a:tblGrid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302549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1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17065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2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8723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3BC6D4C-6CD7-46E0-8941-BAB5C0109816}"/>
              </a:ext>
            </a:extLst>
          </p:cNvPr>
          <p:cNvSpPr txBox="1"/>
          <p:nvPr/>
        </p:nvSpPr>
        <p:spPr>
          <a:xfrm>
            <a:off x="3559251" y="3632249"/>
            <a:ext cx="8178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E0B5F6-5629-4DD1-BC7D-7BE5096DB2D5}"/>
              </a:ext>
            </a:extLst>
          </p:cNvPr>
          <p:cNvSpPr txBox="1"/>
          <p:nvPr/>
        </p:nvSpPr>
        <p:spPr>
          <a:xfrm rot="16200000">
            <a:off x="2502083" y="4587751"/>
            <a:ext cx="10543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Time Step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CEACCD-A345-401F-9322-DC47911EF698}"/>
              </a:ext>
            </a:extLst>
          </p:cNvPr>
          <p:cNvSpPr txBox="1"/>
          <p:nvPr/>
        </p:nvSpPr>
        <p:spPr>
          <a:xfrm>
            <a:off x="3348807" y="5228677"/>
            <a:ext cx="1233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Spike Data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EEBE71A-D15D-4B7A-A9A0-7451E3B80AF4}"/>
              </a:ext>
            </a:extLst>
          </p:cNvPr>
          <p:cNvSpPr/>
          <p:nvPr/>
        </p:nvSpPr>
        <p:spPr>
          <a:xfrm rot="16200000">
            <a:off x="5714147" y="4081294"/>
            <a:ext cx="384380" cy="1336077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31E006CE-808A-49F5-86FB-2C3BA1A74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04310"/>
              </p:ext>
            </p:extLst>
          </p:nvPr>
        </p:nvGraphicFramePr>
        <p:xfrm>
          <a:off x="7558932" y="4314995"/>
          <a:ext cx="1051668" cy="868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2097424072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4061870441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571110803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48765358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0</a:t>
                      </a:r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/>
                        <a:t>3</a:t>
                      </a:r>
                      <a:endParaRPr lang="en-IN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14564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6974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195178"/>
                  </a:ext>
                </a:extLst>
              </a:tr>
            </a:tbl>
          </a:graphicData>
        </a:graphic>
      </p:graphicFrame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FDBFF214-E5AA-4E65-B190-899B21DC0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5121"/>
              </p:ext>
            </p:extLst>
          </p:nvPr>
        </p:nvGraphicFramePr>
        <p:xfrm>
          <a:off x="7558932" y="4023801"/>
          <a:ext cx="1051668" cy="289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2917">
                  <a:extLst>
                    <a:ext uri="{9D8B030D-6E8A-4147-A177-3AD203B41FA5}">
                      <a16:colId xmlns:a16="http://schemas.microsoft.com/office/drawing/2014/main" val="174443054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2770741916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994386750"/>
                    </a:ext>
                  </a:extLst>
                </a:gridCol>
                <a:gridCol w="262917">
                  <a:extLst>
                    <a:ext uri="{9D8B030D-6E8A-4147-A177-3AD203B41FA5}">
                      <a16:colId xmlns:a16="http://schemas.microsoft.com/office/drawing/2014/main" val="3504189909"/>
                    </a:ext>
                  </a:extLst>
                </a:gridCol>
              </a:tblGrid>
              <a:tr h="28231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0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1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2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3</a:t>
                      </a:r>
                      <a:endParaRPr lang="en-IN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51845"/>
                  </a:ext>
                </a:extLst>
              </a:tr>
            </a:tbl>
          </a:graphicData>
        </a:graphic>
      </p:graphicFrame>
      <p:graphicFrame>
        <p:nvGraphicFramePr>
          <p:cNvPr id="30" name="Table 7">
            <a:extLst>
              <a:ext uri="{FF2B5EF4-FFF2-40B4-BE49-F238E27FC236}">
                <a16:creationId xmlns:a16="http://schemas.microsoft.com/office/drawing/2014/main" id="{B699AE57-8608-4D1F-BC21-128CC98AB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515264"/>
              </p:ext>
            </p:extLst>
          </p:nvPr>
        </p:nvGraphicFramePr>
        <p:xfrm>
          <a:off x="7270748" y="4314994"/>
          <a:ext cx="288183" cy="868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8183">
                  <a:extLst>
                    <a:ext uri="{9D8B030D-6E8A-4147-A177-3AD203B41FA5}">
                      <a16:colId xmlns:a16="http://schemas.microsoft.com/office/drawing/2014/main" val="1066994054"/>
                    </a:ext>
                  </a:extLst>
                </a:gridCol>
              </a:tblGrid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0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302549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1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8217065"/>
                  </a:ext>
                </a:extLst>
              </a:tr>
              <a:tr h="284939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2</a:t>
                      </a:r>
                      <a:endParaRPr lang="en-IN" sz="13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872393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C2404D5B-1C46-438E-B035-07D1D5DA103B}"/>
              </a:ext>
            </a:extLst>
          </p:cNvPr>
          <p:cNvSpPr txBox="1"/>
          <p:nvPr/>
        </p:nvSpPr>
        <p:spPr>
          <a:xfrm>
            <a:off x="7585159" y="3645915"/>
            <a:ext cx="81785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Neuron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8360F4-5312-4B91-A905-79295FCB375F}"/>
              </a:ext>
            </a:extLst>
          </p:cNvPr>
          <p:cNvSpPr txBox="1"/>
          <p:nvPr/>
        </p:nvSpPr>
        <p:spPr>
          <a:xfrm rot="16200000">
            <a:off x="6525300" y="4587751"/>
            <a:ext cx="10543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Time Step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7FF89D-3708-4EFE-B7FC-AF5621BA1334}"/>
              </a:ext>
            </a:extLst>
          </p:cNvPr>
          <p:cNvSpPr txBox="1"/>
          <p:nvPr/>
        </p:nvSpPr>
        <p:spPr>
          <a:xfrm>
            <a:off x="7477121" y="5228677"/>
            <a:ext cx="11176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AER Data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174154-664C-453E-B245-C426EF25CFEE}"/>
              </a:ext>
            </a:extLst>
          </p:cNvPr>
          <p:cNvSpPr txBox="1"/>
          <p:nvPr/>
        </p:nvSpPr>
        <p:spPr>
          <a:xfrm>
            <a:off x="4346500" y="5853291"/>
            <a:ext cx="3068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Fig. 4: Spike to AER conversion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885352-8787-4E75-97C5-6AAF069D2BF6}"/>
              </a:ext>
            </a:extLst>
          </p:cNvPr>
          <p:cNvGrpSpPr/>
          <p:nvPr/>
        </p:nvGrpSpPr>
        <p:grpSpPr>
          <a:xfrm>
            <a:off x="3559252" y="3939792"/>
            <a:ext cx="4232407" cy="632972"/>
            <a:chOff x="3559252" y="3939792"/>
            <a:chExt cx="4232407" cy="6329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9ADCBB6-E3B5-4D40-8CE2-2E07A18E8B07}"/>
                </a:ext>
              </a:extLst>
            </p:cNvPr>
            <p:cNvSpPr/>
            <p:nvPr/>
          </p:nvSpPr>
          <p:spPr>
            <a:xfrm>
              <a:off x="3559252" y="4350416"/>
              <a:ext cx="206500" cy="206726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61ECD5-4678-4A8E-BB0A-EF2806D1E84D}"/>
                </a:ext>
              </a:extLst>
            </p:cNvPr>
            <p:cNvSpPr/>
            <p:nvPr/>
          </p:nvSpPr>
          <p:spPr>
            <a:xfrm>
              <a:off x="7585159" y="4366038"/>
              <a:ext cx="206500" cy="206726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5D5DA1D-333F-4DC1-A4F1-A58E21AB876A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 flipV="1">
              <a:off x="3765752" y="3939792"/>
              <a:ext cx="1989888" cy="513987"/>
            </a:xfrm>
            <a:prstGeom prst="line">
              <a:avLst/>
            </a:prstGeom>
            <a:ln w="95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527A5A0-BEED-4BE1-8D43-B2EBC4BDBB65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>
              <a:off x="5755640" y="3939792"/>
              <a:ext cx="1829519" cy="529609"/>
            </a:xfrm>
            <a:prstGeom prst="straightConnector1">
              <a:avLst/>
            </a:prstGeom>
            <a:ln w="952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EF994DB-4326-48EF-A0BA-718C91E57326}"/>
              </a:ext>
            </a:extLst>
          </p:cNvPr>
          <p:cNvSpPr txBox="1"/>
          <p:nvPr/>
        </p:nvSpPr>
        <p:spPr>
          <a:xfrm>
            <a:off x="4645523" y="3429000"/>
            <a:ext cx="2393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and timing of active spike is recorded</a:t>
            </a:r>
            <a:endParaRPr lang="en-IN" sz="1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51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DFD5-3471-47FE-A6E8-0D4A1194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A88A3-AB89-43D7-A203-079F3B524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 interesting and relevant patterns in dataset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FP-Growth: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Builds an FP-Tree to directly extract frequent patterns [3]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FP-Max: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an FP-Tree with pruning to find only maximal frequent patterns [4]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8284D-035A-4739-A548-1165C309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977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195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E83E-1D8E-45CB-ABAA-A7B6AA9C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8AF6-F3BE-46E0-B363-7952CA1D3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Rate coding: Simple &amp; noise-resilient, but higher spikes = higher energy &amp; latency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Limits scalability in resource-constrained systems</a:t>
            </a:r>
          </a:p>
          <a:p>
            <a:pPr>
              <a:lnSpc>
                <a:spcPct val="10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A21D-D39E-46AA-A5B4-247920B9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241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1EFDA-B8D4-4C6D-AF0F-5E4F8FD1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Observation during Rate Coding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09B6FD-0283-43E2-BBF8-3820B00BEF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4" r="6064" b="5781"/>
          <a:stretch/>
        </p:blipFill>
        <p:spPr>
          <a:xfrm>
            <a:off x="1238490" y="3486951"/>
            <a:ext cx="5368372" cy="2770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A78A61-60C5-4E7D-A201-C7C8D240A1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9" b="2055"/>
          <a:stretch/>
        </p:blipFill>
        <p:spPr>
          <a:xfrm>
            <a:off x="7109139" y="3403218"/>
            <a:ext cx="3426853" cy="29378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FA533-E182-4DF5-B20A-22B0E76B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11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59B1D-1780-46F1-B755-B42997D6EB80}"/>
              </a:ext>
            </a:extLst>
          </p:cNvPr>
          <p:cNvSpPr txBox="1"/>
          <p:nvPr/>
        </p:nvSpPr>
        <p:spPr>
          <a:xfrm>
            <a:off x="2633730" y="6404632"/>
            <a:ext cx="66899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Fig. 5: Temporal redundancy in spikes of a 784-20-10 SNN trained via BPTT on MNIST. 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61ED0-ADDE-439D-9EA3-FE91A1ECB234}"/>
              </a:ext>
            </a:extLst>
          </p:cNvPr>
          <p:cNvSpPr txBox="1"/>
          <p:nvPr/>
        </p:nvSpPr>
        <p:spPr>
          <a:xfrm>
            <a:off x="838200" y="1690688"/>
            <a:ext cx="10515599" cy="151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Neurons fire in groups at the same timestep (Fig. 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Highly similar spike patterns observed at timesteps 4, 9, 18 in hidden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>
                <a:latin typeface="Arial" panose="020B0604020202020204" pitchFamily="34" charset="0"/>
                <a:cs typeface="Arial" panose="020B0604020202020204" pitchFamily="34" charset="0"/>
              </a:rPr>
              <a:t>~30.50% spike similarity (Jaccard), so moderate–high temporal redundancy</a:t>
            </a:r>
            <a:endParaRPr lang="en-IN" sz="1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549410-74FE-4F21-8602-E8224BCE3602}"/>
              </a:ext>
            </a:extLst>
          </p:cNvPr>
          <p:cNvSpPr/>
          <p:nvPr/>
        </p:nvSpPr>
        <p:spPr>
          <a:xfrm>
            <a:off x="2326217" y="5350933"/>
            <a:ext cx="245291" cy="5312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61D03-8C14-4BE2-B8C4-8EE5AE5D6622}"/>
              </a:ext>
            </a:extLst>
          </p:cNvPr>
          <p:cNvSpPr/>
          <p:nvPr/>
        </p:nvSpPr>
        <p:spPr>
          <a:xfrm>
            <a:off x="3369448" y="5350933"/>
            <a:ext cx="260635" cy="53128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EAC77F-BE62-4A86-89D0-1F83BF0A8A59}"/>
              </a:ext>
            </a:extLst>
          </p:cNvPr>
          <p:cNvSpPr/>
          <p:nvPr/>
        </p:nvSpPr>
        <p:spPr>
          <a:xfrm>
            <a:off x="5261747" y="4887382"/>
            <a:ext cx="260635" cy="9948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27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E83E-1D8E-45CB-ABAA-A7B6AA9C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Contributions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8AF6-F3BE-46E0-B363-7952CA1D3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Frequent Spike Pattern Compression (FSPC):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framework for compressing co-firing neuron activity in SNNs [5]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Leverages pattern mining algorithms to identify neuron sets that frequently fire together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Merges these co-firing sets to reduce overall spike data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BA21D-D39E-46AA-A5B4-247920B9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1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Pattern Finding Phase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Compression Phase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2554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3105-5693-4A5C-B5DF-DF29D39F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Proposed Method Overview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6F3BD5-F22E-4AC0-BCB6-D1B3193F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14</a:t>
            </a:fld>
            <a:endParaRPr lang="en-IN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06B9258-1FCF-49E0-B37E-0D0E1FB24323}"/>
              </a:ext>
            </a:extLst>
          </p:cNvPr>
          <p:cNvGrpSpPr/>
          <p:nvPr/>
        </p:nvGrpSpPr>
        <p:grpSpPr>
          <a:xfrm>
            <a:off x="4310281" y="2008568"/>
            <a:ext cx="7043270" cy="3664777"/>
            <a:chOff x="4310530" y="2014297"/>
            <a:chExt cx="7043270" cy="366477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EC675ED-F53F-410E-BD60-B8EF6A10B920}"/>
                </a:ext>
              </a:extLst>
            </p:cNvPr>
            <p:cNvGrpSpPr/>
            <p:nvPr/>
          </p:nvGrpSpPr>
          <p:grpSpPr>
            <a:xfrm>
              <a:off x="4310530" y="2015544"/>
              <a:ext cx="7043270" cy="3663530"/>
              <a:chOff x="334143" y="336484"/>
              <a:chExt cx="11523713" cy="599401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4ABE60-3F45-4A44-8070-41C6AC473BF8}"/>
                  </a:ext>
                </a:extLst>
              </p:cNvPr>
              <p:cNvSpPr/>
              <p:nvPr/>
            </p:nvSpPr>
            <p:spPr>
              <a:xfrm>
                <a:off x="334143" y="874010"/>
                <a:ext cx="5604643" cy="54564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19680A7-2834-405C-949F-782F98C5EB76}"/>
                  </a:ext>
                </a:extLst>
              </p:cNvPr>
              <p:cNvSpPr/>
              <p:nvPr/>
            </p:nvSpPr>
            <p:spPr>
              <a:xfrm>
                <a:off x="6362299" y="874010"/>
                <a:ext cx="5495557" cy="545649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86FC29-91D2-4AD6-B243-907A5F8A94ED}"/>
                  </a:ext>
                </a:extLst>
              </p:cNvPr>
              <p:cNvSpPr txBox="1"/>
              <p:nvPr/>
            </p:nvSpPr>
            <p:spPr>
              <a:xfrm>
                <a:off x="1707314" y="336484"/>
                <a:ext cx="2858298" cy="417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Pattern Finding Phase</a:t>
                </a:r>
                <a:endParaRPr lang="en-IN" sz="15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49E63C1-C7B6-49DD-B8FA-1D5A3C67F904}"/>
                  </a:ext>
                </a:extLst>
              </p:cNvPr>
              <p:cNvSpPr/>
              <p:nvPr/>
            </p:nvSpPr>
            <p:spPr>
              <a:xfrm>
                <a:off x="781127" y="1352550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Extract spike tensor</a:t>
                </a:r>
                <a:r>
                  <a:rPr lang="en-IN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from layer </a:t>
                </a:r>
                <a:r>
                  <a:rPr lang="en-IN" sz="14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lang="en-IN" sz="1400" i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endParaRPr lang="en-US" sz="14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908CB1-B4F3-40DD-BA8C-BA640D784F49}"/>
                  </a:ext>
                </a:extLst>
              </p:cNvPr>
              <p:cNvSpPr txBox="1"/>
              <p:nvPr/>
            </p:nvSpPr>
            <p:spPr>
              <a:xfrm>
                <a:off x="7795861" y="336484"/>
                <a:ext cx="2628425" cy="417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Compression Phase</a:t>
                </a:r>
                <a:endParaRPr lang="en-IN" sz="15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BEFC9C-9DDC-4DCF-8236-2F92CC60D55A}"/>
                  </a:ext>
                </a:extLst>
              </p:cNvPr>
              <p:cNvSpPr/>
              <p:nvPr/>
            </p:nvSpPr>
            <p:spPr>
              <a:xfrm>
                <a:off x="781127" y="2530988"/>
                <a:ext cx="3562274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Encode spike tensor to AER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5668933-587F-42B7-BDC7-7C45091C33FC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flipH="1">
                <a:off x="3136462" y="2012950"/>
                <a:ext cx="2" cy="51504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994D9A-956E-4EF4-9C28-064013C4C048}"/>
                  </a:ext>
                </a:extLst>
              </p:cNvPr>
              <p:cNvSpPr/>
              <p:nvPr/>
            </p:nvSpPr>
            <p:spPr>
              <a:xfrm>
                <a:off x="781126" y="3837205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Pattern Mining Function extracts FSPs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5A9C52E1-B378-46ED-A9E6-F1A5BD1AA973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>
                <a:off x="2562264" y="3191388"/>
                <a:ext cx="0" cy="645817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2C1025E-C5B2-4EFD-B42A-903067670346}"/>
                  </a:ext>
                </a:extLst>
              </p:cNvPr>
              <p:cNvSpPr/>
              <p:nvPr/>
            </p:nvSpPr>
            <p:spPr>
              <a:xfrm>
                <a:off x="1912286" y="5081805"/>
                <a:ext cx="2457115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Find FSPs in AER data</a:t>
                </a: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984D0B0-FF24-405A-93A7-D84F2D6EF0B0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3136462" y="4497605"/>
                <a:ext cx="1" cy="58420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4770643-F4DA-48A8-A02B-573FB1842608}"/>
                  </a:ext>
                </a:extLst>
              </p:cNvPr>
              <p:cNvSpPr/>
              <p:nvPr/>
            </p:nvSpPr>
            <p:spPr>
              <a:xfrm>
                <a:off x="6754739" y="1352550"/>
                <a:ext cx="3590857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Compress FSPs with Symbols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178CB84-2C84-4E58-9CA6-27B2C391071E}"/>
                  </a:ext>
                </a:extLst>
              </p:cNvPr>
              <p:cNvSpPr/>
              <p:nvPr/>
            </p:nvSpPr>
            <p:spPr>
              <a:xfrm>
                <a:off x="4369406" y="5081805"/>
                <a:ext cx="112239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PMT</a:t>
                </a:r>
              </a:p>
            </p:txBody>
          </p: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9F4F994B-65BE-4679-ACFE-2DEC27A37FE6}"/>
                  </a:ext>
                </a:extLst>
              </p:cNvPr>
              <p:cNvCxnSpPr>
                <a:cxnSpLocks/>
                <a:stCxn id="17" idx="3"/>
                <a:endCxn id="16" idx="1"/>
              </p:cNvCxnSpPr>
              <p:nvPr/>
            </p:nvCxnSpPr>
            <p:spPr>
              <a:xfrm flipV="1">
                <a:off x="5491799" y="1682750"/>
                <a:ext cx="1262940" cy="3729255"/>
              </a:xfrm>
              <a:prstGeom prst="bentConnector3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Connector: Elbow 18">
                <a:extLst>
                  <a:ext uri="{FF2B5EF4-FFF2-40B4-BE49-F238E27FC236}">
                    <a16:creationId xmlns:a16="http://schemas.microsoft.com/office/drawing/2014/main" id="{28022ACC-6CFB-40B8-B421-1F04ABD7F901}"/>
                  </a:ext>
                </a:extLst>
              </p:cNvPr>
              <p:cNvCxnSpPr>
                <a:cxnSpLocks/>
                <a:stCxn id="14" idx="2"/>
                <a:endCxn id="16" idx="1"/>
              </p:cNvCxnSpPr>
              <p:nvPr/>
            </p:nvCxnSpPr>
            <p:spPr>
              <a:xfrm rot="5400000" flipH="1" flipV="1">
                <a:off x="2918063" y="1905530"/>
                <a:ext cx="4059455" cy="3613895"/>
              </a:xfrm>
              <a:prstGeom prst="bentConnector4">
                <a:avLst>
                  <a:gd name="adj1" fmla="val -5631"/>
                  <a:gd name="adj2" fmla="val 82500"/>
                </a:avLst>
              </a:prstGeom>
              <a:ln w="571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C01866B-3F44-479F-A42C-D8CEF68B7A2F}"/>
                  </a:ext>
                </a:extLst>
              </p:cNvPr>
              <p:cNvSpPr/>
              <p:nvPr/>
            </p:nvSpPr>
            <p:spPr>
              <a:xfrm>
                <a:off x="6754739" y="2530988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Decompress symbols with FSPs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014EF50-27D9-4E72-8513-7358AA3FA4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2019" y="2012950"/>
                <a:ext cx="0" cy="51504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8E1CBAA-E67F-4A38-9786-495EEBDCC225}"/>
                  </a:ext>
                </a:extLst>
              </p:cNvPr>
              <p:cNvSpPr/>
              <p:nvPr/>
            </p:nvSpPr>
            <p:spPr>
              <a:xfrm>
                <a:off x="4369406" y="2530988"/>
                <a:ext cx="112239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No. of FSPs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66D39DEF-1BE7-41DE-8143-FE61028B9587}"/>
                  </a:ext>
                </a:extLst>
              </p:cNvPr>
              <p:cNvCxnSpPr>
                <a:cxnSpLocks/>
                <a:stCxn id="22" idx="2"/>
              </p:cNvCxnSpPr>
              <p:nvPr/>
            </p:nvCxnSpPr>
            <p:spPr>
              <a:xfrm>
                <a:off x="4930603" y="3191388"/>
                <a:ext cx="0" cy="65310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6989593-24EC-4201-9545-BED550EDD5F0}"/>
                  </a:ext>
                </a:extLst>
              </p:cNvPr>
              <p:cNvSpPr/>
              <p:nvPr/>
            </p:nvSpPr>
            <p:spPr>
              <a:xfrm>
                <a:off x="789893" y="5081805"/>
                <a:ext cx="112239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Symbols</a:t>
                </a:r>
              </a:p>
            </p:txBody>
          </p:sp>
          <p:cxnSp>
            <p:nvCxnSpPr>
              <p:cNvPr id="25" name="Connector: Elbow 24">
                <a:extLst>
                  <a:ext uri="{FF2B5EF4-FFF2-40B4-BE49-F238E27FC236}">
                    <a16:creationId xmlns:a16="http://schemas.microsoft.com/office/drawing/2014/main" id="{88774049-A6CC-45DE-9982-BBFAA36189DD}"/>
                  </a:ext>
                </a:extLst>
              </p:cNvPr>
              <p:cNvCxnSpPr>
                <a:cxnSpLocks/>
                <a:stCxn id="24" idx="2"/>
                <a:endCxn id="16" idx="1"/>
              </p:cNvCxnSpPr>
              <p:nvPr/>
            </p:nvCxnSpPr>
            <p:spPr>
              <a:xfrm rot="5400000" flipH="1" flipV="1">
                <a:off x="2023186" y="1010653"/>
                <a:ext cx="4059455" cy="5403649"/>
              </a:xfrm>
              <a:prstGeom prst="bentConnector4">
                <a:avLst>
                  <a:gd name="adj1" fmla="val -5631"/>
                  <a:gd name="adj2" fmla="val 88322"/>
                </a:avLst>
              </a:prstGeom>
              <a:ln w="5715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3EA0D5-AE8F-41DA-BF3B-FE584F86446B}"/>
                  </a:ext>
                </a:extLst>
              </p:cNvPr>
              <p:cNvSpPr/>
              <p:nvPr/>
            </p:nvSpPr>
            <p:spPr>
              <a:xfrm>
                <a:off x="10348175" y="1352550"/>
                <a:ext cx="1117238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Symbols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4EE68E43-1BEC-4185-B115-5142B6632B1A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H="1">
                <a:off x="10904216" y="2012950"/>
                <a:ext cx="2578" cy="515049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E671E6D-CC1E-455C-AEB1-1721ADCB833B}"/>
                  </a:ext>
                </a:extLst>
              </p:cNvPr>
              <p:cNvSpPr/>
              <p:nvPr/>
            </p:nvSpPr>
            <p:spPr>
              <a:xfrm>
                <a:off x="6749538" y="3837205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Decode AER to spike tensor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FD6981A-FEFB-4FA5-B8D0-96669BB42E2F}"/>
                  </a:ext>
                </a:extLst>
              </p:cNvPr>
              <p:cNvCxnSpPr>
                <a:cxnSpLocks/>
                <a:stCxn id="20" idx="2"/>
                <a:endCxn id="28" idx="0"/>
              </p:cNvCxnSpPr>
              <p:nvPr/>
            </p:nvCxnSpPr>
            <p:spPr>
              <a:xfrm flipH="1">
                <a:off x="9104875" y="3191388"/>
                <a:ext cx="5201" cy="645817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FC6C99-6ADC-4C5B-97B4-DE4CB02EB041}"/>
                  </a:ext>
                </a:extLst>
              </p:cNvPr>
              <p:cNvSpPr/>
              <p:nvPr/>
            </p:nvSpPr>
            <p:spPr>
              <a:xfrm>
                <a:off x="6749537" y="5081805"/>
                <a:ext cx="4710673" cy="6604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Send spike tensor</a:t>
                </a:r>
                <a:r>
                  <a:rPr lang="en-IN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layer </a:t>
                </a:r>
                <a:r>
                  <a:rPr lang="en-IN" sz="1500" i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lang="en-IN" sz="1500" i="1" baseline="-25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n+1</a:t>
                </a:r>
                <a:endParaRPr lang="en-US" sz="1500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2284FA43-9205-41D5-B7BB-2DBC04E81128}"/>
                  </a:ext>
                </a:extLst>
              </p:cNvPr>
              <p:cNvCxnSpPr>
                <a:cxnSpLocks/>
                <a:stCxn id="28" idx="2"/>
                <a:endCxn id="30" idx="0"/>
              </p:cNvCxnSpPr>
              <p:nvPr/>
            </p:nvCxnSpPr>
            <p:spPr>
              <a:xfrm flipH="1">
                <a:off x="9104874" y="4497605"/>
                <a:ext cx="1" cy="58420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AE3C883-2469-44CE-A8B8-7223DAC2CA36}"/>
                </a:ext>
              </a:extLst>
            </p:cNvPr>
            <p:cNvSpPr txBox="1"/>
            <p:nvPr/>
          </p:nvSpPr>
          <p:spPr>
            <a:xfrm>
              <a:off x="4583725" y="201429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(1)</a:t>
              </a:r>
              <a:endParaRPr lang="en-IN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8C09306-4919-4103-8C13-D225B6B85FF4}"/>
                </a:ext>
              </a:extLst>
            </p:cNvPr>
            <p:cNvSpPr txBox="1"/>
            <p:nvPr/>
          </p:nvSpPr>
          <p:spPr>
            <a:xfrm>
              <a:off x="8302929" y="2020914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latin typeface="Arial" panose="020B0604020202020204" pitchFamily="34" charset="0"/>
                  <a:cs typeface="Arial" panose="020B0604020202020204" pitchFamily="34" charset="0"/>
                </a:rPr>
                <a:t>(2)</a:t>
              </a:r>
              <a:endParaRPr lang="en-IN" sz="15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B60069A-27B2-4E61-B2D8-6B4BA2E657D5}"/>
              </a:ext>
            </a:extLst>
          </p:cNvPr>
          <p:cNvSpPr txBox="1"/>
          <p:nvPr/>
        </p:nvSpPr>
        <p:spPr>
          <a:xfrm>
            <a:off x="838449" y="2008568"/>
            <a:ext cx="316934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Key Steps:</a:t>
            </a:r>
          </a:p>
          <a:p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Pattern Finding Phase</a:t>
            </a:r>
          </a:p>
          <a:p>
            <a:pPr marL="342900" indent="-342900">
              <a:buFont typeface="+mj-lt"/>
              <a:buAutoNum type="arabicPeriod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Compression Phase</a:t>
            </a:r>
            <a:endParaRPr lang="en-IN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03EAB8-BA44-499B-9143-0798363DAE42}"/>
              </a:ext>
            </a:extLst>
          </p:cNvPr>
          <p:cNvSpPr txBox="1"/>
          <p:nvPr/>
        </p:nvSpPr>
        <p:spPr>
          <a:xfrm>
            <a:off x="6983022" y="6028619"/>
            <a:ext cx="202331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Fig. 6: FSPC Framework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433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8B72-6221-44C6-9AA4-268CC1FF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Important Terms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9F0F6-ADC6-4565-B6CF-1CD64C50C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Frequent Spike Pattern (FSP):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Set of neurons firing simultaneously at same timestep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Pattern Match Threshold (PMT):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Value (0–1) defining the minimum proportion of FSP neurons that must appear in AER data for a valid match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required number of FSP neurons in the AER data is: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⌈PMT × |FSP Set|⌉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|FSP Set| = number of neurons in FSP set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⌈⌉ = ceiling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2E7D-E7EF-4105-B83E-E8794656A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8EE2-91A2-40F6-A79F-D0E60FE9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Location of FSPC in SNN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A5BE3-1ED3-4C66-BA38-47D85360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16</a:t>
            </a:fld>
            <a:endParaRPr lang="en-I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4DB622D-ACCD-4974-94BC-39DD6EE16BF7}"/>
              </a:ext>
            </a:extLst>
          </p:cNvPr>
          <p:cNvGrpSpPr/>
          <p:nvPr/>
        </p:nvGrpSpPr>
        <p:grpSpPr>
          <a:xfrm>
            <a:off x="2040842" y="1495759"/>
            <a:ext cx="8110315" cy="4705872"/>
            <a:chOff x="1854752" y="1591009"/>
            <a:chExt cx="8110315" cy="470587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BDE5FB-7C84-4575-8CE9-C6B2C30962E8}"/>
                </a:ext>
              </a:extLst>
            </p:cNvPr>
            <p:cNvGrpSpPr/>
            <p:nvPr/>
          </p:nvGrpSpPr>
          <p:grpSpPr>
            <a:xfrm>
              <a:off x="2093707" y="1591009"/>
              <a:ext cx="7635457" cy="4705872"/>
              <a:chOff x="2093707" y="1591009"/>
              <a:chExt cx="7635457" cy="4705872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3F0C5E77-1D27-4A19-A774-1008D90E5830}"/>
                  </a:ext>
                </a:extLst>
              </p:cNvPr>
              <p:cNvGrpSpPr/>
              <p:nvPr/>
            </p:nvGrpSpPr>
            <p:grpSpPr>
              <a:xfrm>
                <a:off x="2093707" y="1591009"/>
                <a:ext cx="7635457" cy="4575764"/>
                <a:chOff x="2100057" y="1521159"/>
                <a:chExt cx="7635457" cy="4575764"/>
              </a:xfrm>
            </p:grpSpPr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2CC027E8-9CD1-4873-A9FE-B1813A8E7347}"/>
                    </a:ext>
                  </a:extLst>
                </p:cNvPr>
                <p:cNvSpPr txBox="1"/>
                <p:nvPr/>
              </p:nvSpPr>
              <p:spPr>
                <a:xfrm>
                  <a:off x="6248551" y="1521159"/>
                  <a:ext cx="871760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5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Layer </a:t>
                  </a:r>
                  <a:r>
                    <a:rPr lang="en-US" sz="1500" i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r>
                    <a:rPr lang="en-US" sz="1500" i="1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n+1</a:t>
                  </a:r>
                  <a:endParaRPr lang="en-IN" sz="1500" i="1" baseline="-25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0CFF645A-DC46-4FAE-9F96-8E1639F94C35}"/>
                    </a:ext>
                  </a:extLst>
                </p:cNvPr>
                <p:cNvGrpSpPr/>
                <p:nvPr/>
              </p:nvGrpSpPr>
              <p:grpSpPr>
                <a:xfrm>
                  <a:off x="2100057" y="1533207"/>
                  <a:ext cx="7635457" cy="4563716"/>
                  <a:chOff x="999579" y="3261"/>
                  <a:chExt cx="10577083" cy="6321927"/>
                </a:xfrm>
              </p:grpSpPr>
              <p:grpSp>
                <p:nvGrpSpPr>
                  <p:cNvPr id="6" name="Group 5">
                    <a:extLst>
                      <a:ext uri="{FF2B5EF4-FFF2-40B4-BE49-F238E27FC236}">
                        <a16:creationId xmlns:a16="http://schemas.microsoft.com/office/drawing/2014/main" id="{6EF0AB7E-C5F4-4FE7-9BE3-6A7E0D8636E4}"/>
                      </a:ext>
                    </a:extLst>
                  </p:cNvPr>
                  <p:cNvGrpSpPr/>
                  <p:nvPr/>
                </p:nvGrpSpPr>
                <p:grpSpPr>
                  <a:xfrm>
                    <a:off x="999579" y="3261"/>
                    <a:ext cx="10577083" cy="6321927"/>
                    <a:chOff x="999579" y="3261"/>
                    <a:chExt cx="10577083" cy="6321927"/>
                  </a:xfrm>
                </p:grpSpPr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2B8101F7-8853-4B1F-8759-64FE7FCEE00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99579" y="3261"/>
                      <a:ext cx="10577083" cy="6321927"/>
                      <a:chOff x="994623" y="3260"/>
                      <a:chExt cx="10522831" cy="6321927"/>
                    </a:xfrm>
                  </p:grpSpPr>
                  <p:grpSp>
                    <p:nvGrpSpPr>
                      <p:cNvPr id="39" name="Group 38">
                        <a:extLst>
                          <a:ext uri="{FF2B5EF4-FFF2-40B4-BE49-F238E27FC236}">
                            <a16:creationId xmlns:a16="http://schemas.microsoft.com/office/drawing/2014/main" id="{CC5F88DE-B183-4978-9AB0-D7FD213EB4A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94623" y="1642622"/>
                        <a:ext cx="547352" cy="4368610"/>
                        <a:chOff x="896365" y="1361147"/>
                        <a:chExt cx="547352" cy="4368610"/>
                      </a:xfrm>
                    </p:grpSpPr>
                    <p:grpSp>
                      <p:nvGrpSpPr>
                        <p:cNvPr id="149" name="Group 148">
                          <a:extLst>
                            <a:ext uri="{FF2B5EF4-FFF2-40B4-BE49-F238E27FC236}">
                              <a16:creationId xmlns:a16="http://schemas.microsoft.com/office/drawing/2014/main" id="{511ED100-6F90-47B1-8892-35E0649D08D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96365" y="1361147"/>
                          <a:ext cx="547352" cy="4368610"/>
                          <a:chOff x="1067815" y="1023077"/>
                          <a:chExt cx="547352" cy="4368610"/>
                        </a:xfrm>
                      </p:grpSpPr>
                      <p:sp>
                        <p:nvSpPr>
                          <p:cNvPr id="152" name="Rectangle 151">
                            <a:extLst>
                              <a:ext uri="{FF2B5EF4-FFF2-40B4-BE49-F238E27FC236}">
                                <a16:creationId xmlns:a16="http://schemas.microsoft.com/office/drawing/2014/main" id="{DA317CCE-4607-4F2D-AE52-391B81ECDE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67815" y="1023077"/>
                            <a:ext cx="547352" cy="436861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3" name="Oval 152">
                            <a:extLst>
                              <a:ext uri="{FF2B5EF4-FFF2-40B4-BE49-F238E27FC236}">
                                <a16:creationId xmlns:a16="http://schemas.microsoft.com/office/drawing/2014/main" id="{80F31A77-2273-4FCC-AC7E-3F3AAB613F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06453" y="1224132"/>
                            <a:ext cx="470078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dirty="0"/>
                          </a:p>
                        </p:txBody>
                      </p:sp>
                      <p:sp>
                        <p:nvSpPr>
                          <p:cNvPr id="154" name="Oval 153">
                            <a:extLst>
                              <a:ext uri="{FF2B5EF4-FFF2-40B4-BE49-F238E27FC236}">
                                <a16:creationId xmlns:a16="http://schemas.microsoft.com/office/drawing/2014/main" id="{9B9DE18A-4C88-402B-9EDF-76725B1D94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06453" y="2001962"/>
                            <a:ext cx="470078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55" name="Oval 154">
                            <a:extLst>
                              <a:ext uri="{FF2B5EF4-FFF2-40B4-BE49-F238E27FC236}">
                                <a16:creationId xmlns:a16="http://schemas.microsoft.com/office/drawing/2014/main" id="{83F0FCCE-D5BF-4023-B3E5-84BEF8F232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06452" y="4649821"/>
                            <a:ext cx="470078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0" name="Oval 149">
                          <a:extLst>
                            <a:ext uri="{FF2B5EF4-FFF2-40B4-BE49-F238E27FC236}">
                              <a16:creationId xmlns:a16="http://schemas.microsoft.com/office/drawing/2014/main" id="{CCB52B65-5829-49CB-9BA9-EC201E17FF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0948" y="3655399"/>
                          <a:ext cx="126102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51" name="Oval 150">
                          <a:extLst>
                            <a:ext uri="{FF2B5EF4-FFF2-40B4-BE49-F238E27FC236}">
                              <a16:creationId xmlns:a16="http://schemas.microsoft.com/office/drawing/2014/main" id="{3FFD0FEE-3DA5-43E4-B8BD-3CDC8DE7BED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06051" y="3997738"/>
                          <a:ext cx="126102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</p:grpSp>
                  <p:grpSp>
                    <p:nvGrpSpPr>
                      <p:cNvPr id="40" name="Group 39">
                        <a:extLst>
                          <a:ext uri="{FF2B5EF4-FFF2-40B4-BE49-F238E27FC236}">
                            <a16:creationId xmlns:a16="http://schemas.microsoft.com/office/drawing/2014/main" id="{163C9121-F5E4-4E02-9AE3-603B21C2889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455241" y="990852"/>
                        <a:ext cx="547352" cy="5334335"/>
                        <a:chOff x="5651679" y="709377"/>
                        <a:chExt cx="547352" cy="5334335"/>
                      </a:xfrm>
                    </p:grpSpPr>
                    <p:grpSp>
                      <p:nvGrpSpPr>
                        <p:cNvPr id="140" name="Group 139">
                          <a:extLst>
                            <a:ext uri="{FF2B5EF4-FFF2-40B4-BE49-F238E27FC236}">
                              <a16:creationId xmlns:a16="http://schemas.microsoft.com/office/drawing/2014/main" id="{1F42D84B-6BBB-4AC0-A938-CC3B77849C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5651679" y="709377"/>
                          <a:ext cx="547352" cy="5334335"/>
                          <a:chOff x="5381222" y="709376"/>
                          <a:chExt cx="547352" cy="5334335"/>
                        </a:xfrm>
                      </p:grpSpPr>
                      <p:sp>
                        <p:nvSpPr>
                          <p:cNvPr id="144" name="Rectangle 143">
                            <a:extLst>
                              <a:ext uri="{FF2B5EF4-FFF2-40B4-BE49-F238E27FC236}">
                                <a16:creationId xmlns:a16="http://schemas.microsoft.com/office/drawing/2014/main" id="{54356C36-4090-49F4-B926-C38D2CB4423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381222" y="709376"/>
                            <a:ext cx="547352" cy="5334335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5" name="Oval 144">
                            <a:extLst>
                              <a:ext uri="{FF2B5EF4-FFF2-40B4-BE49-F238E27FC236}">
                                <a16:creationId xmlns:a16="http://schemas.microsoft.com/office/drawing/2014/main" id="{2E2962AC-EEB9-4FF6-9FE1-3F0C500DE8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943200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6" name="Oval 145">
                            <a:extLst>
                              <a:ext uri="{FF2B5EF4-FFF2-40B4-BE49-F238E27FC236}">
                                <a16:creationId xmlns:a16="http://schemas.microsoft.com/office/drawing/2014/main" id="{CB6A478F-8F93-4A7D-86A9-3B0A19F6A4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8" y="1740435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7" name="Oval 146">
                            <a:extLst>
                              <a:ext uri="{FF2B5EF4-FFF2-40B4-BE49-F238E27FC236}">
                                <a16:creationId xmlns:a16="http://schemas.microsoft.com/office/drawing/2014/main" id="{7720A701-B058-4778-8D36-189C6C0F3C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7" y="2612713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/>
                          </a:p>
                        </p:txBody>
                      </p:sp>
                      <p:sp>
                        <p:nvSpPr>
                          <p:cNvPr id="148" name="Oval 147">
                            <a:extLst>
                              <a:ext uri="{FF2B5EF4-FFF2-40B4-BE49-F238E27FC236}">
                                <a16:creationId xmlns:a16="http://schemas.microsoft.com/office/drawing/2014/main" id="{75A8B8A7-4526-4251-ACAC-B26B5F3C2A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19856" y="5233919"/>
                            <a:ext cx="470079" cy="495837"/>
                          </a:xfrm>
                          <a:prstGeom prst="ellipse">
                            <a:avLst/>
                          </a:prstGeom>
                          <a:solidFill>
                            <a:schemeClr val="bg2">
                              <a:lumMod val="50000"/>
                            </a:schemeClr>
                          </a:solidFill>
                          <a:ln>
                            <a:solidFill>
                              <a:schemeClr val="bg2">
                                <a:lumMod val="25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IN" sz="2200" dirty="0">
                              <a:latin typeface="Arial" panose="020B0604020202020204" pitchFamily="34" charset="0"/>
                              <a:cs typeface="Arial" panose="020B060402020202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41" name="Oval 140">
                          <a:extLst>
                            <a:ext uri="{FF2B5EF4-FFF2-40B4-BE49-F238E27FC236}">
                              <a16:creationId xmlns:a16="http://schemas.microsoft.com/office/drawing/2014/main" id="{1A2BE4BE-5476-449C-911E-84649E45A8B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8344" y="3781291"/>
                          <a:ext cx="126103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42" name="Oval 141">
                          <a:extLst>
                            <a:ext uri="{FF2B5EF4-FFF2-40B4-BE49-F238E27FC236}">
                              <a16:creationId xmlns:a16="http://schemas.microsoft.com/office/drawing/2014/main" id="{1C3A3050-D0F6-4462-9682-FC9672A06A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8343" y="4192644"/>
                          <a:ext cx="126103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43" name="Oval 142">
                          <a:extLst>
                            <a:ext uri="{FF2B5EF4-FFF2-40B4-BE49-F238E27FC236}">
                              <a16:creationId xmlns:a16="http://schemas.microsoft.com/office/drawing/2014/main" id="{BCED5463-61B2-460E-A3E5-89A0B6B9C6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858343" y="4571233"/>
                          <a:ext cx="126103" cy="126103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</p:grpSp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C216805A-52FF-45F0-A67A-6752858FE65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970102" y="1642626"/>
                        <a:ext cx="547352" cy="4368605"/>
                        <a:chOff x="5028840" y="1023082"/>
                        <a:chExt cx="547352" cy="4368605"/>
                      </a:xfrm>
                    </p:grpSpPr>
                    <p:sp>
                      <p:nvSpPr>
                        <p:cNvPr id="136" name="Rectangle 135">
                          <a:extLst>
                            <a:ext uri="{FF2B5EF4-FFF2-40B4-BE49-F238E27FC236}">
                              <a16:creationId xmlns:a16="http://schemas.microsoft.com/office/drawing/2014/main" id="{E981FBD4-BEBD-48CB-8B7F-BC2EACE5163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28840" y="1023082"/>
                          <a:ext cx="547352" cy="4368605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37" name="Oval 136">
                          <a:extLst>
                            <a:ext uri="{FF2B5EF4-FFF2-40B4-BE49-F238E27FC236}">
                              <a16:creationId xmlns:a16="http://schemas.microsoft.com/office/drawing/2014/main" id="{F3E7E382-F83A-48C0-A8FE-A120727C03E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7477" y="1224137"/>
                          <a:ext cx="470077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38" name="Oval 137">
                          <a:extLst>
                            <a:ext uri="{FF2B5EF4-FFF2-40B4-BE49-F238E27FC236}">
                              <a16:creationId xmlns:a16="http://schemas.microsoft.com/office/drawing/2014/main" id="{088A8028-215B-405F-BB24-85DA12DA4F2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7477" y="2006609"/>
                          <a:ext cx="470077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39" name="Oval 138">
                          <a:extLst>
                            <a:ext uri="{FF2B5EF4-FFF2-40B4-BE49-F238E27FC236}">
                              <a16:creationId xmlns:a16="http://schemas.microsoft.com/office/drawing/2014/main" id="{2068D72F-6021-4605-893F-5479BA3D5C1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7474" y="4649827"/>
                          <a:ext cx="470077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</p:grpSp>
                  <p:cxnSp>
                    <p:nvCxnSpPr>
                      <p:cNvPr id="42" name="Straight Arrow Connector 41">
                        <a:extLst>
                          <a:ext uri="{FF2B5EF4-FFF2-40B4-BE49-F238E27FC236}">
                            <a16:creationId xmlns:a16="http://schemas.microsoft.com/office/drawing/2014/main" id="{9B2B451C-2E8C-4055-B40D-1D438024D946}"/>
                          </a:ext>
                        </a:extLst>
                      </p:cNvPr>
                      <p:cNvCxnSpPr>
                        <a:cxnSpLocks/>
                        <a:stCxn id="153" idx="6"/>
                        <a:endCxn id="145" idx="2"/>
                      </p:cNvCxnSpPr>
                      <p:nvPr/>
                    </p:nvCxnSpPr>
                    <p:spPr>
                      <a:xfrm flipV="1">
                        <a:off x="1503339" y="1472594"/>
                        <a:ext cx="2990538" cy="61900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3" name="Straight Arrow Connector 42">
                        <a:extLst>
                          <a:ext uri="{FF2B5EF4-FFF2-40B4-BE49-F238E27FC236}">
                            <a16:creationId xmlns:a16="http://schemas.microsoft.com/office/drawing/2014/main" id="{296043B7-9DDE-4481-A7A7-6334A362C260}"/>
                          </a:ext>
                        </a:extLst>
                      </p:cNvPr>
                      <p:cNvCxnSpPr>
                        <a:cxnSpLocks/>
                        <a:stCxn id="153" idx="6"/>
                        <a:endCxn id="146" idx="2"/>
                      </p:cNvCxnSpPr>
                      <p:nvPr/>
                    </p:nvCxnSpPr>
                    <p:spPr>
                      <a:xfrm>
                        <a:off x="1503339" y="2091596"/>
                        <a:ext cx="2990538" cy="178234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4" name="Straight Arrow Connector 43">
                        <a:extLst>
                          <a:ext uri="{FF2B5EF4-FFF2-40B4-BE49-F238E27FC236}">
                            <a16:creationId xmlns:a16="http://schemas.microsoft.com/office/drawing/2014/main" id="{48343DA5-6543-424C-A693-F50BB7254B86}"/>
                          </a:ext>
                        </a:extLst>
                      </p:cNvPr>
                      <p:cNvCxnSpPr>
                        <a:cxnSpLocks/>
                        <a:stCxn id="153" idx="6"/>
                        <a:endCxn id="147" idx="2"/>
                      </p:cNvCxnSpPr>
                      <p:nvPr/>
                    </p:nvCxnSpPr>
                    <p:spPr>
                      <a:xfrm>
                        <a:off x="1503339" y="2091596"/>
                        <a:ext cx="2990536" cy="1050512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5" name="Straight Arrow Connector 44">
                        <a:extLst>
                          <a:ext uri="{FF2B5EF4-FFF2-40B4-BE49-F238E27FC236}">
                            <a16:creationId xmlns:a16="http://schemas.microsoft.com/office/drawing/2014/main" id="{9F2E9603-6A1F-429B-87A4-911E32192095}"/>
                          </a:ext>
                        </a:extLst>
                      </p:cNvPr>
                      <p:cNvCxnSpPr>
                        <a:cxnSpLocks/>
                        <a:stCxn id="153" idx="6"/>
                        <a:endCxn id="148" idx="2"/>
                      </p:cNvCxnSpPr>
                      <p:nvPr/>
                    </p:nvCxnSpPr>
                    <p:spPr>
                      <a:xfrm>
                        <a:off x="1503339" y="2091596"/>
                        <a:ext cx="2990535" cy="367171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Straight Arrow Connector 45">
                        <a:extLst>
                          <a:ext uri="{FF2B5EF4-FFF2-40B4-BE49-F238E27FC236}">
                            <a16:creationId xmlns:a16="http://schemas.microsoft.com/office/drawing/2014/main" id="{4E69B9A3-4A7A-4499-83C0-23BBF19DEB03}"/>
                          </a:ext>
                        </a:extLst>
                      </p:cNvPr>
                      <p:cNvCxnSpPr>
                        <a:cxnSpLocks/>
                        <a:stCxn id="154" idx="6"/>
                        <a:endCxn id="145" idx="2"/>
                      </p:cNvCxnSpPr>
                      <p:nvPr/>
                    </p:nvCxnSpPr>
                    <p:spPr>
                      <a:xfrm flipV="1">
                        <a:off x="1503339" y="1472594"/>
                        <a:ext cx="2990538" cy="139683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Straight Arrow Connector 46">
                        <a:extLst>
                          <a:ext uri="{FF2B5EF4-FFF2-40B4-BE49-F238E27FC236}">
                            <a16:creationId xmlns:a16="http://schemas.microsoft.com/office/drawing/2014/main" id="{9BCD96C2-F49F-41CF-AF0C-2DB9A81D48D0}"/>
                          </a:ext>
                        </a:extLst>
                      </p:cNvPr>
                      <p:cNvCxnSpPr>
                        <a:cxnSpLocks/>
                        <a:stCxn id="154" idx="6"/>
                        <a:endCxn id="146" idx="2"/>
                      </p:cNvCxnSpPr>
                      <p:nvPr/>
                    </p:nvCxnSpPr>
                    <p:spPr>
                      <a:xfrm flipV="1">
                        <a:off x="1503339" y="2269830"/>
                        <a:ext cx="2990538" cy="59959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Straight Arrow Connector 47">
                        <a:extLst>
                          <a:ext uri="{FF2B5EF4-FFF2-40B4-BE49-F238E27FC236}">
                            <a16:creationId xmlns:a16="http://schemas.microsoft.com/office/drawing/2014/main" id="{8F7E7282-77E9-4BD9-80C2-8E071062F150}"/>
                          </a:ext>
                        </a:extLst>
                      </p:cNvPr>
                      <p:cNvCxnSpPr>
                        <a:cxnSpLocks/>
                        <a:stCxn id="154" idx="6"/>
                        <a:endCxn id="147" idx="2"/>
                      </p:cNvCxnSpPr>
                      <p:nvPr/>
                    </p:nvCxnSpPr>
                    <p:spPr>
                      <a:xfrm>
                        <a:off x="1503339" y="2869425"/>
                        <a:ext cx="2990536" cy="272683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Straight Arrow Connector 48">
                        <a:extLst>
                          <a:ext uri="{FF2B5EF4-FFF2-40B4-BE49-F238E27FC236}">
                            <a16:creationId xmlns:a16="http://schemas.microsoft.com/office/drawing/2014/main" id="{F6725CBB-38F8-4025-B4A0-D016D0ECDE54}"/>
                          </a:ext>
                        </a:extLst>
                      </p:cNvPr>
                      <p:cNvCxnSpPr>
                        <a:cxnSpLocks/>
                        <a:stCxn id="154" idx="6"/>
                        <a:endCxn id="148" idx="2"/>
                      </p:cNvCxnSpPr>
                      <p:nvPr/>
                    </p:nvCxnSpPr>
                    <p:spPr>
                      <a:xfrm>
                        <a:off x="1503339" y="2869425"/>
                        <a:ext cx="2990535" cy="289388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Straight Arrow Connector 49">
                        <a:extLst>
                          <a:ext uri="{FF2B5EF4-FFF2-40B4-BE49-F238E27FC236}">
                            <a16:creationId xmlns:a16="http://schemas.microsoft.com/office/drawing/2014/main" id="{1641ED2C-CB40-4B52-8DED-19D858C23420}"/>
                          </a:ext>
                        </a:extLst>
                      </p:cNvPr>
                      <p:cNvCxnSpPr>
                        <a:cxnSpLocks/>
                        <a:stCxn id="155" idx="6"/>
                        <a:endCxn id="145" idx="2"/>
                      </p:cNvCxnSpPr>
                      <p:nvPr/>
                    </p:nvCxnSpPr>
                    <p:spPr>
                      <a:xfrm flipV="1">
                        <a:off x="1503337" y="1472594"/>
                        <a:ext cx="2990540" cy="4044691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Straight Arrow Connector 50">
                        <a:extLst>
                          <a:ext uri="{FF2B5EF4-FFF2-40B4-BE49-F238E27FC236}">
                            <a16:creationId xmlns:a16="http://schemas.microsoft.com/office/drawing/2014/main" id="{CEF76656-3DFA-407B-A900-939770666D31}"/>
                          </a:ext>
                        </a:extLst>
                      </p:cNvPr>
                      <p:cNvCxnSpPr>
                        <a:cxnSpLocks/>
                        <a:stCxn id="155" idx="6"/>
                        <a:endCxn id="146" idx="2"/>
                      </p:cNvCxnSpPr>
                      <p:nvPr/>
                    </p:nvCxnSpPr>
                    <p:spPr>
                      <a:xfrm flipV="1">
                        <a:off x="1503337" y="2269830"/>
                        <a:ext cx="2990540" cy="324745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Arrow Connector 51">
                        <a:extLst>
                          <a:ext uri="{FF2B5EF4-FFF2-40B4-BE49-F238E27FC236}">
                            <a16:creationId xmlns:a16="http://schemas.microsoft.com/office/drawing/2014/main" id="{3238D91C-41F7-47BC-8AA6-DF31A52D659B}"/>
                          </a:ext>
                        </a:extLst>
                      </p:cNvPr>
                      <p:cNvCxnSpPr>
                        <a:cxnSpLocks/>
                        <a:stCxn id="155" idx="6"/>
                        <a:endCxn id="147" idx="2"/>
                      </p:cNvCxnSpPr>
                      <p:nvPr/>
                    </p:nvCxnSpPr>
                    <p:spPr>
                      <a:xfrm flipV="1">
                        <a:off x="1503337" y="3142108"/>
                        <a:ext cx="2990539" cy="2375177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Straight Arrow Connector 52">
                        <a:extLst>
                          <a:ext uri="{FF2B5EF4-FFF2-40B4-BE49-F238E27FC236}">
                            <a16:creationId xmlns:a16="http://schemas.microsoft.com/office/drawing/2014/main" id="{700B4314-B6EA-4C9D-8C68-E6E835BFF825}"/>
                          </a:ext>
                        </a:extLst>
                      </p:cNvPr>
                      <p:cNvCxnSpPr>
                        <a:cxnSpLocks/>
                        <a:stCxn id="155" idx="6"/>
                        <a:endCxn id="148" idx="2"/>
                      </p:cNvCxnSpPr>
                      <p:nvPr/>
                    </p:nvCxnSpPr>
                    <p:spPr>
                      <a:xfrm>
                        <a:off x="1503337" y="5517285"/>
                        <a:ext cx="2990538" cy="246029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8" name="TextBox 57">
                        <a:extLst>
                          <a:ext uri="{FF2B5EF4-FFF2-40B4-BE49-F238E27FC236}">
                            <a16:creationId xmlns:a16="http://schemas.microsoft.com/office/drawing/2014/main" id="{243EB3AE-60D1-440A-BA87-9902611F7A4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124245" y="3260"/>
                        <a:ext cx="1201419" cy="7674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5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Layer </a:t>
                        </a:r>
                      </a:p>
                      <a:p>
                        <a:pPr algn="ctr"/>
                        <a:r>
                          <a:rPr lang="en-US" sz="1500" i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r>
                          <a:rPr lang="en-US" sz="1500" i="1" baseline="-2500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n</a:t>
                        </a:r>
                        <a:endParaRPr lang="en-IN" sz="1500" i="1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64" name="Group 63">
                        <a:extLst>
                          <a:ext uri="{FF2B5EF4-FFF2-40B4-BE49-F238E27FC236}">
                            <a16:creationId xmlns:a16="http://schemas.microsoft.com/office/drawing/2014/main" id="{ABC25EA4-797F-4B9D-B7AA-C1888E09152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063560" y="990851"/>
                        <a:ext cx="547352" cy="5332732"/>
                        <a:chOff x="5387406" y="709377"/>
                        <a:chExt cx="547352" cy="5332732"/>
                      </a:xfrm>
                    </p:grpSpPr>
                    <p:sp>
                      <p:nvSpPr>
                        <p:cNvPr id="104" name="Rectangle 103">
                          <a:extLst>
                            <a:ext uri="{FF2B5EF4-FFF2-40B4-BE49-F238E27FC236}">
                              <a16:creationId xmlns:a16="http://schemas.microsoft.com/office/drawing/2014/main" id="{C5D4D706-6697-4028-A5B7-CB538C35618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87406" y="709377"/>
                          <a:ext cx="547352" cy="5332732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5" name="Oval 104">
                          <a:extLst>
                            <a:ext uri="{FF2B5EF4-FFF2-40B4-BE49-F238E27FC236}">
                              <a16:creationId xmlns:a16="http://schemas.microsoft.com/office/drawing/2014/main" id="{8B599DC2-D54E-40DC-AADD-7DA9316AECF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8" y="943202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06" name="Oval 105">
                          <a:extLst>
                            <a:ext uri="{FF2B5EF4-FFF2-40B4-BE49-F238E27FC236}">
                              <a16:creationId xmlns:a16="http://schemas.microsoft.com/office/drawing/2014/main" id="{123AF3F1-A230-4444-8486-FED621E2BE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8" y="1734380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  <p:sp>
                      <p:nvSpPr>
                        <p:cNvPr id="107" name="Oval 106">
                          <a:extLst>
                            <a:ext uri="{FF2B5EF4-FFF2-40B4-BE49-F238E27FC236}">
                              <a16:creationId xmlns:a16="http://schemas.microsoft.com/office/drawing/2014/main" id="{1AB27741-CA18-4DD4-BDC1-8A96944C33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7" y="2610436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/>
                        </a:p>
                      </p:txBody>
                    </p:sp>
                    <p:sp>
                      <p:nvSpPr>
                        <p:cNvPr id="108" name="Oval 107">
                          <a:extLst>
                            <a:ext uri="{FF2B5EF4-FFF2-40B4-BE49-F238E27FC236}">
                              <a16:creationId xmlns:a16="http://schemas.microsoft.com/office/drawing/2014/main" id="{4049C1B4-DA67-46E8-B6D6-62D2C19C3A2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19856" y="5241208"/>
                          <a:ext cx="470079" cy="495837"/>
                        </a:xfrm>
                        <a:prstGeom prst="ellipse">
                          <a:avLst/>
                        </a:prstGeom>
                        <a:solidFill>
                          <a:schemeClr val="bg2">
                            <a:lumMod val="50000"/>
                          </a:schemeClr>
                        </a:solidFill>
                        <a:ln>
                          <a:solidFill>
                            <a:schemeClr val="bg2">
                              <a:lumMod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IN" dirty="0"/>
                        </a:p>
                      </p:txBody>
                    </p:sp>
                  </p:grpSp>
                  <p:cxnSp>
                    <p:nvCxnSpPr>
                      <p:cNvPr id="92" name="Straight Arrow Connector 91">
                        <a:extLst>
                          <a:ext uri="{FF2B5EF4-FFF2-40B4-BE49-F238E27FC236}">
                            <a16:creationId xmlns:a16="http://schemas.microsoft.com/office/drawing/2014/main" id="{8F2EA19C-623A-415F-BAF6-AB71C4E38ABA}"/>
                          </a:ext>
                        </a:extLst>
                      </p:cNvPr>
                      <p:cNvCxnSpPr>
                        <a:cxnSpLocks/>
                        <a:stCxn id="105" idx="6"/>
                        <a:endCxn id="137" idx="2"/>
                      </p:cNvCxnSpPr>
                      <p:nvPr/>
                    </p:nvCxnSpPr>
                    <p:spPr>
                      <a:xfrm>
                        <a:off x="7566090" y="1472594"/>
                        <a:ext cx="3442649" cy="61900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3" name="Straight Arrow Connector 92">
                        <a:extLst>
                          <a:ext uri="{FF2B5EF4-FFF2-40B4-BE49-F238E27FC236}">
                            <a16:creationId xmlns:a16="http://schemas.microsoft.com/office/drawing/2014/main" id="{94A1F3B5-7863-4F62-A38B-3A58EE29FFFD}"/>
                          </a:ext>
                        </a:extLst>
                      </p:cNvPr>
                      <p:cNvCxnSpPr>
                        <a:cxnSpLocks/>
                        <a:stCxn id="105" idx="6"/>
                        <a:endCxn id="138" idx="2"/>
                      </p:cNvCxnSpPr>
                      <p:nvPr/>
                    </p:nvCxnSpPr>
                    <p:spPr>
                      <a:xfrm>
                        <a:off x="7566090" y="1472594"/>
                        <a:ext cx="3442649" cy="1401477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4" name="Straight Arrow Connector 93">
                        <a:extLst>
                          <a:ext uri="{FF2B5EF4-FFF2-40B4-BE49-F238E27FC236}">
                            <a16:creationId xmlns:a16="http://schemas.microsoft.com/office/drawing/2014/main" id="{7DFC14BC-89B0-459D-A6E8-3E85761D9F80}"/>
                          </a:ext>
                        </a:extLst>
                      </p:cNvPr>
                      <p:cNvCxnSpPr>
                        <a:cxnSpLocks/>
                        <a:stCxn id="105" idx="6"/>
                        <a:endCxn id="139" idx="2"/>
                      </p:cNvCxnSpPr>
                      <p:nvPr/>
                    </p:nvCxnSpPr>
                    <p:spPr>
                      <a:xfrm>
                        <a:off x="7566090" y="1472594"/>
                        <a:ext cx="3442646" cy="404469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5" name="Straight Arrow Connector 94">
                        <a:extLst>
                          <a:ext uri="{FF2B5EF4-FFF2-40B4-BE49-F238E27FC236}">
                            <a16:creationId xmlns:a16="http://schemas.microsoft.com/office/drawing/2014/main" id="{807E76DA-4C77-4058-90F5-87EC0D2CC549}"/>
                          </a:ext>
                        </a:extLst>
                      </p:cNvPr>
                      <p:cNvCxnSpPr>
                        <a:cxnSpLocks/>
                        <a:stCxn id="106" idx="6"/>
                        <a:endCxn id="137" idx="2"/>
                      </p:cNvCxnSpPr>
                      <p:nvPr/>
                    </p:nvCxnSpPr>
                    <p:spPr>
                      <a:xfrm flipV="1">
                        <a:off x="7566090" y="2091600"/>
                        <a:ext cx="3442649" cy="172172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Straight Arrow Connector 95">
                        <a:extLst>
                          <a:ext uri="{FF2B5EF4-FFF2-40B4-BE49-F238E27FC236}">
                            <a16:creationId xmlns:a16="http://schemas.microsoft.com/office/drawing/2014/main" id="{71FACAAF-C318-42FA-9E7E-4D2810E2A8CB}"/>
                          </a:ext>
                        </a:extLst>
                      </p:cNvPr>
                      <p:cNvCxnSpPr>
                        <a:cxnSpLocks/>
                        <a:stCxn id="106" idx="6"/>
                        <a:endCxn id="138" idx="2"/>
                      </p:cNvCxnSpPr>
                      <p:nvPr/>
                    </p:nvCxnSpPr>
                    <p:spPr>
                      <a:xfrm>
                        <a:off x="7566090" y="2263772"/>
                        <a:ext cx="3442649" cy="610299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Straight Arrow Connector 96">
                        <a:extLst>
                          <a:ext uri="{FF2B5EF4-FFF2-40B4-BE49-F238E27FC236}">
                            <a16:creationId xmlns:a16="http://schemas.microsoft.com/office/drawing/2014/main" id="{0E076864-559E-4990-A58C-E4B8194C9E2F}"/>
                          </a:ext>
                        </a:extLst>
                      </p:cNvPr>
                      <p:cNvCxnSpPr>
                        <a:cxnSpLocks/>
                        <a:stCxn id="107" idx="6"/>
                        <a:endCxn id="139" idx="2"/>
                      </p:cNvCxnSpPr>
                      <p:nvPr/>
                    </p:nvCxnSpPr>
                    <p:spPr>
                      <a:xfrm>
                        <a:off x="7566090" y="3139828"/>
                        <a:ext cx="3442646" cy="2377463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8" name="Straight Arrow Connector 97">
                        <a:extLst>
                          <a:ext uri="{FF2B5EF4-FFF2-40B4-BE49-F238E27FC236}">
                            <a16:creationId xmlns:a16="http://schemas.microsoft.com/office/drawing/2014/main" id="{042D2FD5-E2EA-4946-966A-19027028D566}"/>
                          </a:ext>
                        </a:extLst>
                      </p:cNvPr>
                      <p:cNvCxnSpPr>
                        <a:cxnSpLocks/>
                        <a:stCxn id="106" idx="6"/>
                        <a:endCxn id="139" idx="2"/>
                      </p:cNvCxnSpPr>
                      <p:nvPr/>
                    </p:nvCxnSpPr>
                    <p:spPr>
                      <a:xfrm>
                        <a:off x="7566090" y="2263772"/>
                        <a:ext cx="3442646" cy="325351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9" name="Straight Arrow Connector 98">
                        <a:extLst>
                          <a:ext uri="{FF2B5EF4-FFF2-40B4-BE49-F238E27FC236}">
                            <a16:creationId xmlns:a16="http://schemas.microsoft.com/office/drawing/2014/main" id="{5EB35A96-B09B-4085-9C39-A04560D33A28}"/>
                          </a:ext>
                        </a:extLst>
                      </p:cNvPr>
                      <p:cNvCxnSpPr>
                        <a:cxnSpLocks/>
                        <a:stCxn id="108" idx="6"/>
                        <a:endCxn id="137" idx="2"/>
                      </p:cNvCxnSpPr>
                      <p:nvPr/>
                    </p:nvCxnSpPr>
                    <p:spPr>
                      <a:xfrm flipV="1">
                        <a:off x="7566088" y="2091600"/>
                        <a:ext cx="3442651" cy="367900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0" name="Straight Arrow Connector 99">
                        <a:extLst>
                          <a:ext uri="{FF2B5EF4-FFF2-40B4-BE49-F238E27FC236}">
                            <a16:creationId xmlns:a16="http://schemas.microsoft.com/office/drawing/2014/main" id="{1CF9D897-5778-4331-86D6-C919AC09F2AD}"/>
                          </a:ext>
                        </a:extLst>
                      </p:cNvPr>
                      <p:cNvCxnSpPr>
                        <a:cxnSpLocks/>
                        <a:stCxn id="108" idx="6"/>
                        <a:endCxn id="138" idx="2"/>
                      </p:cNvCxnSpPr>
                      <p:nvPr/>
                    </p:nvCxnSpPr>
                    <p:spPr>
                      <a:xfrm flipV="1">
                        <a:off x="7566088" y="2874071"/>
                        <a:ext cx="3442651" cy="2896529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1" name="Straight Arrow Connector 100">
                        <a:extLst>
                          <a:ext uri="{FF2B5EF4-FFF2-40B4-BE49-F238E27FC236}">
                            <a16:creationId xmlns:a16="http://schemas.microsoft.com/office/drawing/2014/main" id="{C0A8F215-5624-4449-ADCF-429AF5174B45}"/>
                          </a:ext>
                        </a:extLst>
                      </p:cNvPr>
                      <p:cNvCxnSpPr>
                        <a:cxnSpLocks/>
                        <a:stCxn id="108" idx="6"/>
                        <a:endCxn id="139" idx="2"/>
                      </p:cNvCxnSpPr>
                      <p:nvPr/>
                    </p:nvCxnSpPr>
                    <p:spPr>
                      <a:xfrm flipV="1">
                        <a:off x="7566088" y="5517290"/>
                        <a:ext cx="3442648" cy="25331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2" name="Straight Arrow Connector 101">
                        <a:extLst>
                          <a:ext uri="{FF2B5EF4-FFF2-40B4-BE49-F238E27FC236}">
                            <a16:creationId xmlns:a16="http://schemas.microsoft.com/office/drawing/2014/main" id="{95544136-C712-42A1-B733-EAF25CB2FE30}"/>
                          </a:ext>
                        </a:extLst>
                      </p:cNvPr>
                      <p:cNvCxnSpPr>
                        <a:cxnSpLocks/>
                        <a:stCxn id="107" idx="6"/>
                        <a:endCxn id="137" idx="2"/>
                      </p:cNvCxnSpPr>
                      <p:nvPr/>
                    </p:nvCxnSpPr>
                    <p:spPr>
                      <a:xfrm flipV="1">
                        <a:off x="7566090" y="2091600"/>
                        <a:ext cx="3442649" cy="1048228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3" name="Straight Arrow Connector 102">
                        <a:extLst>
                          <a:ext uri="{FF2B5EF4-FFF2-40B4-BE49-F238E27FC236}">
                            <a16:creationId xmlns:a16="http://schemas.microsoft.com/office/drawing/2014/main" id="{2EBCC1A3-5E2A-4B61-A9BB-539D8FD06B51}"/>
                          </a:ext>
                        </a:extLst>
                      </p:cNvPr>
                      <p:cNvCxnSpPr>
                        <a:cxnSpLocks/>
                        <a:stCxn id="107" idx="6"/>
                        <a:endCxn id="138" idx="2"/>
                      </p:cNvCxnSpPr>
                      <p:nvPr/>
                    </p:nvCxnSpPr>
                    <p:spPr>
                      <a:xfrm flipV="1">
                        <a:off x="7566090" y="2874071"/>
                        <a:ext cx="3442649" cy="265756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784A37D1-3AE4-4890-870E-594D40836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8995" y="3258568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C3DE1BFE-9BC0-48B9-AEFE-4D9081A090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8995" y="3594534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7253CB26-1F42-489F-B37D-048E84075C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5684" y="4645029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32C7F73F-5F2B-4DDC-963A-FF5F41500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5684" y="4954109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844A3146-737A-4255-BC54-FB27132433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5769" y="3675277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/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610B8454-964C-4B49-BBFF-F25203415A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85769" y="5198015"/>
                      <a:ext cx="126753" cy="126103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3E564487-A232-4D4C-8BD8-971B73A12B3C}"/>
                      </a:ext>
                    </a:extLst>
                  </p:cNvPr>
                  <p:cNvSpPr/>
                  <p:nvPr/>
                </p:nvSpPr>
                <p:spPr>
                  <a:xfrm>
                    <a:off x="7309676" y="4062767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8" name="Oval 7">
                    <a:extLst>
                      <a:ext uri="{FF2B5EF4-FFF2-40B4-BE49-F238E27FC236}">
                        <a16:creationId xmlns:a16="http://schemas.microsoft.com/office/drawing/2014/main" id="{B5E8AB13-11E5-4A0A-A307-B7B46819165F}"/>
                      </a:ext>
                    </a:extLst>
                  </p:cNvPr>
                  <p:cNvSpPr/>
                  <p:nvPr/>
                </p:nvSpPr>
                <p:spPr>
                  <a:xfrm>
                    <a:off x="7310370" y="4474119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39867AE1-F641-4B7F-9859-0B616E9B400C}"/>
                      </a:ext>
                    </a:extLst>
                  </p:cNvPr>
                  <p:cNvSpPr/>
                  <p:nvPr/>
                </p:nvSpPr>
                <p:spPr>
                  <a:xfrm>
                    <a:off x="7309675" y="4852940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9FB1AA67-9897-42C2-8E81-29654293AED9}"/>
                      </a:ext>
                    </a:extLst>
                  </p:cNvPr>
                  <p:cNvSpPr/>
                  <p:nvPr/>
                </p:nvSpPr>
                <p:spPr>
                  <a:xfrm>
                    <a:off x="7309675" y="3675277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35F7033E-2056-49C7-9F81-149A7A50B733}"/>
                      </a:ext>
                    </a:extLst>
                  </p:cNvPr>
                  <p:cNvSpPr/>
                  <p:nvPr/>
                </p:nvSpPr>
                <p:spPr>
                  <a:xfrm>
                    <a:off x="7313551" y="5202870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12" name="Oval 11">
                    <a:extLst>
                      <a:ext uri="{FF2B5EF4-FFF2-40B4-BE49-F238E27FC236}">
                        <a16:creationId xmlns:a16="http://schemas.microsoft.com/office/drawing/2014/main" id="{B10ADB8B-53C0-4933-AC7E-23649AFDB45E}"/>
                      </a:ext>
                    </a:extLst>
                  </p:cNvPr>
                  <p:cNvSpPr/>
                  <p:nvPr/>
                </p:nvSpPr>
                <p:spPr>
                  <a:xfrm>
                    <a:off x="11239611" y="3933046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3" name="Oval 12">
                    <a:extLst>
                      <a:ext uri="{FF2B5EF4-FFF2-40B4-BE49-F238E27FC236}">
                        <a16:creationId xmlns:a16="http://schemas.microsoft.com/office/drawing/2014/main" id="{B13D870E-9F28-49F7-8FD3-7D120433F787}"/>
                      </a:ext>
                    </a:extLst>
                  </p:cNvPr>
                  <p:cNvSpPr/>
                  <p:nvPr/>
                </p:nvSpPr>
                <p:spPr>
                  <a:xfrm>
                    <a:off x="11237617" y="4275385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71CF5670-C3E4-4E81-AB88-45F413E0F199}"/>
                      </a:ext>
                    </a:extLst>
                  </p:cNvPr>
                  <p:cNvSpPr/>
                  <p:nvPr/>
                </p:nvSpPr>
                <p:spPr>
                  <a:xfrm>
                    <a:off x="11236267" y="3254740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709DCF4E-CE76-4BFE-92C7-5815EA3FE588}"/>
                      </a:ext>
                    </a:extLst>
                  </p:cNvPr>
                  <p:cNvSpPr/>
                  <p:nvPr/>
                </p:nvSpPr>
                <p:spPr>
                  <a:xfrm>
                    <a:off x="11236267" y="3590707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868A663D-8292-4618-BEB0-96CE52A8948E}"/>
                      </a:ext>
                    </a:extLst>
                  </p:cNvPr>
                  <p:cNvSpPr/>
                  <p:nvPr/>
                </p:nvSpPr>
                <p:spPr>
                  <a:xfrm>
                    <a:off x="11242955" y="4641201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17" name="Oval 16">
                    <a:extLst>
                      <a:ext uri="{FF2B5EF4-FFF2-40B4-BE49-F238E27FC236}">
                        <a16:creationId xmlns:a16="http://schemas.microsoft.com/office/drawing/2014/main" id="{9785A602-B8E5-4469-B317-398BFDB4D10D}"/>
                      </a:ext>
                    </a:extLst>
                  </p:cNvPr>
                  <p:cNvSpPr/>
                  <p:nvPr/>
                </p:nvSpPr>
                <p:spPr>
                  <a:xfrm>
                    <a:off x="11242955" y="4950281"/>
                    <a:ext cx="126753" cy="126103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</p:grp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B3BF7586-272B-48B8-B491-549E7A825F0B}"/>
                  </a:ext>
                </a:extLst>
              </p:cNvPr>
              <p:cNvSpPr/>
              <p:nvPr/>
            </p:nvSpPr>
            <p:spPr>
              <a:xfrm>
                <a:off x="2916925" y="2368550"/>
                <a:ext cx="1114774" cy="3708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36CA462F-B568-44B5-90D0-62D024D37DBD}"/>
                  </a:ext>
                </a:extLst>
              </p:cNvPr>
              <p:cNvSpPr/>
              <p:nvPr/>
            </p:nvSpPr>
            <p:spPr>
              <a:xfrm>
                <a:off x="7502100" y="2588481"/>
                <a:ext cx="1222800" cy="3708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EE0482F5-ACA0-4622-AD50-C93CFFBD7C0A}"/>
                  </a:ext>
                </a:extLst>
              </p:cNvPr>
              <p:cNvSpPr/>
              <p:nvPr/>
            </p:nvSpPr>
            <p:spPr>
              <a:xfrm>
                <a:off x="3008337" y="4425452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A72977DF-E0EE-41ED-B3F8-00F9733403C6}"/>
                  </a:ext>
                </a:extLst>
              </p:cNvPr>
              <p:cNvSpPr/>
              <p:nvPr/>
            </p:nvSpPr>
            <p:spPr>
              <a:xfrm>
                <a:off x="3377464" y="4425452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59CD9575-0942-4074-9620-5CED87C1D9AF}"/>
                  </a:ext>
                </a:extLst>
              </p:cNvPr>
              <p:cNvSpPr/>
              <p:nvPr/>
            </p:nvSpPr>
            <p:spPr>
              <a:xfrm>
                <a:off x="3742415" y="4424216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7FB2854-074B-43AB-A77C-337AA8D675B6}"/>
                  </a:ext>
                </a:extLst>
              </p:cNvPr>
              <p:cNvSpPr/>
              <p:nvPr/>
            </p:nvSpPr>
            <p:spPr>
              <a:xfrm>
                <a:off x="7655464" y="4425452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E7A44125-9C03-4B3E-8FB0-C86196DFBA62}"/>
                  </a:ext>
                </a:extLst>
              </p:cNvPr>
              <p:cNvSpPr/>
              <p:nvPr/>
            </p:nvSpPr>
            <p:spPr>
              <a:xfrm>
                <a:off x="8021353" y="4424216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D32C1554-1E02-426A-BE88-D613EF067C1A}"/>
                  </a:ext>
                </a:extLst>
              </p:cNvPr>
              <p:cNvSpPr/>
              <p:nvPr/>
            </p:nvSpPr>
            <p:spPr>
              <a:xfrm>
                <a:off x="8387242" y="4424216"/>
                <a:ext cx="142939" cy="142206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0DF8A79-2BEF-4CB5-A0AD-07906F456770}"/>
                </a:ext>
              </a:extLst>
            </p:cNvPr>
            <p:cNvSpPr txBox="1"/>
            <p:nvPr/>
          </p:nvSpPr>
          <p:spPr>
            <a:xfrm>
              <a:off x="1854752" y="1609812"/>
              <a:ext cx="871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Layer 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AEF6672D-4084-4721-8D42-720C02D810CF}"/>
                </a:ext>
              </a:extLst>
            </p:cNvPr>
            <p:cNvSpPr txBox="1"/>
            <p:nvPr/>
          </p:nvSpPr>
          <p:spPr>
            <a:xfrm>
              <a:off x="9093307" y="1605981"/>
              <a:ext cx="871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Layer </a:t>
              </a:r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13944642-DACA-4462-B62B-F381E062E514}"/>
              </a:ext>
            </a:extLst>
          </p:cNvPr>
          <p:cNvSpPr txBox="1"/>
          <p:nvPr/>
        </p:nvSpPr>
        <p:spPr>
          <a:xfrm>
            <a:off x="4639216" y="6397811"/>
            <a:ext cx="25779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Fig. 7: Location of FSPC in SNN</a:t>
            </a:r>
            <a:endParaRPr lang="en-IN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7C6554-778C-4220-8B60-73D3A6E9CA8E}"/>
              </a:ext>
            </a:extLst>
          </p:cNvPr>
          <p:cNvSpPr/>
          <p:nvPr/>
        </p:nvSpPr>
        <p:spPr>
          <a:xfrm>
            <a:off x="5188014" y="2493231"/>
            <a:ext cx="222009" cy="32420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A14AA7B-D317-41D5-9EBD-82AFC3427FF5}"/>
              </a:ext>
            </a:extLst>
          </p:cNvPr>
          <p:cNvSpPr/>
          <p:nvPr/>
        </p:nvSpPr>
        <p:spPr>
          <a:xfrm>
            <a:off x="6464939" y="2493231"/>
            <a:ext cx="222009" cy="324208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D87A177-695F-45D5-A932-EB726E9594FF}"/>
              </a:ext>
            </a:extLst>
          </p:cNvPr>
          <p:cNvCxnSpPr>
            <a:stCxn id="37" idx="3"/>
            <a:endCxn id="116" idx="1"/>
          </p:cNvCxnSpPr>
          <p:nvPr/>
        </p:nvCxnSpPr>
        <p:spPr>
          <a:xfrm>
            <a:off x="5410023" y="4114276"/>
            <a:ext cx="105491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9A41256-BE35-4F82-A9F4-503D134879F6}"/>
              </a:ext>
            </a:extLst>
          </p:cNvPr>
          <p:cNvSpPr txBox="1"/>
          <p:nvPr/>
        </p:nvSpPr>
        <p:spPr>
          <a:xfrm>
            <a:off x="5441104" y="3552198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FSPC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476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(1) Pattern Finding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90688"/>
            <a:ext cx="573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spike tensor</a:t>
            </a: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layer </a:t>
            </a:r>
            <a:r>
              <a:rPr lang="en-IN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IN" sz="1800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IN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encode it to AER</a:t>
            </a:r>
            <a:endParaRPr lang="en-US" sz="18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F4232533-F675-486C-BBA9-526E5FAC8E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928979"/>
              </p:ext>
            </p:extLst>
          </p:nvPr>
        </p:nvGraphicFramePr>
        <p:xfrm>
          <a:off x="2445384" y="3385583"/>
          <a:ext cx="2150576" cy="26828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34D0699-90E4-4A0A-950D-C207CAFB9584}"/>
              </a:ext>
            </a:extLst>
          </p:cNvPr>
          <p:cNvSpPr txBox="1"/>
          <p:nvPr/>
        </p:nvSpPr>
        <p:spPr>
          <a:xfrm>
            <a:off x="2812786" y="2692222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Neuron Index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9922EC-1B96-40B2-A641-65C44BDAB455}"/>
              </a:ext>
            </a:extLst>
          </p:cNvPr>
          <p:cNvSpPr txBox="1"/>
          <p:nvPr/>
        </p:nvSpPr>
        <p:spPr>
          <a:xfrm rot="16200000">
            <a:off x="1360089" y="4428291"/>
            <a:ext cx="11115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Step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ED3CD-14AB-44C5-80EA-E5A0806FF0B7}"/>
              </a:ext>
            </a:extLst>
          </p:cNvPr>
          <p:cNvSpPr txBox="1"/>
          <p:nvPr/>
        </p:nvSpPr>
        <p:spPr>
          <a:xfrm>
            <a:off x="2838434" y="2274533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Spike Data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8A7F3D8-ED2E-4C26-A718-9DE97FD4A4E9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946980"/>
              </p:ext>
            </p:extLst>
          </p:nvPr>
        </p:nvGraphicFramePr>
        <p:xfrm>
          <a:off x="7964276" y="3383932"/>
          <a:ext cx="2146352" cy="266366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7792162" y="2274533"/>
            <a:ext cx="2407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 to AER Data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983037EC-339B-4058-9645-AC33DE5E0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38955"/>
              </p:ext>
            </p:extLst>
          </p:nvPr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2483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AF87D799-6DD3-483F-90D5-ECE244181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665619"/>
              </p:ext>
            </p:extLst>
          </p:nvPr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0B82F97-9453-453F-B96B-94C9C95429FD}"/>
              </a:ext>
            </a:extLst>
          </p:cNvPr>
          <p:cNvSpPr txBox="1"/>
          <p:nvPr/>
        </p:nvSpPr>
        <p:spPr>
          <a:xfrm>
            <a:off x="5351147" y="3749387"/>
            <a:ext cx="1489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Convert to AER format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C8B23B96-A1D5-47EC-B64C-926C4EA9A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754109"/>
              </p:ext>
            </p:extLst>
          </p:nvPr>
        </p:nvGraphicFramePr>
        <p:xfrm>
          <a:off x="7963719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09CB635D-3104-4779-AA3B-DE74C291C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151141"/>
              </p:ext>
            </p:extLst>
          </p:nvPr>
        </p:nvGraphicFramePr>
        <p:xfrm>
          <a:off x="7694211" y="3383931"/>
          <a:ext cx="269508" cy="26636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032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337918"/>
              </p:ext>
            </p:extLst>
          </p:nvPr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(1) Pattern Finding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18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85589"/>
            <a:ext cx="8020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 FSPs using Pattern Mining Algorithms and assign them to symbols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2387478" y="2314783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Encoded AER Data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2EC2B9-DE69-45DB-9E50-8ABF5F4B60A6}"/>
              </a:ext>
            </a:extLst>
          </p:cNvPr>
          <p:cNvCxnSpPr>
            <a:cxnSpLocks/>
          </p:cNvCxnSpPr>
          <p:nvPr/>
        </p:nvCxnSpPr>
        <p:spPr>
          <a:xfrm>
            <a:off x="5173133" y="4726285"/>
            <a:ext cx="220133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5A64DD8-6EA4-405E-A448-0F1655522068}"/>
              </a:ext>
            </a:extLst>
          </p:cNvPr>
          <p:cNvSpPr txBox="1"/>
          <p:nvPr/>
        </p:nvSpPr>
        <p:spPr>
          <a:xfrm>
            <a:off x="5041296" y="3972163"/>
            <a:ext cx="22933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 extract FSP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8043FF-F2FC-4778-9BB6-F46BDFEA3DBD}"/>
              </a:ext>
            </a:extLst>
          </p:cNvPr>
          <p:cNvSpPr txBox="1"/>
          <p:nvPr/>
        </p:nvSpPr>
        <p:spPr>
          <a:xfrm>
            <a:off x="7989511" y="4097894"/>
            <a:ext cx="2617734" cy="13388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{0, 2, 5, 6}</a:t>
            </a:r>
          </a:p>
          <a:p>
            <a:pPr algn="ctr"/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l-GR" sz="28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{1, 4}</a:t>
            </a:r>
            <a:endParaRPr lang="en-IN" sz="2500" dirty="0"/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1D9E313-99E5-4913-974B-964B39877B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710467"/>
              </p:ext>
            </p:extLst>
          </p:nvPr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2DCF1FE8-BB8D-43D8-B635-B97E8F410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320180"/>
              </p:ext>
            </p:extLst>
          </p:nvPr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D30B3C-29F1-4CE8-8E1E-E3CF0DADEE3A}"/>
              </a:ext>
            </a:extLst>
          </p:cNvPr>
          <p:cNvSpPr txBox="1"/>
          <p:nvPr/>
        </p:nvSpPr>
        <p:spPr>
          <a:xfrm>
            <a:off x="5677755" y="4905852"/>
            <a:ext cx="1020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FSP = 2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1293AA5-C1CB-4C5D-AA80-5AB672FDD396}"/>
              </a:ext>
            </a:extLst>
          </p:cNvPr>
          <p:cNvSpPr/>
          <p:nvPr/>
        </p:nvSpPr>
        <p:spPr>
          <a:xfrm rot="16200000">
            <a:off x="9033768" y="2721242"/>
            <a:ext cx="473075" cy="198272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F84D4A-3B9E-48EC-A905-F3F293F9F797}"/>
              </a:ext>
            </a:extLst>
          </p:cNvPr>
          <p:cNvSpPr txBox="1"/>
          <p:nvPr/>
        </p:nvSpPr>
        <p:spPr>
          <a:xfrm>
            <a:off x="7324212" y="2680987"/>
            <a:ext cx="389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Extracted FSPs are assigned to symbols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948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/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(1) Pattern Finding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19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85589"/>
            <a:ext cx="4326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presence of FSPs in AER data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2387478" y="2314783"/>
            <a:ext cx="2266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Encoded AER Data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1D9E313-99E5-4913-974B-964B39877B6F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2DCF1FE8-BB8D-43D8-B635-B97E8F41026E}"/>
              </a:ext>
            </a:extLst>
          </p:cNvPr>
          <p:cNvGraphicFramePr>
            <a:graphicFrameLocks noGrp="1"/>
          </p:cNvGraphicFramePr>
          <p:nvPr/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C0641CD9-2991-4014-9900-501D86BF5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958616"/>
              </p:ext>
            </p:extLst>
          </p:nvPr>
        </p:nvGraphicFramePr>
        <p:xfrm>
          <a:off x="7964276" y="3383932"/>
          <a:ext cx="2146352" cy="266366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B5D727B5-D1F7-48A8-8EA4-0B45D2177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64678"/>
              </p:ext>
            </p:extLst>
          </p:nvPr>
        </p:nvGraphicFramePr>
        <p:xfrm>
          <a:off x="7963719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5BB00822-D12C-4F87-9B91-4D0D7813B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007466"/>
              </p:ext>
            </p:extLst>
          </p:nvPr>
        </p:nvGraphicFramePr>
        <p:xfrm>
          <a:off x="7694211" y="3383931"/>
          <a:ext cx="269508" cy="26636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23" name="Arrow: Right 22">
            <a:extLst>
              <a:ext uri="{FF2B5EF4-FFF2-40B4-BE49-F238E27FC236}">
                <a16:creationId xmlns:a16="http://schemas.microsoft.com/office/drawing/2014/main" id="{B269BB99-EEEE-43CB-88F3-C8E451CDABC3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0ADE1-A5CB-4AF0-BC19-75387D9A739A}"/>
              </a:ext>
            </a:extLst>
          </p:cNvPr>
          <p:cNvSpPr txBox="1"/>
          <p:nvPr/>
        </p:nvSpPr>
        <p:spPr>
          <a:xfrm>
            <a:off x="5016498" y="3722887"/>
            <a:ext cx="2150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Scanning AER for the extracted FSPs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BDCE89-C3F8-461F-B29B-575DA2799542}"/>
              </a:ext>
            </a:extLst>
          </p:cNvPr>
          <p:cNvSpPr txBox="1"/>
          <p:nvPr/>
        </p:nvSpPr>
        <p:spPr>
          <a:xfrm>
            <a:off x="7960052" y="2314783"/>
            <a:ext cx="215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 FSPs in AER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077144-1F04-40B4-8EF5-3C5BE0DE9A3E}"/>
              </a:ext>
            </a:extLst>
          </p:cNvPr>
          <p:cNvSpPr/>
          <p:nvPr/>
        </p:nvSpPr>
        <p:spPr>
          <a:xfrm>
            <a:off x="8026400" y="3417496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C527D2-A821-48B5-9FDE-97A97D418571}"/>
              </a:ext>
            </a:extLst>
          </p:cNvPr>
          <p:cNvSpPr/>
          <p:nvPr/>
        </p:nvSpPr>
        <p:spPr>
          <a:xfrm>
            <a:off x="8026400" y="440040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25F71-25A3-45E7-B943-C063E9DAC57E}"/>
              </a:ext>
            </a:extLst>
          </p:cNvPr>
          <p:cNvSpPr/>
          <p:nvPr/>
        </p:nvSpPr>
        <p:spPr>
          <a:xfrm>
            <a:off x="8037497" y="5066981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C09EE-97C5-4044-ABA5-F183750DE788}"/>
              </a:ext>
            </a:extLst>
          </p:cNvPr>
          <p:cNvSpPr/>
          <p:nvPr/>
        </p:nvSpPr>
        <p:spPr>
          <a:xfrm>
            <a:off x="8270403" y="3744156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A68A64-19BD-4DCE-B749-92FDB27B8F51}"/>
              </a:ext>
            </a:extLst>
          </p:cNvPr>
          <p:cNvSpPr/>
          <p:nvPr/>
        </p:nvSpPr>
        <p:spPr>
          <a:xfrm>
            <a:off x="8270402" y="4733690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F46518-92AA-457E-8229-FC1041F06788}"/>
              </a:ext>
            </a:extLst>
          </p:cNvPr>
          <p:cNvSpPr/>
          <p:nvPr/>
        </p:nvSpPr>
        <p:spPr>
          <a:xfrm>
            <a:off x="8037497" y="5418802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662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DE59-2F01-4B5D-B468-9B7C5D9D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(2) Compression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DBAFC-203B-4705-A855-23091852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20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B44C7-F5A8-456B-AED9-018211AD8981}"/>
              </a:ext>
            </a:extLst>
          </p:cNvPr>
          <p:cNvSpPr txBox="1"/>
          <p:nvPr/>
        </p:nvSpPr>
        <p:spPr>
          <a:xfrm>
            <a:off x="838200" y="1685589"/>
            <a:ext cx="643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 FSPs with Symbols in AER data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4">
            <a:extLst>
              <a:ext uri="{FF2B5EF4-FFF2-40B4-BE49-F238E27FC236}">
                <a16:creationId xmlns:a16="http://schemas.microsoft.com/office/drawing/2014/main" id="{99450D4F-2C28-4FB3-868A-1FE01547A84A}"/>
              </a:ext>
            </a:extLst>
          </p:cNvPr>
          <p:cNvGraphicFramePr>
            <a:graphicFrameLocks noGrp="1"/>
          </p:cNvGraphicFramePr>
          <p:nvPr/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24" name="Table 4">
            <a:extLst>
              <a:ext uri="{FF2B5EF4-FFF2-40B4-BE49-F238E27FC236}">
                <a16:creationId xmlns:a16="http://schemas.microsoft.com/office/drawing/2014/main" id="{0043BBAB-A9BF-4F46-8327-598B1B23BF41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FC661F81-1183-4924-A0A6-4E1F28A9E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2707"/>
              </p:ext>
            </p:extLst>
          </p:nvPr>
        </p:nvGraphicFramePr>
        <p:xfrm>
          <a:off x="2174343" y="3385581"/>
          <a:ext cx="269508" cy="269142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642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26" name="Table 4">
            <a:extLst>
              <a:ext uri="{FF2B5EF4-FFF2-40B4-BE49-F238E27FC236}">
                <a16:creationId xmlns:a16="http://schemas.microsoft.com/office/drawing/2014/main" id="{A2986185-5A28-404E-9BC8-DB29AE8F1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862133"/>
              </p:ext>
            </p:extLst>
          </p:nvPr>
        </p:nvGraphicFramePr>
        <p:xfrm>
          <a:off x="2443851" y="3381735"/>
          <a:ext cx="2146352" cy="26930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663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35E93E1-B43E-4DCD-B910-E4D4A6E04C4B}"/>
              </a:ext>
            </a:extLst>
          </p:cNvPr>
          <p:cNvSpPr txBox="1"/>
          <p:nvPr/>
        </p:nvSpPr>
        <p:spPr>
          <a:xfrm>
            <a:off x="2439627" y="2335641"/>
            <a:ext cx="215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FSPs in AER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4F3CE7-B700-44CD-98D8-6A7C87930D0C}"/>
              </a:ext>
            </a:extLst>
          </p:cNvPr>
          <p:cNvSpPr/>
          <p:nvPr/>
        </p:nvSpPr>
        <p:spPr>
          <a:xfrm>
            <a:off x="2505975" y="3444704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AB1A3A-DD55-451B-960A-1D290BF7FEF9}"/>
              </a:ext>
            </a:extLst>
          </p:cNvPr>
          <p:cNvSpPr/>
          <p:nvPr/>
        </p:nvSpPr>
        <p:spPr>
          <a:xfrm>
            <a:off x="2505975" y="4427608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BDB014-937E-4C8F-9B96-DFDEAA948525}"/>
              </a:ext>
            </a:extLst>
          </p:cNvPr>
          <p:cNvSpPr/>
          <p:nvPr/>
        </p:nvSpPr>
        <p:spPr>
          <a:xfrm>
            <a:off x="2517072" y="5094189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B35BB53-348D-4764-8E12-A177E6B073A3}"/>
              </a:ext>
            </a:extLst>
          </p:cNvPr>
          <p:cNvSpPr/>
          <p:nvPr/>
        </p:nvSpPr>
        <p:spPr>
          <a:xfrm>
            <a:off x="2749978" y="3771364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1B7077-F45C-437A-82EC-BAE09E1DC5A0}"/>
              </a:ext>
            </a:extLst>
          </p:cNvPr>
          <p:cNvSpPr/>
          <p:nvPr/>
        </p:nvSpPr>
        <p:spPr>
          <a:xfrm>
            <a:off x="2749977" y="4760898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DBE6A5-82B3-447C-AA0D-72EF0437E0CC}"/>
              </a:ext>
            </a:extLst>
          </p:cNvPr>
          <p:cNvSpPr/>
          <p:nvPr/>
        </p:nvSpPr>
        <p:spPr>
          <a:xfrm>
            <a:off x="2517072" y="544601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F22A7AB-EDAF-4B94-AB35-4E723F111BE3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37" name="Table 4">
            <a:extLst>
              <a:ext uri="{FF2B5EF4-FFF2-40B4-BE49-F238E27FC236}">
                <a16:creationId xmlns:a16="http://schemas.microsoft.com/office/drawing/2014/main" id="{1B03CA31-66EF-421A-8448-68942252D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064306"/>
              </p:ext>
            </p:extLst>
          </p:nvPr>
        </p:nvGraphicFramePr>
        <p:xfrm>
          <a:off x="8530055" y="3257485"/>
          <a:ext cx="2150574" cy="28111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3481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74161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49927"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6166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4992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AD5FEFCB-9483-4664-B78B-F1E6C1983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77547"/>
              </p:ext>
            </p:extLst>
          </p:nvPr>
        </p:nvGraphicFramePr>
        <p:xfrm>
          <a:off x="7500702" y="3264475"/>
          <a:ext cx="269508" cy="280416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505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FFD83BF-9EF0-4197-B0B7-0FA4B74D027D}"/>
              </a:ext>
            </a:extLst>
          </p:cNvPr>
          <p:cNvSpPr txBox="1"/>
          <p:nvPr/>
        </p:nvSpPr>
        <p:spPr>
          <a:xfrm>
            <a:off x="7770210" y="2339062"/>
            <a:ext cx="330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Compress FSPs to Symbols</a:t>
            </a:r>
          </a:p>
        </p:txBody>
      </p:sp>
      <p:graphicFrame>
        <p:nvGraphicFramePr>
          <p:cNvPr id="41" name="Table 7">
            <a:extLst>
              <a:ext uri="{FF2B5EF4-FFF2-40B4-BE49-F238E27FC236}">
                <a16:creationId xmlns:a16="http://schemas.microsoft.com/office/drawing/2014/main" id="{9BBCC082-27C0-4603-B6E9-05F19FFBA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305327"/>
              </p:ext>
            </p:extLst>
          </p:nvPr>
        </p:nvGraphicFramePr>
        <p:xfrm>
          <a:off x="7783621" y="3257485"/>
          <a:ext cx="733022" cy="2819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66511">
                  <a:extLst>
                    <a:ext uri="{9D8B030D-6E8A-4147-A177-3AD203B41FA5}">
                      <a16:colId xmlns:a16="http://schemas.microsoft.com/office/drawing/2014/main" val="791530437"/>
                    </a:ext>
                  </a:extLst>
                </a:gridCol>
                <a:gridCol w="366511">
                  <a:extLst>
                    <a:ext uri="{9D8B030D-6E8A-4147-A177-3AD203B41FA5}">
                      <a16:colId xmlns:a16="http://schemas.microsoft.com/office/drawing/2014/main" val="918452948"/>
                    </a:ext>
                  </a:extLst>
                </a:gridCol>
              </a:tblGrid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l-GR" sz="1500" b="0" baseline="-2500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60879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786749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982449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44891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algn="ctr"/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85200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98793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819181"/>
                  </a:ext>
                </a:extLst>
              </a:tr>
              <a:tr h="352440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148048"/>
                  </a:ext>
                </a:extLst>
              </a:tr>
            </a:tbl>
          </a:graphicData>
        </a:graphic>
      </p:graphicFrame>
      <p:graphicFrame>
        <p:nvGraphicFramePr>
          <p:cNvPr id="43" name="Table 4">
            <a:extLst>
              <a:ext uri="{FF2B5EF4-FFF2-40B4-BE49-F238E27FC236}">
                <a16:creationId xmlns:a16="http://schemas.microsoft.com/office/drawing/2014/main" id="{0680F22E-9C93-4E1A-B9A1-F64BDD6A6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958757"/>
              </p:ext>
            </p:extLst>
          </p:nvPr>
        </p:nvGraphicFramePr>
        <p:xfrm>
          <a:off x="8530054" y="2952685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sp>
        <p:nvSpPr>
          <p:cNvPr id="44" name="Right Brace 43">
            <a:extLst>
              <a:ext uri="{FF2B5EF4-FFF2-40B4-BE49-F238E27FC236}">
                <a16:creationId xmlns:a16="http://schemas.microsoft.com/office/drawing/2014/main" id="{B3977B39-E8D9-49CC-BE89-5B3AD8AAC919}"/>
              </a:ext>
            </a:extLst>
          </p:cNvPr>
          <p:cNvSpPr/>
          <p:nvPr/>
        </p:nvSpPr>
        <p:spPr>
          <a:xfrm rot="5400000">
            <a:off x="8074374" y="5787641"/>
            <a:ext cx="164926" cy="74643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9FC2F-2DCC-4578-8914-FB022AACBB4F}"/>
              </a:ext>
            </a:extLst>
          </p:cNvPr>
          <p:cNvSpPr txBox="1"/>
          <p:nvPr/>
        </p:nvSpPr>
        <p:spPr>
          <a:xfrm>
            <a:off x="7206975" y="6301722"/>
            <a:ext cx="1899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Compressed FSPs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7F031F-D500-41FE-9AA4-22D2FE67F544}"/>
              </a:ext>
            </a:extLst>
          </p:cNvPr>
          <p:cNvSpPr txBox="1"/>
          <p:nvPr/>
        </p:nvSpPr>
        <p:spPr>
          <a:xfrm>
            <a:off x="5046010" y="3760670"/>
            <a:ext cx="19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Replacing selected FSPs with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849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4">
            <a:extLst>
              <a:ext uri="{FF2B5EF4-FFF2-40B4-BE49-F238E27FC236}">
                <a16:creationId xmlns:a16="http://schemas.microsoft.com/office/drawing/2014/main" id="{1B03CA31-66EF-421A-8448-68942252D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324920"/>
              </p:ext>
            </p:extLst>
          </p:nvPr>
        </p:nvGraphicFramePr>
        <p:xfrm>
          <a:off x="2446066" y="3394635"/>
          <a:ext cx="2150574" cy="26800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3481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74161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3602"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4479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3602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39" name="Table 5">
            <a:extLst>
              <a:ext uri="{FF2B5EF4-FFF2-40B4-BE49-F238E27FC236}">
                <a16:creationId xmlns:a16="http://schemas.microsoft.com/office/drawing/2014/main" id="{AD5FEFCB-9483-4664-B78B-F1E6C1983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111760"/>
              </p:ext>
            </p:extLst>
          </p:nvPr>
        </p:nvGraphicFramePr>
        <p:xfrm>
          <a:off x="1416713" y="3401625"/>
          <a:ext cx="269508" cy="267301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412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FFD83BF-9EF0-4197-B0B7-0FA4B74D027D}"/>
              </a:ext>
            </a:extLst>
          </p:cNvPr>
          <p:cNvSpPr txBox="1"/>
          <p:nvPr/>
        </p:nvSpPr>
        <p:spPr>
          <a:xfrm>
            <a:off x="1686221" y="2411822"/>
            <a:ext cx="330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Compressed Symbols</a:t>
            </a:r>
          </a:p>
        </p:txBody>
      </p:sp>
      <p:graphicFrame>
        <p:nvGraphicFramePr>
          <p:cNvPr id="41" name="Table 7">
            <a:extLst>
              <a:ext uri="{FF2B5EF4-FFF2-40B4-BE49-F238E27FC236}">
                <a16:creationId xmlns:a16="http://schemas.microsoft.com/office/drawing/2014/main" id="{9BBCC082-27C0-4603-B6E9-05F19FFBA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08356"/>
              </p:ext>
            </p:extLst>
          </p:nvPr>
        </p:nvGraphicFramePr>
        <p:xfrm>
          <a:off x="1699632" y="3394635"/>
          <a:ext cx="733022" cy="268000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66511">
                  <a:extLst>
                    <a:ext uri="{9D8B030D-6E8A-4147-A177-3AD203B41FA5}">
                      <a16:colId xmlns:a16="http://schemas.microsoft.com/office/drawing/2014/main" val="791530437"/>
                    </a:ext>
                  </a:extLst>
                </a:gridCol>
                <a:gridCol w="366511">
                  <a:extLst>
                    <a:ext uri="{9D8B030D-6E8A-4147-A177-3AD203B41FA5}">
                      <a16:colId xmlns:a16="http://schemas.microsoft.com/office/drawing/2014/main" val="918452948"/>
                    </a:ext>
                  </a:extLst>
                </a:gridCol>
              </a:tblGrid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l-GR" sz="1500" b="0" baseline="-2500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460879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786749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982449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5144891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algn="ctr"/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b="0" dirty="0"/>
                        <a:t>α</a:t>
                      </a:r>
                      <a:r>
                        <a:rPr lang="en-US" sz="1500" b="0" baseline="-2500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585200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698793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1500" dirty="0"/>
                        <a:t>α</a:t>
                      </a:r>
                      <a:r>
                        <a:rPr lang="el-GR" sz="1500" baseline="-250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819181"/>
                  </a:ext>
                </a:extLst>
              </a:tr>
              <a:tr h="335001">
                <a:tc>
                  <a:txBody>
                    <a:bodyPr/>
                    <a:lstStyle/>
                    <a:p>
                      <a:pPr marL="0" marR="0" lvl="0" indent="0" algn="ctr" defTabSz="15849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148048"/>
                  </a:ext>
                </a:extLst>
              </a:tr>
            </a:tbl>
          </a:graphicData>
        </a:graphic>
      </p:graphicFrame>
      <p:graphicFrame>
        <p:nvGraphicFramePr>
          <p:cNvPr id="43" name="Table 4">
            <a:extLst>
              <a:ext uri="{FF2B5EF4-FFF2-40B4-BE49-F238E27FC236}">
                <a16:creationId xmlns:a16="http://schemas.microsoft.com/office/drawing/2014/main" id="{0680F22E-9C93-4E1A-B9A1-F64BDD6A6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814329"/>
              </p:ext>
            </p:extLst>
          </p:nvPr>
        </p:nvGraphicFramePr>
        <p:xfrm>
          <a:off x="2446065" y="3089835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sp>
        <p:nvSpPr>
          <p:cNvPr id="44" name="Right Brace 43">
            <a:extLst>
              <a:ext uri="{FF2B5EF4-FFF2-40B4-BE49-F238E27FC236}">
                <a16:creationId xmlns:a16="http://schemas.microsoft.com/office/drawing/2014/main" id="{B3977B39-E8D9-49CC-BE89-5B3AD8AAC919}"/>
              </a:ext>
            </a:extLst>
          </p:cNvPr>
          <p:cNvSpPr/>
          <p:nvPr/>
        </p:nvSpPr>
        <p:spPr>
          <a:xfrm rot="5400000">
            <a:off x="1990385" y="5801074"/>
            <a:ext cx="164926" cy="74643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9FC2F-2DCC-4578-8914-FB022AACBB4F}"/>
              </a:ext>
            </a:extLst>
          </p:cNvPr>
          <p:cNvSpPr txBox="1"/>
          <p:nvPr/>
        </p:nvSpPr>
        <p:spPr>
          <a:xfrm>
            <a:off x="1122986" y="6366675"/>
            <a:ext cx="1899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Compressed FSPs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CDE59-2F01-4B5D-B468-9B7C5D9D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(2) Compression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0DBAFC-203B-4705-A855-230918524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21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B44C7-F5A8-456B-AED9-018211AD8981}"/>
              </a:ext>
            </a:extLst>
          </p:cNvPr>
          <p:cNvSpPr txBox="1"/>
          <p:nvPr/>
        </p:nvSpPr>
        <p:spPr>
          <a:xfrm>
            <a:off x="838200" y="1685589"/>
            <a:ext cx="6432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Decompress Symbols with FSP in AER data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7F22A7AB-EDAF-4B94-AB35-4E723F111BE3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7F031F-D500-41FE-9AA4-22D2FE67F544}"/>
              </a:ext>
            </a:extLst>
          </p:cNvPr>
          <p:cNvSpPr txBox="1"/>
          <p:nvPr/>
        </p:nvSpPr>
        <p:spPr>
          <a:xfrm>
            <a:off x="5046010" y="3760670"/>
            <a:ext cx="1998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Replacing symbols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l-GR" sz="14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their FSPs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Table 4">
            <a:extLst>
              <a:ext uri="{FF2B5EF4-FFF2-40B4-BE49-F238E27FC236}">
                <a16:creationId xmlns:a16="http://schemas.microsoft.com/office/drawing/2014/main" id="{A1A198C3-2065-4D4A-A5EC-761F3CEEA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331597"/>
              </p:ext>
            </p:extLst>
          </p:nvPr>
        </p:nvGraphicFramePr>
        <p:xfrm>
          <a:off x="8401584" y="3389935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38" name="Table 4">
            <a:extLst>
              <a:ext uri="{FF2B5EF4-FFF2-40B4-BE49-F238E27FC236}">
                <a16:creationId xmlns:a16="http://schemas.microsoft.com/office/drawing/2014/main" id="{BF057762-B9F6-4136-A595-39C5321E1F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632874"/>
              </p:ext>
            </p:extLst>
          </p:nvPr>
        </p:nvGraphicFramePr>
        <p:xfrm>
          <a:off x="8403117" y="3085135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42" name="Table 5">
            <a:extLst>
              <a:ext uri="{FF2B5EF4-FFF2-40B4-BE49-F238E27FC236}">
                <a16:creationId xmlns:a16="http://schemas.microsoft.com/office/drawing/2014/main" id="{6D28B7DA-8C29-472D-80E2-AC6FBED24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788884"/>
              </p:ext>
            </p:extLst>
          </p:nvPr>
        </p:nvGraphicFramePr>
        <p:xfrm>
          <a:off x="8132076" y="3391584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3499C43D-249D-47A4-B23B-415177BFF6C2}"/>
              </a:ext>
            </a:extLst>
          </p:cNvPr>
          <p:cNvSpPr txBox="1"/>
          <p:nvPr/>
        </p:nvSpPr>
        <p:spPr>
          <a:xfrm>
            <a:off x="7802436" y="2297948"/>
            <a:ext cx="3216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Decompress Symbols to FSPs</a:t>
            </a:r>
          </a:p>
        </p:txBody>
      </p:sp>
    </p:spTree>
    <p:extLst>
      <p:ext uri="{BB962C8B-B14F-4D97-AF65-F5344CB8AC3E}">
        <p14:creationId xmlns:p14="http://schemas.microsoft.com/office/powerpoint/2010/main" val="2764449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(2) Compression Phase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22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838200" y="1690688"/>
            <a:ext cx="6369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Decode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recovered 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AER to spike tensor and send to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ayer </a:t>
            </a:r>
            <a:r>
              <a:rPr lang="en-IN" sz="18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IN" sz="1800" i="1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endParaRPr lang="en-US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ED3CD-14AB-44C5-80EA-E5A0806FF0B7}"/>
              </a:ext>
            </a:extLst>
          </p:cNvPr>
          <p:cNvSpPr txBox="1"/>
          <p:nvPr/>
        </p:nvSpPr>
        <p:spPr>
          <a:xfrm>
            <a:off x="2902554" y="2274533"/>
            <a:ext cx="1236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AER Data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8A7F3D8-ED2E-4C26-A718-9DE97FD4A4E9}"/>
              </a:ext>
            </a:extLst>
          </p:cNvPr>
          <p:cNvSpPr/>
          <p:nvPr/>
        </p:nvSpPr>
        <p:spPr>
          <a:xfrm>
            <a:off x="5256466" y="4287051"/>
            <a:ext cx="1777238" cy="634285"/>
          </a:xfrm>
          <a:prstGeom prst="rightArrow">
            <a:avLst>
              <a:gd name="adj1" fmla="val 33756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7723745" y="2274533"/>
            <a:ext cx="2544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Decode to Spike Data</a:t>
            </a:r>
          </a:p>
        </p:txBody>
      </p:sp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983037EC-339B-4058-9645-AC33DE5E0646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2483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AF87D799-6DD3-483F-90D5-ECE244181017}"/>
              </a:ext>
            </a:extLst>
          </p:cNvPr>
          <p:cNvGraphicFramePr>
            <a:graphicFrameLocks noGrp="1"/>
          </p:cNvGraphicFramePr>
          <p:nvPr/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0B82F97-9453-453F-B96B-94C9C95429FD}"/>
              </a:ext>
            </a:extLst>
          </p:cNvPr>
          <p:cNvSpPr txBox="1"/>
          <p:nvPr/>
        </p:nvSpPr>
        <p:spPr>
          <a:xfrm>
            <a:off x="5256466" y="3672114"/>
            <a:ext cx="1584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Revert AER data to spike data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C8B23B96-A1D5-47EC-B64C-926C4EA9A5B6}"/>
              </a:ext>
            </a:extLst>
          </p:cNvPr>
          <p:cNvGraphicFramePr>
            <a:graphicFrameLocks noGrp="1"/>
          </p:cNvGraphicFramePr>
          <p:nvPr/>
        </p:nvGraphicFramePr>
        <p:xfrm>
          <a:off x="7963719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09CB635D-3104-4779-AA3B-DE74C291CFD7}"/>
              </a:ext>
            </a:extLst>
          </p:cNvPr>
          <p:cNvGraphicFramePr>
            <a:graphicFrameLocks noGrp="1"/>
          </p:cNvGraphicFramePr>
          <p:nvPr/>
        </p:nvGraphicFramePr>
        <p:xfrm>
          <a:off x="7694211" y="3383931"/>
          <a:ext cx="269508" cy="266366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2958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E22159CD-8A08-491E-BAB5-E406D16B5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295292"/>
              </p:ext>
            </p:extLst>
          </p:nvPr>
        </p:nvGraphicFramePr>
        <p:xfrm>
          <a:off x="2444616" y="3392934"/>
          <a:ext cx="2152112" cy="2675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44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514A50EA-15BC-4749-A18C-19346C070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92953"/>
              </p:ext>
            </p:extLst>
          </p:nvPr>
        </p:nvGraphicFramePr>
        <p:xfrm>
          <a:off x="7963719" y="3392934"/>
          <a:ext cx="2150576" cy="265466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1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1833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239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836134FD-00F5-4F71-97E8-55DD66A5BB37}"/>
              </a:ext>
            </a:extLst>
          </p:cNvPr>
          <p:cNvGraphicFramePr>
            <a:graphicFrameLocks noGrp="1"/>
          </p:cNvGraphicFramePr>
          <p:nvPr/>
        </p:nvGraphicFramePr>
        <p:xfrm>
          <a:off x="2443851" y="3383933"/>
          <a:ext cx="2152112" cy="26847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901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901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88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293845E-7D5D-466A-B7A8-B9578D3E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Compression Types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4E40B-087C-4E91-A51A-E97AAF50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23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0BA19-DF53-4871-9593-C85CBAF72995}"/>
              </a:ext>
            </a:extLst>
          </p:cNvPr>
          <p:cNvSpPr txBox="1"/>
          <p:nvPr/>
        </p:nvSpPr>
        <p:spPr>
          <a:xfrm>
            <a:off x="2319489" y="1672322"/>
            <a:ext cx="240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Lossless compression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2A6A56-B56C-4D8E-89E7-AC79F84F63F7}"/>
              </a:ext>
            </a:extLst>
          </p:cNvPr>
          <p:cNvSpPr txBox="1"/>
          <p:nvPr/>
        </p:nvSpPr>
        <p:spPr>
          <a:xfrm>
            <a:off x="2989118" y="2495083"/>
            <a:ext cx="106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PMT = 1</a:t>
            </a:r>
          </a:p>
        </p:txBody>
      </p:sp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1D9E313-99E5-4913-974B-964B39877B6F}"/>
              </a:ext>
            </a:extLst>
          </p:cNvPr>
          <p:cNvGraphicFramePr>
            <a:graphicFrameLocks noGrp="1"/>
          </p:cNvGraphicFramePr>
          <p:nvPr/>
        </p:nvGraphicFramePr>
        <p:xfrm>
          <a:off x="2445384" y="3079133"/>
          <a:ext cx="2150576" cy="3048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29625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32" name="Table 5">
            <a:extLst>
              <a:ext uri="{FF2B5EF4-FFF2-40B4-BE49-F238E27FC236}">
                <a16:creationId xmlns:a16="http://schemas.microsoft.com/office/drawing/2014/main" id="{2DCF1FE8-BB8D-43D8-B635-B97E8F41026E}"/>
              </a:ext>
            </a:extLst>
          </p:cNvPr>
          <p:cNvGraphicFramePr>
            <a:graphicFrameLocks noGrp="1"/>
          </p:cNvGraphicFramePr>
          <p:nvPr/>
        </p:nvGraphicFramePr>
        <p:xfrm>
          <a:off x="2174343" y="3385582"/>
          <a:ext cx="269508" cy="2682872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C0641CD9-2991-4014-9900-501D86BF5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955175"/>
              </p:ext>
            </p:extLst>
          </p:nvPr>
        </p:nvGraphicFramePr>
        <p:xfrm>
          <a:off x="7871140" y="3383932"/>
          <a:ext cx="2146352" cy="2684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8294">
                  <a:extLst>
                    <a:ext uri="{9D8B030D-6E8A-4147-A177-3AD203B41FA5}">
                      <a16:colId xmlns:a16="http://schemas.microsoft.com/office/drawing/2014/main" val="156066905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69436818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101541758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3756365332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906835844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4007715778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264672160"/>
                    </a:ext>
                  </a:extLst>
                </a:gridCol>
                <a:gridCol w="268294">
                  <a:extLst>
                    <a:ext uri="{9D8B030D-6E8A-4147-A177-3AD203B41FA5}">
                      <a16:colId xmlns:a16="http://schemas.microsoft.com/office/drawing/2014/main" val="956461879"/>
                    </a:ext>
                  </a:extLst>
                </a:gridCol>
              </a:tblGrid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0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754291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37973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89017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17881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422358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5716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2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5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dirty="0"/>
                        <a:t>6</a:t>
                      </a:r>
                      <a:endParaRPr lang="en-IN" sz="15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39073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990339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B5D727B5-D1F7-48A8-8EA4-0B45D2177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35972"/>
              </p:ext>
            </p:extLst>
          </p:nvPr>
        </p:nvGraphicFramePr>
        <p:xfrm>
          <a:off x="7870583" y="3066310"/>
          <a:ext cx="2150576" cy="3176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8822">
                  <a:extLst>
                    <a:ext uri="{9D8B030D-6E8A-4147-A177-3AD203B41FA5}">
                      <a16:colId xmlns:a16="http://schemas.microsoft.com/office/drawing/2014/main" val="2753884996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791531202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29345386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862601384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7391963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3900144223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2114623328"/>
                    </a:ext>
                  </a:extLst>
                </a:gridCol>
                <a:gridCol w="268822">
                  <a:extLst>
                    <a:ext uri="{9D8B030D-6E8A-4147-A177-3AD203B41FA5}">
                      <a16:colId xmlns:a16="http://schemas.microsoft.com/office/drawing/2014/main" val="1410055881"/>
                    </a:ext>
                  </a:extLst>
                </a:gridCol>
              </a:tblGrid>
              <a:tr h="317621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2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7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568139"/>
                  </a:ext>
                </a:extLst>
              </a:tr>
            </a:tbl>
          </a:graphicData>
        </a:graphic>
      </p:graphicFrame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5BB00822-D12C-4F87-9B91-4D0D7813B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80868"/>
              </p:ext>
            </p:extLst>
          </p:nvPr>
        </p:nvGraphicFramePr>
        <p:xfrm>
          <a:off x="7601075" y="3383930"/>
          <a:ext cx="269508" cy="26845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508">
                  <a:extLst>
                    <a:ext uri="{9D8B030D-6E8A-4147-A177-3AD203B41FA5}">
                      <a16:colId xmlns:a16="http://schemas.microsoft.com/office/drawing/2014/main" val="3547748583"/>
                    </a:ext>
                  </a:extLst>
                </a:gridCol>
              </a:tblGrid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7933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1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3685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811237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3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51433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4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478505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5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190691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6</a:t>
                      </a:r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835399"/>
                  </a:ext>
                </a:extLst>
              </a:tr>
              <a:tr h="3355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IN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5208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3BDCE89-C3F8-461F-B29B-575DA2799542}"/>
              </a:ext>
            </a:extLst>
          </p:cNvPr>
          <p:cNvSpPr txBox="1"/>
          <p:nvPr/>
        </p:nvSpPr>
        <p:spPr>
          <a:xfrm>
            <a:off x="7866916" y="2495083"/>
            <a:ext cx="2150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PMT = 0.7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077144-1F04-40B4-8EF5-3C5BE0DE9A3E}"/>
              </a:ext>
            </a:extLst>
          </p:cNvPr>
          <p:cNvSpPr/>
          <p:nvPr/>
        </p:nvSpPr>
        <p:spPr>
          <a:xfrm>
            <a:off x="7933264" y="3417496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C527D2-A821-48B5-9FDE-97A97D418571}"/>
              </a:ext>
            </a:extLst>
          </p:cNvPr>
          <p:cNvSpPr/>
          <p:nvPr/>
        </p:nvSpPr>
        <p:spPr>
          <a:xfrm>
            <a:off x="7933264" y="440040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525F71-25A3-45E7-B943-C063E9DAC57E}"/>
              </a:ext>
            </a:extLst>
          </p:cNvPr>
          <p:cNvSpPr/>
          <p:nvPr/>
        </p:nvSpPr>
        <p:spPr>
          <a:xfrm>
            <a:off x="7944361" y="5066981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0C09EE-97C5-4044-ABA5-F183750DE788}"/>
              </a:ext>
            </a:extLst>
          </p:cNvPr>
          <p:cNvSpPr/>
          <p:nvPr/>
        </p:nvSpPr>
        <p:spPr>
          <a:xfrm>
            <a:off x="8177267" y="3744156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A68A64-19BD-4DCE-B749-92FDB27B8F51}"/>
              </a:ext>
            </a:extLst>
          </p:cNvPr>
          <p:cNvSpPr/>
          <p:nvPr/>
        </p:nvSpPr>
        <p:spPr>
          <a:xfrm>
            <a:off x="8177266" y="4733690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F46518-92AA-457E-8229-FC1041F06788}"/>
              </a:ext>
            </a:extLst>
          </p:cNvPr>
          <p:cNvSpPr/>
          <p:nvPr/>
        </p:nvSpPr>
        <p:spPr>
          <a:xfrm>
            <a:off x="7944361" y="5418802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122B88-C6E8-447D-8184-C64AC1093581}"/>
              </a:ext>
            </a:extLst>
          </p:cNvPr>
          <p:cNvSpPr/>
          <p:nvPr/>
        </p:nvSpPr>
        <p:spPr>
          <a:xfrm>
            <a:off x="8447332" y="4073740"/>
            <a:ext cx="1257582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A923B0-D1F0-459B-8425-5D9BF5DCEB80}"/>
              </a:ext>
            </a:extLst>
          </p:cNvPr>
          <p:cNvSpPr/>
          <p:nvPr/>
        </p:nvSpPr>
        <p:spPr>
          <a:xfrm>
            <a:off x="7933265" y="5756789"/>
            <a:ext cx="719212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E9BC1A-91C9-4736-B719-A5D02C4E1442}"/>
              </a:ext>
            </a:extLst>
          </p:cNvPr>
          <p:cNvSpPr/>
          <p:nvPr/>
        </p:nvSpPr>
        <p:spPr>
          <a:xfrm>
            <a:off x="9227917" y="5756789"/>
            <a:ext cx="252339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1532AA7-E5E2-4DDB-8378-0DFDBA11B46A}"/>
              </a:ext>
            </a:extLst>
          </p:cNvPr>
          <p:cNvCxnSpPr>
            <a:cxnSpLocks/>
          </p:cNvCxnSpPr>
          <p:nvPr/>
        </p:nvCxnSpPr>
        <p:spPr>
          <a:xfrm>
            <a:off x="8652477" y="6019192"/>
            <a:ext cx="61682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6FDDBA9-3437-4983-8507-1E879451ADFE}"/>
              </a:ext>
            </a:extLst>
          </p:cNvPr>
          <p:cNvSpPr txBox="1"/>
          <p:nvPr/>
        </p:nvSpPr>
        <p:spPr>
          <a:xfrm>
            <a:off x="7735829" y="1696809"/>
            <a:ext cx="240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Lossy </a:t>
            </a:r>
          </a:p>
          <a:p>
            <a:pPr algn="ctr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2EE73D-FDB4-4F70-B0C4-D28DDE55EF02}"/>
              </a:ext>
            </a:extLst>
          </p:cNvPr>
          <p:cNvSpPr/>
          <p:nvPr/>
        </p:nvSpPr>
        <p:spPr>
          <a:xfrm>
            <a:off x="2494878" y="3417496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582AB1-2741-4036-B040-740BE9900047}"/>
              </a:ext>
            </a:extLst>
          </p:cNvPr>
          <p:cNvSpPr/>
          <p:nvPr/>
        </p:nvSpPr>
        <p:spPr>
          <a:xfrm>
            <a:off x="2494878" y="4400400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25D8C7-A2E9-457F-9DDD-B5DA4DD0525B}"/>
              </a:ext>
            </a:extLst>
          </p:cNvPr>
          <p:cNvSpPr/>
          <p:nvPr/>
        </p:nvSpPr>
        <p:spPr>
          <a:xfrm>
            <a:off x="2505975" y="5066981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50DDCD-1491-451D-9509-3C20A473D156}"/>
              </a:ext>
            </a:extLst>
          </p:cNvPr>
          <p:cNvSpPr/>
          <p:nvPr/>
        </p:nvSpPr>
        <p:spPr>
          <a:xfrm>
            <a:off x="2738881" y="3744156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891F25B-6F43-4FBB-AEAC-B5679F9C240A}"/>
              </a:ext>
            </a:extLst>
          </p:cNvPr>
          <p:cNvSpPr/>
          <p:nvPr/>
        </p:nvSpPr>
        <p:spPr>
          <a:xfrm>
            <a:off x="2738880" y="4733690"/>
            <a:ext cx="1006947" cy="262707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7679CE-CD52-4C96-8532-AB1CD124E8FE}"/>
              </a:ext>
            </a:extLst>
          </p:cNvPr>
          <p:cNvSpPr/>
          <p:nvPr/>
        </p:nvSpPr>
        <p:spPr>
          <a:xfrm>
            <a:off x="2505975" y="5418802"/>
            <a:ext cx="1771650" cy="262707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EFF952-D439-4428-9046-4801571DD34D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0" cy="4665662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9F23E6E-06BB-4CC7-B9DA-94838432F76D}"/>
              </a:ext>
            </a:extLst>
          </p:cNvPr>
          <p:cNvSpPr txBox="1"/>
          <p:nvPr/>
        </p:nvSpPr>
        <p:spPr>
          <a:xfrm>
            <a:off x="10285910" y="758175"/>
            <a:ext cx="158110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l-GR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{0, 2, 5, 6}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l-GR" sz="16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{1, 4}</a:t>
            </a:r>
            <a:endParaRPr lang="en-IN" sz="16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57D5AE-C806-471F-AF83-527BA29A2498}"/>
              </a:ext>
            </a:extLst>
          </p:cNvPr>
          <p:cNvGrpSpPr/>
          <p:nvPr/>
        </p:nvGrpSpPr>
        <p:grpSpPr>
          <a:xfrm>
            <a:off x="4590926" y="4205093"/>
            <a:ext cx="3010149" cy="1701995"/>
            <a:chOff x="4590926" y="4205093"/>
            <a:chExt cx="3010149" cy="17019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62EB53-9427-41CD-A64F-7A72E35C701B}"/>
                </a:ext>
              </a:extLst>
            </p:cNvPr>
            <p:cNvSpPr/>
            <p:nvPr/>
          </p:nvSpPr>
          <p:spPr>
            <a:xfrm>
              <a:off x="5354666" y="4259377"/>
              <a:ext cx="1473199" cy="1070311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Pattern at timestep 2 and 7: ⌈0.7*4⌉ = 3</a:t>
              </a:r>
            </a:p>
            <a:p>
              <a:pPr algn="ctr"/>
              <a:r>
                <a:rPr lang="en-US" sz="1400" dirty="0"/>
                <a:t> elements of α</a:t>
              </a:r>
              <a:r>
                <a:rPr lang="en-US" sz="1400" baseline="-25000" dirty="0"/>
                <a:t>1</a:t>
              </a:r>
              <a:r>
                <a:rPr lang="en-US" sz="1400" dirty="0"/>
                <a:t> present 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F6E980A-E4FF-4E21-90AB-A95A0653B21B}"/>
                </a:ext>
              </a:extLst>
            </p:cNvPr>
            <p:cNvGrpSpPr/>
            <p:nvPr/>
          </p:nvGrpSpPr>
          <p:grpSpPr>
            <a:xfrm>
              <a:off x="4590926" y="4205093"/>
              <a:ext cx="763740" cy="1683050"/>
              <a:chOff x="4583751" y="4205093"/>
              <a:chExt cx="770915" cy="1683050"/>
            </a:xfrm>
          </p:grpSpPr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3C21981A-693D-4B4A-B4F1-AF842FD01B8E}"/>
                  </a:ext>
                </a:extLst>
              </p:cNvPr>
              <p:cNvCxnSpPr>
                <a:cxnSpLocks/>
                <a:endCxn id="4" idx="1"/>
              </p:cNvCxnSpPr>
              <p:nvPr/>
            </p:nvCxnSpPr>
            <p:spPr>
              <a:xfrm>
                <a:off x="4583751" y="4205093"/>
                <a:ext cx="770915" cy="589440"/>
              </a:xfrm>
              <a:prstGeom prst="bentConnector3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: Elbow 12">
                <a:extLst>
                  <a:ext uri="{FF2B5EF4-FFF2-40B4-BE49-F238E27FC236}">
                    <a16:creationId xmlns:a16="http://schemas.microsoft.com/office/drawing/2014/main" id="{778AF1EB-BD2B-4F38-8505-7927FD5FC39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235781" y="5154715"/>
                <a:ext cx="1093609" cy="373247"/>
              </a:xfrm>
              <a:prstGeom prst="bentConnector3">
                <a:avLst>
                  <a:gd name="adj1" fmla="val 101678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95CFA8C-57A7-4135-AE51-274A19587FDF}"/>
                </a:ext>
              </a:extLst>
            </p:cNvPr>
            <p:cNvGrpSpPr/>
            <p:nvPr/>
          </p:nvGrpSpPr>
          <p:grpSpPr>
            <a:xfrm>
              <a:off x="6827865" y="4205093"/>
              <a:ext cx="773210" cy="1701995"/>
              <a:chOff x="6827865" y="4205093"/>
              <a:chExt cx="773210" cy="1701995"/>
            </a:xfrm>
          </p:grpSpPr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CDAB5C24-828E-411F-8125-3D86622CFB6A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 flipV="1">
                <a:off x="6827865" y="4205093"/>
                <a:ext cx="773210" cy="589440"/>
              </a:xfrm>
              <a:prstGeom prst="bentConnector3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D1D3152-7363-4382-9443-6369A6CFA2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5190" y="4794533"/>
                <a:ext cx="0" cy="1112555"/>
              </a:xfrm>
              <a:prstGeom prst="line">
                <a:avLst/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1C4CE81-DE36-4197-8272-4BB2D31176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15190" y="5907088"/>
                <a:ext cx="385885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98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838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300C-D013-425D-905B-9665E744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 and Result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2F658-B104-4A8E-8A39-E4A765D05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Model Configuration:</a:t>
            </a: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Datasets Used: MNIST, Fashion-MNIST (3000 images out of 10000)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Framework Used: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snnTorch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Pattern Mining Algorithms: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mlxtend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fpmax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[6], PAMI’s FP-growth and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maxFP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-growth [7]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Minimum Support Value: 0.25 (0.35 for four-layer SNN in F-MNIST)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Criteria: Evaluation based on PMT and FSP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C5E51-D87B-481A-A2A0-CA2C290E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25</a:t>
            </a:fld>
            <a:endParaRPr lang="en-IN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F169885-0C64-47C6-BC71-46D4C3855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135177"/>
              </p:ext>
            </p:extLst>
          </p:nvPr>
        </p:nvGraphicFramePr>
        <p:xfrm>
          <a:off x="2032000" y="2368163"/>
          <a:ext cx="8128000" cy="129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2497">
                  <a:extLst>
                    <a:ext uri="{9D8B030D-6E8A-4147-A177-3AD203B41FA5}">
                      <a16:colId xmlns:a16="http://schemas.microsoft.com/office/drawing/2014/main" val="1174264172"/>
                    </a:ext>
                  </a:extLst>
                </a:gridCol>
                <a:gridCol w="2161503">
                  <a:extLst>
                    <a:ext uri="{9D8B030D-6E8A-4147-A177-3AD203B41FA5}">
                      <a16:colId xmlns:a16="http://schemas.microsoft.com/office/drawing/2014/main" val="17485788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298370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7118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Neurons (IN)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Hidden Neurons (HN)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Neurons (ON)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18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Three-layer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5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Four-layer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784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(HN1), 60 (HN2)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N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1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278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6276990-EB40-4307-B669-87FD36A6D8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1" t="1919" b="56602"/>
          <a:stretch/>
        </p:blipFill>
        <p:spPr>
          <a:xfrm>
            <a:off x="412240" y="1712652"/>
            <a:ext cx="5480559" cy="3314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7A318-A16D-4EC9-B65F-A06C66C3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 based on FSP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FAF09-312D-4D0E-B6C1-54296ECEF609}"/>
              </a:ext>
            </a:extLst>
          </p:cNvPr>
          <p:cNvSpPr txBox="1"/>
          <p:nvPr/>
        </p:nvSpPr>
        <p:spPr>
          <a:xfrm>
            <a:off x="2274085" y="5954890"/>
            <a:ext cx="764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Fig. 8: Evaluation of FSPC between layer HN1–HN2 in a 784-100-60-10 neuron SNN with respect to FSP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108B8-CCD1-423C-A77D-14CB6F12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26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17622-CBF7-4AF8-A567-F02F594464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85763" r="55822" b="3584"/>
          <a:stretch/>
        </p:blipFill>
        <p:spPr>
          <a:xfrm>
            <a:off x="3750214" y="5008669"/>
            <a:ext cx="4383860" cy="907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40C9A-A5AE-4D3B-9A34-13E842B52198}"/>
              </a:ext>
            </a:extLst>
          </p:cNvPr>
          <p:cNvSpPr txBox="1"/>
          <p:nvPr/>
        </p:nvSpPr>
        <p:spPr>
          <a:xfrm>
            <a:off x="2051658" y="5008669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 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B51FF-CD6A-4453-873B-6C09C7ACD9ED}"/>
              </a:ext>
            </a:extLst>
          </p:cNvPr>
          <p:cNvSpPr txBox="1"/>
          <p:nvPr/>
        </p:nvSpPr>
        <p:spPr>
          <a:xfrm>
            <a:off x="7974705" y="5013600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 F-MNIST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9F8E6B-05E3-4CE5-AF5F-C5A80DDF4FE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81" t="46445" b="13271"/>
          <a:stretch/>
        </p:blipFill>
        <p:spPr>
          <a:xfrm>
            <a:off x="6387654" y="1811423"/>
            <a:ext cx="5418933" cy="31831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21C5DBA-3DC6-4F11-BA89-75BA9FE0A603}"/>
              </a:ext>
            </a:extLst>
          </p:cNvPr>
          <p:cNvSpPr txBox="1"/>
          <p:nvPr/>
        </p:nvSpPr>
        <p:spPr>
          <a:xfrm>
            <a:off x="10309627" y="5546624"/>
            <a:ext cx="1494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PMT = 0.65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336E50-77FD-41FD-8D17-A043ECEE304E}"/>
              </a:ext>
            </a:extLst>
          </p:cNvPr>
          <p:cNvCxnSpPr>
            <a:cxnSpLocks/>
          </p:cNvCxnSpPr>
          <p:nvPr/>
        </p:nvCxnSpPr>
        <p:spPr>
          <a:xfrm>
            <a:off x="977032" y="2893042"/>
            <a:ext cx="4363673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7280E6-FC66-4DB3-B5DE-CDABAC5851FA}"/>
              </a:ext>
            </a:extLst>
          </p:cNvPr>
          <p:cNvGrpSpPr/>
          <p:nvPr/>
        </p:nvGrpSpPr>
        <p:grpSpPr>
          <a:xfrm>
            <a:off x="3835399" y="2319866"/>
            <a:ext cx="215901" cy="573175"/>
            <a:chOff x="5892799" y="1519707"/>
            <a:chExt cx="0" cy="392806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74ABEF5-6F27-46D1-B763-026CC448CF37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EF8556B-C6D7-4BCA-849A-E29C0DC2A1AB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477BE61-2F82-421B-B5D3-7FF9B3D5BA13}"/>
              </a:ext>
            </a:extLst>
          </p:cNvPr>
          <p:cNvSpPr txBox="1"/>
          <p:nvPr/>
        </p:nvSpPr>
        <p:spPr>
          <a:xfrm>
            <a:off x="3750214" y="2289481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7030A0"/>
                </a:solidFill>
              </a:rPr>
              <a:t> 0.26% avg. accuracy drop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1064C7-BF8E-48E8-841A-767469AAC1CB}"/>
              </a:ext>
            </a:extLst>
          </p:cNvPr>
          <p:cNvGrpSpPr/>
          <p:nvPr/>
        </p:nvGrpSpPr>
        <p:grpSpPr>
          <a:xfrm>
            <a:off x="5276848" y="3259667"/>
            <a:ext cx="215901" cy="1386941"/>
            <a:chOff x="5892799" y="1519707"/>
            <a:chExt cx="0" cy="392806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F49AEFD-F4AC-477F-A6BD-D8F68159B588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06AE930-F4B2-4D10-9210-26F9F0296072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70165FB-71E7-49A2-A3E8-B282B0CF89DC}"/>
              </a:ext>
            </a:extLst>
          </p:cNvPr>
          <p:cNvSpPr txBox="1"/>
          <p:nvPr/>
        </p:nvSpPr>
        <p:spPr>
          <a:xfrm>
            <a:off x="4961467" y="24983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DCC042-6392-4EFE-97AB-C7C4E881BADC}"/>
              </a:ext>
            </a:extLst>
          </p:cNvPr>
          <p:cNvSpPr txBox="1"/>
          <p:nvPr/>
        </p:nvSpPr>
        <p:spPr>
          <a:xfrm>
            <a:off x="5099451" y="4026815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002060"/>
                </a:solidFill>
              </a:rPr>
              <a:t>20.59% max compression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EB7C4D-A58D-4C06-9FFE-0049FD13447A}"/>
              </a:ext>
            </a:extLst>
          </p:cNvPr>
          <p:cNvCxnSpPr>
            <a:cxnSpLocks/>
          </p:cNvCxnSpPr>
          <p:nvPr/>
        </p:nvCxnSpPr>
        <p:spPr>
          <a:xfrm>
            <a:off x="6915283" y="3024274"/>
            <a:ext cx="4363673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5727B79-4B70-45F9-A50E-4A184EC26478}"/>
              </a:ext>
            </a:extLst>
          </p:cNvPr>
          <p:cNvGrpSpPr/>
          <p:nvPr/>
        </p:nvGrpSpPr>
        <p:grpSpPr>
          <a:xfrm>
            <a:off x="10074965" y="2147602"/>
            <a:ext cx="215901" cy="876670"/>
            <a:chOff x="5892799" y="1519707"/>
            <a:chExt cx="0" cy="392806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0958520-D0E8-4510-B18B-24C9F36F827E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5FF184B-DA9C-456B-B933-3E1C8E27644C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CF5DA2A-8C71-45B5-8858-051F915D1E53}"/>
              </a:ext>
            </a:extLst>
          </p:cNvPr>
          <p:cNvSpPr txBox="1"/>
          <p:nvPr/>
        </p:nvSpPr>
        <p:spPr>
          <a:xfrm>
            <a:off x="9875423" y="2210718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7030A0"/>
                </a:solidFill>
              </a:rPr>
              <a:t> 1.16% avg. accuracy drop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F3C321-BCCD-4831-8541-1CD28B6644DA}"/>
              </a:ext>
            </a:extLst>
          </p:cNvPr>
          <p:cNvGrpSpPr/>
          <p:nvPr/>
        </p:nvGrpSpPr>
        <p:grpSpPr>
          <a:xfrm>
            <a:off x="11195026" y="3205482"/>
            <a:ext cx="215901" cy="1402129"/>
            <a:chOff x="5892799" y="1519707"/>
            <a:chExt cx="0" cy="392806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E89E61F-87A5-4DE3-A98D-4C4337952EC0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EA5A29C-B9C6-4C71-888F-1C41DEBBF1C2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C7AE1AAA-8830-42EE-BEAF-62F6565CA7C8}"/>
              </a:ext>
            </a:extLst>
          </p:cNvPr>
          <p:cNvSpPr txBox="1"/>
          <p:nvPr/>
        </p:nvSpPr>
        <p:spPr>
          <a:xfrm>
            <a:off x="10215980" y="4683495"/>
            <a:ext cx="1685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dirty="0">
                <a:solidFill>
                  <a:srgbClr val="002060"/>
                </a:solidFill>
              </a:rPr>
              <a:t> 31.50% max compression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F4AD70-80B6-4391-B4B4-14A84A4D474D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1594124" y="2527811"/>
            <a:ext cx="679961" cy="16790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AAF492E-CE90-4ED3-A5CF-7D9145247A69}"/>
              </a:ext>
            </a:extLst>
          </p:cNvPr>
          <p:cNvSpPr txBox="1"/>
          <p:nvPr/>
        </p:nvSpPr>
        <p:spPr>
          <a:xfrm>
            <a:off x="923506" y="2004591"/>
            <a:ext cx="27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FP-growth/</a:t>
            </a:r>
            <a:r>
              <a:rPr lang="en-US" sz="1400" dirty="0" err="1">
                <a:solidFill>
                  <a:srgbClr val="00B050"/>
                </a:solidFill>
              </a:rPr>
              <a:t>maxFP</a:t>
            </a:r>
            <a:r>
              <a:rPr lang="en-US" sz="1400" dirty="0">
                <a:solidFill>
                  <a:srgbClr val="00B050"/>
                </a:solidFill>
              </a:rPr>
              <a:t>-growth: accuracy falling</a:t>
            </a:r>
            <a:endParaRPr lang="en-IN" sz="1400" dirty="0">
              <a:solidFill>
                <a:srgbClr val="00B050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1A5AA0A-6C22-4480-A703-7780DBD673E5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8343344" y="1834768"/>
            <a:ext cx="976577" cy="10941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169C901-ECD4-4C3E-A936-4CBB3A73A489}"/>
              </a:ext>
            </a:extLst>
          </p:cNvPr>
          <p:cNvSpPr txBox="1"/>
          <p:nvPr/>
        </p:nvSpPr>
        <p:spPr>
          <a:xfrm>
            <a:off x="7969342" y="1526991"/>
            <a:ext cx="270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B0F0"/>
                </a:solidFill>
              </a:rPr>
              <a:t>fpmax</a:t>
            </a:r>
            <a:r>
              <a:rPr lang="en-US" sz="1400" dirty="0">
                <a:solidFill>
                  <a:srgbClr val="00B0F0"/>
                </a:solidFill>
              </a:rPr>
              <a:t>: accuracy falling</a:t>
            </a:r>
            <a:endParaRPr lang="en-IN" sz="1400" dirty="0">
              <a:solidFill>
                <a:srgbClr val="00B0F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C06EE6-1863-4459-9725-36BC1812F3F3}"/>
              </a:ext>
            </a:extLst>
          </p:cNvPr>
          <p:cNvSpPr txBox="1"/>
          <p:nvPr/>
        </p:nvSpPr>
        <p:spPr>
          <a:xfrm>
            <a:off x="6571374" y="1889374"/>
            <a:ext cx="27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FP-growth/</a:t>
            </a:r>
            <a:r>
              <a:rPr lang="en-US" sz="1400" dirty="0" err="1">
                <a:solidFill>
                  <a:srgbClr val="00B050"/>
                </a:solidFill>
              </a:rPr>
              <a:t>maxFP</a:t>
            </a:r>
            <a:r>
              <a:rPr lang="en-US" sz="1400" dirty="0">
                <a:solidFill>
                  <a:srgbClr val="00B050"/>
                </a:solidFill>
              </a:rPr>
              <a:t>-growth: accuracy stabilizes</a:t>
            </a:r>
            <a:endParaRPr lang="en-IN" sz="1400" dirty="0">
              <a:solidFill>
                <a:srgbClr val="00B05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3FF779-18C8-4E81-ABAA-AB2AC424E91C}"/>
              </a:ext>
            </a:extLst>
          </p:cNvPr>
          <p:cNvSpPr txBox="1"/>
          <p:nvPr/>
        </p:nvSpPr>
        <p:spPr>
          <a:xfrm>
            <a:off x="2503019" y="1636648"/>
            <a:ext cx="27011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B0F0"/>
                </a:solidFill>
              </a:rPr>
              <a:t>fpmax</a:t>
            </a:r>
            <a:r>
              <a:rPr lang="en-US" sz="1400" dirty="0">
                <a:solidFill>
                  <a:srgbClr val="00B0F0"/>
                </a:solidFill>
              </a:rPr>
              <a:t>: accuracy stabilizes</a:t>
            </a:r>
            <a:endParaRPr lang="en-IN" sz="1400" dirty="0">
              <a:solidFill>
                <a:srgbClr val="00B0F0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EBD8195-169C-4747-8851-11B0A0004745}"/>
              </a:ext>
            </a:extLst>
          </p:cNvPr>
          <p:cNvCxnSpPr>
            <a:cxnSpLocks/>
            <a:stCxn id="50" idx="2"/>
          </p:cNvCxnSpPr>
          <p:nvPr/>
        </p:nvCxnSpPr>
        <p:spPr>
          <a:xfrm flipH="1">
            <a:off x="7887145" y="2412594"/>
            <a:ext cx="34808" cy="39360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921C0A-9675-4C92-855F-DCECCDEFB963}"/>
              </a:ext>
            </a:extLst>
          </p:cNvPr>
          <p:cNvCxnSpPr>
            <a:cxnSpLocks/>
            <a:stCxn id="51" idx="2"/>
          </p:cNvCxnSpPr>
          <p:nvPr/>
        </p:nvCxnSpPr>
        <p:spPr>
          <a:xfrm flipH="1">
            <a:off x="2819400" y="1944425"/>
            <a:ext cx="1034198" cy="1205175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27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  <p:bldP spid="36" grpId="0"/>
      <p:bldP spid="40" grpId="0"/>
      <p:bldP spid="19" grpId="0"/>
      <p:bldP spid="45" grpId="0"/>
      <p:bldP spid="50" grpId="0"/>
      <p:bldP spid="5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5A560E1-07CD-49A1-BFA4-CABBEF1D96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67" b="14114"/>
          <a:stretch/>
        </p:blipFill>
        <p:spPr>
          <a:xfrm>
            <a:off x="6292852" y="1819297"/>
            <a:ext cx="5506936" cy="3189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FFE74A-E53D-4C88-A4CD-39E7D28B0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48"/>
          <a:stretch/>
        </p:blipFill>
        <p:spPr>
          <a:xfrm>
            <a:off x="454683" y="1778445"/>
            <a:ext cx="5429248" cy="3208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7A318-A16D-4EC9-B65F-A06C66C3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 based on PMT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BFAF09-312D-4D0E-B6C1-54296ECEF609}"/>
              </a:ext>
            </a:extLst>
          </p:cNvPr>
          <p:cNvSpPr txBox="1"/>
          <p:nvPr/>
        </p:nvSpPr>
        <p:spPr>
          <a:xfrm>
            <a:off x="2274085" y="5954890"/>
            <a:ext cx="764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Fig. 9: Evaluation of FSPC between layer HN1–HN2 in a 784-100-60-10 neuron SNN with respect to PMT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108B8-CCD1-423C-A77D-14CB6F12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27</a:t>
            </a:fld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17622-CBF7-4AF8-A567-F02F594464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85763" r="55822" b="3584"/>
          <a:stretch/>
        </p:blipFill>
        <p:spPr>
          <a:xfrm>
            <a:off x="3750214" y="5008669"/>
            <a:ext cx="4383860" cy="9072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840C9A-A5AE-4D3B-9A34-13E842B52198}"/>
              </a:ext>
            </a:extLst>
          </p:cNvPr>
          <p:cNvSpPr txBox="1"/>
          <p:nvPr/>
        </p:nvSpPr>
        <p:spPr>
          <a:xfrm>
            <a:off x="2051658" y="5008669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(a) 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3B51FF-CD6A-4453-873B-6C09C7ACD9ED}"/>
              </a:ext>
            </a:extLst>
          </p:cNvPr>
          <p:cNvSpPr txBox="1"/>
          <p:nvPr/>
        </p:nvSpPr>
        <p:spPr>
          <a:xfrm>
            <a:off x="7974705" y="5013600"/>
            <a:ext cx="2085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(b) F-MNIST Dataset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7021F0-E488-422E-A4F9-AB21CAE11F10}"/>
              </a:ext>
            </a:extLst>
          </p:cNvPr>
          <p:cNvSpPr txBox="1"/>
          <p:nvPr/>
        </p:nvSpPr>
        <p:spPr>
          <a:xfrm>
            <a:off x="10309627" y="5546624"/>
            <a:ext cx="1135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FSP = 1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C5D09D-E7E4-4620-998A-EB65C0785D53}"/>
              </a:ext>
            </a:extLst>
          </p:cNvPr>
          <p:cNvCxnSpPr>
            <a:cxnSpLocks/>
          </p:cNvCxnSpPr>
          <p:nvPr/>
        </p:nvCxnSpPr>
        <p:spPr>
          <a:xfrm>
            <a:off x="1065932" y="3299442"/>
            <a:ext cx="4363673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A82E44-D411-49AC-9F9C-0E234ADA50CF}"/>
              </a:ext>
            </a:extLst>
          </p:cNvPr>
          <p:cNvGrpSpPr/>
          <p:nvPr/>
        </p:nvGrpSpPr>
        <p:grpSpPr>
          <a:xfrm>
            <a:off x="4999084" y="3299442"/>
            <a:ext cx="215901" cy="891557"/>
            <a:chOff x="5892799" y="1519707"/>
            <a:chExt cx="0" cy="392806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8F57BB9-6B62-424A-B12D-9B691A088D03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E8AED08-E956-4D05-9E2A-15FB28A11317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F7639B0-450A-4D33-B46B-3F9274893515}"/>
              </a:ext>
            </a:extLst>
          </p:cNvPr>
          <p:cNvSpPr txBox="1"/>
          <p:nvPr/>
        </p:nvSpPr>
        <p:spPr>
          <a:xfrm>
            <a:off x="4081582" y="2773093"/>
            <a:ext cx="14692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0" i="0" dirty="0">
                <a:solidFill>
                  <a:srgbClr val="002060"/>
                </a:solidFill>
                <a:effectLst/>
                <a:latin typeface="Google Sans"/>
              </a:rPr>
              <a:t>12.59% loss in compression </a:t>
            </a:r>
            <a:endParaRPr lang="en-IN" sz="1500" dirty="0">
              <a:solidFill>
                <a:srgbClr val="00206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61F9B89-41F5-4FF0-8E26-EFFC9E399DD0}"/>
              </a:ext>
            </a:extLst>
          </p:cNvPr>
          <p:cNvCxnSpPr>
            <a:cxnSpLocks/>
          </p:cNvCxnSpPr>
          <p:nvPr/>
        </p:nvCxnSpPr>
        <p:spPr>
          <a:xfrm>
            <a:off x="6847961" y="3276904"/>
            <a:ext cx="4505839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39EBDC-E06A-4B5B-87F7-39C54068C47D}"/>
              </a:ext>
            </a:extLst>
          </p:cNvPr>
          <p:cNvGrpSpPr/>
          <p:nvPr/>
        </p:nvGrpSpPr>
        <p:grpSpPr>
          <a:xfrm>
            <a:off x="10938950" y="3273700"/>
            <a:ext cx="107951" cy="713596"/>
            <a:chOff x="5892799" y="1519707"/>
            <a:chExt cx="0" cy="39280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3E0E28E-B619-494A-9FB2-A08984C1A13E}"/>
                </a:ext>
              </a:extLst>
            </p:cNvPr>
            <p:cNvCxnSpPr/>
            <p:nvPr/>
          </p:nvCxnSpPr>
          <p:spPr>
            <a:xfrm flipV="1">
              <a:off x="5892799" y="1519707"/>
              <a:ext cx="0" cy="291716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27D7312-9EA0-4362-BC90-855ACE7A276B}"/>
                </a:ext>
              </a:extLst>
            </p:cNvPr>
            <p:cNvCxnSpPr>
              <a:cxnSpLocks/>
            </p:cNvCxnSpPr>
            <p:nvPr/>
          </p:nvCxnSpPr>
          <p:spPr>
            <a:xfrm>
              <a:off x="5892799" y="1642056"/>
              <a:ext cx="0" cy="270457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BCF4BFD9-4672-4F3A-914F-0D6302965E05}"/>
              </a:ext>
            </a:extLst>
          </p:cNvPr>
          <p:cNvSpPr txBox="1"/>
          <p:nvPr/>
        </p:nvSpPr>
        <p:spPr>
          <a:xfrm>
            <a:off x="9917915" y="2747915"/>
            <a:ext cx="14692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b="0" i="0" dirty="0">
                <a:solidFill>
                  <a:srgbClr val="002060"/>
                </a:solidFill>
                <a:effectLst/>
                <a:latin typeface="Google Sans"/>
              </a:rPr>
              <a:t>15.29% loss in compression </a:t>
            </a:r>
            <a:endParaRPr lang="en-IN" sz="1500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74795D-5C36-471A-B90C-E03483AA2CB2}"/>
              </a:ext>
            </a:extLst>
          </p:cNvPr>
          <p:cNvSpPr txBox="1"/>
          <p:nvPr/>
        </p:nvSpPr>
        <p:spPr>
          <a:xfrm>
            <a:off x="4872732" y="1386436"/>
            <a:ext cx="27011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rgbClr val="00B0F0"/>
                </a:solidFill>
              </a:rPr>
              <a:t>Fpmax</a:t>
            </a:r>
            <a:r>
              <a:rPr lang="en-US" sz="1400" dirty="0">
                <a:solidFill>
                  <a:srgbClr val="00B0F0"/>
                </a:solidFill>
              </a:rPr>
              <a:t>/FP-growth/</a:t>
            </a:r>
            <a:r>
              <a:rPr lang="en-US" sz="1400" dirty="0" err="1">
                <a:solidFill>
                  <a:srgbClr val="00B0F0"/>
                </a:solidFill>
              </a:rPr>
              <a:t>maxFP</a:t>
            </a:r>
            <a:r>
              <a:rPr lang="en-US" sz="1400" dirty="0">
                <a:solidFill>
                  <a:srgbClr val="00B0F0"/>
                </a:solidFill>
              </a:rPr>
              <a:t>-growth: accuracy increases</a:t>
            </a:r>
            <a:endParaRPr lang="en-IN" sz="1400" dirty="0">
              <a:solidFill>
                <a:srgbClr val="00B0F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F3CEF5C-8BC3-4AE3-9A48-FF8A203E395F}"/>
              </a:ext>
            </a:extLst>
          </p:cNvPr>
          <p:cNvGrpSpPr/>
          <p:nvPr/>
        </p:nvGrpSpPr>
        <p:grpSpPr>
          <a:xfrm>
            <a:off x="3124201" y="1909655"/>
            <a:ext cx="6197600" cy="802344"/>
            <a:chOff x="3124201" y="1909655"/>
            <a:chExt cx="6197600" cy="802344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FCE80BA-6B4B-4F22-8F27-4317CFA640D7}"/>
                </a:ext>
              </a:extLst>
            </p:cNvPr>
            <p:cNvCxnSpPr>
              <a:stCxn id="25" idx="2"/>
            </p:cNvCxnSpPr>
            <p:nvPr/>
          </p:nvCxnSpPr>
          <p:spPr>
            <a:xfrm flipH="1">
              <a:off x="3303431" y="1909656"/>
              <a:ext cx="2919880" cy="318389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38B1EB5-53C1-4F87-8E9D-3BA1C03421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4201" y="2228045"/>
              <a:ext cx="179230" cy="483954"/>
            </a:xfrm>
            <a:prstGeom prst="straightConnector1">
              <a:avLst/>
            </a:prstGeom>
            <a:ln w="127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AA64DE19-35A7-4C73-8780-9243186D174E}"/>
                </a:ext>
              </a:extLst>
            </p:cNvPr>
            <p:cNvGrpSpPr/>
            <p:nvPr/>
          </p:nvGrpSpPr>
          <p:grpSpPr>
            <a:xfrm flipH="1">
              <a:off x="6223311" y="1909655"/>
              <a:ext cx="3098490" cy="802339"/>
              <a:chOff x="3927602" y="2555986"/>
              <a:chExt cx="3288684" cy="674692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6347034-A841-4475-95B0-8299833DE5BD}"/>
                  </a:ext>
                </a:extLst>
              </p:cNvPr>
              <p:cNvCxnSpPr>
                <a:cxnSpLocks/>
                <a:stCxn id="25" idx="2"/>
              </p:cNvCxnSpPr>
              <p:nvPr/>
            </p:nvCxnSpPr>
            <p:spPr>
              <a:xfrm flipH="1">
                <a:off x="4137119" y="2555986"/>
                <a:ext cx="3079167" cy="351126"/>
              </a:xfrm>
              <a:prstGeom prst="line">
                <a:avLst/>
              </a:prstGeom>
              <a:ln w="127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AEECB68-B00B-4715-8FDB-7EEB267302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27602" y="2907109"/>
                <a:ext cx="209517" cy="323569"/>
              </a:xfrm>
              <a:prstGeom prst="straightConnector1">
                <a:avLst/>
              </a:prstGeom>
              <a:ln w="127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2223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2D36-24B0-4E1F-80B7-1D24B3E4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39B17-0DF0-4ECD-B6F1-08D94946C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Method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626C9-5EFA-4CDE-B7EE-C0FC7D241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788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DFEDA-4011-4BA2-98D0-B21B0E90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834ED-DECC-4070-8308-6392EB31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29</a:t>
            </a:fld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8F3EB9-5AAC-4137-AA35-A9BA19682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Lossy spike compression proposed for SNNs</a:t>
            </a:r>
          </a:p>
          <a:p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12–15% spike-data reduction with 1–3% accuracy loss</a:t>
            </a:r>
          </a:p>
          <a:p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Can improve simulation efficiency and support adaptive, hardware-aware compression</a:t>
            </a:r>
          </a:p>
          <a:p>
            <a:endParaRPr lang="en-IN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300" dirty="0">
                <a:latin typeface="Arial" panose="020B0604020202020204" pitchFamily="34" charset="0"/>
                <a:cs typeface="Arial" panose="020B0604020202020204" pitchFamily="34" charset="0"/>
              </a:rPr>
              <a:t>Future: Develop faster, more scalable algorithms and test on complex models and datasets</a:t>
            </a:r>
          </a:p>
        </p:txBody>
      </p:sp>
    </p:spTree>
    <p:extLst>
      <p:ext uri="{BB962C8B-B14F-4D97-AF65-F5344CB8AC3E}">
        <p14:creationId xmlns:p14="http://schemas.microsoft.com/office/powerpoint/2010/main" val="2729029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6E7D-DFE2-464D-AE0B-D0B04242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Publication &amp; Code Availability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74E4F-1E52-464A-B9FD-C77D1FFED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work was published at the 2025 IEEE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MCSoC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Conference under the title “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FSPC: A Lossy Spike Compression Through Correlated-AER Merging in Spiking Neural Networks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implementation is available here: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https://github.com/klab-aizu/fspc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D6C80-3F7F-41CA-9A8E-CE77F76B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428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3287-C82A-43B1-BAD4-4761836A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2EFD-206D-42C1-95F4-2EF56BC31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[1] W. </a:t>
            </a:r>
            <a:r>
              <a:rPr lang="en-US" sz="1700" dirty="0" err="1"/>
              <a:t>Maass</a:t>
            </a:r>
            <a:r>
              <a:rPr lang="en-US" sz="1700" dirty="0"/>
              <a:t>, “Networks of spiking neurons: The third generation of neural network models,” Electron. Colloquium </a:t>
            </a:r>
            <a:r>
              <a:rPr lang="en-US" sz="1700" dirty="0" err="1"/>
              <a:t>Comput</a:t>
            </a:r>
            <a:r>
              <a:rPr lang="en-US" sz="1700" dirty="0"/>
              <a:t>. Complex., vol. TR96, 1996.</a:t>
            </a:r>
          </a:p>
          <a:p>
            <a:pPr marL="0" indent="0">
              <a:buNone/>
            </a:pPr>
            <a:r>
              <a:rPr lang="en-US" sz="1700" dirty="0"/>
              <a:t>[2] M. A. </a:t>
            </a:r>
            <a:r>
              <a:rPr lang="en-US" sz="1700" dirty="0" err="1"/>
              <a:t>Mahowald</a:t>
            </a:r>
            <a:r>
              <a:rPr lang="en-US" sz="1700" dirty="0"/>
              <a:t>, “</a:t>
            </a:r>
            <a:r>
              <a:rPr lang="en-US" sz="1700" dirty="0" err="1"/>
              <a:t>Vlsi</a:t>
            </a:r>
            <a:r>
              <a:rPr lang="en-US" sz="1700" dirty="0"/>
              <a:t> analogs of neuronal visual processing: A synthesis of form and function,” PhD dissertation, California Institute of Technology, Pasadena, CA, USA, May 1992</a:t>
            </a:r>
          </a:p>
          <a:p>
            <a:pPr marL="0" indent="0">
              <a:buNone/>
            </a:pPr>
            <a:r>
              <a:rPr lang="en-US" sz="1700" dirty="0"/>
              <a:t>[3] J. Han et al., “Mining frequent patterns without candidate generation,” in ACM SIGMOD Conference, 2000, pp. 1–12.</a:t>
            </a:r>
          </a:p>
          <a:p>
            <a:pPr marL="0" indent="0">
              <a:buNone/>
            </a:pPr>
            <a:r>
              <a:rPr lang="en-US" sz="1700" dirty="0"/>
              <a:t>[4] G. </a:t>
            </a:r>
            <a:r>
              <a:rPr lang="en-US" sz="1700" dirty="0" err="1"/>
              <a:t>Grahne</a:t>
            </a:r>
            <a:r>
              <a:rPr lang="en-US" sz="1700" dirty="0"/>
              <a:t> and J. Zhu, “High performance mining of maximal frequent itemsets,” in Proceedings of the 6th SIAM International Workshop on High Performance Data Mining, 2003, p. 34.</a:t>
            </a:r>
          </a:p>
          <a:p>
            <a:pPr marL="0" indent="0">
              <a:buNone/>
            </a:pPr>
            <a:r>
              <a:rPr lang="en-US" sz="1700" dirty="0"/>
              <a:t>[5] S. Ganesh, H. Yuga, Z. Wang, and K. N. Dang, “FSPC: A lossy spike compression through correlated-</a:t>
            </a:r>
            <a:r>
              <a:rPr lang="en-US" sz="1700" dirty="0" err="1"/>
              <a:t>aer</a:t>
            </a:r>
            <a:r>
              <a:rPr lang="en-US" sz="1700" dirty="0"/>
              <a:t> merging in spiking neural networks,” in 2025 IEEE 18th International Symposium on Embedded Multicore/Many-core Systems-on-Chip (</a:t>
            </a:r>
            <a:r>
              <a:rPr lang="en-US" sz="1700" dirty="0" err="1"/>
              <a:t>MCSoC</a:t>
            </a:r>
            <a:r>
              <a:rPr lang="en-US" sz="1700" dirty="0"/>
              <a:t>). IEEE, 2025, pp. 386–393.</a:t>
            </a:r>
          </a:p>
          <a:p>
            <a:pPr marL="0" indent="0">
              <a:buNone/>
            </a:pPr>
            <a:r>
              <a:rPr lang="en-US" sz="1700" dirty="0"/>
              <a:t>[6] S. </a:t>
            </a:r>
            <a:r>
              <a:rPr lang="en-US" sz="1700" dirty="0" err="1"/>
              <a:t>Raschka</a:t>
            </a:r>
            <a:r>
              <a:rPr lang="en-US" sz="1700" dirty="0"/>
              <a:t>, “</a:t>
            </a:r>
            <a:r>
              <a:rPr lang="en-US" sz="1700" dirty="0" err="1"/>
              <a:t>Mlxtend</a:t>
            </a:r>
            <a:r>
              <a:rPr lang="en-US" sz="1700" dirty="0"/>
              <a:t>: Providing machine learning and data science utilities and extensions to python’s scientific computing stack,” The Journal of Open Source Software, vol. 3, no. 24, Apr. 2018.</a:t>
            </a:r>
          </a:p>
          <a:p>
            <a:pPr marL="0" indent="0">
              <a:buNone/>
            </a:pPr>
            <a:r>
              <a:rPr lang="en-US" sz="1700" dirty="0"/>
              <a:t>[7] U. K. Rage et al., “PAMI: An open-source python library for pattern mining,” Journal of Machine Learning Research, vol. 25, no. 209, pp.1–6, 2024.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8ED00-607E-42CC-8798-CD0134F2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31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784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840DC1-DF38-41D4-B37A-8ED12D018EFC}"/>
              </a:ext>
            </a:extLst>
          </p:cNvPr>
          <p:cNvSpPr txBox="1"/>
          <p:nvPr/>
        </p:nvSpPr>
        <p:spPr>
          <a:xfrm>
            <a:off x="1512058" y="2536448"/>
            <a:ext cx="916789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5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r>
              <a:rPr lang="en-IN" sz="5500" dirty="0">
                <a:latin typeface="Arial" panose="020B0604020202020204" pitchFamily="34" charset="0"/>
                <a:cs typeface="Arial" panose="020B0604020202020204" pitchFamily="34" charset="0"/>
              </a:rPr>
              <a:t> for your attention!</a:t>
            </a:r>
            <a:endParaRPr lang="en-US" sz="5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83596A-5E8A-4882-8C04-3B1BB1ED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51CBD-CA29-4411-ACE2-CC776FB30F9D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414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2693</TotalTime>
  <Words>2712</Words>
  <Application>Microsoft Office PowerPoint</Application>
  <PresentationFormat>Widescreen</PresentationFormat>
  <Paragraphs>1114</Paragraphs>
  <Slides>32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Google Sans</vt:lpstr>
      <vt:lpstr>Office Theme</vt:lpstr>
      <vt:lpstr>Implementation and Evaluation of a Lossy Spike Compression Framework for Spiking Neural Networks</vt:lpstr>
      <vt:lpstr>Content</vt:lpstr>
      <vt:lpstr>Content</vt:lpstr>
      <vt:lpstr>Spiking Neural Networks (SNNs) </vt:lpstr>
      <vt:lpstr>Leaky Integrate and Fire (LIF) Neuron </vt:lpstr>
      <vt:lpstr>Rate Coding </vt:lpstr>
      <vt:lpstr>Address Event Representation</vt:lpstr>
      <vt:lpstr>Pattern Mining Algorithms</vt:lpstr>
      <vt:lpstr>Content</vt:lpstr>
      <vt:lpstr>Motivation</vt:lpstr>
      <vt:lpstr>Observation during Rate Coding</vt:lpstr>
      <vt:lpstr>Our Contributions</vt:lpstr>
      <vt:lpstr>Content</vt:lpstr>
      <vt:lpstr>Proposed Method Overview</vt:lpstr>
      <vt:lpstr>Important Terms</vt:lpstr>
      <vt:lpstr>Location of FSPC in SNN</vt:lpstr>
      <vt:lpstr>(1) Pattern Finding Phase</vt:lpstr>
      <vt:lpstr>(1) Pattern Finding Phase</vt:lpstr>
      <vt:lpstr>(1) Pattern Finding Phase</vt:lpstr>
      <vt:lpstr>(2) Compression Phase</vt:lpstr>
      <vt:lpstr>(2) Compression Phase</vt:lpstr>
      <vt:lpstr>(2) Compression Phase</vt:lpstr>
      <vt:lpstr>Compression Types</vt:lpstr>
      <vt:lpstr>Content</vt:lpstr>
      <vt:lpstr>Evaluation and Result</vt:lpstr>
      <vt:lpstr>Evaluation based on FSP</vt:lpstr>
      <vt:lpstr>Evaluation based on PMT</vt:lpstr>
      <vt:lpstr>Content</vt:lpstr>
      <vt:lpstr>Conclusion</vt:lpstr>
      <vt:lpstr>Publication &amp; Code Availability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FSPC: A Lossy Spike Compression Through Correlated-AER Merging In Spiking Neural Networks</dc:title>
  <dc:creator>Satvik Ganesh</dc:creator>
  <cp:lastModifiedBy>Satvik Ganesh</cp:lastModifiedBy>
  <cp:revision>180</cp:revision>
  <dcterms:created xsi:type="dcterms:W3CDTF">2025-10-16T09:13:52Z</dcterms:created>
  <dcterms:modified xsi:type="dcterms:W3CDTF">2026-08-09T10:32:39Z</dcterms:modified>
</cp:coreProperties>
</file>
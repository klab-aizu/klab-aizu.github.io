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72" r:id="rId2"/>
    <p:sldId id="273" r:id="rId3"/>
    <p:sldId id="296" r:id="rId4"/>
    <p:sldId id="314" r:id="rId5"/>
    <p:sldId id="316" r:id="rId6"/>
    <p:sldId id="303" r:id="rId7"/>
    <p:sldId id="319" r:id="rId8"/>
    <p:sldId id="321" r:id="rId9"/>
    <p:sldId id="298" r:id="rId10"/>
    <p:sldId id="276" r:id="rId11"/>
    <p:sldId id="282" r:id="rId12"/>
    <p:sldId id="283" r:id="rId13"/>
    <p:sldId id="306" r:id="rId14"/>
    <p:sldId id="285" r:id="rId15"/>
    <p:sldId id="287" r:id="rId16"/>
    <p:sldId id="311" r:id="rId17"/>
    <p:sldId id="310" r:id="rId18"/>
    <p:sldId id="308" r:id="rId19"/>
    <p:sldId id="288" r:id="rId20"/>
    <p:sldId id="289" r:id="rId21"/>
    <p:sldId id="277" r:id="rId22"/>
    <p:sldId id="302" r:id="rId23"/>
    <p:sldId id="299" r:id="rId24"/>
    <p:sldId id="291" r:id="rId25"/>
    <p:sldId id="292" r:id="rId26"/>
    <p:sldId id="312" r:id="rId27"/>
    <p:sldId id="294" r:id="rId28"/>
    <p:sldId id="293" r:id="rId29"/>
    <p:sldId id="313" r:id="rId30"/>
    <p:sldId id="322" r:id="rId31"/>
    <p:sldId id="290" r:id="rId32"/>
    <p:sldId id="300" r:id="rId33"/>
    <p:sldId id="278" r:id="rId34"/>
    <p:sldId id="301" r:id="rId35"/>
    <p:sldId id="279" r:id="rId36"/>
    <p:sldId id="26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E8EBEE"/>
    <a:srgbClr val="B6E0F8"/>
    <a:srgbClr val="D2E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9" autoAdjust="0"/>
    <p:restoredTop sz="86643" autoAdjust="0"/>
  </p:normalViewPr>
  <p:slideViewPr>
    <p:cSldViewPr>
      <p:cViewPr varScale="1">
        <p:scale>
          <a:sx n="135" d="100"/>
          <a:sy n="135" d="100"/>
        </p:scale>
        <p:origin x="11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333A6-C14D-60E3-A252-4E6ED5C354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A7A57-B13B-6A3E-B407-5291C7FC78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55BD-C42E-47D4-BF5D-79C33AE679D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708E8-4041-4B52-F770-AF7B8F532C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0AD30-4F2C-5627-304D-03A953246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56FCC-B5F3-4BA6-B71E-DC1B3D9FA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7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6B360-A6A3-4B18-85BE-195BEA6A821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8134C-DBC7-4792-9D9B-581C9D54F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3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122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B0E3-CDE2-9D92-2DAD-5DA99C03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C11A1-299C-82B3-8310-FF4BB903A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C22C4-6C36-51EC-586C-1E8C85094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number of parameters, in turn, memory access, in the AL workloads is ever-increasing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3D DRAM is a promising solution to mitigate the so-called memory wall problem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High bandwidth &amp; low latency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4813D-7004-C317-D29F-55610A3A8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00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43A5-A36C-BDB8-DE8F-0098D6EC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32612-7B3A-3425-E173-8CCB012C2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33F7B-E6D7-3D43-B68C-CA9946CF4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number of parameters, in turn, memory access, in the AL workloads is ever-increasing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3D DRAM is a promising solution to mitigate the so-called memory wall problem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High bandwidth &amp; low latency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063EC-CC93-C5DE-CA18-53D16BD8A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1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exchange for high performance of 3D DRAM, heat accumulation leads to an increase in retention failure due to high temperature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Increase leakage current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Induce data loss by flipping stored bits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Propose a fault-tolerant spiking neuron called SEAL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SEAL is designed to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Neutralize retention failure (dominance of 1-to-0 error)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Minimize HW modification from LIF with an independent peripheral controller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83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CB4F-315F-A8AA-D9A1-C9047157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093F0-EA29-7557-09D6-3F6744102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599A5-374F-E101-18B9-CC814AA60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Heat accumulation leads to an increase in retention failure due to high temperature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Increase leakage current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Induce data loss by flipping stored bits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Propose a fault-tolerant spiking neuron called SEAL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SEAL is designed to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Neutralize retention failure (dominance of 1-to-0 error)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Minimize HW modification from LIF with an independent peripheral controller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EA471-C312-E277-1F1C-CC745AB27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771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16A2-367E-9A3B-1305-1C76591F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930A1-75E2-B628-3AE1-A70E2892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1F746-62EF-75BD-DA54-49BEFA1FC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Why SEAL?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Prior works mostly rely on synapse-based fault recovery, which is exponential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Neuron-based approach is preferable as it linearly scales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Furthermore, SEAL shows the best accuracy improvement among SOTAs (see Evaluation)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D1A80-BC33-D7E1-FCC8-0957F474F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5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Semantics of retention failure vary with the fault position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Fractional part =&gt; weight values decrease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99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Sign-bit =&gt; weight values increase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540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Inconsistency of semantics can be solved by storing the inverted sign-bit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Can be easily satisfied with bit-wise inversion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Retention failure consistently corresponds to value decrease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475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6F33-25E7-82AB-DEA1-4403BDC0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F3B0F-E0F3-B808-75BF-E7A528AFB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EA476-F6C0-DB24-99DE-8C3582FB1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SEAL works as an excitatory factor in the network by compensating for the decrease in weight value</a:t>
            </a:r>
          </a:p>
          <a:p>
            <a:pPr marL="171450" indent="-171450">
              <a:buFontTx/>
              <a:buChar char="-"/>
            </a:pPr>
            <a:r>
              <a:rPr lang="en-US" dirty="0"/>
              <a:t>Error adaptive term is introduced to LIF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A7424-39FE-FE59-A4B1-38A98572B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623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Virtual synaptic weight (VSW) is to minimize LIF modification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331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Error adaptive term is integrated into the LIF equation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HW modification is minimal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61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AABD-C9EF-5590-2D1E-CBAD8EF3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9FD2E-B79D-6187-11C3-1AF624E1A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B20F0-6FA9-1887-1E89-C150AA61F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Example of how SEAL works;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Architecture of LIF neuron-based network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0EFBC-3F43-C30A-509D-A33EB32C6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61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6FF6-A14B-9D81-07A7-73B2D490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1D9A0-5CF2-7377-D4AC-51F807F94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F210D-3305-569D-E084-F6147734E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Example of how SEAL works;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Architecture of SEAL neuron-based network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How D and S are computed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LIF neuron has an additional synapse with an always-on virtual synaptic weight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C4B94-9407-557B-616B-13CF9F865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840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0134-4505-86F3-F2AB-CF3AB474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73D82-B5D2-A407-3AE7-C97FEB584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C06C4-D771-9474-44D2-C4BD95379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Example of how SEAL works;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Therefore, SEAL is achieved without major modification from conventional LIF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Can reuse LIF neuron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7F05-06F7-3D00-6B35-67EB8DF6A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60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Hardware architecture is modeled;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DRAM dies are stacked on top of the logic die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Neural computing core (PE) encompasses the LIF array and VSW controller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VSW controller is composed of two main LUTs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Note: Fundamental concept can be applied to other system architectures (e.g., HBM and planar DRAM)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275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Details of LUTs in the VSW controller;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One is for the neuron-index table, another is for index-VSW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VSW interface manages LUT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20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Details of LUT implementation in the VSW controller;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Storing all VSW values is inefficient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Binning approximation enables the compression of LUT size and HW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69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54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Evaluation is for two major factors: accuracy and HW overhead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Accuracy is assessed through software execution by inserting random retention faults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Hardware overhead is obtained from synthesis tools for the logic part / DESTINY tool for 3D DRAM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978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SEAL always outperforms LIF neuron</a:t>
            </a:r>
          </a:p>
          <a:p>
            <a:pPr marL="171450" indent="-171450">
              <a:buFontTx/>
              <a:buChar char="-"/>
            </a:pPr>
            <a:r>
              <a:rPr lang="en-US" dirty="0"/>
              <a:t>Maximum benefit at 100% ratio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Substantial reliability benefits under error-biased environments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82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F183-0D48-E4EE-4579-FAB567D9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BDDA0-83C9-909F-6209-B69F488E3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3062F-EEB5-07A1-F151-665EE699C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SEAL always outperforms LIF neuron</a:t>
            </a:r>
          </a:p>
          <a:p>
            <a:pPr marL="171450" indent="-171450">
              <a:buFontTx/>
              <a:buChar char="-"/>
            </a:pPr>
            <a:r>
              <a:rPr lang="en-US" dirty="0"/>
              <a:t>Maximum benefit at 100% ratio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Substantial reliability benefits under </a:t>
            </a:r>
            <a:r>
              <a:rPr lang="en-US"/>
              <a:t>error-biased environments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1E1E-5C18-715C-1842-3D2CD1110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89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SEAL can excite and suppress network activity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SEAL always provides better accuracy than LIF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Works as a modulator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8944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Binning approximation is acceptable depending on the network type and dataset.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example;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BIN-16 and -8 show better or equivalent accuracy to baseline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BIN-4 depends on the network model and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994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BC73-EF80-6F0A-FA26-06F71B6A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95403-495C-D521-E121-EB862C260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D01B4-C535-0EE6-1923-0A2E660D4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Binning approximation is acceptable depending on the network type and dataset.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example;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BIN-16 and -8 show better or equivalent accuracy to baseline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BIN-4 depends on the network model and benchmark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34392-6BD0-1755-13AB-0BC831C6E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982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8839-5F01-9D8C-23A4-DC803C46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CBB7F-3454-5C6D-9124-329EFA633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AC7BD-9EC3-8D1B-0808-7E07703A2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Hardware overhead is modest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because SEAL overhead is proportional to neuron size rather than the number of synapses, which prior works rely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70B0C-FC00-6980-11C0-1E228AE32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583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Best accuracy recovery among SOTAs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487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SEAL is designed to deal with retention failure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VSW concept minimize HW modification from LIF neuron</a:t>
            </a:r>
          </a:p>
          <a:p>
            <a:pPr marL="171450" indent="-171450">
              <a:buFontTx/>
              <a:buChar char="-"/>
            </a:pPr>
            <a:r>
              <a:rPr lang="en-US" dirty="0"/>
              <a:t>Results show feasibility and HW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6760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134C-DBC7-4792-9D9B-581C9D54FA4C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88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852" y="6492881"/>
            <a:ext cx="2133600" cy="365125"/>
          </a:xfrm>
        </p:spPr>
        <p:txBody>
          <a:bodyPr/>
          <a:lstStyle/>
          <a:p>
            <a:fld id="{57D494AB-350C-47D9-909E-D48D775426E9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81548" y="6519452"/>
            <a:ext cx="2133600" cy="365125"/>
          </a:xfrm>
        </p:spPr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C933D5-9D87-4D9A-1B38-CEB97BA54A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81000"/>
            <a:ext cx="9144000" cy="7236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1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819404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09604"/>
            <a:ext cx="4038600" cy="55165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4"/>
            <a:ext cx="4038600" cy="55165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6955-5988-4F64-9725-D92A00F9E473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1"/>
            <a:ext cx="4040188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609601"/>
            <a:ext cx="4041775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447800"/>
            <a:ext cx="4041775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78149-C0E1-4B66-8DAA-54A120457286}" type="datetime1">
              <a:rPr lang="en-US" smtClean="0"/>
              <a:t>6/28/2026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7F84E-EA2B-4C71-9224-D025B84A38DD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492880"/>
            <a:ext cx="2133600" cy="365125"/>
          </a:xfrm>
        </p:spPr>
        <p:txBody>
          <a:bodyPr/>
          <a:lstStyle/>
          <a:p>
            <a:fld id="{05E730AB-B884-419E-AE66-E4BB7A8A44E2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69476" y="6492881"/>
            <a:ext cx="2133600" cy="365125"/>
          </a:xfrm>
        </p:spPr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073C-A3CB-4FE5-8641-0C7EBE84DFED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2453-34DB-4301-A756-CB5A753A5DF6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2541F-FB6F-4E57-916C-5FA5F22501C0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20AC-729E-4027-B85C-C5CBDC240454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84BAFD-666C-1ACB-5B74-31EF62F5DB7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" y="-361950"/>
            <a:ext cx="9126730" cy="7219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4"/>
            <a:ext cx="8229600" cy="551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9287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A159FD8-95D0-4FB4-B5C3-C5903D7306E9}" type="datetime1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47382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AAD7BC5-A392-4DA0-BB84-2D09111EF1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B57F-06F7-43FE-3B05-B2B19934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19200"/>
            <a:ext cx="8991600" cy="1904999"/>
          </a:xfrm>
        </p:spPr>
        <p:txBody>
          <a:bodyPr>
            <a:normAutofit fontScale="90000"/>
          </a:bodyPr>
          <a:lstStyle/>
          <a:p>
            <a:r>
              <a:rPr lang="en-IN" cap="none" dirty="0">
                <a:solidFill>
                  <a:srgbClr val="7030A0"/>
                </a:solidFill>
              </a:rPr>
              <a:t>SEAL: Fault-Tolerant Neuron Model for Spiking Neural Networks on Unreliable DRAM Systems</a:t>
            </a:r>
            <a:endParaRPr lang="en-IN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C49C3-3AC8-8889-0ADA-57335D2C3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352800"/>
            <a:ext cx="9144000" cy="2133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rgbClr val="7030A0"/>
                </a:solidFill>
              </a:rPr>
              <a:t>Authors: Ryoji Kobayashi</a:t>
            </a:r>
            <a:r>
              <a:rPr lang="en-US" b="1" baseline="30000" dirty="0">
                <a:solidFill>
                  <a:srgbClr val="7030A0"/>
                </a:solidFill>
              </a:rPr>
              <a:t>12</a:t>
            </a:r>
            <a:r>
              <a:rPr lang="en-US" b="1" dirty="0">
                <a:solidFill>
                  <a:srgbClr val="7030A0"/>
                </a:solidFill>
              </a:rPr>
              <a:t>, Ngo-Doanh Nguyen</a:t>
            </a:r>
            <a:r>
              <a:rPr lang="en-US" b="1" baseline="30000" dirty="0">
                <a:solidFill>
                  <a:srgbClr val="7030A0"/>
                </a:solidFill>
              </a:rPr>
              <a:t>34</a:t>
            </a:r>
            <a:r>
              <a:rPr lang="en-US" b="1" dirty="0">
                <a:solidFill>
                  <a:srgbClr val="7030A0"/>
                </a:solidFill>
              </a:rPr>
              <a:t>, and </a:t>
            </a:r>
            <a:r>
              <a:rPr lang="en-US" b="1" u="sng" dirty="0">
                <a:solidFill>
                  <a:srgbClr val="7030A0"/>
                </a:solidFill>
              </a:rPr>
              <a:t>Khanh N. Dang</a:t>
            </a:r>
            <a:r>
              <a:rPr lang="en-US" b="1" u="sng" baseline="30000" dirty="0">
                <a:solidFill>
                  <a:srgbClr val="7030A0"/>
                </a:solidFill>
              </a:rPr>
              <a:t>2</a:t>
            </a:r>
            <a:endParaRPr lang="en-US" b="1" u="sng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800" baseline="30000" dirty="0">
                <a:solidFill>
                  <a:srgbClr val="7030A0"/>
                </a:solidFill>
              </a:rPr>
              <a:t>1</a:t>
            </a:r>
            <a:r>
              <a:rPr lang="en-US" sz="1800" dirty="0">
                <a:solidFill>
                  <a:srgbClr val="7030A0"/>
                </a:solidFill>
              </a:rPr>
              <a:t> Graduate School of Engineering, The University of Tokyo, Japan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800" baseline="30000" dirty="0">
                <a:solidFill>
                  <a:srgbClr val="7030A0"/>
                </a:solidFill>
              </a:rPr>
              <a:t>2</a:t>
            </a:r>
            <a:r>
              <a:rPr lang="en-US" sz="1800" dirty="0">
                <a:solidFill>
                  <a:srgbClr val="7030A0"/>
                </a:solidFill>
              </a:rPr>
              <a:t> School of Computer Science and Engineering, The University of Aizu, Japan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800" baseline="30000" dirty="0">
                <a:solidFill>
                  <a:srgbClr val="7030A0"/>
                </a:solidFill>
              </a:rPr>
              <a:t>3</a:t>
            </a:r>
            <a:r>
              <a:rPr lang="en-US" sz="1800" dirty="0">
                <a:solidFill>
                  <a:srgbClr val="7030A0"/>
                </a:solidFill>
              </a:rPr>
              <a:t> DITEN, University of Genoa, Italy</a:t>
            </a:r>
            <a:endParaRPr lang="en-US" sz="1800" dirty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800" baseline="30000" dirty="0">
                <a:solidFill>
                  <a:srgbClr val="7030A0"/>
                </a:solidFill>
              </a:rPr>
              <a:t>4 </a:t>
            </a:r>
            <a:r>
              <a:rPr lang="en-US" sz="1800" dirty="0">
                <a:solidFill>
                  <a:srgbClr val="7030A0"/>
                </a:solidFill>
              </a:rPr>
              <a:t>Information Technology Institute, Vietnam National University, Vietnam</a:t>
            </a:r>
            <a:endParaRPr lang="en-US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86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5CF5-0D9A-67BD-D407-9E2418D0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47C0-4B98-B79A-B1E3-77F63E94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References 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D534D-2C6C-875E-6185-754B3A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396DF-9D3C-E383-4677-D6D08145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1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39E5-5486-1241-9D0E-0C999332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C3CC-186A-6473-6696-FF387CC7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5B0-AA6F-2FFF-649E-FF1092AD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References 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3E3FD-22ED-A60E-BA39-D3732435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399B9-6628-7BB5-7594-BA12B371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4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3820D-C555-91F5-620D-FCAE7A00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191C-5C7B-4F54-F167-F3144D74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8C5C-A665-50D5-2137-06F15A543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382000" cy="23621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AI workloads demand intense memory access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E.g., GPT-3 has over 100 billion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04794-9D78-EC06-BDF5-00EC0985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C392E-2A78-689B-2D87-03AD4DA2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42D8E-73F1-DC61-A730-3FF0725EFB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6696"/>
            <a:ext cx="7239000" cy="3843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909DF1-A997-33F5-8C4E-41E84F2E77D8}"/>
              </a:ext>
            </a:extLst>
          </p:cNvPr>
          <p:cNvSpPr txBox="1"/>
          <p:nvPr/>
        </p:nvSpPr>
        <p:spPr>
          <a:xfrm>
            <a:off x="3044749" y="5899862"/>
            <a:ext cx="2877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Gholami et al., Micro’24 [1]</a:t>
            </a:r>
          </a:p>
        </p:txBody>
      </p:sp>
    </p:spTree>
    <p:extLst>
      <p:ext uri="{BB962C8B-B14F-4D97-AF65-F5344CB8AC3E}">
        <p14:creationId xmlns:p14="http://schemas.microsoft.com/office/powerpoint/2010/main" val="160318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4987-F3C0-9B30-1373-4914F248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F035-4B01-CA9F-0B1E-5F86A15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0093-9189-8DF2-5CB7-C6933A434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382000" cy="19811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3D-DRAM provides high-bandwidth &amp; low-latency memory access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E.g., HBM3 provides up to 0.7TB/s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3D9B-FF5A-265A-C488-21BFB63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193F2-9C06-FE04-3660-A914D879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082356-8DF1-660C-FF83-530843CBE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62200"/>
            <a:ext cx="7696200" cy="3630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779CB5-36B1-8700-8032-E5B8D7C3E041}"/>
              </a:ext>
            </a:extLst>
          </p:cNvPr>
          <p:cNvSpPr txBox="1"/>
          <p:nvPr/>
        </p:nvSpPr>
        <p:spPr>
          <a:xfrm>
            <a:off x="2972844" y="6017954"/>
            <a:ext cx="3198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Kim and M. Park, IMW’24 [2]</a:t>
            </a:r>
          </a:p>
        </p:txBody>
      </p:sp>
    </p:spTree>
    <p:extLst>
      <p:ext uri="{BB962C8B-B14F-4D97-AF65-F5344CB8AC3E}">
        <p14:creationId xmlns:p14="http://schemas.microsoft.com/office/powerpoint/2010/main" val="34847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C034-971D-2C5E-20AE-C85ABFE7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Motivation &amp; Contribution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A040A-3E3A-DADE-B909-158D4F0E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458200" cy="34860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High accumulation exacerbates retention failure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Data collapse in network parameters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E.g., Bit-flipping in weights</a:t>
            </a:r>
          </a:p>
          <a:p>
            <a:pPr lvl="3"/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55CA2-1B65-5A62-81F5-3170783F9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AECAB-6048-2A37-7C9E-45871667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9C8E948-784A-F818-D20A-FF2F84DF5704}"/>
              </a:ext>
            </a:extLst>
          </p:cNvPr>
          <p:cNvGrpSpPr>
            <a:grpSpLocks noChangeAspect="1"/>
          </p:cNvGrpSpPr>
          <p:nvPr/>
        </p:nvGrpSpPr>
        <p:grpSpPr>
          <a:xfrm>
            <a:off x="1075206" y="4025873"/>
            <a:ext cx="2893809" cy="1871297"/>
            <a:chOff x="1465970" y="1984425"/>
            <a:chExt cx="5072615" cy="3125641"/>
          </a:xfrm>
        </p:grpSpPr>
        <p:grpSp>
          <p:nvGrpSpPr>
            <p:cNvPr id="7" name="グループ化 28">
              <a:extLst>
                <a:ext uri="{FF2B5EF4-FFF2-40B4-BE49-F238E27FC236}">
                  <a16:creationId xmlns:a16="http://schemas.microsoft.com/office/drawing/2014/main" id="{9D646AA1-798C-5B47-5C53-5108773D8C2C}"/>
                </a:ext>
              </a:extLst>
            </p:cNvPr>
            <p:cNvGrpSpPr/>
            <p:nvPr/>
          </p:nvGrpSpPr>
          <p:grpSpPr>
            <a:xfrm>
              <a:off x="2540001" y="2424597"/>
              <a:ext cx="3585851" cy="1836000"/>
              <a:chOff x="2540001" y="2424597"/>
              <a:chExt cx="3585851" cy="1836000"/>
            </a:xfrm>
          </p:grpSpPr>
          <p:sp>
            <p:nvSpPr>
              <p:cNvPr id="15" name="正方形/長方形 11">
                <a:extLst>
                  <a:ext uri="{FF2B5EF4-FFF2-40B4-BE49-F238E27FC236}">
                    <a16:creationId xmlns:a16="http://schemas.microsoft.com/office/drawing/2014/main" id="{A83A792B-396A-CF06-E014-0FFCCDFAFBB4}"/>
                  </a:ext>
                </a:extLst>
              </p:cNvPr>
              <p:cNvSpPr/>
              <p:nvPr/>
            </p:nvSpPr>
            <p:spPr>
              <a:xfrm>
                <a:off x="254000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4">
                <a:extLst>
                  <a:ext uri="{FF2B5EF4-FFF2-40B4-BE49-F238E27FC236}">
                    <a16:creationId xmlns:a16="http://schemas.microsoft.com/office/drawing/2014/main" id="{5C04CA91-614E-BC1B-2782-C29C7DB77C90}"/>
                  </a:ext>
                </a:extLst>
              </p:cNvPr>
              <p:cNvSpPr/>
              <p:nvPr/>
            </p:nvSpPr>
            <p:spPr>
              <a:xfrm>
                <a:off x="2862715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8">
                <a:extLst>
                  <a:ext uri="{FF2B5EF4-FFF2-40B4-BE49-F238E27FC236}">
                    <a16:creationId xmlns:a16="http://schemas.microsoft.com/office/drawing/2014/main" id="{FD09CE86-EA52-90D2-9006-24BB7AA924EE}"/>
                  </a:ext>
                </a:extLst>
              </p:cNvPr>
              <p:cNvSpPr/>
              <p:nvPr/>
            </p:nvSpPr>
            <p:spPr>
              <a:xfrm>
                <a:off x="3185429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9">
                <a:extLst>
                  <a:ext uri="{FF2B5EF4-FFF2-40B4-BE49-F238E27FC236}">
                    <a16:creationId xmlns:a16="http://schemas.microsoft.com/office/drawing/2014/main" id="{7EEAD10F-11B9-BDA8-2AF0-644D207EAD83}"/>
                  </a:ext>
                </a:extLst>
              </p:cNvPr>
              <p:cNvSpPr/>
              <p:nvPr/>
            </p:nvSpPr>
            <p:spPr>
              <a:xfrm>
                <a:off x="3508143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20">
                <a:extLst>
                  <a:ext uri="{FF2B5EF4-FFF2-40B4-BE49-F238E27FC236}">
                    <a16:creationId xmlns:a16="http://schemas.microsoft.com/office/drawing/2014/main" id="{0775A1BB-B459-284F-7DE1-06E42074044C}"/>
                  </a:ext>
                </a:extLst>
              </p:cNvPr>
              <p:cNvSpPr/>
              <p:nvPr/>
            </p:nvSpPr>
            <p:spPr>
              <a:xfrm>
                <a:off x="3830857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0" name="正方形/長方形 21">
                <a:extLst>
                  <a:ext uri="{FF2B5EF4-FFF2-40B4-BE49-F238E27FC236}">
                    <a16:creationId xmlns:a16="http://schemas.microsoft.com/office/drawing/2014/main" id="{2367B71B-F91A-0DA5-1032-CD5557959315}"/>
                  </a:ext>
                </a:extLst>
              </p:cNvPr>
              <p:cNvSpPr/>
              <p:nvPr/>
            </p:nvSpPr>
            <p:spPr>
              <a:xfrm>
                <a:off x="415357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2">
                <a:extLst>
                  <a:ext uri="{FF2B5EF4-FFF2-40B4-BE49-F238E27FC236}">
                    <a16:creationId xmlns:a16="http://schemas.microsoft.com/office/drawing/2014/main" id="{7F0DE4B0-9027-F180-D721-6229E916DC54}"/>
                  </a:ext>
                </a:extLst>
              </p:cNvPr>
              <p:cNvSpPr/>
              <p:nvPr/>
            </p:nvSpPr>
            <p:spPr>
              <a:xfrm>
                <a:off x="4476285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2" name="正方形/長方形 23">
                <a:extLst>
                  <a:ext uri="{FF2B5EF4-FFF2-40B4-BE49-F238E27FC236}">
                    <a16:creationId xmlns:a16="http://schemas.microsoft.com/office/drawing/2014/main" id="{C98C7E4A-5CBB-B53E-C84D-49423B575DD4}"/>
                  </a:ext>
                </a:extLst>
              </p:cNvPr>
              <p:cNvSpPr/>
              <p:nvPr/>
            </p:nvSpPr>
            <p:spPr>
              <a:xfrm>
                <a:off x="4798999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4">
                <a:extLst>
                  <a:ext uri="{FF2B5EF4-FFF2-40B4-BE49-F238E27FC236}">
                    <a16:creationId xmlns:a16="http://schemas.microsoft.com/office/drawing/2014/main" id="{5BC5DF9C-7046-982F-B394-C93442DABC3A}"/>
                  </a:ext>
                </a:extLst>
              </p:cNvPr>
              <p:cNvSpPr/>
              <p:nvPr/>
            </p:nvSpPr>
            <p:spPr>
              <a:xfrm>
                <a:off x="5121713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4" name="正方形/長方形 25">
                <a:extLst>
                  <a:ext uri="{FF2B5EF4-FFF2-40B4-BE49-F238E27FC236}">
                    <a16:creationId xmlns:a16="http://schemas.microsoft.com/office/drawing/2014/main" id="{A3F5826A-170B-4104-44BA-84B019D05F45}"/>
                  </a:ext>
                </a:extLst>
              </p:cNvPr>
              <p:cNvSpPr/>
              <p:nvPr/>
            </p:nvSpPr>
            <p:spPr>
              <a:xfrm>
                <a:off x="5444427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6">
                <a:extLst>
                  <a:ext uri="{FF2B5EF4-FFF2-40B4-BE49-F238E27FC236}">
                    <a16:creationId xmlns:a16="http://schemas.microsoft.com/office/drawing/2014/main" id="{2C9ECA27-C99D-D0B6-0A35-D54246A33384}"/>
                  </a:ext>
                </a:extLst>
              </p:cNvPr>
              <p:cNvSpPr/>
              <p:nvPr/>
            </p:nvSpPr>
            <p:spPr>
              <a:xfrm>
                <a:off x="576714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6" name="正方形/長方形 27">
                <a:extLst>
                  <a:ext uri="{FF2B5EF4-FFF2-40B4-BE49-F238E27FC236}">
                    <a16:creationId xmlns:a16="http://schemas.microsoft.com/office/drawing/2014/main" id="{97B5C9BB-1CE4-2903-0077-C4D4526C9D07}"/>
                  </a:ext>
                </a:extLst>
              </p:cNvPr>
              <p:cNvSpPr/>
              <p:nvPr/>
            </p:nvSpPr>
            <p:spPr>
              <a:xfrm>
                <a:off x="6089852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EFDA0C-D76C-77D1-A695-B7745F6BE140}"/>
                </a:ext>
              </a:extLst>
            </p:cNvPr>
            <p:cNvSpPr/>
            <p:nvPr/>
          </p:nvSpPr>
          <p:spPr>
            <a:xfrm>
              <a:off x="2302934" y="4240747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Logic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79535-A1F5-E7EB-AE8E-9FA3E3FA7A98}"/>
                </a:ext>
              </a:extLst>
            </p:cNvPr>
            <p:cNvSpPr/>
            <p:nvPr/>
          </p:nvSpPr>
          <p:spPr>
            <a:xfrm>
              <a:off x="2154708" y="4671941"/>
              <a:ext cx="4383877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Package Substrate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34DD30-FADE-0902-7BEA-A6B6CF73643C}"/>
                </a:ext>
              </a:extLst>
            </p:cNvPr>
            <p:cNvSpPr/>
            <p:nvPr/>
          </p:nvSpPr>
          <p:spPr>
            <a:xfrm>
              <a:off x="2302934" y="3674022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E69F1F-BAFE-3BEB-37AA-3FD181978C60}"/>
                </a:ext>
              </a:extLst>
            </p:cNvPr>
            <p:cNvSpPr/>
            <p:nvPr/>
          </p:nvSpPr>
          <p:spPr>
            <a:xfrm>
              <a:off x="2302934" y="3107297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832347-8AAD-A553-BB74-7E821A4271CD}"/>
                </a:ext>
              </a:extLst>
            </p:cNvPr>
            <p:cNvSpPr/>
            <p:nvPr/>
          </p:nvSpPr>
          <p:spPr>
            <a:xfrm>
              <a:off x="2302934" y="2540572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EC8E36-D3E5-966A-EB6E-0A6372FD2346}"/>
                </a:ext>
              </a:extLst>
            </p:cNvPr>
            <p:cNvSpPr/>
            <p:nvPr/>
          </p:nvSpPr>
          <p:spPr>
            <a:xfrm>
              <a:off x="2302934" y="1984425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3321699-FCCF-FCEB-4FFC-F2712D212B73}"/>
                </a:ext>
              </a:extLst>
            </p:cNvPr>
            <p:cNvCxnSpPr>
              <a:cxnSpLocks/>
            </p:cNvCxnSpPr>
            <p:nvPr/>
          </p:nvCxnSpPr>
          <p:spPr>
            <a:xfrm>
              <a:off x="1465970" y="2823158"/>
              <a:ext cx="1043401" cy="2320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40">
            <a:extLst>
              <a:ext uri="{FF2B5EF4-FFF2-40B4-BE49-F238E27FC236}">
                <a16:creationId xmlns:a16="http://schemas.microsoft.com/office/drawing/2014/main" id="{8468D0DC-E739-2FE6-41C8-91CB032E692C}"/>
              </a:ext>
            </a:extLst>
          </p:cNvPr>
          <p:cNvSpPr txBox="1"/>
          <p:nvPr/>
        </p:nvSpPr>
        <p:spPr>
          <a:xfrm>
            <a:off x="2188684" y="5986046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 </a:t>
            </a:r>
          </a:p>
        </p:txBody>
      </p:sp>
      <p:sp>
        <p:nvSpPr>
          <p:cNvPr id="28" name="Up Arrow 43">
            <a:extLst>
              <a:ext uri="{FF2B5EF4-FFF2-40B4-BE49-F238E27FC236}">
                <a16:creationId xmlns:a16="http://schemas.microsoft.com/office/drawing/2014/main" id="{D0A7BA2E-241E-D630-DDD6-35627AC3230E}"/>
              </a:ext>
            </a:extLst>
          </p:cNvPr>
          <p:cNvSpPr/>
          <p:nvPr/>
        </p:nvSpPr>
        <p:spPr>
          <a:xfrm>
            <a:off x="4017834" y="4049463"/>
            <a:ext cx="189038" cy="1585405"/>
          </a:xfrm>
          <a:prstGeom prst="up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16200000" scaled="1"/>
            <a:tileRect/>
          </a:gradFill>
          <a:ln w="158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9" name="TextBox 44">
            <a:extLst>
              <a:ext uri="{FF2B5EF4-FFF2-40B4-BE49-F238E27FC236}">
                <a16:creationId xmlns:a16="http://schemas.microsoft.com/office/drawing/2014/main" id="{663C2C24-E158-994B-C298-40A1100DECC6}"/>
              </a:ext>
            </a:extLst>
          </p:cNvPr>
          <p:cNvSpPr txBox="1"/>
          <p:nvPr/>
        </p:nvSpPr>
        <p:spPr>
          <a:xfrm rot="5400000">
            <a:off x="3654895" y="4806542"/>
            <a:ext cx="1306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</p:txBody>
      </p:sp>
      <p:sp>
        <p:nvSpPr>
          <p:cNvPr id="30" name="TextBox 163">
            <a:extLst>
              <a:ext uri="{FF2B5EF4-FFF2-40B4-BE49-F238E27FC236}">
                <a16:creationId xmlns:a16="http://schemas.microsoft.com/office/drawing/2014/main" id="{871E9A2E-F969-A2DE-FC68-7F3BB245FAA6}"/>
              </a:ext>
            </a:extLst>
          </p:cNvPr>
          <p:cNvSpPr txBox="1"/>
          <p:nvPr/>
        </p:nvSpPr>
        <p:spPr>
          <a:xfrm>
            <a:off x="561851" y="4236096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TSVs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325F23C-B59A-F9C2-6801-CC9A77BF3082}"/>
              </a:ext>
            </a:extLst>
          </p:cNvPr>
          <p:cNvGrpSpPr>
            <a:grpSpLocks noChangeAspect="1"/>
          </p:cNvGrpSpPr>
          <p:nvPr/>
        </p:nvGrpSpPr>
        <p:grpSpPr>
          <a:xfrm>
            <a:off x="5121639" y="3892574"/>
            <a:ext cx="2615424" cy="1967989"/>
            <a:chOff x="6998540" y="1888807"/>
            <a:chExt cx="2549831" cy="211770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44B01A8-2F92-C3BE-D151-0BC53E5DBCFD}"/>
                </a:ext>
              </a:extLst>
            </p:cNvPr>
            <p:cNvSpPr/>
            <p:nvPr/>
          </p:nvSpPr>
          <p:spPr>
            <a:xfrm>
              <a:off x="7546890" y="2198702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87" name="TextBox 109">
              <a:extLst>
                <a:ext uri="{FF2B5EF4-FFF2-40B4-BE49-F238E27FC236}">
                  <a16:creationId xmlns:a16="http://schemas.microsoft.com/office/drawing/2014/main" id="{7F56D678-54BB-F463-744C-EAF0AAE15757}"/>
                </a:ext>
              </a:extLst>
            </p:cNvPr>
            <p:cNvSpPr txBox="1"/>
            <p:nvPr/>
          </p:nvSpPr>
          <p:spPr>
            <a:xfrm>
              <a:off x="8398082" y="23643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JP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1B5477C-256C-6C15-B723-5833DB300767}"/>
                </a:ext>
              </a:extLst>
            </p:cNvPr>
            <p:cNvSpPr/>
            <p:nvPr/>
          </p:nvSpPr>
          <p:spPr>
            <a:xfrm>
              <a:off x="7747498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D685137-1555-8180-CD6E-C65B11CD497F}"/>
                </a:ext>
              </a:extLst>
            </p:cNvPr>
            <p:cNvSpPr/>
            <p:nvPr/>
          </p:nvSpPr>
          <p:spPr>
            <a:xfrm>
              <a:off x="7948106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BD7E29F-7D06-59C6-09F7-F1BB3D4D1A98}"/>
                </a:ext>
              </a:extLst>
            </p:cNvPr>
            <p:cNvSpPr/>
            <p:nvPr/>
          </p:nvSpPr>
          <p:spPr>
            <a:xfrm>
              <a:off x="8148714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29007EF-993D-8C3F-B1D9-691B0A3DF21C}"/>
                </a:ext>
              </a:extLst>
            </p:cNvPr>
            <p:cNvSpPr/>
            <p:nvPr/>
          </p:nvSpPr>
          <p:spPr>
            <a:xfrm>
              <a:off x="8349322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9090C-0442-98E1-45A2-0677ED184869}"/>
                </a:ext>
              </a:extLst>
            </p:cNvPr>
            <p:cNvSpPr/>
            <p:nvPr/>
          </p:nvSpPr>
          <p:spPr>
            <a:xfrm>
              <a:off x="8549930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5DB8C6C-4696-B27A-ADCF-D1A393B2DDAE}"/>
                </a:ext>
              </a:extLst>
            </p:cNvPr>
            <p:cNvSpPr/>
            <p:nvPr/>
          </p:nvSpPr>
          <p:spPr>
            <a:xfrm>
              <a:off x="8750537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D36D17C-574B-896B-4634-138DECE73081}"/>
                </a:ext>
              </a:extLst>
            </p:cNvPr>
            <p:cNvSpPr/>
            <p:nvPr/>
          </p:nvSpPr>
          <p:spPr>
            <a:xfrm>
              <a:off x="8951145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5" name="TextBox 117">
              <a:extLst>
                <a:ext uri="{FF2B5EF4-FFF2-40B4-BE49-F238E27FC236}">
                  <a16:creationId xmlns:a16="http://schemas.microsoft.com/office/drawing/2014/main" id="{14269983-41F1-4D13-D662-25DDE000D727}"/>
                </a:ext>
              </a:extLst>
            </p:cNvPr>
            <p:cNvSpPr txBox="1"/>
            <p:nvPr/>
          </p:nvSpPr>
          <p:spPr>
            <a:xfrm>
              <a:off x="7220857" y="1888809"/>
              <a:ext cx="552366" cy="298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MSB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25F589F-5CC5-51AB-E14F-D4EAEBC42AA2}"/>
                </a:ext>
              </a:extLst>
            </p:cNvPr>
            <p:cNvSpPr/>
            <p:nvPr/>
          </p:nvSpPr>
          <p:spPr>
            <a:xfrm>
              <a:off x="7538744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D82311F-58DB-E9FB-A846-F4041B93EA17}"/>
                </a:ext>
              </a:extLst>
            </p:cNvPr>
            <p:cNvSpPr/>
            <p:nvPr/>
          </p:nvSpPr>
          <p:spPr>
            <a:xfrm>
              <a:off x="7739352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96830D8-B690-7997-CFDD-D81723F87056}"/>
                </a:ext>
              </a:extLst>
            </p:cNvPr>
            <p:cNvSpPr/>
            <p:nvPr/>
          </p:nvSpPr>
          <p:spPr>
            <a:xfrm>
              <a:off x="7939960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0DB75E2-B40F-3334-2548-7E85F67BAFA0}"/>
                </a:ext>
              </a:extLst>
            </p:cNvPr>
            <p:cNvSpPr/>
            <p:nvPr/>
          </p:nvSpPr>
          <p:spPr>
            <a:xfrm>
              <a:off x="8140568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48D5543-9795-B1E9-78C4-B55467B17522}"/>
                </a:ext>
              </a:extLst>
            </p:cNvPr>
            <p:cNvSpPr/>
            <p:nvPr/>
          </p:nvSpPr>
          <p:spPr>
            <a:xfrm>
              <a:off x="8341176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7C8978E-4952-8FDB-5587-52D47D3E87CB}"/>
                </a:ext>
              </a:extLst>
            </p:cNvPr>
            <p:cNvSpPr/>
            <p:nvPr/>
          </p:nvSpPr>
          <p:spPr>
            <a:xfrm>
              <a:off x="8541784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8DCEE3E-6A8C-5D66-8B55-E34A6E82343E}"/>
                </a:ext>
              </a:extLst>
            </p:cNvPr>
            <p:cNvSpPr/>
            <p:nvPr/>
          </p:nvSpPr>
          <p:spPr>
            <a:xfrm>
              <a:off x="8742391" y="2528498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6DF7252-8F7F-0943-D344-0F7B44531EF5}"/>
                </a:ext>
              </a:extLst>
            </p:cNvPr>
            <p:cNvSpPr/>
            <p:nvPr/>
          </p:nvSpPr>
          <p:spPr>
            <a:xfrm>
              <a:off x="8942999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3495AF2-482E-9615-52AA-1EA186102FDE}"/>
                </a:ext>
              </a:extLst>
            </p:cNvPr>
            <p:cNvSpPr/>
            <p:nvPr/>
          </p:nvSpPr>
          <p:spPr>
            <a:xfrm>
              <a:off x="7538744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ADAEE83-C2C7-D074-D623-01817C995B4D}"/>
                </a:ext>
              </a:extLst>
            </p:cNvPr>
            <p:cNvSpPr/>
            <p:nvPr/>
          </p:nvSpPr>
          <p:spPr>
            <a:xfrm>
              <a:off x="7739352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3DE50EC-4AE6-E92E-BA72-747865F70018}"/>
                </a:ext>
              </a:extLst>
            </p:cNvPr>
            <p:cNvSpPr/>
            <p:nvPr/>
          </p:nvSpPr>
          <p:spPr>
            <a:xfrm>
              <a:off x="7939960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D400FC2-FD57-4F7E-8733-9E4D7EDE613E}"/>
                </a:ext>
              </a:extLst>
            </p:cNvPr>
            <p:cNvSpPr/>
            <p:nvPr/>
          </p:nvSpPr>
          <p:spPr>
            <a:xfrm>
              <a:off x="8140568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D97AA45-014F-BDC2-BB5C-D95E5635DA52}"/>
                </a:ext>
              </a:extLst>
            </p:cNvPr>
            <p:cNvSpPr/>
            <p:nvPr/>
          </p:nvSpPr>
          <p:spPr>
            <a:xfrm>
              <a:off x="8341176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AB3AB43-3397-8D82-07A7-56BBAD2E264E}"/>
                </a:ext>
              </a:extLst>
            </p:cNvPr>
            <p:cNvSpPr/>
            <p:nvPr/>
          </p:nvSpPr>
          <p:spPr>
            <a:xfrm>
              <a:off x="8541784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66CCA06-FC82-FCB7-F569-5FD1521116B8}"/>
                </a:ext>
              </a:extLst>
            </p:cNvPr>
            <p:cNvSpPr/>
            <p:nvPr/>
          </p:nvSpPr>
          <p:spPr>
            <a:xfrm>
              <a:off x="8742391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95D02F-0D1B-B9E7-A0F7-8A80BD2001DE}"/>
                </a:ext>
              </a:extLst>
            </p:cNvPr>
            <p:cNvSpPr/>
            <p:nvPr/>
          </p:nvSpPr>
          <p:spPr>
            <a:xfrm>
              <a:off x="8942999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2" name="TextBox 134">
              <a:extLst>
                <a:ext uri="{FF2B5EF4-FFF2-40B4-BE49-F238E27FC236}">
                  <a16:creationId xmlns:a16="http://schemas.microsoft.com/office/drawing/2014/main" id="{645B7343-9B12-3DDB-4033-5CBBD1384B62}"/>
                </a:ext>
              </a:extLst>
            </p:cNvPr>
            <p:cNvSpPr txBox="1"/>
            <p:nvPr/>
          </p:nvSpPr>
          <p:spPr>
            <a:xfrm rot="5400000">
              <a:off x="8216092" y="306894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…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6E67C08-CAF1-2A11-3874-BA1105666E13}"/>
                </a:ext>
              </a:extLst>
            </p:cNvPr>
            <p:cNvSpPr/>
            <p:nvPr/>
          </p:nvSpPr>
          <p:spPr>
            <a:xfrm>
              <a:off x="7535085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64AC063-6767-AA61-E21A-1E7F46D404DF}"/>
                </a:ext>
              </a:extLst>
            </p:cNvPr>
            <p:cNvSpPr/>
            <p:nvPr/>
          </p:nvSpPr>
          <p:spPr>
            <a:xfrm>
              <a:off x="7735693" y="3413753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72F9264-F2DD-95C9-6CCC-C4323C386B72}"/>
                </a:ext>
              </a:extLst>
            </p:cNvPr>
            <p:cNvSpPr/>
            <p:nvPr/>
          </p:nvSpPr>
          <p:spPr>
            <a:xfrm>
              <a:off x="7936301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880C1B3-C25B-2828-339E-12FB30CD50D0}"/>
                </a:ext>
              </a:extLst>
            </p:cNvPr>
            <p:cNvSpPr/>
            <p:nvPr/>
          </p:nvSpPr>
          <p:spPr>
            <a:xfrm>
              <a:off x="8136909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F6970E7-39C2-D3BF-E8E1-56875BA6EECC}"/>
                </a:ext>
              </a:extLst>
            </p:cNvPr>
            <p:cNvSpPr/>
            <p:nvPr/>
          </p:nvSpPr>
          <p:spPr>
            <a:xfrm>
              <a:off x="8337516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6EDA2E9-44AE-B383-D4CC-DC3701660A9B}"/>
                </a:ext>
              </a:extLst>
            </p:cNvPr>
            <p:cNvSpPr/>
            <p:nvPr/>
          </p:nvSpPr>
          <p:spPr>
            <a:xfrm>
              <a:off x="8538124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B2B1D3D-5A01-3566-C30E-E9C5FA2ECA53}"/>
                </a:ext>
              </a:extLst>
            </p:cNvPr>
            <p:cNvSpPr/>
            <p:nvPr/>
          </p:nvSpPr>
          <p:spPr>
            <a:xfrm>
              <a:off x="8738732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EE304F0-9015-29B1-C91B-05BFA815D463}"/>
                </a:ext>
              </a:extLst>
            </p:cNvPr>
            <p:cNvSpPr/>
            <p:nvPr/>
          </p:nvSpPr>
          <p:spPr>
            <a:xfrm>
              <a:off x="8939340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4DEBA35-A5D4-E201-FE60-908445EC098F}"/>
                </a:ext>
              </a:extLst>
            </p:cNvPr>
            <p:cNvSpPr/>
            <p:nvPr/>
          </p:nvSpPr>
          <p:spPr>
            <a:xfrm>
              <a:off x="7535085" y="3746392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3EF0A5E-10A0-21AF-2AD8-49E1D7FAC7BB}"/>
                </a:ext>
              </a:extLst>
            </p:cNvPr>
            <p:cNvSpPr/>
            <p:nvPr/>
          </p:nvSpPr>
          <p:spPr>
            <a:xfrm>
              <a:off x="7735693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980F208-08EB-464E-BA1F-0611CDB11403}"/>
                </a:ext>
              </a:extLst>
            </p:cNvPr>
            <p:cNvSpPr/>
            <p:nvPr/>
          </p:nvSpPr>
          <p:spPr>
            <a:xfrm>
              <a:off x="7936301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E607F92-EC13-1318-CF1E-55F0706D3811}"/>
                </a:ext>
              </a:extLst>
            </p:cNvPr>
            <p:cNvSpPr/>
            <p:nvPr/>
          </p:nvSpPr>
          <p:spPr>
            <a:xfrm>
              <a:off x="8136909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38A6FD0-C4FA-7CEB-E427-BD97542DA0B5}"/>
                </a:ext>
              </a:extLst>
            </p:cNvPr>
            <p:cNvSpPr/>
            <p:nvPr/>
          </p:nvSpPr>
          <p:spPr>
            <a:xfrm>
              <a:off x="8337516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17F37B1-8DB1-DAC9-BF26-8877715CC242}"/>
                </a:ext>
              </a:extLst>
            </p:cNvPr>
            <p:cNvSpPr/>
            <p:nvPr/>
          </p:nvSpPr>
          <p:spPr>
            <a:xfrm>
              <a:off x="8538124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7B10AA2-BA73-7B4A-C102-81FE1DFF9161}"/>
                </a:ext>
              </a:extLst>
            </p:cNvPr>
            <p:cNvSpPr/>
            <p:nvPr/>
          </p:nvSpPr>
          <p:spPr>
            <a:xfrm>
              <a:off x="8738732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6C9505B-1C36-F2C1-E2B8-FACE156A12B5}"/>
                </a:ext>
              </a:extLst>
            </p:cNvPr>
            <p:cNvSpPr/>
            <p:nvPr/>
          </p:nvSpPr>
          <p:spPr>
            <a:xfrm>
              <a:off x="8939340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51">
                  <a:extLst>
                    <a:ext uri="{FF2B5EF4-FFF2-40B4-BE49-F238E27FC236}">
                      <a16:creationId xmlns:a16="http://schemas.microsoft.com/office/drawing/2014/main" id="{3196920F-BDF1-BE80-60A6-22F107965E7A}"/>
                    </a:ext>
                  </a:extLst>
                </p:cNvPr>
                <p:cNvSpPr txBox="1"/>
                <p:nvPr/>
              </p:nvSpPr>
              <p:spPr>
                <a:xfrm>
                  <a:off x="7114306" y="2146641"/>
                  <a:ext cx="4314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5" name="TextBox 151">
                  <a:extLst>
                    <a:ext uri="{FF2B5EF4-FFF2-40B4-BE49-F238E27FC236}">
                      <a16:creationId xmlns:a16="http://schemas.microsoft.com/office/drawing/2014/main" id="{805EEA8C-DF77-E0F9-9B13-9481D166CD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306" y="2146641"/>
                  <a:ext cx="431400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52">
                  <a:extLst>
                    <a:ext uri="{FF2B5EF4-FFF2-40B4-BE49-F238E27FC236}">
                      <a16:creationId xmlns:a16="http://schemas.microsoft.com/office/drawing/2014/main" id="{43B7F173-2448-E76B-B955-AA30C6D785AC}"/>
                    </a:ext>
                  </a:extLst>
                </p:cNvPr>
                <p:cNvSpPr txBox="1"/>
                <p:nvPr/>
              </p:nvSpPr>
              <p:spPr>
                <a:xfrm>
                  <a:off x="7114206" y="2482251"/>
                  <a:ext cx="4272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6" name="TextBox 152">
                  <a:extLst>
                    <a:ext uri="{FF2B5EF4-FFF2-40B4-BE49-F238E27FC236}">
                      <a16:creationId xmlns:a16="http://schemas.microsoft.com/office/drawing/2014/main" id="{3AC3E1BB-807C-8E6D-EFD9-1B92CC7E6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206" y="2482251"/>
                  <a:ext cx="42723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53">
                  <a:extLst>
                    <a:ext uri="{FF2B5EF4-FFF2-40B4-BE49-F238E27FC236}">
                      <a16:creationId xmlns:a16="http://schemas.microsoft.com/office/drawing/2014/main" id="{50467DE5-1590-851C-F7E1-4FAD38EC3699}"/>
                    </a:ext>
                  </a:extLst>
                </p:cNvPr>
                <p:cNvSpPr txBox="1"/>
                <p:nvPr/>
              </p:nvSpPr>
              <p:spPr>
                <a:xfrm>
                  <a:off x="7105927" y="2810410"/>
                  <a:ext cx="4314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7" name="TextBox 153">
                  <a:extLst>
                    <a:ext uri="{FF2B5EF4-FFF2-40B4-BE49-F238E27FC236}">
                      <a16:creationId xmlns:a16="http://schemas.microsoft.com/office/drawing/2014/main" id="{17B50B8C-AED5-DA86-3599-0CE57C022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5927" y="2810410"/>
                  <a:ext cx="431400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TextBox 154">
              <a:extLst>
                <a:ext uri="{FF2B5EF4-FFF2-40B4-BE49-F238E27FC236}">
                  <a16:creationId xmlns:a16="http://schemas.microsoft.com/office/drawing/2014/main" id="{EF0E1621-64FD-6EE5-CA79-2E6BECA86C56}"/>
                </a:ext>
              </a:extLst>
            </p:cNvPr>
            <p:cNvSpPr txBox="1"/>
            <p:nvPr/>
          </p:nvSpPr>
          <p:spPr>
            <a:xfrm rot="5400000">
              <a:off x="7170790" y="3061498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55">
                  <a:extLst>
                    <a:ext uri="{FF2B5EF4-FFF2-40B4-BE49-F238E27FC236}">
                      <a16:creationId xmlns:a16="http://schemas.microsoft.com/office/drawing/2014/main" id="{C0E98D20-87A7-C897-BDA7-B2785E5A37A3}"/>
                    </a:ext>
                  </a:extLst>
                </p:cNvPr>
                <p:cNvSpPr txBox="1"/>
                <p:nvPr/>
              </p:nvSpPr>
              <p:spPr>
                <a:xfrm>
                  <a:off x="6998540" y="3364414"/>
                  <a:ext cx="61318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9" name="TextBox 155">
                  <a:extLst>
                    <a:ext uri="{FF2B5EF4-FFF2-40B4-BE49-F238E27FC236}">
                      <a16:creationId xmlns:a16="http://schemas.microsoft.com/office/drawing/2014/main" id="{E09A1655-9DFA-47D6-2002-45106D4ED2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540" y="3364414"/>
                  <a:ext cx="61318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56">
                  <a:extLst>
                    <a:ext uri="{FF2B5EF4-FFF2-40B4-BE49-F238E27FC236}">
                      <a16:creationId xmlns:a16="http://schemas.microsoft.com/office/drawing/2014/main" id="{9C0DD9BC-2ED3-4AC4-AAEF-2779FA05E89C}"/>
                    </a:ext>
                  </a:extLst>
                </p:cNvPr>
                <p:cNvSpPr txBox="1"/>
                <p:nvPr/>
              </p:nvSpPr>
              <p:spPr>
                <a:xfrm>
                  <a:off x="7096056" y="3698735"/>
                  <a:ext cx="43781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70" name="TextBox 156">
                  <a:extLst>
                    <a:ext uri="{FF2B5EF4-FFF2-40B4-BE49-F238E27FC236}">
                      <a16:creationId xmlns:a16="http://schemas.microsoft.com/office/drawing/2014/main" id="{27933655-9F62-0610-0A20-1B72BC4DD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056" y="3698735"/>
                  <a:ext cx="437812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3D1C20E-9EE0-757E-063B-505ED42EBB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5653" y="2027307"/>
              <a:ext cx="1218073" cy="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TextBox 158">
              <a:extLst>
                <a:ext uri="{FF2B5EF4-FFF2-40B4-BE49-F238E27FC236}">
                  <a16:creationId xmlns:a16="http://schemas.microsoft.com/office/drawing/2014/main" id="{B472BAFF-3034-07D7-8252-FC6804418C73}"/>
                </a:ext>
              </a:extLst>
            </p:cNvPr>
            <p:cNvSpPr txBox="1"/>
            <p:nvPr/>
          </p:nvSpPr>
          <p:spPr>
            <a:xfrm>
              <a:off x="8996005" y="1888807"/>
              <a:ext cx="552366" cy="298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LSB</a:t>
              </a:r>
            </a:p>
          </p:txBody>
        </p:sp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8E7AC2A-B83C-6417-1761-1E4E53F6F250}"/>
              </a:ext>
            </a:extLst>
          </p:cNvPr>
          <p:cNvCxnSpPr>
            <a:cxnSpLocks/>
            <a:endCxn id="102" idx="2"/>
          </p:cNvCxnSpPr>
          <p:nvPr/>
        </p:nvCxnSpPr>
        <p:spPr>
          <a:xfrm flipH="1" flipV="1">
            <a:off x="7013235" y="4681357"/>
            <a:ext cx="539106" cy="123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78">
            <a:extLst>
              <a:ext uri="{FF2B5EF4-FFF2-40B4-BE49-F238E27FC236}">
                <a16:creationId xmlns:a16="http://schemas.microsoft.com/office/drawing/2014/main" id="{76A534B6-8A04-5663-5A91-DCF72AD087C1}"/>
              </a:ext>
            </a:extLst>
          </p:cNvPr>
          <p:cNvSpPr txBox="1"/>
          <p:nvPr/>
        </p:nvSpPr>
        <p:spPr>
          <a:xfrm>
            <a:off x="7597298" y="4677708"/>
            <a:ext cx="1449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Failure</a:t>
            </a:r>
          </a:p>
        </p:txBody>
      </p:sp>
      <p:sp>
        <p:nvSpPr>
          <p:cNvPr id="140" name="TextBox 184">
            <a:extLst>
              <a:ext uri="{FF2B5EF4-FFF2-40B4-BE49-F238E27FC236}">
                <a16:creationId xmlns:a16="http://schemas.microsoft.com/office/drawing/2014/main" id="{B84A7D87-5234-BB59-DF28-84B0F543E951}"/>
              </a:ext>
            </a:extLst>
          </p:cNvPr>
          <p:cNvSpPr txBox="1"/>
          <p:nvPr/>
        </p:nvSpPr>
        <p:spPr>
          <a:xfrm>
            <a:off x="5257800" y="5967486"/>
            <a:ext cx="2308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Bit-Flipping</a:t>
            </a:r>
          </a:p>
        </p:txBody>
      </p:sp>
    </p:spTree>
    <p:extLst>
      <p:ext uri="{BB962C8B-B14F-4D97-AF65-F5344CB8AC3E}">
        <p14:creationId xmlns:p14="http://schemas.microsoft.com/office/powerpoint/2010/main" val="3209604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D0BE-4660-A93F-F3FC-3E217B41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377B-7410-0964-E99C-DC7C46DF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Motivation &amp; Contribution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B41C4-E48C-168B-443E-84FF5B5AD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382000" cy="35201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High accumulation exacerbates retention failure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Data collapse in network parameters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E.g., Bit-flipping in weights</a:t>
            </a:r>
          </a:p>
          <a:p>
            <a:r>
              <a:rPr lang="en-US" b="1" dirty="0">
                <a:solidFill>
                  <a:srgbClr val="002060"/>
                </a:solidFill>
              </a:rPr>
              <a:t>Self-Error-Adaptive LIF (SEAL)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Neutralize retention failure at runtime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Minimize modification from LIF neuron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08865-D43F-4CBF-2169-9BC7636D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BE532-EB6B-969B-ED7A-DEA4C09A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F94EC2-8095-F485-8C80-35BD365B2B98}"/>
              </a:ext>
            </a:extLst>
          </p:cNvPr>
          <p:cNvGrpSpPr>
            <a:grpSpLocks noChangeAspect="1"/>
          </p:cNvGrpSpPr>
          <p:nvPr/>
        </p:nvGrpSpPr>
        <p:grpSpPr>
          <a:xfrm>
            <a:off x="1075206" y="4025873"/>
            <a:ext cx="2893809" cy="1871297"/>
            <a:chOff x="1465970" y="1984425"/>
            <a:chExt cx="5072615" cy="3125641"/>
          </a:xfrm>
        </p:grpSpPr>
        <p:grpSp>
          <p:nvGrpSpPr>
            <p:cNvPr id="7" name="グループ化 28">
              <a:extLst>
                <a:ext uri="{FF2B5EF4-FFF2-40B4-BE49-F238E27FC236}">
                  <a16:creationId xmlns:a16="http://schemas.microsoft.com/office/drawing/2014/main" id="{8923D685-8B62-663A-8A60-86A25DB9F32B}"/>
                </a:ext>
              </a:extLst>
            </p:cNvPr>
            <p:cNvGrpSpPr/>
            <p:nvPr/>
          </p:nvGrpSpPr>
          <p:grpSpPr>
            <a:xfrm>
              <a:off x="2540001" y="2424597"/>
              <a:ext cx="3585851" cy="1836000"/>
              <a:chOff x="2540001" y="2424597"/>
              <a:chExt cx="3585851" cy="1836000"/>
            </a:xfrm>
          </p:grpSpPr>
          <p:sp>
            <p:nvSpPr>
              <p:cNvPr id="15" name="正方形/長方形 11">
                <a:extLst>
                  <a:ext uri="{FF2B5EF4-FFF2-40B4-BE49-F238E27FC236}">
                    <a16:creationId xmlns:a16="http://schemas.microsoft.com/office/drawing/2014/main" id="{4C771074-EA58-A155-765B-626FF4A213FC}"/>
                  </a:ext>
                </a:extLst>
              </p:cNvPr>
              <p:cNvSpPr/>
              <p:nvPr/>
            </p:nvSpPr>
            <p:spPr>
              <a:xfrm>
                <a:off x="254000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4">
                <a:extLst>
                  <a:ext uri="{FF2B5EF4-FFF2-40B4-BE49-F238E27FC236}">
                    <a16:creationId xmlns:a16="http://schemas.microsoft.com/office/drawing/2014/main" id="{7F40CF96-E5BF-CAF0-80FA-E4249BE733B2}"/>
                  </a:ext>
                </a:extLst>
              </p:cNvPr>
              <p:cNvSpPr/>
              <p:nvPr/>
            </p:nvSpPr>
            <p:spPr>
              <a:xfrm>
                <a:off x="2862715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8">
                <a:extLst>
                  <a:ext uri="{FF2B5EF4-FFF2-40B4-BE49-F238E27FC236}">
                    <a16:creationId xmlns:a16="http://schemas.microsoft.com/office/drawing/2014/main" id="{B02AFD06-86AE-3C2E-A0CC-6CE2854D94D6}"/>
                  </a:ext>
                </a:extLst>
              </p:cNvPr>
              <p:cNvSpPr/>
              <p:nvPr/>
            </p:nvSpPr>
            <p:spPr>
              <a:xfrm>
                <a:off x="3185429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9">
                <a:extLst>
                  <a:ext uri="{FF2B5EF4-FFF2-40B4-BE49-F238E27FC236}">
                    <a16:creationId xmlns:a16="http://schemas.microsoft.com/office/drawing/2014/main" id="{9C9CB315-045D-C445-5D65-1290A0E7EC62}"/>
                  </a:ext>
                </a:extLst>
              </p:cNvPr>
              <p:cNvSpPr/>
              <p:nvPr/>
            </p:nvSpPr>
            <p:spPr>
              <a:xfrm>
                <a:off x="3508143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20">
                <a:extLst>
                  <a:ext uri="{FF2B5EF4-FFF2-40B4-BE49-F238E27FC236}">
                    <a16:creationId xmlns:a16="http://schemas.microsoft.com/office/drawing/2014/main" id="{E871E75B-CF47-D986-5C5B-9038DF9E795C}"/>
                  </a:ext>
                </a:extLst>
              </p:cNvPr>
              <p:cNvSpPr/>
              <p:nvPr/>
            </p:nvSpPr>
            <p:spPr>
              <a:xfrm>
                <a:off x="3830857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0" name="正方形/長方形 21">
                <a:extLst>
                  <a:ext uri="{FF2B5EF4-FFF2-40B4-BE49-F238E27FC236}">
                    <a16:creationId xmlns:a16="http://schemas.microsoft.com/office/drawing/2014/main" id="{9E11EB8D-6C63-9BAF-6156-86F2DF28F6AF}"/>
                  </a:ext>
                </a:extLst>
              </p:cNvPr>
              <p:cNvSpPr/>
              <p:nvPr/>
            </p:nvSpPr>
            <p:spPr>
              <a:xfrm>
                <a:off x="415357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2">
                <a:extLst>
                  <a:ext uri="{FF2B5EF4-FFF2-40B4-BE49-F238E27FC236}">
                    <a16:creationId xmlns:a16="http://schemas.microsoft.com/office/drawing/2014/main" id="{54CF0CE0-4203-7D57-C89F-17FC47A3318D}"/>
                  </a:ext>
                </a:extLst>
              </p:cNvPr>
              <p:cNvSpPr/>
              <p:nvPr/>
            </p:nvSpPr>
            <p:spPr>
              <a:xfrm>
                <a:off x="4476285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2" name="正方形/長方形 23">
                <a:extLst>
                  <a:ext uri="{FF2B5EF4-FFF2-40B4-BE49-F238E27FC236}">
                    <a16:creationId xmlns:a16="http://schemas.microsoft.com/office/drawing/2014/main" id="{D0B8ADBF-11E7-F6C4-7E88-8E33A5380920}"/>
                  </a:ext>
                </a:extLst>
              </p:cNvPr>
              <p:cNvSpPr/>
              <p:nvPr/>
            </p:nvSpPr>
            <p:spPr>
              <a:xfrm>
                <a:off x="4798999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4">
                <a:extLst>
                  <a:ext uri="{FF2B5EF4-FFF2-40B4-BE49-F238E27FC236}">
                    <a16:creationId xmlns:a16="http://schemas.microsoft.com/office/drawing/2014/main" id="{F535D4BC-FC2F-F823-EE15-1D6473A16405}"/>
                  </a:ext>
                </a:extLst>
              </p:cNvPr>
              <p:cNvSpPr/>
              <p:nvPr/>
            </p:nvSpPr>
            <p:spPr>
              <a:xfrm>
                <a:off x="5121713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4" name="正方形/長方形 25">
                <a:extLst>
                  <a:ext uri="{FF2B5EF4-FFF2-40B4-BE49-F238E27FC236}">
                    <a16:creationId xmlns:a16="http://schemas.microsoft.com/office/drawing/2014/main" id="{244FE022-39D9-3AA1-51B8-E628C08CF998}"/>
                  </a:ext>
                </a:extLst>
              </p:cNvPr>
              <p:cNvSpPr/>
              <p:nvPr/>
            </p:nvSpPr>
            <p:spPr>
              <a:xfrm>
                <a:off x="5444427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6">
                <a:extLst>
                  <a:ext uri="{FF2B5EF4-FFF2-40B4-BE49-F238E27FC236}">
                    <a16:creationId xmlns:a16="http://schemas.microsoft.com/office/drawing/2014/main" id="{7B42DE9E-306A-7E30-1880-42775205C229}"/>
                  </a:ext>
                </a:extLst>
              </p:cNvPr>
              <p:cNvSpPr/>
              <p:nvPr/>
            </p:nvSpPr>
            <p:spPr>
              <a:xfrm>
                <a:off x="5767141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6" name="正方形/長方形 27">
                <a:extLst>
                  <a:ext uri="{FF2B5EF4-FFF2-40B4-BE49-F238E27FC236}">
                    <a16:creationId xmlns:a16="http://schemas.microsoft.com/office/drawing/2014/main" id="{7C2BA263-619A-B521-B740-5D6DD027F855}"/>
                  </a:ext>
                </a:extLst>
              </p:cNvPr>
              <p:cNvSpPr/>
              <p:nvPr/>
            </p:nvSpPr>
            <p:spPr>
              <a:xfrm>
                <a:off x="6089852" y="2424597"/>
                <a:ext cx="36000" cy="183600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45111D-7E83-EF6E-4D49-29BEAB7022CA}"/>
                </a:ext>
              </a:extLst>
            </p:cNvPr>
            <p:cNvSpPr/>
            <p:nvPr/>
          </p:nvSpPr>
          <p:spPr>
            <a:xfrm>
              <a:off x="2302934" y="4240747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Logic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36A81D-B75A-FB1C-94D8-980C9A5D1E31}"/>
                </a:ext>
              </a:extLst>
            </p:cNvPr>
            <p:cNvSpPr/>
            <p:nvPr/>
          </p:nvSpPr>
          <p:spPr>
            <a:xfrm>
              <a:off x="2154708" y="4671941"/>
              <a:ext cx="4383877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Package Substrate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7C84E1-9C36-D740-A499-77AD47A51DB4}"/>
                </a:ext>
              </a:extLst>
            </p:cNvPr>
            <p:cNvSpPr/>
            <p:nvPr/>
          </p:nvSpPr>
          <p:spPr>
            <a:xfrm>
              <a:off x="2302934" y="3674022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6407F5-F70D-CF51-30BA-A9BD1F7AF421}"/>
                </a:ext>
              </a:extLst>
            </p:cNvPr>
            <p:cNvSpPr/>
            <p:nvPr/>
          </p:nvSpPr>
          <p:spPr>
            <a:xfrm>
              <a:off x="2302934" y="3107297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2A9F0B-8EA2-8C52-A6FD-FA847AB8F293}"/>
                </a:ext>
              </a:extLst>
            </p:cNvPr>
            <p:cNvSpPr/>
            <p:nvPr/>
          </p:nvSpPr>
          <p:spPr>
            <a:xfrm>
              <a:off x="2302934" y="2540572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33ADEB-F611-94DA-FE63-68736BAAF0FB}"/>
                </a:ext>
              </a:extLst>
            </p:cNvPr>
            <p:cNvSpPr/>
            <p:nvPr/>
          </p:nvSpPr>
          <p:spPr>
            <a:xfrm>
              <a:off x="2302934" y="1984425"/>
              <a:ext cx="4085386" cy="438125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DRAM Die</a:t>
              </a:r>
              <a:endParaRPr lang="en-JP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274A16A-3555-C26F-0612-B5157628B914}"/>
                </a:ext>
              </a:extLst>
            </p:cNvPr>
            <p:cNvCxnSpPr>
              <a:cxnSpLocks/>
            </p:cNvCxnSpPr>
            <p:nvPr/>
          </p:nvCxnSpPr>
          <p:spPr>
            <a:xfrm>
              <a:off x="1465970" y="2823158"/>
              <a:ext cx="1043401" cy="2320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40">
            <a:extLst>
              <a:ext uri="{FF2B5EF4-FFF2-40B4-BE49-F238E27FC236}">
                <a16:creationId xmlns:a16="http://schemas.microsoft.com/office/drawing/2014/main" id="{ACC79905-E3AD-8E49-DA12-D2D5798B0610}"/>
              </a:ext>
            </a:extLst>
          </p:cNvPr>
          <p:cNvSpPr txBox="1"/>
          <p:nvPr/>
        </p:nvSpPr>
        <p:spPr>
          <a:xfrm>
            <a:off x="2188684" y="5986046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 </a:t>
            </a:r>
          </a:p>
        </p:txBody>
      </p:sp>
      <p:sp>
        <p:nvSpPr>
          <p:cNvPr id="28" name="Up Arrow 43">
            <a:extLst>
              <a:ext uri="{FF2B5EF4-FFF2-40B4-BE49-F238E27FC236}">
                <a16:creationId xmlns:a16="http://schemas.microsoft.com/office/drawing/2014/main" id="{1B5AD825-0713-BEAA-7778-8B79DC4E0A7A}"/>
              </a:ext>
            </a:extLst>
          </p:cNvPr>
          <p:cNvSpPr/>
          <p:nvPr/>
        </p:nvSpPr>
        <p:spPr>
          <a:xfrm>
            <a:off x="4017834" y="4049463"/>
            <a:ext cx="189038" cy="1585405"/>
          </a:xfrm>
          <a:prstGeom prst="up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16200000" scaled="1"/>
            <a:tileRect/>
          </a:gradFill>
          <a:ln w="158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9" name="TextBox 44">
            <a:extLst>
              <a:ext uri="{FF2B5EF4-FFF2-40B4-BE49-F238E27FC236}">
                <a16:creationId xmlns:a16="http://schemas.microsoft.com/office/drawing/2014/main" id="{0C45B5C8-C000-C39D-3BA6-1C0658E964F6}"/>
              </a:ext>
            </a:extLst>
          </p:cNvPr>
          <p:cNvSpPr txBox="1"/>
          <p:nvPr/>
        </p:nvSpPr>
        <p:spPr>
          <a:xfrm rot="5400000">
            <a:off x="3654895" y="4806542"/>
            <a:ext cx="1306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</p:txBody>
      </p:sp>
      <p:sp>
        <p:nvSpPr>
          <p:cNvPr id="30" name="TextBox 163">
            <a:extLst>
              <a:ext uri="{FF2B5EF4-FFF2-40B4-BE49-F238E27FC236}">
                <a16:creationId xmlns:a16="http://schemas.microsoft.com/office/drawing/2014/main" id="{1BFFDCB1-7662-5F4C-48C6-11A7000ED6B2}"/>
              </a:ext>
            </a:extLst>
          </p:cNvPr>
          <p:cNvSpPr txBox="1"/>
          <p:nvPr/>
        </p:nvSpPr>
        <p:spPr>
          <a:xfrm>
            <a:off x="561851" y="4236096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TSVs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98FD5CB-7A11-0FC5-D4CE-5286B79B0724}"/>
              </a:ext>
            </a:extLst>
          </p:cNvPr>
          <p:cNvGrpSpPr>
            <a:grpSpLocks noChangeAspect="1"/>
          </p:cNvGrpSpPr>
          <p:nvPr/>
        </p:nvGrpSpPr>
        <p:grpSpPr>
          <a:xfrm>
            <a:off x="5121639" y="3892574"/>
            <a:ext cx="2615424" cy="1967989"/>
            <a:chOff x="6998540" y="1888807"/>
            <a:chExt cx="2549831" cy="211770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3950A25-B3B7-5EE0-9444-3FADCA7CC104}"/>
                </a:ext>
              </a:extLst>
            </p:cNvPr>
            <p:cNvSpPr/>
            <p:nvPr/>
          </p:nvSpPr>
          <p:spPr>
            <a:xfrm>
              <a:off x="7546890" y="2198702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87" name="TextBox 109">
              <a:extLst>
                <a:ext uri="{FF2B5EF4-FFF2-40B4-BE49-F238E27FC236}">
                  <a16:creationId xmlns:a16="http://schemas.microsoft.com/office/drawing/2014/main" id="{BF092B0B-EE47-C791-3BA6-6BF20FBBCDFC}"/>
                </a:ext>
              </a:extLst>
            </p:cNvPr>
            <p:cNvSpPr txBox="1"/>
            <p:nvPr/>
          </p:nvSpPr>
          <p:spPr>
            <a:xfrm>
              <a:off x="8398082" y="23643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JP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C4D60FE-85ED-F1E0-39A8-0289343F4CC3}"/>
                </a:ext>
              </a:extLst>
            </p:cNvPr>
            <p:cNvSpPr/>
            <p:nvPr/>
          </p:nvSpPr>
          <p:spPr>
            <a:xfrm>
              <a:off x="7747498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29E627E-8DE9-A0E0-9736-E854DD9D6724}"/>
                </a:ext>
              </a:extLst>
            </p:cNvPr>
            <p:cNvSpPr/>
            <p:nvPr/>
          </p:nvSpPr>
          <p:spPr>
            <a:xfrm>
              <a:off x="7948106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366993D-9A2C-83B3-90B8-AC0FD43D602C}"/>
                </a:ext>
              </a:extLst>
            </p:cNvPr>
            <p:cNvSpPr/>
            <p:nvPr/>
          </p:nvSpPr>
          <p:spPr>
            <a:xfrm>
              <a:off x="8148714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4D54F67-CEC5-A4BB-AE7D-8FA2CAC8D276}"/>
                </a:ext>
              </a:extLst>
            </p:cNvPr>
            <p:cNvSpPr/>
            <p:nvPr/>
          </p:nvSpPr>
          <p:spPr>
            <a:xfrm>
              <a:off x="8349322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28DF279-2E94-5E0C-158E-9F4D0E4C070C}"/>
                </a:ext>
              </a:extLst>
            </p:cNvPr>
            <p:cNvSpPr/>
            <p:nvPr/>
          </p:nvSpPr>
          <p:spPr>
            <a:xfrm>
              <a:off x="8549930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8B34311-D599-1835-1D0F-3EC2053864C0}"/>
                </a:ext>
              </a:extLst>
            </p:cNvPr>
            <p:cNvSpPr/>
            <p:nvPr/>
          </p:nvSpPr>
          <p:spPr>
            <a:xfrm>
              <a:off x="8750537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50B8692-225A-C717-8238-AA72586ABD16}"/>
                </a:ext>
              </a:extLst>
            </p:cNvPr>
            <p:cNvSpPr/>
            <p:nvPr/>
          </p:nvSpPr>
          <p:spPr>
            <a:xfrm>
              <a:off x="8951145" y="219870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5" name="TextBox 117">
              <a:extLst>
                <a:ext uri="{FF2B5EF4-FFF2-40B4-BE49-F238E27FC236}">
                  <a16:creationId xmlns:a16="http://schemas.microsoft.com/office/drawing/2014/main" id="{847E59E3-3E08-3956-34AC-D4435DE4B719}"/>
                </a:ext>
              </a:extLst>
            </p:cNvPr>
            <p:cNvSpPr txBox="1"/>
            <p:nvPr/>
          </p:nvSpPr>
          <p:spPr>
            <a:xfrm>
              <a:off x="7220857" y="1888809"/>
              <a:ext cx="552366" cy="298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MSB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C746528-C08C-A5EA-5E50-8771534EED73}"/>
                </a:ext>
              </a:extLst>
            </p:cNvPr>
            <p:cNvSpPr/>
            <p:nvPr/>
          </p:nvSpPr>
          <p:spPr>
            <a:xfrm>
              <a:off x="7538744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C6FD472-86F6-7D6F-131C-D46A13B7DBA2}"/>
                </a:ext>
              </a:extLst>
            </p:cNvPr>
            <p:cNvSpPr/>
            <p:nvPr/>
          </p:nvSpPr>
          <p:spPr>
            <a:xfrm>
              <a:off x="7739352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1C08D75-946F-D977-E17E-8A02EB33A258}"/>
                </a:ext>
              </a:extLst>
            </p:cNvPr>
            <p:cNvSpPr/>
            <p:nvPr/>
          </p:nvSpPr>
          <p:spPr>
            <a:xfrm>
              <a:off x="7939960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FEB2568-D480-841B-ADB9-9C25DE553D50}"/>
                </a:ext>
              </a:extLst>
            </p:cNvPr>
            <p:cNvSpPr/>
            <p:nvPr/>
          </p:nvSpPr>
          <p:spPr>
            <a:xfrm>
              <a:off x="8140568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A89E97-AE81-BF2C-E3EF-899C7235F51E}"/>
                </a:ext>
              </a:extLst>
            </p:cNvPr>
            <p:cNvSpPr/>
            <p:nvPr/>
          </p:nvSpPr>
          <p:spPr>
            <a:xfrm>
              <a:off x="8341176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027353D-DDD9-DE44-782E-FDA957A29D8C}"/>
                </a:ext>
              </a:extLst>
            </p:cNvPr>
            <p:cNvSpPr/>
            <p:nvPr/>
          </p:nvSpPr>
          <p:spPr>
            <a:xfrm>
              <a:off x="8541784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92D950-86AB-01D6-19E1-14FC87AACD53}"/>
                </a:ext>
              </a:extLst>
            </p:cNvPr>
            <p:cNvSpPr/>
            <p:nvPr/>
          </p:nvSpPr>
          <p:spPr>
            <a:xfrm>
              <a:off x="8742391" y="2528498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71CB4CD-B441-7C27-C19A-23DAD422EFCB}"/>
                </a:ext>
              </a:extLst>
            </p:cNvPr>
            <p:cNvSpPr/>
            <p:nvPr/>
          </p:nvSpPr>
          <p:spPr>
            <a:xfrm>
              <a:off x="8942999" y="2528498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15062B0-23B6-73B9-5961-455F15EC006C}"/>
                </a:ext>
              </a:extLst>
            </p:cNvPr>
            <p:cNvSpPr/>
            <p:nvPr/>
          </p:nvSpPr>
          <p:spPr>
            <a:xfrm>
              <a:off x="7538744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2B2B902-2F6B-7762-C939-283FCC161EB8}"/>
                </a:ext>
              </a:extLst>
            </p:cNvPr>
            <p:cNvSpPr/>
            <p:nvPr/>
          </p:nvSpPr>
          <p:spPr>
            <a:xfrm>
              <a:off x="7739352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DCDFE7-223C-2C8F-3E8A-7A1677BED048}"/>
                </a:ext>
              </a:extLst>
            </p:cNvPr>
            <p:cNvSpPr/>
            <p:nvPr/>
          </p:nvSpPr>
          <p:spPr>
            <a:xfrm>
              <a:off x="7939960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3AD9A79-BD11-1F65-4213-805BA7FA75C5}"/>
                </a:ext>
              </a:extLst>
            </p:cNvPr>
            <p:cNvSpPr/>
            <p:nvPr/>
          </p:nvSpPr>
          <p:spPr>
            <a:xfrm>
              <a:off x="8140568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C429A47-6B37-AD97-C099-51B2709C61FF}"/>
                </a:ext>
              </a:extLst>
            </p:cNvPr>
            <p:cNvSpPr/>
            <p:nvPr/>
          </p:nvSpPr>
          <p:spPr>
            <a:xfrm>
              <a:off x="8341176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76B2E4A-4163-FCC1-9EE8-69B9C06E1457}"/>
                </a:ext>
              </a:extLst>
            </p:cNvPr>
            <p:cNvSpPr/>
            <p:nvPr/>
          </p:nvSpPr>
          <p:spPr>
            <a:xfrm>
              <a:off x="8541784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F09DB34-02A9-EAF0-1921-E3E8892CAAD5}"/>
                </a:ext>
              </a:extLst>
            </p:cNvPr>
            <p:cNvSpPr/>
            <p:nvPr/>
          </p:nvSpPr>
          <p:spPr>
            <a:xfrm>
              <a:off x="8742391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BEB58A-7B53-19E4-1422-1F73E38506D2}"/>
                </a:ext>
              </a:extLst>
            </p:cNvPr>
            <p:cNvSpPr/>
            <p:nvPr/>
          </p:nvSpPr>
          <p:spPr>
            <a:xfrm>
              <a:off x="8942999" y="2861137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2" name="TextBox 134">
              <a:extLst>
                <a:ext uri="{FF2B5EF4-FFF2-40B4-BE49-F238E27FC236}">
                  <a16:creationId xmlns:a16="http://schemas.microsoft.com/office/drawing/2014/main" id="{ED407B3F-DDD0-1DEC-5653-04E1AEA3A5D2}"/>
                </a:ext>
              </a:extLst>
            </p:cNvPr>
            <p:cNvSpPr txBox="1"/>
            <p:nvPr/>
          </p:nvSpPr>
          <p:spPr>
            <a:xfrm rot="5400000">
              <a:off x="8216092" y="306894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…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E7F5983-D2E3-EA94-BA69-1F186397FD39}"/>
                </a:ext>
              </a:extLst>
            </p:cNvPr>
            <p:cNvSpPr/>
            <p:nvPr/>
          </p:nvSpPr>
          <p:spPr>
            <a:xfrm>
              <a:off x="7535085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707115E-74F9-EE69-0B71-A8D3F3CB6D4A}"/>
                </a:ext>
              </a:extLst>
            </p:cNvPr>
            <p:cNvSpPr/>
            <p:nvPr/>
          </p:nvSpPr>
          <p:spPr>
            <a:xfrm>
              <a:off x="7735693" y="3413753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D8FB38C-90CD-DFFB-5CD1-993021029F8B}"/>
                </a:ext>
              </a:extLst>
            </p:cNvPr>
            <p:cNvSpPr/>
            <p:nvPr/>
          </p:nvSpPr>
          <p:spPr>
            <a:xfrm>
              <a:off x="7936301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30F0E01-2A93-E452-D7DD-19503B0E9C7A}"/>
                </a:ext>
              </a:extLst>
            </p:cNvPr>
            <p:cNvSpPr/>
            <p:nvPr/>
          </p:nvSpPr>
          <p:spPr>
            <a:xfrm>
              <a:off x="8136909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82B9D64-2D0A-B1F4-447C-D5716797AE9A}"/>
                </a:ext>
              </a:extLst>
            </p:cNvPr>
            <p:cNvSpPr/>
            <p:nvPr/>
          </p:nvSpPr>
          <p:spPr>
            <a:xfrm>
              <a:off x="8337516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0A1A321-DB5F-AA6D-BC00-2EDB07C8766C}"/>
                </a:ext>
              </a:extLst>
            </p:cNvPr>
            <p:cNvSpPr/>
            <p:nvPr/>
          </p:nvSpPr>
          <p:spPr>
            <a:xfrm>
              <a:off x="8538124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B668B23-5926-B06A-C011-6D934BC6FE51}"/>
                </a:ext>
              </a:extLst>
            </p:cNvPr>
            <p:cNvSpPr/>
            <p:nvPr/>
          </p:nvSpPr>
          <p:spPr>
            <a:xfrm>
              <a:off x="8738732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667D521-DF2A-86CA-D48F-B6D80592E23A}"/>
                </a:ext>
              </a:extLst>
            </p:cNvPr>
            <p:cNvSpPr/>
            <p:nvPr/>
          </p:nvSpPr>
          <p:spPr>
            <a:xfrm>
              <a:off x="8939340" y="3413753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C4BF270-1827-8C8C-E15B-CFF957D1C5D6}"/>
                </a:ext>
              </a:extLst>
            </p:cNvPr>
            <p:cNvSpPr/>
            <p:nvPr/>
          </p:nvSpPr>
          <p:spPr>
            <a:xfrm>
              <a:off x="7535085" y="3746392"/>
              <a:ext cx="200608" cy="2091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611FDF8-249E-CF48-5717-79EAE77FE708}"/>
                </a:ext>
              </a:extLst>
            </p:cNvPr>
            <p:cNvSpPr/>
            <p:nvPr/>
          </p:nvSpPr>
          <p:spPr>
            <a:xfrm>
              <a:off x="7735693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D63FDA0-F457-4BCC-FE72-A9A37240E392}"/>
                </a:ext>
              </a:extLst>
            </p:cNvPr>
            <p:cNvSpPr/>
            <p:nvPr/>
          </p:nvSpPr>
          <p:spPr>
            <a:xfrm>
              <a:off x="7936301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BD1C42B-36D2-B3A0-E9C6-ED2D08E75577}"/>
                </a:ext>
              </a:extLst>
            </p:cNvPr>
            <p:cNvSpPr/>
            <p:nvPr/>
          </p:nvSpPr>
          <p:spPr>
            <a:xfrm>
              <a:off x="8136909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6FADA2C-F519-6DAF-DEFF-A1516EC02C95}"/>
                </a:ext>
              </a:extLst>
            </p:cNvPr>
            <p:cNvSpPr/>
            <p:nvPr/>
          </p:nvSpPr>
          <p:spPr>
            <a:xfrm>
              <a:off x="8337516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3F92FF4-E6D0-29D9-EFDC-EF851154418D}"/>
                </a:ext>
              </a:extLst>
            </p:cNvPr>
            <p:cNvSpPr/>
            <p:nvPr/>
          </p:nvSpPr>
          <p:spPr>
            <a:xfrm>
              <a:off x="8538124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F9EFD8E-92BC-56FB-FCFA-BD066C3C2A9D}"/>
                </a:ext>
              </a:extLst>
            </p:cNvPr>
            <p:cNvSpPr/>
            <p:nvPr/>
          </p:nvSpPr>
          <p:spPr>
            <a:xfrm>
              <a:off x="8738732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C10DBC8-54A2-F924-853E-B2DDF8975059}"/>
                </a:ext>
              </a:extLst>
            </p:cNvPr>
            <p:cNvSpPr/>
            <p:nvPr/>
          </p:nvSpPr>
          <p:spPr>
            <a:xfrm>
              <a:off x="8939340" y="3746392"/>
              <a:ext cx="200608" cy="209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1200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51">
                  <a:extLst>
                    <a:ext uri="{FF2B5EF4-FFF2-40B4-BE49-F238E27FC236}">
                      <a16:creationId xmlns:a16="http://schemas.microsoft.com/office/drawing/2014/main" id="{392A0272-91DD-D6AA-CE53-A3C75A55DC11}"/>
                    </a:ext>
                  </a:extLst>
                </p:cNvPr>
                <p:cNvSpPr txBox="1"/>
                <p:nvPr/>
              </p:nvSpPr>
              <p:spPr>
                <a:xfrm>
                  <a:off x="7114306" y="2146641"/>
                  <a:ext cx="4314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5" name="TextBox 151">
                  <a:extLst>
                    <a:ext uri="{FF2B5EF4-FFF2-40B4-BE49-F238E27FC236}">
                      <a16:creationId xmlns:a16="http://schemas.microsoft.com/office/drawing/2014/main" id="{805EEA8C-DF77-E0F9-9B13-9481D166CD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306" y="2146641"/>
                  <a:ext cx="431400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52">
                  <a:extLst>
                    <a:ext uri="{FF2B5EF4-FFF2-40B4-BE49-F238E27FC236}">
                      <a16:creationId xmlns:a16="http://schemas.microsoft.com/office/drawing/2014/main" id="{AADF5B06-7771-21D5-22A0-5D4CACA7E248}"/>
                    </a:ext>
                  </a:extLst>
                </p:cNvPr>
                <p:cNvSpPr txBox="1"/>
                <p:nvPr/>
              </p:nvSpPr>
              <p:spPr>
                <a:xfrm>
                  <a:off x="7114206" y="2482251"/>
                  <a:ext cx="4272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6" name="TextBox 152">
                  <a:extLst>
                    <a:ext uri="{FF2B5EF4-FFF2-40B4-BE49-F238E27FC236}">
                      <a16:creationId xmlns:a16="http://schemas.microsoft.com/office/drawing/2014/main" id="{3AC3E1BB-807C-8E6D-EFD9-1B92CC7E6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206" y="2482251"/>
                  <a:ext cx="42723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53">
                  <a:extLst>
                    <a:ext uri="{FF2B5EF4-FFF2-40B4-BE49-F238E27FC236}">
                      <a16:creationId xmlns:a16="http://schemas.microsoft.com/office/drawing/2014/main" id="{AED1AE39-FA8F-3B7D-6A5A-5A685162913A}"/>
                    </a:ext>
                  </a:extLst>
                </p:cNvPr>
                <p:cNvSpPr txBox="1"/>
                <p:nvPr/>
              </p:nvSpPr>
              <p:spPr>
                <a:xfrm>
                  <a:off x="7105927" y="2810410"/>
                  <a:ext cx="4314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7" name="TextBox 153">
                  <a:extLst>
                    <a:ext uri="{FF2B5EF4-FFF2-40B4-BE49-F238E27FC236}">
                      <a16:creationId xmlns:a16="http://schemas.microsoft.com/office/drawing/2014/main" id="{17B50B8C-AED5-DA86-3599-0CE57C022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5927" y="2810410"/>
                  <a:ext cx="431400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TextBox 154">
              <a:extLst>
                <a:ext uri="{FF2B5EF4-FFF2-40B4-BE49-F238E27FC236}">
                  <a16:creationId xmlns:a16="http://schemas.microsoft.com/office/drawing/2014/main" id="{34CB696E-0870-7D40-BAAF-9805E3EC7A2F}"/>
                </a:ext>
              </a:extLst>
            </p:cNvPr>
            <p:cNvSpPr txBox="1"/>
            <p:nvPr/>
          </p:nvSpPr>
          <p:spPr>
            <a:xfrm rot="5400000">
              <a:off x="7170790" y="3061498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55">
                  <a:extLst>
                    <a:ext uri="{FF2B5EF4-FFF2-40B4-BE49-F238E27FC236}">
                      <a16:creationId xmlns:a16="http://schemas.microsoft.com/office/drawing/2014/main" id="{4E3EBE03-28AD-287B-6687-4C5FFA6B8BD7}"/>
                    </a:ext>
                  </a:extLst>
                </p:cNvPr>
                <p:cNvSpPr txBox="1"/>
                <p:nvPr/>
              </p:nvSpPr>
              <p:spPr>
                <a:xfrm>
                  <a:off x="6998540" y="3364414"/>
                  <a:ext cx="61318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69" name="TextBox 155">
                  <a:extLst>
                    <a:ext uri="{FF2B5EF4-FFF2-40B4-BE49-F238E27FC236}">
                      <a16:creationId xmlns:a16="http://schemas.microsoft.com/office/drawing/2014/main" id="{E09A1655-9DFA-47D6-2002-45106D4ED2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540" y="3364414"/>
                  <a:ext cx="61318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56">
                  <a:extLst>
                    <a:ext uri="{FF2B5EF4-FFF2-40B4-BE49-F238E27FC236}">
                      <a16:creationId xmlns:a16="http://schemas.microsoft.com/office/drawing/2014/main" id="{78EED815-BBCE-19A0-D1F0-8579FC091041}"/>
                    </a:ext>
                  </a:extLst>
                </p:cNvPr>
                <p:cNvSpPr txBox="1"/>
                <p:nvPr/>
              </p:nvSpPr>
              <p:spPr>
                <a:xfrm>
                  <a:off x="7096056" y="3698735"/>
                  <a:ext cx="43781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JP" sz="1400" dirty="0"/>
                </a:p>
              </p:txBody>
            </p:sp>
          </mc:Choice>
          <mc:Fallback xmlns="">
            <p:sp>
              <p:nvSpPr>
                <p:cNvPr id="70" name="TextBox 156">
                  <a:extLst>
                    <a:ext uri="{FF2B5EF4-FFF2-40B4-BE49-F238E27FC236}">
                      <a16:creationId xmlns:a16="http://schemas.microsoft.com/office/drawing/2014/main" id="{27933655-9F62-0610-0A20-1B72BC4DD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056" y="3698735"/>
                  <a:ext cx="437812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D5DBC246-6E37-FA58-0C04-A50A82E9B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5653" y="2027307"/>
              <a:ext cx="1218073" cy="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TextBox 158">
              <a:extLst>
                <a:ext uri="{FF2B5EF4-FFF2-40B4-BE49-F238E27FC236}">
                  <a16:creationId xmlns:a16="http://schemas.microsoft.com/office/drawing/2014/main" id="{4824FEF0-3DE9-9507-87D0-76DD0DD6D1C7}"/>
                </a:ext>
              </a:extLst>
            </p:cNvPr>
            <p:cNvSpPr txBox="1"/>
            <p:nvPr/>
          </p:nvSpPr>
          <p:spPr>
            <a:xfrm>
              <a:off x="8996005" y="1888807"/>
              <a:ext cx="552366" cy="298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LSB</a:t>
              </a:r>
            </a:p>
          </p:txBody>
        </p:sp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FE4CF4A-B9B8-0FBE-850A-D32616DD8435}"/>
              </a:ext>
            </a:extLst>
          </p:cNvPr>
          <p:cNvCxnSpPr>
            <a:cxnSpLocks/>
            <a:endCxn id="102" idx="2"/>
          </p:cNvCxnSpPr>
          <p:nvPr/>
        </p:nvCxnSpPr>
        <p:spPr>
          <a:xfrm flipH="1" flipV="1">
            <a:off x="7013235" y="4681357"/>
            <a:ext cx="539106" cy="123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78">
            <a:extLst>
              <a:ext uri="{FF2B5EF4-FFF2-40B4-BE49-F238E27FC236}">
                <a16:creationId xmlns:a16="http://schemas.microsoft.com/office/drawing/2014/main" id="{8CA7A6F1-6BE8-596B-D3AB-A46388867673}"/>
              </a:ext>
            </a:extLst>
          </p:cNvPr>
          <p:cNvSpPr txBox="1"/>
          <p:nvPr/>
        </p:nvSpPr>
        <p:spPr>
          <a:xfrm>
            <a:off x="7597298" y="4677708"/>
            <a:ext cx="1449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Failure</a:t>
            </a:r>
          </a:p>
        </p:txBody>
      </p:sp>
      <p:sp>
        <p:nvSpPr>
          <p:cNvPr id="140" name="TextBox 184">
            <a:extLst>
              <a:ext uri="{FF2B5EF4-FFF2-40B4-BE49-F238E27FC236}">
                <a16:creationId xmlns:a16="http://schemas.microsoft.com/office/drawing/2014/main" id="{13EE4E78-1EB5-75DD-C551-C6B680232DED}"/>
              </a:ext>
            </a:extLst>
          </p:cNvPr>
          <p:cNvSpPr txBox="1"/>
          <p:nvPr/>
        </p:nvSpPr>
        <p:spPr>
          <a:xfrm>
            <a:off x="5257800" y="5967486"/>
            <a:ext cx="2308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Bit-Flipping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44C7D-2013-21ED-FCB5-BEE0A0174B53}"/>
              </a:ext>
            </a:extLst>
          </p:cNvPr>
          <p:cNvSpPr/>
          <p:nvPr/>
        </p:nvSpPr>
        <p:spPr>
          <a:xfrm>
            <a:off x="762001" y="2191384"/>
            <a:ext cx="5984665" cy="5283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5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D2B7-20CF-A81F-C933-B5646018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6542-55BA-0D50-59AA-B6F0F797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Why SEAL?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122D3-67D4-8B6B-33E6-28F9F236E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382000" cy="54863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Prior works mostly rely on </a:t>
            </a:r>
            <a:r>
              <a:rPr lang="en-US" i="1" dirty="0">
                <a:solidFill>
                  <a:srgbClr val="002060"/>
                </a:solidFill>
              </a:rPr>
              <a:t>synapse</a:t>
            </a:r>
            <a:r>
              <a:rPr lang="en-US" dirty="0">
                <a:solidFill>
                  <a:srgbClr val="002060"/>
                </a:solidFill>
              </a:rPr>
              <a:t>-based fault recovery [3-5]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Exponential scaling of HW overhead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SEAL is a </a:t>
            </a:r>
            <a:r>
              <a:rPr lang="en-US" i="1" dirty="0">
                <a:solidFill>
                  <a:srgbClr val="002060"/>
                </a:solidFill>
              </a:rPr>
              <a:t>neuron</a:t>
            </a:r>
            <a:r>
              <a:rPr lang="en-US" dirty="0">
                <a:solidFill>
                  <a:srgbClr val="002060"/>
                </a:solidFill>
              </a:rPr>
              <a:t>-based approach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Linear scaling of HW overhead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Hardware-friendly &amp; network agnostic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fault-tolerance mechanism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With the best error recovery among SOTAs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1BD7-F0F4-2684-ABC0-4B0D7D44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C488B-8B55-E277-A9DC-CB27C6D3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0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2AD-3D52-39E7-E76D-25C9393E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0529-941C-15FC-8639-A47799BD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A949-8D84-7F34-DF8A-45402D7A7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References 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DC242-A46B-DF8E-4DCF-A0B58956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C11D9-FA26-5449-C8F1-3DF7CDAF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0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515-5C8D-48C8-C68A-D6F246B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6D97-467F-6233-86B8-5F2ECFCE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8287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Semantics of retention failure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Fractional =&gt; </a:t>
            </a:r>
            <a:r>
              <a:rPr lang="en-US" b="1" dirty="0">
                <a:solidFill>
                  <a:srgbClr val="002060"/>
                </a:solidFill>
              </a:rPr>
              <a:t>Decrease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3DF6-DD1E-FCD4-BAB0-54B0169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D2028-9205-36F9-1DAB-380AC35D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DEC1903-CB8B-645F-6EAD-60312D010FF5}"/>
              </a:ext>
            </a:extLst>
          </p:cNvPr>
          <p:cNvSpPr txBox="1"/>
          <p:nvPr/>
        </p:nvSpPr>
        <p:spPr>
          <a:xfrm>
            <a:off x="571453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081F2B8-44B9-0EFE-E1F4-35CA3D6962A0}"/>
              </a:ext>
            </a:extLst>
          </p:cNvPr>
          <p:cNvSpPr txBox="1"/>
          <p:nvPr/>
        </p:nvSpPr>
        <p:spPr>
          <a:xfrm>
            <a:off x="895127" y="3537864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A33C406-0588-8D93-DA90-5FF742CBAEEC}"/>
              </a:ext>
            </a:extLst>
          </p:cNvPr>
          <p:cNvSpPr txBox="1"/>
          <p:nvPr/>
        </p:nvSpPr>
        <p:spPr>
          <a:xfrm>
            <a:off x="462280" y="3530512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18F2FF31-B71B-DEB0-F2FE-D688380928A4}"/>
              </a:ext>
            </a:extLst>
          </p:cNvPr>
          <p:cNvSpPr/>
          <p:nvPr/>
        </p:nvSpPr>
        <p:spPr>
          <a:xfrm rot="16200000">
            <a:off x="1394647" y="3003892"/>
            <a:ext cx="45719" cy="101914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D9CC5FDF-3946-08D5-356F-387F19DDF4F3}"/>
              </a:ext>
            </a:extLst>
          </p:cNvPr>
          <p:cNvSpPr/>
          <p:nvPr/>
        </p:nvSpPr>
        <p:spPr>
          <a:xfrm rot="16200000">
            <a:off x="735277" y="3439752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BA4497ED-E314-FF68-BBE7-8DAA87C454EF}"/>
              </a:ext>
            </a:extLst>
          </p:cNvPr>
          <p:cNvSpPr txBox="1"/>
          <p:nvPr/>
        </p:nvSpPr>
        <p:spPr>
          <a:xfrm>
            <a:off x="2910497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001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DD31E1-86A8-7373-6456-A40DC5F1D3B5}"/>
              </a:ext>
            </a:extLst>
          </p:cNvPr>
          <p:cNvCxnSpPr>
            <a:cxnSpLocks/>
          </p:cNvCxnSpPr>
          <p:nvPr/>
        </p:nvCxnSpPr>
        <p:spPr>
          <a:xfrm>
            <a:off x="2094042" y="3240996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4C5A050B-56C9-219B-6253-4F490759E3CB}"/>
                  </a:ext>
                </a:extLst>
              </p:cNvPr>
              <p:cNvSpPr txBox="1"/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4C5A050B-56C9-219B-6253-4F490759E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blipFill>
                <a:blip r:embed="rId3"/>
                <a:stretch>
                  <a:fillRect l="-8738" t="-8197" r="-4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64">
            <a:extLst>
              <a:ext uri="{FF2B5EF4-FFF2-40B4-BE49-F238E27FC236}">
                <a16:creationId xmlns:a16="http://schemas.microsoft.com/office/drawing/2014/main" id="{5BB51D49-31CC-657B-3220-2E4150D374FC}"/>
              </a:ext>
            </a:extLst>
          </p:cNvPr>
          <p:cNvSpPr txBox="1"/>
          <p:nvPr/>
        </p:nvSpPr>
        <p:spPr>
          <a:xfrm>
            <a:off x="5091433" y="2982444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</a:t>
            </a: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D5A0E091-6062-A0FF-6F8A-54B2FA2949B3}"/>
              </a:ext>
            </a:extLst>
          </p:cNvPr>
          <p:cNvSpPr txBox="1"/>
          <p:nvPr/>
        </p:nvSpPr>
        <p:spPr>
          <a:xfrm>
            <a:off x="5445591" y="3496659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19" name="TextBox 66">
            <a:extLst>
              <a:ext uri="{FF2B5EF4-FFF2-40B4-BE49-F238E27FC236}">
                <a16:creationId xmlns:a16="http://schemas.microsoft.com/office/drawing/2014/main" id="{D4A92249-6932-9E5B-EBC1-8D7E629E3103}"/>
              </a:ext>
            </a:extLst>
          </p:cNvPr>
          <p:cNvSpPr txBox="1"/>
          <p:nvPr/>
        </p:nvSpPr>
        <p:spPr>
          <a:xfrm>
            <a:off x="4998341" y="3496659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F3CBCB27-EB29-C81A-94B6-CBA01A129955}"/>
              </a:ext>
            </a:extLst>
          </p:cNvPr>
          <p:cNvSpPr/>
          <p:nvPr/>
        </p:nvSpPr>
        <p:spPr>
          <a:xfrm rot="16200000">
            <a:off x="5924295" y="2960138"/>
            <a:ext cx="49145" cy="104190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1B1EB711-5F4E-5112-DDE1-FCB65F9C8F8C}"/>
              </a:ext>
            </a:extLst>
          </p:cNvPr>
          <p:cNvSpPr/>
          <p:nvPr/>
        </p:nvSpPr>
        <p:spPr>
          <a:xfrm rot="16200000">
            <a:off x="5255257" y="3409091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C3354343-F392-2CAB-DCBB-EA248B2D337C}"/>
              </a:ext>
            </a:extLst>
          </p:cNvPr>
          <p:cNvSpPr txBox="1"/>
          <p:nvPr/>
        </p:nvSpPr>
        <p:spPr>
          <a:xfrm>
            <a:off x="7396569" y="2994853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CD9DDD-05F1-8D54-8C12-8DBE9212AD4F}"/>
              </a:ext>
            </a:extLst>
          </p:cNvPr>
          <p:cNvCxnSpPr>
            <a:cxnSpLocks/>
          </p:cNvCxnSpPr>
          <p:nvPr/>
        </p:nvCxnSpPr>
        <p:spPr>
          <a:xfrm>
            <a:off x="6612176" y="3248371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64C18235-1356-38EA-7BC9-2D58F5828A9F}"/>
                  </a:ext>
                </a:extLst>
              </p:cNvPr>
              <p:cNvSpPr txBox="1"/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64C18235-1356-38EA-7BC9-2D58F5828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blipFill>
                <a:blip r:embed="rId4"/>
                <a:stretch>
                  <a:fillRect l="-7767" t="-10000" r="-58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9E49353-932E-6719-04AF-3F7451DBC3DB}"/>
              </a:ext>
            </a:extLst>
          </p:cNvPr>
          <p:cNvSpPr/>
          <p:nvPr/>
        </p:nvSpPr>
        <p:spPr>
          <a:xfrm>
            <a:off x="304800" y="2743200"/>
            <a:ext cx="8534400" cy="1359103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DA3AB-00DE-CD04-B996-E359C210BFFB}"/>
              </a:ext>
            </a:extLst>
          </p:cNvPr>
          <p:cNvSpPr txBox="1"/>
          <p:nvPr/>
        </p:nvSpPr>
        <p:spPr>
          <a:xfrm>
            <a:off x="449625" y="2294033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</p:spTree>
    <p:extLst>
      <p:ext uri="{BB962C8B-B14F-4D97-AF65-F5344CB8AC3E}">
        <p14:creationId xmlns:p14="http://schemas.microsoft.com/office/powerpoint/2010/main" val="249408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E02A-581A-FAEC-80E8-30B9F448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259B-9DB7-0E56-976E-05725293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038A0-51BA-3280-5C0D-76364F69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8287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Semantics of retention failure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Fractional =&gt; </a:t>
            </a:r>
            <a:r>
              <a:rPr lang="en-US" b="1" dirty="0">
                <a:solidFill>
                  <a:srgbClr val="002060"/>
                </a:solidFill>
              </a:rPr>
              <a:t>Decrease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Sign-bit =&gt; </a:t>
            </a:r>
            <a:r>
              <a:rPr lang="en-US" b="1" dirty="0">
                <a:solidFill>
                  <a:srgbClr val="002060"/>
                </a:solidFill>
              </a:rPr>
              <a:t>Increase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A5EAC-BAD6-E379-F470-C45405A7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91797-7695-78AD-4AE8-2DB3BDFE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5E80987-8F22-1299-387C-7A85495043AE}"/>
              </a:ext>
            </a:extLst>
          </p:cNvPr>
          <p:cNvSpPr txBox="1"/>
          <p:nvPr/>
        </p:nvSpPr>
        <p:spPr>
          <a:xfrm>
            <a:off x="571453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40EE67E-009D-279E-F989-3FD0BB1638B4}"/>
              </a:ext>
            </a:extLst>
          </p:cNvPr>
          <p:cNvSpPr txBox="1"/>
          <p:nvPr/>
        </p:nvSpPr>
        <p:spPr>
          <a:xfrm>
            <a:off x="895127" y="3537864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1914255-C1F9-8511-4271-595834490B37}"/>
              </a:ext>
            </a:extLst>
          </p:cNvPr>
          <p:cNvSpPr txBox="1"/>
          <p:nvPr/>
        </p:nvSpPr>
        <p:spPr>
          <a:xfrm>
            <a:off x="462280" y="3530512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0638645E-253A-90E2-BB63-5A4DAC57AEC9}"/>
              </a:ext>
            </a:extLst>
          </p:cNvPr>
          <p:cNvSpPr/>
          <p:nvPr/>
        </p:nvSpPr>
        <p:spPr>
          <a:xfrm rot="16200000">
            <a:off x="1394647" y="3003892"/>
            <a:ext cx="45719" cy="101914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B59F9048-4CB1-095E-A4B2-90603E4240CB}"/>
              </a:ext>
            </a:extLst>
          </p:cNvPr>
          <p:cNvSpPr/>
          <p:nvPr/>
        </p:nvSpPr>
        <p:spPr>
          <a:xfrm rot="16200000">
            <a:off x="735277" y="3439752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D0E9628C-74BF-E070-2A02-B542990D845C}"/>
              </a:ext>
            </a:extLst>
          </p:cNvPr>
          <p:cNvSpPr txBox="1"/>
          <p:nvPr/>
        </p:nvSpPr>
        <p:spPr>
          <a:xfrm>
            <a:off x="2910497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001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8D80D7-7BFD-D24B-8084-4F1FF8E2B3EA}"/>
              </a:ext>
            </a:extLst>
          </p:cNvPr>
          <p:cNvCxnSpPr>
            <a:cxnSpLocks/>
          </p:cNvCxnSpPr>
          <p:nvPr/>
        </p:nvCxnSpPr>
        <p:spPr>
          <a:xfrm>
            <a:off x="2094042" y="3240996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ABB6598F-71E3-B3FC-765D-30B7AF639FB4}"/>
                  </a:ext>
                </a:extLst>
              </p:cNvPr>
              <p:cNvSpPr txBox="1"/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ABB6598F-71E3-B3FC-765D-30B7AF639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blipFill>
                <a:blip r:embed="rId3"/>
                <a:stretch>
                  <a:fillRect l="-8738" t="-8197" r="-4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64">
            <a:extLst>
              <a:ext uri="{FF2B5EF4-FFF2-40B4-BE49-F238E27FC236}">
                <a16:creationId xmlns:a16="http://schemas.microsoft.com/office/drawing/2014/main" id="{6470BACA-997C-FA0D-D673-7448C3BC7243}"/>
              </a:ext>
            </a:extLst>
          </p:cNvPr>
          <p:cNvSpPr txBox="1"/>
          <p:nvPr/>
        </p:nvSpPr>
        <p:spPr>
          <a:xfrm>
            <a:off x="5091433" y="2982444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</a:t>
            </a: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78C3809A-317F-070D-2AAC-CCEEFD129410}"/>
              </a:ext>
            </a:extLst>
          </p:cNvPr>
          <p:cNvSpPr txBox="1"/>
          <p:nvPr/>
        </p:nvSpPr>
        <p:spPr>
          <a:xfrm>
            <a:off x="5445591" y="3496659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19" name="TextBox 66">
            <a:extLst>
              <a:ext uri="{FF2B5EF4-FFF2-40B4-BE49-F238E27FC236}">
                <a16:creationId xmlns:a16="http://schemas.microsoft.com/office/drawing/2014/main" id="{31B0DD5E-8EE7-27FC-AF70-CC44FB4F6237}"/>
              </a:ext>
            </a:extLst>
          </p:cNvPr>
          <p:cNvSpPr txBox="1"/>
          <p:nvPr/>
        </p:nvSpPr>
        <p:spPr>
          <a:xfrm>
            <a:off x="4998341" y="3496659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128BE711-89A1-E310-C2A5-83EFD74C1D25}"/>
              </a:ext>
            </a:extLst>
          </p:cNvPr>
          <p:cNvSpPr/>
          <p:nvPr/>
        </p:nvSpPr>
        <p:spPr>
          <a:xfrm rot="16200000">
            <a:off x="5924295" y="2960138"/>
            <a:ext cx="49145" cy="104190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82605780-1930-A383-58EE-E082FB30B13A}"/>
              </a:ext>
            </a:extLst>
          </p:cNvPr>
          <p:cNvSpPr/>
          <p:nvPr/>
        </p:nvSpPr>
        <p:spPr>
          <a:xfrm rot="16200000">
            <a:off x="5255257" y="3409091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E6ACD4CE-E332-C182-C1DF-B4E034209175}"/>
              </a:ext>
            </a:extLst>
          </p:cNvPr>
          <p:cNvSpPr txBox="1"/>
          <p:nvPr/>
        </p:nvSpPr>
        <p:spPr>
          <a:xfrm>
            <a:off x="7396569" y="2994853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A397F1-E144-EF22-F6FF-9176BCCC800D}"/>
              </a:ext>
            </a:extLst>
          </p:cNvPr>
          <p:cNvCxnSpPr>
            <a:cxnSpLocks/>
          </p:cNvCxnSpPr>
          <p:nvPr/>
        </p:nvCxnSpPr>
        <p:spPr>
          <a:xfrm>
            <a:off x="6612176" y="3248371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6C28B5AA-A347-DCEC-6541-CA47C45F595A}"/>
                  </a:ext>
                </a:extLst>
              </p:cNvPr>
              <p:cNvSpPr txBox="1"/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6C28B5AA-A347-DCEC-6541-CA47C45F5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blipFill>
                <a:blip r:embed="rId4"/>
                <a:stretch>
                  <a:fillRect l="-7767" t="-10000" r="-58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D99F8F-A335-2BFB-8C75-5A4A53777E1D}"/>
              </a:ext>
            </a:extLst>
          </p:cNvPr>
          <p:cNvSpPr/>
          <p:nvPr/>
        </p:nvSpPr>
        <p:spPr>
          <a:xfrm>
            <a:off x="304800" y="2743200"/>
            <a:ext cx="8534400" cy="1359103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9A6D94-1236-E58C-C793-4329FD047692}"/>
              </a:ext>
            </a:extLst>
          </p:cNvPr>
          <p:cNvSpPr txBox="1"/>
          <p:nvPr/>
        </p:nvSpPr>
        <p:spPr>
          <a:xfrm>
            <a:off x="449625" y="2294033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60EF898F-1585-2A41-2E6C-82A982BCBC78}"/>
              </a:ext>
            </a:extLst>
          </p:cNvPr>
          <p:cNvSpPr txBox="1"/>
          <p:nvPr/>
        </p:nvSpPr>
        <p:spPr>
          <a:xfrm>
            <a:off x="2843552" y="5019470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0110100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A41C4FEB-AED3-11A7-BD7A-D6892F1416C1}"/>
              </a:ext>
            </a:extLst>
          </p:cNvPr>
          <p:cNvSpPr txBox="1"/>
          <p:nvPr/>
        </p:nvSpPr>
        <p:spPr>
          <a:xfrm>
            <a:off x="3197710" y="5533685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47" name="TextBox 66">
            <a:extLst>
              <a:ext uri="{FF2B5EF4-FFF2-40B4-BE49-F238E27FC236}">
                <a16:creationId xmlns:a16="http://schemas.microsoft.com/office/drawing/2014/main" id="{3B44F65B-7CE4-0741-5F12-9A14D3EA9586}"/>
              </a:ext>
            </a:extLst>
          </p:cNvPr>
          <p:cNvSpPr txBox="1"/>
          <p:nvPr/>
        </p:nvSpPr>
        <p:spPr>
          <a:xfrm>
            <a:off x="2750460" y="5533685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48" name="Left Bracket 47">
            <a:extLst>
              <a:ext uri="{FF2B5EF4-FFF2-40B4-BE49-F238E27FC236}">
                <a16:creationId xmlns:a16="http://schemas.microsoft.com/office/drawing/2014/main" id="{407C1FCD-3C13-79B1-D588-36F6C241FC47}"/>
              </a:ext>
            </a:extLst>
          </p:cNvPr>
          <p:cNvSpPr/>
          <p:nvPr/>
        </p:nvSpPr>
        <p:spPr>
          <a:xfrm rot="16200000">
            <a:off x="3676414" y="4997164"/>
            <a:ext cx="49145" cy="104190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C0E3EF0A-7EB2-F916-A2F3-612707284CF7}"/>
              </a:ext>
            </a:extLst>
          </p:cNvPr>
          <p:cNvSpPr/>
          <p:nvPr/>
        </p:nvSpPr>
        <p:spPr>
          <a:xfrm rot="16200000">
            <a:off x="3007376" y="5446117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50" name="TextBox 71">
            <a:extLst>
              <a:ext uri="{FF2B5EF4-FFF2-40B4-BE49-F238E27FC236}">
                <a16:creationId xmlns:a16="http://schemas.microsoft.com/office/drawing/2014/main" id="{FE1D8AEF-FBB4-E2F1-DB04-B0D6E4896567}"/>
              </a:ext>
            </a:extLst>
          </p:cNvPr>
          <p:cNvSpPr txBox="1"/>
          <p:nvPr/>
        </p:nvSpPr>
        <p:spPr>
          <a:xfrm>
            <a:off x="5148688" y="5031879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0110001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F33E06-6E2F-2DE2-D6FB-88FFDC103CB1}"/>
              </a:ext>
            </a:extLst>
          </p:cNvPr>
          <p:cNvCxnSpPr>
            <a:cxnSpLocks/>
          </p:cNvCxnSpPr>
          <p:nvPr/>
        </p:nvCxnSpPr>
        <p:spPr>
          <a:xfrm>
            <a:off x="4364295" y="5285397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7C2261C7-63FF-455A-64C2-01F4D8487505}"/>
                  </a:ext>
                </a:extLst>
              </p:cNvPr>
              <p:cNvSpPr txBox="1"/>
              <p:nvPr/>
            </p:nvSpPr>
            <p:spPr>
              <a:xfrm>
                <a:off x="4384972" y="4918254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7C2261C7-63FF-455A-64C2-01F4D8487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972" y="4918254"/>
                <a:ext cx="625492" cy="369332"/>
              </a:xfrm>
              <a:prstGeom prst="rect">
                <a:avLst/>
              </a:prstGeom>
              <a:blipFill>
                <a:blip r:embed="rId5"/>
                <a:stretch>
                  <a:fillRect l="-7767" t="-10000" r="-58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4B2A32E-720C-92A4-F546-D2A42B961A7C}"/>
              </a:ext>
            </a:extLst>
          </p:cNvPr>
          <p:cNvSpPr/>
          <p:nvPr/>
        </p:nvSpPr>
        <p:spPr>
          <a:xfrm>
            <a:off x="304800" y="4822730"/>
            <a:ext cx="8534400" cy="127327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08755A-FB68-7016-343A-5EEF798C96BE}"/>
              </a:ext>
            </a:extLst>
          </p:cNvPr>
          <p:cNvSpPr txBox="1"/>
          <p:nvPr/>
        </p:nvSpPr>
        <p:spPr>
          <a:xfrm>
            <a:off x="449625" y="4373563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Sign-bit</a:t>
            </a:r>
          </a:p>
        </p:txBody>
      </p:sp>
    </p:spTree>
    <p:extLst>
      <p:ext uri="{BB962C8B-B14F-4D97-AF65-F5344CB8AC3E}">
        <p14:creationId xmlns:p14="http://schemas.microsoft.com/office/powerpoint/2010/main" val="537516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6C65-9674-C467-43B7-3AADFE13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0F74-7494-7CB8-A777-F4C236CA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C8281-B314-17D1-DB3A-FE7BB0FF0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8287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Store with </a:t>
            </a:r>
            <a:r>
              <a:rPr lang="en-US" b="1" dirty="0">
                <a:solidFill>
                  <a:srgbClr val="002060"/>
                </a:solidFill>
              </a:rPr>
              <a:t>inverted sign-bit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Fractional =&gt; </a:t>
            </a:r>
            <a:r>
              <a:rPr lang="en-US" b="1" dirty="0">
                <a:solidFill>
                  <a:srgbClr val="002060"/>
                </a:solidFill>
              </a:rPr>
              <a:t>Decrease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Sign-bit =&gt; </a:t>
            </a:r>
            <a:r>
              <a:rPr lang="en-US" b="1" dirty="0">
                <a:solidFill>
                  <a:srgbClr val="002060"/>
                </a:solidFill>
              </a:rPr>
              <a:t>Decrease</a:t>
            </a:r>
          </a:p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8AD37-FCD7-41E8-70D3-1F15238B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E743B-839B-BD81-C7C3-FBC9DC7A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4C7159A-E2B8-270D-4051-C2852EF27636}"/>
              </a:ext>
            </a:extLst>
          </p:cNvPr>
          <p:cNvSpPr txBox="1"/>
          <p:nvPr/>
        </p:nvSpPr>
        <p:spPr>
          <a:xfrm>
            <a:off x="571453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036DC1E-2D12-3491-EE99-6595CFC445FE}"/>
              </a:ext>
            </a:extLst>
          </p:cNvPr>
          <p:cNvSpPr txBox="1"/>
          <p:nvPr/>
        </p:nvSpPr>
        <p:spPr>
          <a:xfrm>
            <a:off x="895127" y="3537864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19517E9-77B1-2B90-7628-8D2F4D2D3582}"/>
              </a:ext>
            </a:extLst>
          </p:cNvPr>
          <p:cNvSpPr txBox="1"/>
          <p:nvPr/>
        </p:nvSpPr>
        <p:spPr>
          <a:xfrm>
            <a:off x="462280" y="3530512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49EBF59F-9C14-7568-E9EA-7ED569621BD9}"/>
              </a:ext>
            </a:extLst>
          </p:cNvPr>
          <p:cNvSpPr/>
          <p:nvPr/>
        </p:nvSpPr>
        <p:spPr>
          <a:xfrm rot="16200000">
            <a:off x="1394647" y="3003892"/>
            <a:ext cx="45719" cy="101914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D043288E-ACA7-8DA0-2A70-5301DBD0871D}"/>
              </a:ext>
            </a:extLst>
          </p:cNvPr>
          <p:cNvSpPr/>
          <p:nvPr/>
        </p:nvSpPr>
        <p:spPr>
          <a:xfrm rot="16200000">
            <a:off x="735277" y="3439752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7DB4AEC3-626D-CE12-EA51-6F89837908EF}"/>
              </a:ext>
            </a:extLst>
          </p:cNvPr>
          <p:cNvSpPr txBox="1"/>
          <p:nvPr/>
        </p:nvSpPr>
        <p:spPr>
          <a:xfrm>
            <a:off x="2910497" y="3013105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0101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001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D93622-E2E1-8AFE-638B-ABE3802C526F}"/>
              </a:ext>
            </a:extLst>
          </p:cNvPr>
          <p:cNvCxnSpPr>
            <a:cxnSpLocks/>
          </p:cNvCxnSpPr>
          <p:nvPr/>
        </p:nvCxnSpPr>
        <p:spPr>
          <a:xfrm>
            <a:off x="2094042" y="3240996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819866C0-56DF-E757-45BD-111CC729B574}"/>
                  </a:ext>
                </a:extLst>
              </p:cNvPr>
              <p:cNvSpPr txBox="1"/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819866C0-56DF-E757-45BD-111CC729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719" y="2873853"/>
                <a:ext cx="625492" cy="369332"/>
              </a:xfrm>
              <a:prstGeom prst="rect">
                <a:avLst/>
              </a:prstGeom>
              <a:blipFill>
                <a:blip r:embed="rId3"/>
                <a:stretch>
                  <a:fillRect l="-8738" t="-8197" r="-4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64">
            <a:extLst>
              <a:ext uri="{FF2B5EF4-FFF2-40B4-BE49-F238E27FC236}">
                <a16:creationId xmlns:a16="http://schemas.microsoft.com/office/drawing/2014/main" id="{785AE0E5-BFFC-BC23-01CA-2C78BAEFC82D}"/>
              </a:ext>
            </a:extLst>
          </p:cNvPr>
          <p:cNvSpPr txBox="1"/>
          <p:nvPr/>
        </p:nvSpPr>
        <p:spPr>
          <a:xfrm>
            <a:off x="5091433" y="2982444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00</a:t>
            </a: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BFDC040A-27C1-67A2-BFD8-F77482341F95}"/>
              </a:ext>
            </a:extLst>
          </p:cNvPr>
          <p:cNvSpPr txBox="1"/>
          <p:nvPr/>
        </p:nvSpPr>
        <p:spPr>
          <a:xfrm>
            <a:off x="5445591" y="3496659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19" name="TextBox 66">
            <a:extLst>
              <a:ext uri="{FF2B5EF4-FFF2-40B4-BE49-F238E27FC236}">
                <a16:creationId xmlns:a16="http://schemas.microsoft.com/office/drawing/2014/main" id="{DBF1649B-BDB3-6D1E-84A5-BE6B41B7B0F7}"/>
              </a:ext>
            </a:extLst>
          </p:cNvPr>
          <p:cNvSpPr txBox="1"/>
          <p:nvPr/>
        </p:nvSpPr>
        <p:spPr>
          <a:xfrm>
            <a:off x="4998341" y="3496659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3E11A51C-AB5C-2687-F9EC-F36728A8D3A4}"/>
              </a:ext>
            </a:extLst>
          </p:cNvPr>
          <p:cNvSpPr/>
          <p:nvPr/>
        </p:nvSpPr>
        <p:spPr>
          <a:xfrm rot="16200000">
            <a:off x="5924295" y="2960138"/>
            <a:ext cx="49145" cy="104190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82656CCC-D9BD-23CB-777B-A93D26BA3949}"/>
              </a:ext>
            </a:extLst>
          </p:cNvPr>
          <p:cNvSpPr/>
          <p:nvPr/>
        </p:nvSpPr>
        <p:spPr>
          <a:xfrm rot="16200000">
            <a:off x="5255257" y="3409091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05330BDB-6BED-46CE-4883-ECAC047065FC}"/>
              </a:ext>
            </a:extLst>
          </p:cNvPr>
          <p:cNvSpPr txBox="1"/>
          <p:nvPr/>
        </p:nvSpPr>
        <p:spPr>
          <a:xfrm>
            <a:off x="7396569" y="2994853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dirty="0"/>
              <a:t>10110</a:t>
            </a:r>
            <a:r>
              <a:rPr lang="en-JP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E71908-CE39-9F3B-5F9A-69A7E6B9D74B}"/>
              </a:ext>
            </a:extLst>
          </p:cNvPr>
          <p:cNvCxnSpPr>
            <a:cxnSpLocks/>
          </p:cNvCxnSpPr>
          <p:nvPr/>
        </p:nvCxnSpPr>
        <p:spPr>
          <a:xfrm>
            <a:off x="6612176" y="3248371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FFB829CB-705A-0F58-51B6-5EBCA2B979E3}"/>
                  </a:ext>
                </a:extLst>
              </p:cNvPr>
              <p:cNvSpPr txBox="1"/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FFB829CB-705A-0F58-51B6-5EBCA2B97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53" y="2881228"/>
                <a:ext cx="625492" cy="369332"/>
              </a:xfrm>
              <a:prstGeom prst="rect">
                <a:avLst/>
              </a:prstGeom>
              <a:blipFill>
                <a:blip r:embed="rId4"/>
                <a:stretch>
                  <a:fillRect l="-7767" t="-10000" r="-58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16CD788-FAFF-C4F8-CA0D-2A84611C1903}"/>
              </a:ext>
            </a:extLst>
          </p:cNvPr>
          <p:cNvSpPr/>
          <p:nvPr/>
        </p:nvSpPr>
        <p:spPr>
          <a:xfrm>
            <a:off x="304800" y="2743200"/>
            <a:ext cx="8534400" cy="1359103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EF24E2-2A57-FAB0-3233-929E35E94788}"/>
              </a:ext>
            </a:extLst>
          </p:cNvPr>
          <p:cNvSpPr txBox="1"/>
          <p:nvPr/>
        </p:nvSpPr>
        <p:spPr>
          <a:xfrm>
            <a:off x="449625" y="2294033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12" name="TextBox 64">
            <a:extLst>
              <a:ext uri="{FF2B5EF4-FFF2-40B4-BE49-F238E27FC236}">
                <a16:creationId xmlns:a16="http://schemas.microsoft.com/office/drawing/2014/main" id="{B3FEF1BC-893F-4A8E-70A0-EB31BA8DD6FD}"/>
              </a:ext>
            </a:extLst>
          </p:cNvPr>
          <p:cNvSpPr txBox="1"/>
          <p:nvPr/>
        </p:nvSpPr>
        <p:spPr>
          <a:xfrm>
            <a:off x="2843552" y="5019470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0110100</a:t>
            </a:r>
          </a:p>
        </p:txBody>
      </p:sp>
      <p:sp>
        <p:nvSpPr>
          <p:cNvPr id="25" name="TextBox 71">
            <a:extLst>
              <a:ext uri="{FF2B5EF4-FFF2-40B4-BE49-F238E27FC236}">
                <a16:creationId xmlns:a16="http://schemas.microsoft.com/office/drawing/2014/main" id="{6D9CDD10-EE19-BCDB-55DE-C7559BBBA9BA}"/>
              </a:ext>
            </a:extLst>
          </p:cNvPr>
          <p:cNvSpPr txBox="1"/>
          <p:nvPr/>
        </p:nvSpPr>
        <p:spPr>
          <a:xfrm>
            <a:off x="5148688" y="5031879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0110001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BC69D-4ACE-08B7-A1D2-14B2DBCAE32D}"/>
              </a:ext>
            </a:extLst>
          </p:cNvPr>
          <p:cNvCxnSpPr>
            <a:cxnSpLocks/>
          </p:cNvCxnSpPr>
          <p:nvPr/>
        </p:nvCxnSpPr>
        <p:spPr>
          <a:xfrm>
            <a:off x="4364295" y="5285397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18">
                <a:extLst>
                  <a:ext uri="{FF2B5EF4-FFF2-40B4-BE49-F238E27FC236}">
                    <a16:creationId xmlns:a16="http://schemas.microsoft.com/office/drawing/2014/main" id="{7F604912-81C0-C2FD-4D7A-CCBBB58A650B}"/>
                  </a:ext>
                </a:extLst>
              </p:cNvPr>
              <p:cNvSpPr txBox="1"/>
              <p:nvPr/>
            </p:nvSpPr>
            <p:spPr>
              <a:xfrm>
                <a:off x="4384972" y="4918254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JP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JP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JP" dirty="0"/>
                  <a:t>0</a:t>
                </a:r>
              </a:p>
            </p:txBody>
          </p:sp>
        </mc:Choice>
        <mc:Fallback xmlns="">
          <p:sp>
            <p:nvSpPr>
              <p:cNvPr id="27" name="TextBox 18">
                <a:extLst>
                  <a:ext uri="{FF2B5EF4-FFF2-40B4-BE49-F238E27FC236}">
                    <a16:creationId xmlns:a16="http://schemas.microsoft.com/office/drawing/2014/main" id="{7F604912-81C0-C2FD-4D7A-CCBBB58A6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972" y="4918254"/>
                <a:ext cx="625492" cy="369332"/>
              </a:xfrm>
              <a:prstGeom prst="rect">
                <a:avLst/>
              </a:prstGeom>
              <a:blipFill>
                <a:blip r:embed="rId5"/>
                <a:stretch>
                  <a:fillRect l="-7767" t="-10000" r="-58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E5CD2B-DD20-6CB6-3600-965BAF80E82F}"/>
              </a:ext>
            </a:extLst>
          </p:cNvPr>
          <p:cNvSpPr/>
          <p:nvPr/>
        </p:nvSpPr>
        <p:spPr>
          <a:xfrm>
            <a:off x="304800" y="4822730"/>
            <a:ext cx="8534400" cy="127327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011A8E-3E45-DDA2-9357-E4EAA8ACD58E}"/>
              </a:ext>
            </a:extLst>
          </p:cNvPr>
          <p:cNvSpPr txBox="1"/>
          <p:nvPr/>
        </p:nvSpPr>
        <p:spPr>
          <a:xfrm>
            <a:off x="449625" y="4373563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Sign-bit</a:t>
            </a:r>
          </a:p>
        </p:txBody>
      </p:sp>
      <p:sp>
        <p:nvSpPr>
          <p:cNvPr id="30" name="TextBox 64">
            <a:extLst>
              <a:ext uri="{FF2B5EF4-FFF2-40B4-BE49-F238E27FC236}">
                <a16:creationId xmlns:a16="http://schemas.microsoft.com/office/drawing/2014/main" id="{D95C885C-32DA-40C9-EC39-5E74684055E0}"/>
              </a:ext>
            </a:extLst>
          </p:cNvPr>
          <p:cNvSpPr txBox="1"/>
          <p:nvPr/>
        </p:nvSpPr>
        <p:spPr>
          <a:xfrm>
            <a:off x="541214" y="5041440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>
                <a:solidFill>
                  <a:schemeClr val="accent2"/>
                </a:solidFill>
              </a:rPr>
              <a:t>0</a:t>
            </a:r>
            <a:r>
              <a:rPr lang="en-JP" sz="2400" dirty="0"/>
              <a:t>0110100</a:t>
            </a:r>
          </a:p>
        </p:txBody>
      </p:sp>
      <p:sp>
        <p:nvSpPr>
          <p:cNvPr id="31" name="TextBox 65">
            <a:extLst>
              <a:ext uri="{FF2B5EF4-FFF2-40B4-BE49-F238E27FC236}">
                <a16:creationId xmlns:a16="http://schemas.microsoft.com/office/drawing/2014/main" id="{4C3FB7A6-9B2F-06FC-2AB9-BF3D61A98EC5}"/>
              </a:ext>
            </a:extLst>
          </p:cNvPr>
          <p:cNvSpPr txBox="1"/>
          <p:nvPr/>
        </p:nvSpPr>
        <p:spPr>
          <a:xfrm>
            <a:off x="895372" y="5555655"/>
            <a:ext cx="1074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</a:t>
            </a:r>
          </a:p>
        </p:txBody>
      </p:sp>
      <p:sp>
        <p:nvSpPr>
          <p:cNvPr id="32" name="TextBox 66">
            <a:extLst>
              <a:ext uri="{FF2B5EF4-FFF2-40B4-BE49-F238E27FC236}">
                <a16:creationId xmlns:a16="http://schemas.microsoft.com/office/drawing/2014/main" id="{5802CB06-4B14-B2B2-CBE5-D5D6F73B6016}"/>
              </a:ext>
            </a:extLst>
          </p:cNvPr>
          <p:cNvSpPr txBox="1"/>
          <p:nvPr/>
        </p:nvSpPr>
        <p:spPr>
          <a:xfrm>
            <a:off x="448122" y="5555655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E9EC9BD6-ABE5-9EA5-C996-E52494B4DF78}"/>
              </a:ext>
            </a:extLst>
          </p:cNvPr>
          <p:cNvSpPr/>
          <p:nvPr/>
        </p:nvSpPr>
        <p:spPr>
          <a:xfrm rot="16200000">
            <a:off x="1374076" y="5019134"/>
            <a:ext cx="49145" cy="104190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AD75B0BA-0F34-EBFE-9EE9-F49F9E225A4D}"/>
              </a:ext>
            </a:extLst>
          </p:cNvPr>
          <p:cNvSpPr/>
          <p:nvPr/>
        </p:nvSpPr>
        <p:spPr>
          <a:xfrm rot="16200000">
            <a:off x="705038" y="5468087"/>
            <a:ext cx="49144" cy="144000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27C337-0F93-2A0D-8A85-03A70867FD34}"/>
              </a:ext>
            </a:extLst>
          </p:cNvPr>
          <p:cNvSpPr/>
          <p:nvPr/>
        </p:nvSpPr>
        <p:spPr>
          <a:xfrm>
            <a:off x="2881692" y="5019470"/>
            <a:ext cx="251353" cy="46166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CF7AD2-042E-2551-1F5D-8859563E6769}"/>
              </a:ext>
            </a:extLst>
          </p:cNvPr>
          <p:cNvSpPr txBox="1"/>
          <p:nvPr/>
        </p:nvSpPr>
        <p:spPr>
          <a:xfrm>
            <a:off x="2839883" y="5459365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6FE0AE0-2FCE-F41C-C56E-15D3A982F282}"/>
              </a:ext>
            </a:extLst>
          </p:cNvPr>
          <p:cNvCxnSpPr>
            <a:cxnSpLocks/>
          </p:cNvCxnSpPr>
          <p:nvPr/>
        </p:nvCxnSpPr>
        <p:spPr>
          <a:xfrm>
            <a:off x="2094042" y="5297215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CFAD79-AD40-513A-C62D-5E2E68DCAA29}"/>
              </a:ext>
            </a:extLst>
          </p:cNvPr>
          <p:cNvCxnSpPr>
            <a:cxnSpLocks/>
          </p:cNvCxnSpPr>
          <p:nvPr/>
        </p:nvCxnSpPr>
        <p:spPr>
          <a:xfrm>
            <a:off x="6602270" y="5272272"/>
            <a:ext cx="686658" cy="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71">
            <a:extLst>
              <a:ext uri="{FF2B5EF4-FFF2-40B4-BE49-F238E27FC236}">
                <a16:creationId xmlns:a16="http://schemas.microsoft.com/office/drawing/2014/main" id="{16DF6CC6-ACB4-A1F5-F20E-450E4CE261D2}"/>
              </a:ext>
            </a:extLst>
          </p:cNvPr>
          <p:cNvSpPr txBox="1"/>
          <p:nvPr/>
        </p:nvSpPr>
        <p:spPr>
          <a:xfrm>
            <a:off x="7396569" y="5019469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>
                <a:solidFill>
                  <a:schemeClr val="accent2"/>
                </a:solidFill>
              </a:rPr>
              <a:t>1</a:t>
            </a:r>
            <a:r>
              <a:rPr lang="en-JP" sz="2400" dirty="0"/>
              <a:t>0110001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B5B093F-0C8E-6527-9D3A-A04299AF1410}"/>
              </a:ext>
            </a:extLst>
          </p:cNvPr>
          <p:cNvSpPr/>
          <p:nvPr/>
        </p:nvSpPr>
        <p:spPr>
          <a:xfrm>
            <a:off x="7438378" y="5014390"/>
            <a:ext cx="251353" cy="46166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89B46-B297-FDDB-E9A1-9704CFCAB813}"/>
              </a:ext>
            </a:extLst>
          </p:cNvPr>
          <p:cNvSpPr txBox="1"/>
          <p:nvPr/>
        </p:nvSpPr>
        <p:spPr>
          <a:xfrm>
            <a:off x="7396569" y="5454285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Inverted</a:t>
            </a:r>
          </a:p>
        </p:txBody>
      </p:sp>
    </p:spTree>
    <p:extLst>
      <p:ext uri="{BB962C8B-B14F-4D97-AF65-F5344CB8AC3E}">
        <p14:creationId xmlns:p14="http://schemas.microsoft.com/office/powerpoint/2010/main" val="61513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08A6-826A-F9E4-74C4-AA2CDA6D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89B5-7338-BB49-B475-69992FA8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D50E5-03B2-4F86-7E88-C73DF3BA9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4"/>
                <a:ext cx="8229600" cy="181916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SEAL is designed to stimulate network activity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: Sum of incoming spikes at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: Average weight distortion to neuron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endParaRPr lang="en-US" dirty="0">
                  <a:solidFill>
                    <a:srgbClr val="002060"/>
                  </a:solidFill>
                </a:endParaRPr>
              </a:p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23385-DD7F-F657-036B-31B55CA50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4"/>
                <a:ext cx="8229600" cy="1819163"/>
              </a:xfrm>
              <a:blipFill>
                <a:blip r:embed="rId3"/>
                <a:stretch>
                  <a:fillRect l="-1704" t="-4698" r="-1704" b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E505F-7BFA-7DE8-881B-61CC7428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952C1-B04D-C12C-A8CF-65FA1CBF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253ABF-C393-76D4-E13C-B188D5E07743}"/>
                  </a:ext>
                </a:extLst>
              </p:cNvPr>
              <p:cNvSpPr txBox="1"/>
              <p:nvPr/>
            </p:nvSpPr>
            <p:spPr>
              <a:xfrm>
                <a:off x="574615" y="2668672"/>
                <a:ext cx="681821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7ADCA7-BB88-CE03-4F52-DE9E2037D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15" y="2668672"/>
                <a:ext cx="6818213" cy="100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0E06B1-4A07-8150-C99B-A733D8501C48}"/>
                  </a:ext>
                </a:extLst>
              </p:cNvPr>
              <p:cNvSpPr txBox="1"/>
              <p:nvPr/>
            </p:nvSpPr>
            <p:spPr>
              <a:xfrm>
                <a:off x="549215" y="4429232"/>
                <a:ext cx="4431085" cy="404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33A031-74C7-7CED-F6D6-315DD1CB2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15" y="4429232"/>
                <a:ext cx="4431085" cy="404341"/>
              </a:xfrm>
              <a:prstGeom prst="rect">
                <a:avLst/>
              </a:prstGeom>
              <a:blipFill>
                <a:blip r:embed="rId5"/>
                <a:stretch>
                  <a:fillRect l="-4127" t="-24242" r="-1788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ket 8">
            <a:extLst>
              <a:ext uri="{FF2B5EF4-FFF2-40B4-BE49-F238E27FC236}">
                <a16:creationId xmlns:a16="http://schemas.microsoft.com/office/drawing/2014/main" id="{E50E6112-29BB-0055-EAAF-127141BA6D8C}"/>
              </a:ext>
            </a:extLst>
          </p:cNvPr>
          <p:cNvSpPr/>
          <p:nvPr/>
        </p:nvSpPr>
        <p:spPr>
          <a:xfrm rot="16200000">
            <a:off x="4322755" y="1560414"/>
            <a:ext cx="58716" cy="4278445"/>
          </a:xfrm>
          <a:prstGeom prst="leftBracket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52230-07A3-1D57-C485-07A504694DA6}"/>
              </a:ext>
            </a:extLst>
          </p:cNvPr>
          <p:cNvSpPr txBox="1"/>
          <p:nvPr/>
        </p:nvSpPr>
        <p:spPr>
          <a:xfrm>
            <a:off x="3764332" y="3740247"/>
            <a:ext cx="1330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 equation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C2975-BF25-B5E5-BA53-701FA8E28EDB}"/>
              </a:ext>
            </a:extLst>
          </p:cNvPr>
          <p:cNvSpPr txBox="1"/>
          <p:nvPr/>
        </p:nvSpPr>
        <p:spPr>
          <a:xfrm>
            <a:off x="5246398" y="2398166"/>
            <a:ext cx="36241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error adaptive term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8C13AB-F355-B895-88C8-78F345ED5A0C}"/>
              </a:ext>
            </a:extLst>
          </p:cNvPr>
          <p:cNvSpPr/>
          <p:nvPr/>
        </p:nvSpPr>
        <p:spPr>
          <a:xfrm>
            <a:off x="6791778" y="2986099"/>
            <a:ext cx="533400" cy="4310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3A7692-EE34-7833-D53E-106F732E99D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058478" y="2705943"/>
            <a:ext cx="0" cy="28015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09EAC4-DB43-C372-B6ED-88F351C95B56}"/>
                  </a:ext>
                </a:extLst>
              </p:cNvPr>
              <p:cNvSpPr txBox="1"/>
              <p:nvPr/>
            </p:nvSpPr>
            <p:spPr>
              <a:xfrm>
                <a:off x="2764758" y="4950432"/>
                <a:ext cx="2251514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3B2301-502F-8DE3-BC14-BF64456CD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758" y="4950432"/>
                <a:ext cx="2251514" cy="10082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D1D8CB-67A9-4366-2F56-0BE991863423}"/>
                  </a:ext>
                </a:extLst>
              </p:cNvPr>
              <p:cNvSpPr txBox="1"/>
              <p:nvPr/>
            </p:nvSpPr>
            <p:spPr>
              <a:xfrm>
                <a:off x="4768727" y="4950433"/>
                <a:ext cx="4335167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nary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19B010-9ABA-2BB9-72E4-EFF5CE744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727" y="4950433"/>
                <a:ext cx="4335167" cy="10082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051A4C2E-4812-5484-5003-0D7982A49723}"/>
              </a:ext>
            </a:extLst>
          </p:cNvPr>
          <p:cNvSpPr/>
          <p:nvPr/>
        </p:nvSpPr>
        <p:spPr>
          <a:xfrm>
            <a:off x="7897661" y="5223036"/>
            <a:ext cx="708905" cy="431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AAA8AD-3293-511A-A0AB-C131452DD768}"/>
              </a:ext>
            </a:extLst>
          </p:cNvPr>
          <p:cNvSpPr/>
          <p:nvPr/>
        </p:nvSpPr>
        <p:spPr>
          <a:xfrm>
            <a:off x="6619412" y="5223036"/>
            <a:ext cx="708905" cy="431050"/>
          </a:xfrm>
          <a:prstGeom prst="ellipse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793C5-D201-37A0-146D-33FD87D4FC5F}"/>
              </a:ext>
            </a:extLst>
          </p:cNvPr>
          <p:cNvSpPr txBox="1"/>
          <p:nvPr/>
        </p:nvSpPr>
        <p:spPr>
          <a:xfrm>
            <a:off x="5973550" y="4529003"/>
            <a:ext cx="166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weight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223985-D75D-711E-C72D-2123B41B56AF}"/>
              </a:ext>
            </a:extLst>
          </p:cNvPr>
          <p:cNvSpPr txBox="1"/>
          <p:nvPr/>
        </p:nvSpPr>
        <p:spPr>
          <a:xfrm>
            <a:off x="7104146" y="6029415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weight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542D94-4E15-5EF3-C28E-D0457B235A6E}"/>
              </a:ext>
            </a:extLst>
          </p:cNvPr>
          <p:cNvCxnSpPr>
            <a:cxnSpLocks/>
            <a:stCxn id="19" idx="0"/>
            <a:endCxn id="16" idx="4"/>
          </p:cNvCxnSpPr>
          <p:nvPr/>
        </p:nvCxnSpPr>
        <p:spPr>
          <a:xfrm flipV="1">
            <a:off x="7969127" y="5654086"/>
            <a:ext cx="282987" cy="375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5A85DC-DDCB-CA26-4B76-5A685CA2CE4F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6804387" y="4898335"/>
            <a:ext cx="169478" cy="32470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19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BC20-FBDA-4776-57D2-A649B3FF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AF59-1684-FB76-30FB-9EE47BDD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ECA04-32F9-A64A-EA32-C8380FE0C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62801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Virtual Synaptic Weight (VSW) to minimize the modification from the LIF neuron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EBE3D-5E08-FD27-8433-C5B8CD11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B4550-9333-21AC-BC3D-9F42FA6F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92560-A77C-4E5A-9105-09A76DD4A586}"/>
                  </a:ext>
                </a:extLst>
              </p:cNvPr>
              <p:cNvSpPr txBox="1"/>
              <p:nvPr/>
            </p:nvSpPr>
            <p:spPr>
              <a:xfrm>
                <a:off x="647725" y="1970194"/>
                <a:ext cx="681821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92560-A77C-4E5A-9105-09A76DD4A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25" y="1970194"/>
                <a:ext cx="6818213" cy="1008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ket 6">
            <a:extLst>
              <a:ext uri="{FF2B5EF4-FFF2-40B4-BE49-F238E27FC236}">
                <a16:creationId xmlns:a16="http://schemas.microsoft.com/office/drawing/2014/main" id="{301C52C6-98C4-9201-BF9B-27446DE6C826}"/>
              </a:ext>
            </a:extLst>
          </p:cNvPr>
          <p:cNvSpPr/>
          <p:nvPr/>
        </p:nvSpPr>
        <p:spPr>
          <a:xfrm rot="16200000">
            <a:off x="4395865" y="861936"/>
            <a:ext cx="58716" cy="4278445"/>
          </a:xfrm>
          <a:prstGeom prst="leftBracket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706E0-AFAB-E3D1-DABD-FB15F1F1C6E7}"/>
              </a:ext>
            </a:extLst>
          </p:cNvPr>
          <p:cNvSpPr txBox="1"/>
          <p:nvPr/>
        </p:nvSpPr>
        <p:spPr>
          <a:xfrm>
            <a:off x="3837442" y="3041769"/>
            <a:ext cx="1330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 equation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16BF9-64DA-459F-126D-A7F8C96DF01B}"/>
              </a:ext>
            </a:extLst>
          </p:cNvPr>
          <p:cNvSpPr txBox="1"/>
          <p:nvPr/>
        </p:nvSpPr>
        <p:spPr>
          <a:xfrm>
            <a:off x="5319508" y="1699688"/>
            <a:ext cx="36241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error adaptive term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837517-C690-39B1-330C-50EAF7AFDEF1}"/>
              </a:ext>
            </a:extLst>
          </p:cNvPr>
          <p:cNvSpPr/>
          <p:nvPr/>
        </p:nvSpPr>
        <p:spPr>
          <a:xfrm>
            <a:off x="6864888" y="2287621"/>
            <a:ext cx="533400" cy="4310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BF834B-3A45-AF84-B2BF-97896924FD0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7131588" y="2007465"/>
            <a:ext cx="0" cy="28015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75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64CB-5CF4-C3A0-3F34-842863AC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4762-53C6-A459-676F-EE633877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CF6F-EDBC-49AC-6528-DDC279DD8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62801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Virtual Synaptic Weight (VSW) to minimize the modification from the LIF neuron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52EE2-7712-8A6F-B0BE-CC0CDA06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BB08C-EE57-3482-84B7-AB60A9AF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739F5F-4C8F-DE43-FD5E-442F8AD162A7}"/>
                  </a:ext>
                </a:extLst>
              </p:cNvPr>
              <p:cNvSpPr txBox="1"/>
              <p:nvPr/>
            </p:nvSpPr>
            <p:spPr>
              <a:xfrm>
                <a:off x="647725" y="1970194"/>
                <a:ext cx="681821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739F5F-4C8F-DE43-FD5E-442F8AD16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25" y="1970194"/>
                <a:ext cx="6818213" cy="1008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ket 6">
            <a:extLst>
              <a:ext uri="{FF2B5EF4-FFF2-40B4-BE49-F238E27FC236}">
                <a16:creationId xmlns:a16="http://schemas.microsoft.com/office/drawing/2014/main" id="{CFFA9B3D-FEE1-C1B1-9E47-DF23B9E14E9E}"/>
              </a:ext>
            </a:extLst>
          </p:cNvPr>
          <p:cNvSpPr/>
          <p:nvPr/>
        </p:nvSpPr>
        <p:spPr>
          <a:xfrm rot="16200000">
            <a:off x="4395865" y="861936"/>
            <a:ext cx="58716" cy="4278445"/>
          </a:xfrm>
          <a:prstGeom prst="leftBracket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B3B41-2F38-B041-4E57-CED51D769977}"/>
              </a:ext>
            </a:extLst>
          </p:cNvPr>
          <p:cNvSpPr txBox="1"/>
          <p:nvPr/>
        </p:nvSpPr>
        <p:spPr>
          <a:xfrm>
            <a:off x="3837442" y="3041769"/>
            <a:ext cx="1330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 equation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44C75-6BC4-347A-6F74-257376FADFE3}"/>
              </a:ext>
            </a:extLst>
          </p:cNvPr>
          <p:cNvSpPr txBox="1"/>
          <p:nvPr/>
        </p:nvSpPr>
        <p:spPr>
          <a:xfrm>
            <a:off x="5319508" y="1699688"/>
            <a:ext cx="36241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error adaptive term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A7E9C4-EFF9-5119-2705-329C03DB6EDC}"/>
              </a:ext>
            </a:extLst>
          </p:cNvPr>
          <p:cNvSpPr/>
          <p:nvPr/>
        </p:nvSpPr>
        <p:spPr>
          <a:xfrm>
            <a:off x="6864888" y="2287621"/>
            <a:ext cx="533400" cy="4310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C0240B-7DE3-7E30-118D-647DF3B4B00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7131588" y="2007465"/>
            <a:ext cx="0" cy="28015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4EB72-543D-58C9-AF86-89CD375FA7B6}"/>
                  </a:ext>
                </a:extLst>
              </p:cNvPr>
              <p:cNvSpPr txBox="1"/>
              <p:nvPr/>
            </p:nvSpPr>
            <p:spPr>
              <a:xfrm>
                <a:off x="712809" y="4249576"/>
                <a:ext cx="5999399" cy="1037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4EB72-543D-58C9-AF86-89CD375FA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09" y="4249576"/>
                <a:ext cx="5999399" cy="10375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7989B801-C3CE-AC72-BB7B-D947202971A4}"/>
              </a:ext>
            </a:extLst>
          </p:cNvPr>
          <p:cNvSpPr/>
          <p:nvPr/>
        </p:nvSpPr>
        <p:spPr>
          <a:xfrm rot="16200000">
            <a:off x="4472065" y="3147936"/>
            <a:ext cx="58716" cy="4278445"/>
          </a:xfrm>
          <a:prstGeom prst="leftBracket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564CE-33B0-66F7-BFE5-381C251E918D}"/>
              </a:ext>
            </a:extLst>
          </p:cNvPr>
          <p:cNvSpPr txBox="1"/>
          <p:nvPr/>
        </p:nvSpPr>
        <p:spPr>
          <a:xfrm>
            <a:off x="3618054" y="5316517"/>
            <a:ext cx="1330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23D100-0E77-ACC4-533B-9886504DD75A}"/>
              </a:ext>
            </a:extLst>
          </p:cNvPr>
          <p:cNvSpPr txBox="1"/>
          <p:nvPr/>
        </p:nvSpPr>
        <p:spPr>
          <a:xfrm>
            <a:off x="2273300" y="3685658"/>
            <a:ext cx="219053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VSW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557E9FD-6BA3-293A-05EC-413DD0DBE51B}"/>
              </a:ext>
            </a:extLst>
          </p:cNvPr>
          <p:cNvSpPr/>
          <p:nvPr/>
        </p:nvSpPr>
        <p:spPr>
          <a:xfrm>
            <a:off x="1282700" y="3685659"/>
            <a:ext cx="755650" cy="406400"/>
          </a:xfrm>
          <a:prstGeom prst="downArrow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3C9C21-A991-9F74-1648-95A35532096F}"/>
                  </a:ext>
                </a:extLst>
              </p:cNvPr>
              <p:cNvSpPr txBox="1"/>
              <p:nvPr/>
            </p:nvSpPr>
            <p:spPr>
              <a:xfrm>
                <a:off x="4847655" y="5770093"/>
                <a:ext cx="3715889" cy="404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3C9C21-A991-9F74-1648-95A355320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655" y="5770093"/>
                <a:ext cx="3715889" cy="404341"/>
              </a:xfrm>
              <a:prstGeom prst="rect">
                <a:avLst/>
              </a:prstGeom>
              <a:blipFill>
                <a:blip r:embed="rId5"/>
                <a:stretch>
                  <a:fillRect l="-4918" t="-24242" r="-147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032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27B6-41C6-ECAD-CE46-324241D4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3ACC-2FAD-41E5-2A17-1937E69B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6881-1515-8EF7-BB29-B6E62104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229600" cy="126925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Illustration of how SEAL works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9D611-CE06-9013-6985-BFE36CB6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7484-E953-93E1-9852-C3BB0A22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13229" y="6633565"/>
            <a:ext cx="2133600" cy="365125"/>
          </a:xfrm>
        </p:spPr>
        <p:txBody>
          <a:bodyPr/>
          <a:lstStyle/>
          <a:p>
            <a:fld id="{BAAD7BC5-A392-4DA0-BB84-2D09111EF1C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87CF1A-FD60-FB2C-EC83-6F073607DD67}"/>
              </a:ext>
            </a:extLst>
          </p:cNvPr>
          <p:cNvSpPr/>
          <p:nvPr/>
        </p:nvSpPr>
        <p:spPr>
          <a:xfrm>
            <a:off x="3671945" y="2569072"/>
            <a:ext cx="652830" cy="65283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 sz="20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3B808B1-1899-2861-B2AE-80C10CE7C6B0}"/>
              </a:ext>
            </a:extLst>
          </p:cNvPr>
          <p:cNvGrpSpPr/>
          <p:nvPr/>
        </p:nvGrpSpPr>
        <p:grpSpPr>
          <a:xfrm>
            <a:off x="3788691" y="2737426"/>
            <a:ext cx="419340" cy="316122"/>
            <a:chOff x="4616177" y="3167514"/>
            <a:chExt cx="346864" cy="261486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9D8422B-3F18-8F3C-C3B0-F3803E134D58}"/>
                </a:ext>
              </a:extLst>
            </p:cNvPr>
            <p:cNvCxnSpPr>
              <a:cxnSpLocks/>
            </p:cNvCxnSpPr>
            <p:nvPr/>
          </p:nvCxnSpPr>
          <p:spPr>
            <a:xfrm>
              <a:off x="4616177" y="3424625"/>
              <a:ext cx="1084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3F3B162-76F7-0880-3B19-B005AA2ED7D2}"/>
                </a:ext>
              </a:extLst>
            </p:cNvPr>
            <p:cNvCxnSpPr>
              <a:cxnSpLocks/>
            </p:cNvCxnSpPr>
            <p:nvPr/>
          </p:nvCxnSpPr>
          <p:spPr>
            <a:xfrm>
              <a:off x="4856383" y="3171889"/>
              <a:ext cx="10665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E8B5160-1F36-AEEA-281E-7BC09D003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281" y="3167514"/>
              <a:ext cx="140477" cy="2614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3" name="TextBox 82">
            <a:extLst>
              <a:ext uri="{FF2B5EF4-FFF2-40B4-BE49-F238E27FC236}">
                <a16:creationId xmlns:a16="http://schemas.microsoft.com/office/drawing/2014/main" id="{7197DC6C-BD2A-B32F-3E54-F87DC951BBCE}"/>
              </a:ext>
            </a:extLst>
          </p:cNvPr>
          <p:cNvSpPr txBox="1"/>
          <p:nvPr/>
        </p:nvSpPr>
        <p:spPr>
          <a:xfrm>
            <a:off x="3707475" y="2203343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000" dirty="0"/>
              <a:t>LIF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99C1E20-B37D-21DF-CE68-C90C1C4CD25F}"/>
              </a:ext>
            </a:extLst>
          </p:cNvPr>
          <p:cNvCxnSpPr>
            <a:cxnSpLocks/>
          </p:cNvCxnSpPr>
          <p:nvPr/>
        </p:nvCxnSpPr>
        <p:spPr>
          <a:xfrm>
            <a:off x="1422074" y="2203343"/>
            <a:ext cx="1531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2D74AE9-3C25-9DDA-FF8A-417C0F8ABECB}"/>
              </a:ext>
            </a:extLst>
          </p:cNvPr>
          <p:cNvCxnSpPr>
            <a:cxnSpLocks/>
            <a:endCxn id="71" idx="2"/>
          </p:cNvCxnSpPr>
          <p:nvPr/>
        </p:nvCxnSpPr>
        <p:spPr>
          <a:xfrm>
            <a:off x="2953406" y="2203343"/>
            <a:ext cx="718539" cy="6921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733120-8CFC-6F6B-845F-D6D1B2E683FF}"/>
              </a:ext>
            </a:extLst>
          </p:cNvPr>
          <p:cNvCxnSpPr>
            <a:cxnSpLocks/>
          </p:cNvCxnSpPr>
          <p:nvPr/>
        </p:nvCxnSpPr>
        <p:spPr>
          <a:xfrm>
            <a:off x="1422074" y="2701335"/>
            <a:ext cx="1531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BB2A6DE-8541-E30D-B927-4E6FDD18E71B}"/>
              </a:ext>
            </a:extLst>
          </p:cNvPr>
          <p:cNvCxnSpPr>
            <a:cxnSpLocks/>
            <a:endCxn id="71" idx="2"/>
          </p:cNvCxnSpPr>
          <p:nvPr/>
        </p:nvCxnSpPr>
        <p:spPr>
          <a:xfrm>
            <a:off x="2953406" y="2701335"/>
            <a:ext cx="718539" cy="1941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0A2D5A0-93B4-A4CB-D27D-A6FD3B2D2A42}"/>
              </a:ext>
            </a:extLst>
          </p:cNvPr>
          <p:cNvCxnSpPr>
            <a:cxnSpLocks/>
          </p:cNvCxnSpPr>
          <p:nvPr/>
        </p:nvCxnSpPr>
        <p:spPr>
          <a:xfrm>
            <a:off x="1422074" y="3221902"/>
            <a:ext cx="1531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0954DB9-F606-31F1-566F-11B2D2627CBA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2953406" y="2895487"/>
            <a:ext cx="718539" cy="3264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E05C699-3D53-AEEB-A4D9-51A29D2516F1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2953406" y="2895487"/>
            <a:ext cx="718539" cy="8244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95D59BA-D090-D2D8-5DA1-D6646569F467}"/>
              </a:ext>
            </a:extLst>
          </p:cNvPr>
          <p:cNvCxnSpPr>
            <a:cxnSpLocks/>
          </p:cNvCxnSpPr>
          <p:nvPr/>
        </p:nvCxnSpPr>
        <p:spPr>
          <a:xfrm>
            <a:off x="1422074" y="3719894"/>
            <a:ext cx="15403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91">
            <a:extLst>
              <a:ext uri="{FF2B5EF4-FFF2-40B4-BE49-F238E27FC236}">
                <a16:creationId xmlns:a16="http://schemas.microsoft.com/office/drawing/2014/main" id="{8AD0B518-3574-A4C0-BF3E-C9ABCEC28721}"/>
              </a:ext>
            </a:extLst>
          </p:cNvPr>
          <p:cNvSpPr txBox="1"/>
          <p:nvPr/>
        </p:nvSpPr>
        <p:spPr>
          <a:xfrm>
            <a:off x="1548994" y="185590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/>
              <a:t>010</a:t>
            </a:r>
            <a:r>
              <a:rPr lang="en-JP" dirty="0">
                <a:solidFill>
                  <a:srgbClr val="FF0000"/>
                </a:solidFill>
              </a:rPr>
              <a:t>0</a:t>
            </a:r>
            <a:r>
              <a:rPr lang="en-JP" dirty="0"/>
              <a:t>1100</a:t>
            </a:r>
          </a:p>
        </p:txBody>
      </p:sp>
      <p:sp>
        <p:nvSpPr>
          <p:cNvPr id="83" name="TextBox 92">
            <a:extLst>
              <a:ext uri="{FF2B5EF4-FFF2-40B4-BE49-F238E27FC236}">
                <a16:creationId xmlns:a16="http://schemas.microsoft.com/office/drawing/2014/main" id="{DA5DFE58-631A-994F-43F9-5CCDC405BF7C}"/>
              </a:ext>
            </a:extLst>
          </p:cNvPr>
          <p:cNvSpPr txBox="1"/>
          <p:nvPr/>
        </p:nvSpPr>
        <p:spPr>
          <a:xfrm>
            <a:off x="1548994" y="236364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/>
              <a:t>00101110</a:t>
            </a:r>
          </a:p>
        </p:txBody>
      </p:sp>
      <p:sp>
        <p:nvSpPr>
          <p:cNvPr id="84" name="TextBox 93">
            <a:extLst>
              <a:ext uri="{FF2B5EF4-FFF2-40B4-BE49-F238E27FC236}">
                <a16:creationId xmlns:a16="http://schemas.microsoft.com/office/drawing/2014/main" id="{41FD5EF8-12E8-4D43-84F3-9572508A709D}"/>
              </a:ext>
            </a:extLst>
          </p:cNvPr>
          <p:cNvSpPr txBox="1"/>
          <p:nvPr/>
        </p:nvSpPr>
        <p:spPr>
          <a:xfrm>
            <a:off x="1547378" y="287201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/>
              <a:t>110101</a:t>
            </a:r>
            <a:r>
              <a:rPr lang="en-JP" dirty="0">
                <a:solidFill>
                  <a:srgbClr val="FF0000"/>
                </a:solidFill>
              </a:rPr>
              <a:t>0</a:t>
            </a:r>
            <a:r>
              <a:rPr lang="en-JP" dirty="0"/>
              <a:t>1</a:t>
            </a:r>
          </a:p>
        </p:txBody>
      </p:sp>
      <p:sp>
        <p:nvSpPr>
          <p:cNvPr id="85" name="TextBox 94">
            <a:extLst>
              <a:ext uri="{FF2B5EF4-FFF2-40B4-BE49-F238E27FC236}">
                <a16:creationId xmlns:a16="http://schemas.microsoft.com/office/drawing/2014/main" id="{B23B3889-5EA9-467B-A212-3F7F75FC48CD}"/>
              </a:ext>
            </a:extLst>
          </p:cNvPr>
          <p:cNvSpPr txBox="1"/>
          <p:nvPr/>
        </p:nvSpPr>
        <p:spPr>
          <a:xfrm>
            <a:off x="1559168" y="336714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/>
              <a:t>00</a:t>
            </a:r>
            <a:r>
              <a:rPr lang="en-JP" dirty="0">
                <a:solidFill>
                  <a:srgbClr val="FF0000"/>
                </a:solidFill>
              </a:rPr>
              <a:t>0</a:t>
            </a:r>
            <a:r>
              <a:rPr lang="en-JP" dirty="0"/>
              <a:t>10001</a:t>
            </a:r>
          </a:p>
        </p:txBody>
      </p:sp>
      <p:sp>
        <p:nvSpPr>
          <p:cNvPr id="86" name="TextBox 95">
            <a:extLst>
              <a:ext uri="{FF2B5EF4-FFF2-40B4-BE49-F238E27FC236}">
                <a16:creationId xmlns:a16="http://schemas.microsoft.com/office/drawing/2014/main" id="{5C1BB7F1-FE95-AB08-3C20-9E13AC5C1177}"/>
              </a:ext>
            </a:extLst>
          </p:cNvPr>
          <p:cNvSpPr txBox="1"/>
          <p:nvPr/>
        </p:nvSpPr>
        <p:spPr>
          <a:xfrm>
            <a:off x="2186914" y="1418056"/>
            <a:ext cx="1271463" cy="371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it-flipping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87DAE61-295F-845F-8225-9B7C8C803577}"/>
              </a:ext>
            </a:extLst>
          </p:cNvPr>
          <p:cNvCxnSpPr>
            <a:stCxn id="86" idx="1"/>
          </p:cNvCxnSpPr>
          <p:nvPr/>
        </p:nvCxnSpPr>
        <p:spPr>
          <a:xfrm flipH="1">
            <a:off x="2090659" y="1603969"/>
            <a:ext cx="96255" cy="3237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97">
            <a:extLst>
              <a:ext uri="{FF2B5EF4-FFF2-40B4-BE49-F238E27FC236}">
                <a16:creationId xmlns:a16="http://schemas.microsoft.com/office/drawing/2014/main" id="{F633DA6A-8DEE-1FF7-5B21-A4A42BE15B8B}"/>
              </a:ext>
            </a:extLst>
          </p:cNvPr>
          <p:cNvSpPr txBox="1"/>
          <p:nvPr/>
        </p:nvSpPr>
        <p:spPr>
          <a:xfrm>
            <a:off x="1070857" y="2351909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000" dirty="0"/>
              <a:t>0</a:t>
            </a:r>
          </a:p>
        </p:txBody>
      </p:sp>
      <p:sp>
        <p:nvSpPr>
          <p:cNvPr id="89" name="TextBox 98">
            <a:extLst>
              <a:ext uri="{FF2B5EF4-FFF2-40B4-BE49-F238E27FC236}">
                <a16:creationId xmlns:a16="http://schemas.microsoft.com/office/drawing/2014/main" id="{FB99A298-DB34-FFA7-CC7E-5E08686CE254}"/>
              </a:ext>
            </a:extLst>
          </p:cNvPr>
          <p:cNvSpPr txBox="1"/>
          <p:nvPr/>
        </p:nvSpPr>
        <p:spPr>
          <a:xfrm>
            <a:off x="1065356" y="1853919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000" dirty="0"/>
              <a:t>1</a:t>
            </a:r>
          </a:p>
        </p:txBody>
      </p:sp>
      <p:sp>
        <p:nvSpPr>
          <p:cNvPr id="90" name="TextBox 99">
            <a:extLst>
              <a:ext uri="{FF2B5EF4-FFF2-40B4-BE49-F238E27FC236}">
                <a16:creationId xmlns:a16="http://schemas.microsoft.com/office/drawing/2014/main" id="{F3634FC7-A221-2658-2A53-5210AB7D4461}"/>
              </a:ext>
            </a:extLst>
          </p:cNvPr>
          <p:cNvSpPr txBox="1"/>
          <p:nvPr/>
        </p:nvSpPr>
        <p:spPr>
          <a:xfrm>
            <a:off x="1069950" y="3348543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000" dirty="0"/>
              <a:t>1</a:t>
            </a:r>
          </a:p>
        </p:txBody>
      </p:sp>
      <p:sp>
        <p:nvSpPr>
          <p:cNvPr id="91" name="TextBox 100">
            <a:extLst>
              <a:ext uri="{FF2B5EF4-FFF2-40B4-BE49-F238E27FC236}">
                <a16:creationId xmlns:a16="http://schemas.microsoft.com/office/drawing/2014/main" id="{BC321459-7ACE-450A-472E-ED6CCAB6E822}"/>
              </a:ext>
            </a:extLst>
          </p:cNvPr>
          <p:cNvSpPr txBox="1"/>
          <p:nvPr/>
        </p:nvSpPr>
        <p:spPr>
          <a:xfrm>
            <a:off x="1069950" y="284549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2000" dirty="0"/>
              <a:t>0</a:t>
            </a:r>
          </a:p>
        </p:txBody>
      </p:sp>
      <p:sp>
        <p:nvSpPr>
          <p:cNvPr id="92" name="TextBox 101">
            <a:extLst>
              <a:ext uri="{FF2B5EF4-FFF2-40B4-BE49-F238E27FC236}">
                <a16:creationId xmlns:a16="http://schemas.microsoft.com/office/drawing/2014/main" id="{541DB203-DBF1-79B9-4601-E88C091F8BDD}"/>
              </a:ext>
            </a:extLst>
          </p:cNvPr>
          <p:cNvSpPr txBox="1"/>
          <p:nvPr/>
        </p:nvSpPr>
        <p:spPr>
          <a:xfrm>
            <a:off x="859934" y="1518942"/>
            <a:ext cx="679922" cy="371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4CE712F-5DB3-7080-6FBF-32DCA622B36B}"/>
              </a:ext>
            </a:extLst>
          </p:cNvPr>
          <p:cNvCxnSpPr>
            <a:cxnSpLocks/>
            <a:stCxn id="71" idx="6"/>
          </p:cNvCxnSpPr>
          <p:nvPr/>
        </p:nvCxnSpPr>
        <p:spPr>
          <a:xfrm>
            <a:off x="4324775" y="2895487"/>
            <a:ext cx="1634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108">
            <a:extLst>
              <a:ext uri="{FF2B5EF4-FFF2-40B4-BE49-F238E27FC236}">
                <a16:creationId xmlns:a16="http://schemas.microsoft.com/office/drawing/2014/main" id="{78B16B13-0C71-9D4E-A218-2CC0A3A4C4A5}"/>
              </a:ext>
            </a:extLst>
          </p:cNvPr>
          <p:cNvSpPr txBox="1"/>
          <p:nvPr/>
        </p:nvSpPr>
        <p:spPr>
          <a:xfrm>
            <a:off x="5566314" y="2496689"/>
            <a:ext cx="829567" cy="371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99" name="TextBox 111">
            <a:extLst>
              <a:ext uri="{FF2B5EF4-FFF2-40B4-BE49-F238E27FC236}">
                <a16:creationId xmlns:a16="http://schemas.microsoft.com/office/drawing/2014/main" id="{960609F9-77FE-B0C7-B09F-650311F92231}"/>
              </a:ext>
            </a:extLst>
          </p:cNvPr>
          <p:cNvSpPr txBox="1"/>
          <p:nvPr/>
        </p:nvSpPr>
        <p:spPr>
          <a:xfrm>
            <a:off x="2489604" y="1980238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050" dirty="0"/>
              <a:t>2</a:t>
            </a:r>
          </a:p>
        </p:txBody>
      </p:sp>
      <p:sp>
        <p:nvSpPr>
          <p:cNvPr id="100" name="TextBox 112">
            <a:extLst>
              <a:ext uri="{FF2B5EF4-FFF2-40B4-BE49-F238E27FC236}">
                <a16:creationId xmlns:a16="http://schemas.microsoft.com/office/drawing/2014/main" id="{CD30A5FD-9C69-B015-F6EE-581D2D8D078F}"/>
              </a:ext>
            </a:extLst>
          </p:cNvPr>
          <p:cNvSpPr txBox="1"/>
          <p:nvPr/>
        </p:nvSpPr>
        <p:spPr>
          <a:xfrm>
            <a:off x="2489604" y="2478001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050" dirty="0"/>
              <a:t>2</a:t>
            </a:r>
          </a:p>
        </p:txBody>
      </p:sp>
      <p:sp>
        <p:nvSpPr>
          <p:cNvPr id="101" name="TextBox 113">
            <a:extLst>
              <a:ext uri="{FF2B5EF4-FFF2-40B4-BE49-F238E27FC236}">
                <a16:creationId xmlns:a16="http://schemas.microsoft.com/office/drawing/2014/main" id="{C784B44C-2F7C-F0A5-2C6B-F0041D5AEA98}"/>
              </a:ext>
            </a:extLst>
          </p:cNvPr>
          <p:cNvSpPr txBox="1"/>
          <p:nvPr/>
        </p:nvSpPr>
        <p:spPr>
          <a:xfrm>
            <a:off x="2489604" y="2995450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050" dirty="0"/>
              <a:t>2</a:t>
            </a: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E75515B-C911-7138-A1FF-2AAC72475371}"/>
              </a:ext>
            </a:extLst>
          </p:cNvPr>
          <p:cNvSpPr txBox="1"/>
          <p:nvPr/>
        </p:nvSpPr>
        <p:spPr>
          <a:xfrm>
            <a:off x="2489604" y="349329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05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8736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620F-C2E2-C178-965A-515B7E6C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046E-4E74-2BBD-1789-1E9FBF96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1C30-8307-9FFB-3DB1-91DD00AE7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229600" cy="126925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Illustration of how SEAL works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49B77-C672-F41E-D1FB-64CC3618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65A5-72DE-BF9D-CA48-49BFE5C4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13229" y="6633565"/>
            <a:ext cx="2133600" cy="365125"/>
          </a:xfrm>
        </p:spPr>
        <p:txBody>
          <a:bodyPr/>
          <a:lstStyle/>
          <a:p>
            <a:fld id="{BAAD7BC5-A392-4DA0-BB84-2D09111EF1C9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57C2EB-1E0D-9CE3-419A-D14E14BFA339}"/>
              </a:ext>
            </a:extLst>
          </p:cNvPr>
          <p:cNvGrpSpPr>
            <a:grpSpLocks noChangeAspect="1"/>
          </p:cNvGrpSpPr>
          <p:nvPr/>
        </p:nvGrpSpPr>
        <p:grpSpPr>
          <a:xfrm>
            <a:off x="859934" y="1418056"/>
            <a:ext cx="7397350" cy="3756138"/>
            <a:chOff x="6298989" y="1159145"/>
            <a:chExt cx="6118847" cy="310695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B288955-0BA5-13F0-7344-8CEDBDE980B7}"/>
                </a:ext>
              </a:extLst>
            </p:cNvPr>
            <p:cNvSpPr/>
            <p:nvPr/>
          </p:nvSpPr>
          <p:spPr>
            <a:xfrm>
              <a:off x="8624993" y="2111228"/>
              <a:ext cx="540000" cy="5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 dirty="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61CF9CD-92EE-FE1B-4D2A-CEC7839A387F}"/>
                </a:ext>
              </a:extLst>
            </p:cNvPr>
            <p:cNvGrpSpPr/>
            <p:nvPr/>
          </p:nvGrpSpPr>
          <p:grpSpPr>
            <a:xfrm>
              <a:off x="8721561" y="2250485"/>
              <a:ext cx="346864" cy="261486"/>
              <a:chOff x="4616177" y="3167514"/>
              <a:chExt cx="346864" cy="261486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676AC77-34AA-8FDD-C5C3-1E0D8D66C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6177" y="3424625"/>
                <a:ext cx="1084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7D9B5EE0-1551-592F-5B71-6F8061899F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6383" y="3171889"/>
                <a:ext cx="10665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2E66D33-6312-179D-065F-813FE7AA3F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0281" y="3167514"/>
                <a:ext cx="140477" cy="26148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82">
              <a:extLst>
                <a:ext uri="{FF2B5EF4-FFF2-40B4-BE49-F238E27FC236}">
                  <a16:creationId xmlns:a16="http://schemas.microsoft.com/office/drawing/2014/main" id="{0AC0999F-A6C0-D3C7-45F3-851EDFEA6CF5}"/>
                </a:ext>
              </a:extLst>
            </p:cNvPr>
            <p:cNvSpPr txBox="1"/>
            <p:nvPr/>
          </p:nvSpPr>
          <p:spPr>
            <a:xfrm>
              <a:off x="8654382" y="1808709"/>
              <a:ext cx="392747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LIF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14BA2FD-4A5D-536A-AF67-DE901399B63F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1808709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39D30BC-347B-D1AC-ED4F-2926F2AB87EE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8030641" y="1808709"/>
              <a:ext cx="594352" cy="5725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267D5B4-4DAD-8B38-0DDC-A4C900DCC35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2220632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F5D5587-7E7D-80D0-C252-63627409D386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8030641" y="2220632"/>
              <a:ext cx="594352" cy="1605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063FF2B-58E0-7AAD-87D3-389F71D81845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2651228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37F418-9C9D-72C0-8A26-77FAAE9752FA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 flipH="1">
              <a:off x="8030641" y="2381228"/>
              <a:ext cx="594352" cy="2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9FB3B20-00C3-1AFD-2712-6254385EB88D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 flipH="1">
              <a:off x="8030641" y="2381228"/>
              <a:ext cx="594352" cy="6819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2C63611-4C89-CFA7-B3F6-2BC2A2AD8943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3063150"/>
              <a:ext cx="12741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Box 91">
              <a:extLst>
                <a:ext uri="{FF2B5EF4-FFF2-40B4-BE49-F238E27FC236}">
                  <a16:creationId xmlns:a16="http://schemas.microsoft.com/office/drawing/2014/main" id="{102AE0ED-BC36-0DAB-30F5-38188BC2911F}"/>
                </a:ext>
              </a:extLst>
            </p:cNvPr>
            <p:cNvSpPr txBox="1"/>
            <p:nvPr/>
          </p:nvSpPr>
          <p:spPr>
            <a:xfrm>
              <a:off x="6868957" y="1521316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010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1100</a:t>
              </a:r>
            </a:p>
          </p:txBody>
        </p:sp>
        <p:sp>
          <p:nvSpPr>
            <p:cNvPr id="83" name="TextBox 92">
              <a:extLst>
                <a:ext uri="{FF2B5EF4-FFF2-40B4-BE49-F238E27FC236}">
                  <a16:creationId xmlns:a16="http://schemas.microsoft.com/office/drawing/2014/main" id="{30A83C78-536E-2CFE-2349-17F96E305572}"/>
                </a:ext>
              </a:extLst>
            </p:cNvPr>
            <p:cNvSpPr txBox="1"/>
            <p:nvPr/>
          </p:nvSpPr>
          <p:spPr>
            <a:xfrm>
              <a:off x="6868957" y="1941302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00101110</a:t>
              </a:r>
            </a:p>
          </p:txBody>
        </p:sp>
        <p:sp>
          <p:nvSpPr>
            <p:cNvPr id="84" name="TextBox 93">
              <a:extLst>
                <a:ext uri="{FF2B5EF4-FFF2-40B4-BE49-F238E27FC236}">
                  <a16:creationId xmlns:a16="http://schemas.microsoft.com/office/drawing/2014/main" id="{54E61F4D-F17A-1A0E-A195-F6F459AE0AB8}"/>
                </a:ext>
              </a:extLst>
            </p:cNvPr>
            <p:cNvSpPr txBox="1"/>
            <p:nvPr/>
          </p:nvSpPr>
          <p:spPr>
            <a:xfrm>
              <a:off x="6867620" y="2361810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110101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</a:t>
              </a:r>
            </a:p>
          </p:txBody>
        </p:sp>
        <p:sp>
          <p:nvSpPr>
            <p:cNvPr id="85" name="TextBox 94">
              <a:extLst>
                <a:ext uri="{FF2B5EF4-FFF2-40B4-BE49-F238E27FC236}">
                  <a16:creationId xmlns:a16="http://schemas.microsoft.com/office/drawing/2014/main" id="{10C6389F-866C-1E6C-ABE2-2F3D1C290C50}"/>
                </a:ext>
              </a:extLst>
            </p:cNvPr>
            <p:cNvSpPr txBox="1"/>
            <p:nvPr/>
          </p:nvSpPr>
          <p:spPr>
            <a:xfrm>
              <a:off x="6877373" y="2771370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00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10001</a:t>
              </a:r>
            </a:p>
          </p:txBody>
        </p:sp>
        <p:sp>
          <p:nvSpPr>
            <p:cNvPr id="86" name="TextBox 95">
              <a:extLst>
                <a:ext uri="{FF2B5EF4-FFF2-40B4-BE49-F238E27FC236}">
                  <a16:creationId xmlns:a16="http://schemas.microsoft.com/office/drawing/2014/main" id="{66580A40-004A-B9E3-2F65-FC0BE42B1C9B}"/>
                </a:ext>
              </a:extLst>
            </p:cNvPr>
            <p:cNvSpPr txBox="1"/>
            <p:nvPr/>
          </p:nvSpPr>
          <p:spPr>
            <a:xfrm>
              <a:off x="7396624" y="1159145"/>
              <a:ext cx="1051713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JP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it-flipping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6D4D297-910E-7926-D56D-E32E9BA65768}"/>
                </a:ext>
              </a:extLst>
            </p:cNvPr>
            <p:cNvCxnSpPr>
              <a:stCxn id="86" idx="1"/>
            </p:cNvCxnSpPr>
            <p:nvPr/>
          </p:nvCxnSpPr>
          <p:spPr>
            <a:xfrm flipH="1">
              <a:off x="7317005" y="1312926"/>
              <a:ext cx="79619" cy="2677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97">
              <a:extLst>
                <a:ext uri="{FF2B5EF4-FFF2-40B4-BE49-F238E27FC236}">
                  <a16:creationId xmlns:a16="http://schemas.microsoft.com/office/drawing/2014/main" id="{38E3143E-ED22-30D6-7422-10B345B4E4E6}"/>
                </a:ext>
              </a:extLst>
            </p:cNvPr>
            <p:cNvSpPr txBox="1"/>
            <p:nvPr/>
          </p:nvSpPr>
          <p:spPr>
            <a:xfrm>
              <a:off x="6473458" y="1931598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</a:t>
              </a:r>
            </a:p>
          </p:txBody>
        </p:sp>
        <p:sp>
          <p:nvSpPr>
            <p:cNvPr id="89" name="TextBox 98">
              <a:extLst>
                <a:ext uri="{FF2B5EF4-FFF2-40B4-BE49-F238E27FC236}">
                  <a16:creationId xmlns:a16="http://schemas.microsoft.com/office/drawing/2014/main" id="{B38DEC7B-58E2-BF30-7F73-39C95BF74A8E}"/>
                </a:ext>
              </a:extLst>
            </p:cNvPr>
            <p:cNvSpPr txBox="1"/>
            <p:nvPr/>
          </p:nvSpPr>
          <p:spPr>
            <a:xfrm>
              <a:off x="6468907" y="1519677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1</a:t>
              </a:r>
            </a:p>
          </p:txBody>
        </p:sp>
        <p:sp>
          <p:nvSpPr>
            <p:cNvPr id="90" name="TextBox 99">
              <a:extLst>
                <a:ext uri="{FF2B5EF4-FFF2-40B4-BE49-F238E27FC236}">
                  <a16:creationId xmlns:a16="http://schemas.microsoft.com/office/drawing/2014/main" id="{3E60DE91-E6D8-A9B2-B7A9-976FFF03FECE}"/>
                </a:ext>
              </a:extLst>
            </p:cNvPr>
            <p:cNvSpPr txBox="1"/>
            <p:nvPr/>
          </p:nvSpPr>
          <p:spPr>
            <a:xfrm>
              <a:off x="6472707" y="2755981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1</a:t>
              </a:r>
            </a:p>
          </p:txBody>
        </p:sp>
        <p:sp>
          <p:nvSpPr>
            <p:cNvPr id="91" name="TextBox 100">
              <a:extLst>
                <a:ext uri="{FF2B5EF4-FFF2-40B4-BE49-F238E27FC236}">
                  <a16:creationId xmlns:a16="http://schemas.microsoft.com/office/drawing/2014/main" id="{DDE7423D-E6A1-5685-16A0-065CB89C50ED}"/>
                </a:ext>
              </a:extLst>
            </p:cNvPr>
            <p:cNvSpPr txBox="1"/>
            <p:nvPr/>
          </p:nvSpPr>
          <p:spPr>
            <a:xfrm>
              <a:off x="6472707" y="2339876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</a:t>
              </a:r>
            </a:p>
          </p:txBody>
        </p:sp>
        <p:sp>
          <p:nvSpPr>
            <p:cNvPr id="92" name="TextBox 101">
              <a:extLst>
                <a:ext uri="{FF2B5EF4-FFF2-40B4-BE49-F238E27FC236}">
                  <a16:creationId xmlns:a16="http://schemas.microsoft.com/office/drawing/2014/main" id="{561B4D64-942F-7B45-488C-1893064B1AD9}"/>
                </a:ext>
              </a:extLst>
            </p:cNvPr>
            <p:cNvSpPr txBox="1"/>
            <p:nvPr/>
          </p:nvSpPr>
          <p:spPr>
            <a:xfrm>
              <a:off x="6298989" y="1242595"/>
              <a:ext cx="562409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93" name="Down Arrow 102">
              <a:extLst>
                <a:ext uri="{FF2B5EF4-FFF2-40B4-BE49-F238E27FC236}">
                  <a16:creationId xmlns:a16="http://schemas.microsoft.com/office/drawing/2014/main" id="{9AA12923-C76A-2B37-2778-B92217D98E0C}"/>
                </a:ext>
              </a:extLst>
            </p:cNvPr>
            <p:cNvSpPr/>
            <p:nvPr/>
          </p:nvSpPr>
          <p:spPr>
            <a:xfrm>
              <a:off x="7028425" y="3293495"/>
              <a:ext cx="754595" cy="153649"/>
            </a:xfrm>
            <a:prstGeom prst="downArrow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103">
                  <a:extLst>
                    <a:ext uri="{FF2B5EF4-FFF2-40B4-BE49-F238E27FC236}">
                      <a16:creationId xmlns:a16="http://schemas.microsoft.com/office/drawing/2014/main" id="{A35FE71A-DC72-BB6C-5489-D6B8C3F3AEC3}"/>
                    </a:ext>
                  </a:extLst>
                </p:cNvPr>
                <p:cNvSpPr txBox="1"/>
                <p:nvPr/>
              </p:nvSpPr>
              <p:spPr>
                <a:xfrm>
                  <a:off x="6622956" y="3537234"/>
                  <a:ext cx="1416435" cy="3513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JP" sz="2000" dirty="0"/>
                    <a:t> = 00110010</a:t>
                  </a:r>
                </a:p>
              </p:txBody>
            </p:sp>
          </mc:Choice>
          <mc:Fallback xmlns="">
            <p:sp>
              <p:nvSpPr>
                <p:cNvPr id="94" name="TextBox 103">
                  <a:extLst>
                    <a:ext uri="{FF2B5EF4-FFF2-40B4-BE49-F238E27FC236}">
                      <a16:creationId xmlns:a16="http://schemas.microsoft.com/office/drawing/2014/main" id="{A35FE71A-DC72-BB6C-5489-D6B8C3F3A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956" y="3537234"/>
                  <a:ext cx="1416435" cy="351377"/>
                </a:xfrm>
                <a:prstGeom prst="rect">
                  <a:avLst/>
                </a:prstGeom>
                <a:blipFill>
                  <a:blip r:embed="rId3"/>
                  <a:stretch>
                    <a:fillRect t="-5714" r="-2847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F0B043A2-2D7A-D763-BF9C-DC019D28764B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>
              <a:off x="9164993" y="2381228"/>
              <a:ext cx="13519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108">
              <a:extLst>
                <a:ext uri="{FF2B5EF4-FFF2-40B4-BE49-F238E27FC236}">
                  <a16:creationId xmlns:a16="http://schemas.microsoft.com/office/drawing/2014/main" id="{B662056C-3DB1-621D-42BD-890058FD7F13}"/>
                </a:ext>
              </a:extLst>
            </p:cNvPr>
            <p:cNvSpPr txBox="1"/>
            <p:nvPr/>
          </p:nvSpPr>
          <p:spPr>
            <a:xfrm>
              <a:off x="10191953" y="2051355"/>
              <a:ext cx="686191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109">
                  <a:extLst>
                    <a:ext uri="{FF2B5EF4-FFF2-40B4-BE49-F238E27FC236}">
                      <a16:creationId xmlns:a16="http://schemas.microsoft.com/office/drawing/2014/main" id="{80D651A4-4342-64B3-3BD6-C310371C5553}"/>
                    </a:ext>
                  </a:extLst>
                </p:cNvPr>
                <p:cNvSpPr txBox="1"/>
                <p:nvPr/>
              </p:nvSpPr>
              <p:spPr>
                <a:xfrm>
                  <a:off x="6630213" y="3874454"/>
                  <a:ext cx="1164822" cy="3513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JP" sz="2000" dirty="0"/>
                    <a:t> = 0.50</a:t>
                  </a:r>
                </a:p>
              </p:txBody>
            </p:sp>
          </mc:Choice>
          <mc:Fallback xmlns="">
            <p:sp>
              <p:nvSpPr>
                <p:cNvPr id="97" name="TextBox 109">
                  <a:extLst>
                    <a:ext uri="{FF2B5EF4-FFF2-40B4-BE49-F238E27FC236}">
                      <a16:creationId xmlns:a16="http://schemas.microsoft.com/office/drawing/2014/main" id="{80D651A4-4342-64B3-3BD6-C310371C5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0213" y="3874454"/>
                  <a:ext cx="1164822" cy="351377"/>
                </a:xfrm>
                <a:prstGeom prst="rect">
                  <a:avLst/>
                </a:prstGeom>
                <a:blipFill>
                  <a:blip r:embed="rId4"/>
                  <a:stretch>
                    <a:fillRect t="-5714" r="-3463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6A9D6EE-58B5-5EC4-D617-8E88560C9A25}"/>
                </a:ext>
              </a:extLst>
            </p:cNvPr>
            <p:cNvSpPr/>
            <p:nvPr/>
          </p:nvSpPr>
          <p:spPr>
            <a:xfrm>
              <a:off x="6557643" y="3537234"/>
              <a:ext cx="1811233" cy="72886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/>
            </a:p>
          </p:txBody>
        </p:sp>
        <p:sp>
          <p:nvSpPr>
            <p:cNvPr id="99" name="TextBox 111">
              <a:extLst>
                <a:ext uri="{FF2B5EF4-FFF2-40B4-BE49-F238E27FC236}">
                  <a16:creationId xmlns:a16="http://schemas.microsoft.com/office/drawing/2014/main" id="{257C5611-A823-72F7-D218-DB8B9A06CB9C}"/>
                </a:ext>
              </a:extLst>
            </p:cNvPr>
            <p:cNvSpPr txBox="1"/>
            <p:nvPr/>
          </p:nvSpPr>
          <p:spPr>
            <a:xfrm>
              <a:off x="7646999" y="1624164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0" name="TextBox 112">
              <a:extLst>
                <a:ext uri="{FF2B5EF4-FFF2-40B4-BE49-F238E27FC236}">
                  <a16:creationId xmlns:a16="http://schemas.microsoft.com/office/drawing/2014/main" id="{03E98A42-A7A0-E776-8882-64CCB5497D5D}"/>
                </a:ext>
              </a:extLst>
            </p:cNvPr>
            <p:cNvSpPr txBox="1"/>
            <p:nvPr/>
          </p:nvSpPr>
          <p:spPr>
            <a:xfrm>
              <a:off x="7646999" y="2035897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1" name="TextBox 113">
              <a:extLst>
                <a:ext uri="{FF2B5EF4-FFF2-40B4-BE49-F238E27FC236}">
                  <a16:creationId xmlns:a16="http://schemas.microsoft.com/office/drawing/2014/main" id="{A5D33C4D-BBA1-FDD4-EB76-36AC92F82B9C}"/>
                </a:ext>
              </a:extLst>
            </p:cNvPr>
            <p:cNvSpPr txBox="1"/>
            <p:nvPr/>
          </p:nvSpPr>
          <p:spPr>
            <a:xfrm>
              <a:off x="7646999" y="2463914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2" name="TextBox 114">
              <a:extLst>
                <a:ext uri="{FF2B5EF4-FFF2-40B4-BE49-F238E27FC236}">
                  <a16:creationId xmlns:a16="http://schemas.microsoft.com/office/drawing/2014/main" id="{FCCFE60A-A9B2-05F6-F89D-A11A55CA9012}"/>
                </a:ext>
              </a:extLst>
            </p:cNvPr>
            <p:cNvSpPr txBox="1"/>
            <p:nvPr/>
          </p:nvSpPr>
          <p:spPr>
            <a:xfrm>
              <a:off x="7646999" y="2875715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3" name="TextBox 115">
              <a:extLst>
                <a:ext uri="{FF2B5EF4-FFF2-40B4-BE49-F238E27FC236}">
                  <a16:creationId xmlns:a16="http://schemas.microsoft.com/office/drawing/2014/main" id="{847DFCF8-1DCC-2CFF-D81E-6C535B8B40FB}"/>
                </a:ext>
              </a:extLst>
            </p:cNvPr>
            <p:cNvSpPr txBox="1"/>
            <p:nvPr/>
          </p:nvSpPr>
          <p:spPr>
            <a:xfrm>
              <a:off x="7876104" y="3657570"/>
              <a:ext cx="217722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2</a:t>
              </a:r>
            </a:p>
          </p:txBody>
        </p:sp>
        <p:sp>
          <p:nvSpPr>
            <p:cNvPr id="104" name="TextBox 116">
              <a:extLst>
                <a:ext uri="{FF2B5EF4-FFF2-40B4-BE49-F238E27FC236}">
                  <a16:creationId xmlns:a16="http://schemas.microsoft.com/office/drawing/2014/main" id="{796AD35C-E6EE-A821-35E7-2723B897F8F5}"/>
                </a:ext>
              </a:extLst>
            </p:cNvPr>
            <p:cNvSpPr txBox="1"/>
            <p:nvPr/>
          </p:nvSpPr>
          <p:spPr>
            <a:xfrm>
              <a:off x="7633658" y="3990062"/>
              <a:ext cx="282693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10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9F3EF04-04E0-0678-96D5-CFC0FCCC62A0}"/>
                </a:ext>
              </a:extLst>
            </p:cNvPr>
            <p:cNvSpPr/>
            <p:nvPr/>
          </p:nvSpPr>
          <p:spPr>
            <a:xfrm>
              <a:off x="9008748" y="3631667"/>
              <a:ext cx="540000" cy="5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 dirty="0"/>
            </a:p>
          </p:txBody>
        </p:sp>
        <p:sp>
          <p:nvSpPr>
            <p:cNvPr id="106" name="TextBox 118">
              <a:extLst>
                <a:ext uri="{FF2B5EF4-FFF2-40B4-BE49-F238E27FC236}">
                  <a16:creationId xmlns:a16="http://schemas.microsoft.com/office/drawing/2014/main" id="{8718690E-636F-977C-A548-EF965CF50E16}"/>
                </a:ext>
              </a:extLst>
            </p:cNvPr>
            <p:cNvSpPr txBox="1"/>
            <p:nvPr/>
          </p:nvSpPr>
          <p:spPr>
            <a:xfrm>
              <a:off x="9124847" y="3641598"/>
              <a:ext cx="299930" cy="483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3200" dirty="0"/>
                <a:t>x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3348059-16DD-269C-7B53-1641E635F6DB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8894993" y="2651228"/>
              <a:ext cx="982" cy="458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3DC06EF-726C-BF59-C219-C4F1CBA50C35}"/>
                </a:ext>
              </a:extLst>
            </p:cNvPr>
            <p:cNvCxnSpPr>
              <a:cxnSpLocks/>
            </p:cNvCxnSpPr>
            <p:nvPr/>
          </p:nvCxnSpPr>
          <p:spPr>
            <a:xfrm>
              <a:off x="8894993" y="3109924"/>
              <a:ext cx="162199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TextBox 135">
              <a:extLst>
                <a:ext uri="{FF2B5EF4-FFF2-40B4-BE49-F238E27FC236}">
                  <a16:creationId xmlns:a16="http://schemas.microsoft.com/office/drawing/2014/main" id="{78F01F26-BFB7-68C2-7E87-E37E0377C23A}"/>
                </a:ext>
              </a:extLst>
            </p:cNvPr>
            <p:cNvSpPr txBox="1"/>
            <p:nvPr/>
          </p:nvSpPr>
          <p:spPr>
            <a:xfrm>
              <a:off x="9372052" y="3121223"/>
              <a:ext cx="2125872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JP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irtual Synaptic Weight</a:t>
              </a:r>
            </a:p>
          </p:txBody>
        </p:sp>
        <p:sp>
          <p:nvSpPr>
            <p:cNvPr id="110" name="TextBox 136">
              <a:extLst>
                <a:ext uri="{FF2B5EF4-FFF2-40B4-BE49-F238E27FC236}">
                  <a16:creationId xmlns:a16="http://schemas.microsoft.com/office/drawing/2014/main" id="{8C7945E1-56E7-AE48-1497-2F0FBD1F0C77}"/>
                </a:ext>
              </a:extLst>
            </p:cNvPr>
            <p:cNvSpPr txBox="1"/>
            <p:nvPr/>
          </p:nvSpPr>
          <p:spPr>
            <a:xfrm>
              <a:off x="9168794" y="2789798"/>
              <a:ext cx="1011967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00011001</a:t>
              </a:r>
            </a:p>
          </p:txBody>
        </p:sp>
        <p:sp>
          <p:nvSpPr>
            <p:cNvPr id="111" name="TextBox 137">
              <a:extLst>
                <a:ext uri="{FF2B5EF4-FFF2-40B4-BE49-F238E27FC236}">
                  <a16:creationId xmlns:a16="http://schemas.microsoft.com/office/drawing/2014/main" id="{A25885FD-A5DC-571E-1D4B-F9D3828B0AEA}"/>
                </a:ext>
              </a:extLst>
            </p:cNvPr>
            <p:cNvSpPr txBox="1"/>
            <p:nvPr/>
          </p:nvSpPr>
          <p:spPr>
            <a:xfrm>
              <a:off x="10017259" y="2897520"/>
              <a:ext cx="217722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2</a:t>
              </a:r>
            </a:p>
          </p:txBody>
        </p:sp>
        <p:sp>
          <p:nvSpPr>
            <p:cNvPr id="112" name="TextBox 138">
              <a:extLst>
                <a:ext uri="{FF2B5EF4-FFF2-40B4-BE49-F238E27FC236}">
                  <a16:creationId xmlns:a16="http://schemas.microsoft.com/office/drawing/2014/main" id="{238E384D-BE6A-261E-C3E9-3C31C8887613}"/>
                </a:ext>
              </a:extLst>
            </p:cNvPr>
            <p:cNvSpPr txBox="1"/>
            <p:nvPr/>
          </p:nvSpPr>
          <p:spPr>
            <a:xfrm>
              <a:off x="10406102" y="2773952"/>
              <a:ext cx="2011734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>
                  <a:cs typeface="Times New Roman" panose="02020603050405020304" pitchFamily="18" charset="0"/>
                </a:rPr>
                <a:t>“1”</a:t>
              </a:r>
              <a:r>
                <a:rPr lang="en-US" sz="2000" dirty="0"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(Always-on state)</a:t>
              </a:r>
              <a:endParaRPr lang="en-JP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DA78C26-4FB6-495A-A92F-5559FDE0259D}"/>
                </a:ext>
              </a:extLst>
            </p:cNvPr>
            <p:cNvCxnSpPr>
              <a:stCxn id="98" idx="3"/>
              <a:endCxn id="105" idx="2"/>
            </p:cNvCxnSpPr>
            <p:nvPr/>
          </p:nvCxnSpPr>
          <p:spPr>
            <a:xfrm>
              <a:off x="8368876" y="3901667"/>
              <a:ext cx="639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FD4D2BE-0B0B-9130-126D-F49D27B2EE09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H="1" flipV="1">
              <a:off x="9274811" y="3185527"/>
              <a:ext cx="2" cy="45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FAA3EA0-CAD7-19DD-6BE1-EE00675EE57C}"/>
                  </a:ext>
                </a:extLst>
              </p:cNvPr>
              <p:cNvSpPr txBox="1"/>
              <p:nvPr/>
            </p:nvSpPr>
            <p:spPr>
              <a:xfrm>
                <a:off x="1735424" y="5422473"/>
                <a:ext cx="2251514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FAA3EA0-CAD7-19DD-6BE1-EE00675EE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424" y="5422473"/>
                <a:ext cx="2251514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CF97DC-B16A-94FA-20ED-C4CA7725A381}"/>
                  </a:ext>
                </a:extLst>
              </p:cNvPr>
              <p:cNvSpPr txBox="1"/>
              <p:nvPr/>
            </p:nvSpPr>
            <p:spPr>
              <a:xfrm>
                <a:off x="3187534" y="5412754"/>
                <a:ext cx="4335167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nary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CF97DC-B16A-94FA-20ED-C4CA7725A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534" y="5412754"/>
                <a:ext cx="4335167" cy="756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Oval 150">
            <a:extLst>
              <a:ext uri="{FF2B5EF4-FFF2-40B4-BE49-F238E27FC236}">
                <a16:creationId xmlns:a16="http://schemas.microsoft.com/office/drawing/2014/main" id="{749F8AEC-D030-FAB5-D0C5-7433BE3AF7F2}"/>
              </a:ext>
            </a:extLst>
          </p:cNvPr>
          <p:cNvSpPr/>
          <p:nvPr/>
        </p:nvSpPr>
        <p:spPr>
          <a:xfrm>
            <a:off x="6086946" y="5604577"/>
            <a:ext cx="542068" cy="431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2049F58F-C479-2000-1B1A-7A164F7F8D4C}"/>
              </a:ext>
            </a:extLst>
          </p:cNvPr>
          <p:cNvSpPr/>
          <p:nvPr/>
        </p:nvSpPr>
        <p:spPr>
          <a:xfrm>
            <a:off x="5125321" y="5604577"/>
            <a:ext cx="589293" cy="431050"/>
          </a:xfrm>
          <a:prstGeom prst="ellipse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7149B4A-CCF4-A512-495F-59E6E4646C2F}"/>
              </a:ext>
            </a:extLst>
          </p:cNvPr>
          <p:cNvSpPr txBox="1"/>
          <p:nvPr/>
        </p:nvSpPr>
        <p:spPr>
          <a:xfrm>
            <a:off x="4766018" y="5072729"/>
            <a:ext cx="1333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weight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EBD1F6-86B9-B982-7B11-24F201E2C718}"/>
              </a:ext>
            </a:extLst>
          </p:cNvPr>
          <p:cNvSpPr txBox="1"/>
          <p:nvPr/>
        </p:nvSpPr>
        <p:spPr>
          <a:xfrm>
            <a:off x="5323433" y="6188037"/>
            <a:ext cx="1385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weight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7C53567-4333-9020-AACB-2F170F39F2CF}"/>
              </a:ext>
            </a:extLst>
          </p:cNvPr>
          <p:cNvCxnSpPr>
            <a:cxnSpLocks/>
            <a:endCxn id="151" idx="4"/>
          </p:cNvCxnSpPr>
          <p:nvPr/>
        </p:nvCxnSpPr>
        <p:spPr>
          <a:xfrm flipV="1">
            <a:off x="6357980" y="6035627"/>
            <a:ext cx="0" cy="1524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83FB112-6A97-82D0-9911-36DDBDB78D26}"/>
              </a:ext>
            </a:extLst>
          </p:cNvPr>
          <p:cNvCxnSpPr>
            <a:cxnSpLocks/>
            <a:stCxn id="153" idx="2"/>
            <a:endCxn id="152" idx="0"/>
          </p:cNvCxnSpPr>
          <p:nvPr/>
        </p:nvCxnSpPr>
        <p:spPr>
          <a:xfrm flipH="1">
            <a:off x="5419968" y="5380506"/>
            <a:ext cx="13028" cy="22407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267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52C5-C00A-BF2E-0BDA-34D26C6C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6553-6DBA-7E22-880E-79E97396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B82E-1BEE-68F7-989E-80D6FF65B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229600" cy="126925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Illustration of how SEAL works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49674-1D93-3353-2D66-A1735B7E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F78F2-BF6A-C9D9-3363-27B7DC4D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13229" y="6633565"/>
            <a:ext cx="2133600" cy="365125"/>
          </a:xfrm>
        </p:spPr>
        <p:txBody>
          <a:bodyPr/>
          <a:lstStyle/>
          <a:p>
            <a:fld id="{BAAD7BC5-A392-4DA0-BB84-2D09111EF1C9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ABEBE2-54DB-5D33-2FA7-ED0198D29A03}"/>
              </a:ext>
            </a:extLst>
          </p:cNvPr>
          <p:cNvGrpSpPr>
            <a:grpSpLocks noChangeAspect="1"/>
          </p:cNvGrpSpPr>
          <p:nvPr/>
        </p:nvGrpSpPr>
        <p:grpSpPr>
          <a:xfrm>
            <a:off x="859934" y="1418056"/>
            <a:ext cx="7397350" cy="3756138"/>
            <a:chOff x="6298989" y="1159145"/>
            <a:chExt cx="6118847" cy="310695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23F402F-90E5-70FF-7858-22F262A3AB67}"/>
                </a:ext>
              </a:extLst>
            </p:cNvPr>
            <p:cNvSpPr/>
            <p:nvPr/>
          </p:nvSpPr>
          <p:spPr>
            <a:xfrm>
              <a:off x="8624993" y="2111228"/>
              <a:ext cx="540000" cy="5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 dirty="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0748384-C9BF-7ABC-3E4D-7D397100E487}"/>
                </a:ext>
              </a:extLst>
            </p:cNvPr>
            <p:cNvGrpSpPr/>
            <p:nvPr/>
          </p:nvGrpSpPr>
          <p:grpSpPr>
            <a:xfrm>
              <a:off x="8721561" y="2250485"/>
              <a:ext cx="346864" cy="261486"/>
              <a:chOff x="4616177" y="3167514"/>
              <a:chExt cx="346864" cy="261486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6FBA711-EEB5-D85E-74B7-C81CDD22D2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6177" y="3424625"/>
                <a:ext cx="1084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53E20431-B980-2472-5084-1D6AB5A7F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6383" y="3171889"/>
                <a:ext cx="10665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FD3F536B-C176-F052-CDD9-E9817F1E0C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0281" y="3167514"/>
                <a:ext cx="140477" cy="26148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82">
              <a:extLst>
                <a:ext uri="{FF2B5EF4-FFF2-40B4-BE49-F238E27FC236}">
                  <a16:creationId xmlns:a16="http://schemas.microsoft.com/office/drawing/2014/main" id="{7AD34E12-34CB-089E-BAD3-F21FBDDFF77E}"/>
                </a:ext>
              </a:extLst>
            </p:cNvPr>
            <p:cNvSpPr txBox="1"/>
            <p:nvPr/>
          </p:nvSpPr>
          <p:spPr>
            <a:xfrm>
              <a:off x="8654382" y="1808709"/>
              <a:ext cx="392747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LIF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0CC9E4F-36D9-ECC6-5FD6-5B2447959B9F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1808709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BAB4928-C70B-C268-FF05-8115FE4F6630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8030641" y="1808709"/>
              <a:ext cx="594352" cy="5725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5CD1C23-2620-E5DA-FF1A-961CF469601E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2220632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4F31ED7-137E-ADA2-7AE6-CC2F206C656E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8030641" y="2220632"/>
              <a:ext cx="594352" cy="1605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34339D0-F97C-B7EF-CF66-F40494EC4E67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2651228"/>
              <a:ext cx="1266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98386F3-49DB-EF38-2489-2E7791CC432C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 flipH="1">
              <a:off x="8030641" y="2381228"/>
              <a:ext cx="594352" cy="2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15E70D8-16AE-3935-CDE5-1C737979E864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 flipH="1">
              <a:off x="8030641" y="2381228"/>
              <a:ext cx="594352" cy="6819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D77EF5B-EFB0-A8D4-C8AC-B6BE04788443}"/>
                </a:ext>
              </a:extLst>
            </p:cNvPr>
            <p:cNvCxnSpPr>
              <a:cxnSpLocks/>
            </p:cNvCxnSpPr>
            <p:nvPr/>
          </p:nvCxnSpPr>
          <p:spPr>
            <a:xfrm>
              <a:off x="6763973" y="3063150"/>
              <a:ext cx="12741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Box 91">
              <a:extLst>
                <a:ext uri="{FF2B5EF4-FFF2-40B4-BE49-F238E27FC236}">
                  <a16:creationId xmlns:a16="http://schemas.microsoft.com/office/drawing/2014/main" id="{340211A5-FA32-B02A-B198-62158A4964B2}"/>
                </a:ext>
              </a:extLst>
            </p:cNvPr>
            <p:cNvSpPr txBox="1"/>
            <p:nvPr/>
          </p:nvSpPr>
          <p:spPr>
            <a:xfrm>
              <a:off x="6868957" y="1521316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010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1100</a:t>
              </a:r>
            </a:p>
          </p:txBody>
        </p:sp>
        <p:sp>
          <p:nvSpPr>
            <p:cNvPr id="83" name="TextBox 92">
              <a:extLst>
                <a:ext uri="{FF2B5EF4-FFF2-40B4-BE49-F238E27FC236}">
                  <a16:creationId xmlns:a16="http://schemas.microsoft.com/office/drawing/2014/main" id="{D1ED9824-24B2-5034-D81F-AF13F0D094AB}"/>
                </a:ext>
              </a:extLst>
            </p:cNvPr>
            <p:cNvSpPr txBox="1"/>
            <p:nvPr/>
          </p:nvSpPr>
          <p:spPr>
            <a:xfrm>
              <a:off x="6868957" y="1941302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00101110</a:t>
              </a:r>
            </a:p>
          </p:txBody>
        </p:sp>
        <p:sp>
          <p:nvSpPr>
            <p:cNvPr id="84" name="TextBox 93">
              <a:extLst>
                <a:ext uri="{FF2B5EF4-FFF2-40B4-BE49-F238E27FC236}">
                  <a16:creationId xmlns:a16="http://schemas.microsoft.com/office/drawing/2014/main" id="{B7CA3B6B-53D9-4502-B493-E5D730B3F0B0}"/>
                </a:ext>
              </a:extLst>
            </p:cNvPr>
            <p:cNvSpPr txBox="1"/>
            <p:nvPr/>
          </p:nvSpPr>
          <p:spPr>
            <a:xfrm>
              <a:off x="6867620" y="2361810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110101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</a:t>
              </a:r>
            </a:p>
          </p:txBody>
        </p:sp>
        <p:sp>
          <p:nvSpPr>
            <p:cNvPr id="85" name="TextBox 94">
              <a:extLst>
                <a:ext uri="{FF2B5EF4-FFF2-40B4-BE49-F238E27FC236}">
                  <a16:creationId xmlns:a16="http://schemas.microsoft.com/office/drawing/2014/main" id="{7CA47D6D-3BC5-AA6A-F258-4CEC36D09248}"/>
                </a:ext>
              </a:extLst>
            </p:cNvPr>
            <p:cNvSpPr txBox="1"/>
            <p:nvPr/>
          </p:nvSpPr>
          <p:spPr>
            <a:xfrm>
              <a:off x="6877373" y="2771370"/>
              <a:ext cx="927106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/>
                <a:t>00</a:t>
              </a:r>
              <a:r>
                <a:rPr lang="en-JP" dirty="0">
                  <a:solidFill>
                    <a:srgbClr val="FF0000"/>
                  </a:solidFill>
                </a:rPr>
                <a:t>0</a:t>
              </a:r>
              <a:r>
                <a:rPr lang="en-JP" dirty="0"/>
                <a:t>10001</a:t>
              </a:r>
            </a:p>
          </p:txBody>
        </p:sp>
        <p:sp>
          <p:nvSpPr>
            <p:cNvPr id="86" name="TextBox 95">
              <a:extLst>
                <a:ext uri="{FF2B5EF4-FFF2-40B4-BE49-F238E27FC236}">
                  <a16:creationId xmlns:a16="http://schemas.microsoft.com/office/drawing/2014/main" id="{4DCA5CBC-04D3-88A2-F834-183B866695D1}"/>
                </a:ext>
              </a:extLst>
            </p:cNvPr>
            <p:cNvSpPr txBox="1"/>
            <p:nvPr/>
          </p:nvSpPr>
          <p:spPr>
            <a:xfrm>
              <a:off x="7396624" y="1159145"/>
              <a:ext cx="1051713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JP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it-flipping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FD1CA2C-FF4D-EBF8-41B9-ADF0DC41BDD6}"/>
                </a:ext>
              </a:extLst>
            </p:cNvPr>
            <p:cNvCxnSpPr>
              <a:stCxn id="86" idx="1"/>
            </p:cNvCxnSpPr>
            <p:nvPr/>
          </p:nvCxnSpPr>
          <p:spPr>
            <a:xfrm flipH="1">
              <a:off x="7317005" y="1312926"/>
              <a:ext cx="79619" cy="2677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97">
              <a:extLst>
                <a:ext uri="{FF2B5EF4-FFF2-40B4-BE49-F238E27FC236}">
                  <a16:creationId xmlns:a16="http://schemas.microsoft.com/office/drawing/2014/main" id="{DD0AA584-D487-AA70-8BB5-CBE80C18A15D}"/>
                </a:ext>
              </a:extLst>
            </p:cNvPr>
            <p:cNvSpPr txBox="1"/>
            <p:nvPr/>
          </p:nvSpPr>
          <p:spPr>
            <a:xfrm>
              <a:off x="6473458" y="1931598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</a:t>
              </a:r>
            </a:p>
          </p:txBody>
        </p:sp>
        <p:sp>
          <p:nvSpPr>
            <p:cNvPr id="89" name="TextBox 98">
              <a:extLst>
                <a:ext uri="{FF2B5EF4-FFF2-40B4-BE49-F238E27FC236}">
                  <a16:creationId xmlns:a16="http://schemas.microsoft.com/office/drawing/2014/main" id="{C27EE4E5-A50F-8FC2-9B18-8E8E2C633796}"/>
                </a:ext>
              </a:extLst>
            </p:cNvPr>
            <p:cNvSpPr txBox="1"/>
            <p:nvPr/>
          </p:nvSpPr>
          <p:spPr>
            <a:xfrm>
              <a:off x="6468907" y="1519677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1</a:t>
              </a:r>
            </a:p>
          </p:txBody>
        </p:sp>
        <p:sp>
          <p:nvSpPr>
            <p:cNvPr id="90" name="TextBox 99">
              <a:extLst>
                <a:ext uri="{FF2B5EF4-FFF2-40B4-BE49-F238E27FC236}">
                  <a16:creationId xmlns:a16="http://schemas.microsoft.com/office/drawing/2014/main" id="{245901B5-A04A-57C8-6F32-BB7735D5D978}"/>
                </a:ext>
              </a:extLst>
            </p:cNvPr>
            <p:cNvSpPr txBox="1"/>
            <p:nvPr/>
          </p:nvSpPr>
          <p:spPr>
            <a:xfrm>
              <a:off x="6472707" y="2755981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1</a:t>
              </a:r>
            </a:p>
          </p:txBody>
        </p:sp>
        <p:sp>
          <p:nvSpPr>
            <p:cNvPr id="91" name="TextBox 100">
              <a:extLst>
                <a:ext uri="{FF2B5EF4-FFF2-40B4-BE49-F238E27FC236}">
                  <a16:creationId xmlns:a16="http://schemas.microsoft.com/office/drawing/2014/main" id="{5DF79F9A-066A-C1EA-4096-6F270A4C0BDB}"/>
                </a:ext>
              </a:extLst>
            </p:cNvPr>
            <p:cNvSpPr txBox="1"/>
            <p:nvPr/>
          </p:nvSpPr>
          <p:spPr>
            <a:xfrm>
              <a:off x="6472707" y="2339876"/>
              <a:ext cx="260152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</a:t>
              </a:r>
            </a:p>
          </p:txBody>
        </p:sp>
        <p:sp>
          <p:nvSpPr>
            <p:cNvPr id="92" name="TextBox 101">
              <a:extLst>
                <a:ext uri="{FF2B5EF4-FFF2-40B4-BE49-F238E27FC236}">
                  <a16:creationId xmlns:a16="http://schemas.microsoft.com/office/drawing/2014/main" id="{54DC5B76-30E4-38F6-A0DE-4F38E24EB6DC}"/>
                </a:ext>
              </a:extLst>
            </p:cNvPr>
            <p:cNvSpPr txBox="1"/>
            <p:nvPr/>
          </p:nvSpPr>
          <p:spPr>
            <a:xfrm>
              <a:off x="6298989" y="1242595"/>
              <a:ext cx="562409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93" name="Down Arrow 102">
              <a:extLst>
                <a:ext uri="{FF2B5EF4-FFF2-40B4-BE49-F238E27FC236}">
                  <a16:creationId xmlns:a16="http://schemas.microsoft.com/office/drawing/2014/main" id="{45AC03AE-0D10-9125-1273-5CA8FB8FD1EE}"/>
                </a:ext>
              </a:extLst>
            </p:cNvPr>
            <p:cNvSpPr/>
            <p:nvPr/>
          </p:nvSpPr>
          <p:spPr>
            <a:xfrm>
              <a:off x="7028425" y="3293495"/>
              <a:ext cx="754595" cy="153649"/>
            </a:xfrm>
            <a:prstGeom prst="downArrow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103">
                  <a:extLst>
                    <a:ext uri="{FF2B5EF4-FFF2-40B4-BE49-F238E27FC236}">
                      <a16:creationId xmlns:a16="http://schemas.microsoft.com/office/drawing/2014/main" id="{E01E5747-7355-653F-9002-225459B9B32B}"/>
                    </a:ext>
                  </a:extLst>
                </p:cNvPr>
                <p:cNvSpPr txBox="1"/>
                <p:nvPr/>
              </p:nvSpPr>
              <p:spPr>
                <a:xfrm>
                  <a:off x="6622956" y="3537234"/>
                  <a:ext cx="1416435" cy="3513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JP" sz="2000" dirty="0"/>
                    <a:t> = 00110010</a:t>
                  </a:r>
                </a:p>
              </p:txBody>
            </p:sp>
          </mc:Choice>
          <mc:Fallback xmlns="">
            <p:sp>
              <p:nvSpPr>
                <p:cNvPr id="94" name="TextBox 103">
                  <a:extLst>
                    <a:ext uri="{FF2B5EF4-FFF2-40B4-BE49-F238E27FC236}">
                      <a16:creationId xmlns:a16="http://schemas.microsoft.com/office/drawing/2014/main" id="{E01E5747-7355-653F-9002-225459B9B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956" y="3537234"/>
                  <a:ext cx="1416435" cy="351377"/>
                </a:xfrm>
                <a:prstGeom prst="rect">
                  <a:avLst/>
                </a:prstGeom>
                <a:blipFill>
                  <a:blip r:embed="rId3"/>
                  <a:stretch>
                    <a:fillRect t="-5714" r="-2847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1BD3D494-6293-BE7D-CD73-B9E99FD1685C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>
              <a:off x="9164993" y="2381228"/>
              <a:ext cx="13519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108">
              <a:extLst>
                <a:ext uri="{FF2B5EF4-FFF2-40B4-BE49-F238E27FC236}">
                  <a16:creationId xmlns:a16="http://schemas.microsoft.com/office/drawing/2014/main" id="{F6A0600D-2619-628A-8141-180D02B0A3F0}"/>
                </a:ext>
              </a:extLst>
            </p:cNvPr>
            <p:cNvSpPr txBox="1"/>
            <p:nvPr/>
          </p:nvSpPr>
          <p:spPr>
            <a:xfrm>
              <a:off x="10191953" y="2051355"/>
              <a:ext cx="686191" cy="30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109">
                  <a:extLst>
                    <a:ext uri="{FF2B5EF4-FFF2-40B4-BE49-F238E27FC236}">
                      <a16:creationId xmlns:a16="http://schemas.microsoft.com/office/drawing/2014/main" id="{8912D57A-3F73-6C3C-B214-89B9EBB57C3A}"/>
                    </a:ext>
                  </a:extLst>
                </p:cNvPr>
                <p:cNvSpPr txBox="1"/>
                <p:nvPr/>
              </p:nvSpPr>
              <p:spPr>
                <a:xfrm>
                  <a:off x="6630213" y="3874454"/>
                  <a:ext cx="1164822" cy="3513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JP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JP" sz="2000" dirty="0"/>
                    <a:t> = 0.50</a:t>
                  </a:r>
                </a:p>
              </p:txBody>
            </p:sp>
          </mc:Choice>
          <mc:Fallback xmlns="">
            <p:sp>
              <p:nvSpPr>
                <p:cNvPr id="97" name="TextBox 109">
                  <a:extLst>
                    <a:ext uri="{FF2B5EF4-FFF2-40B4-BE49-F238E27FC236}">
                      <a16:creationId xmlns:a16="http://schemas.microsoft.com/office/drawing/2014/main" id="{8912D57A-3F73-6C3C-B214-89B9EBB57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0213" y="3874454"/>
                  <a:ext cx="1164822" cy="351377"/>
                </a:xfrm>
                <a:prstGeom prst="rect">
                  <a:avLst/>
                </a:prstGeom>
                <a:blipFill>
                  <a:blip r:embed="rId4"/>
                  <a:stretch>
                    <a:fillRect t="-5714" r="-3463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BE6E67B-BE14-9391-408A-D368446853AB}"/>
                </a:ext>
              </a:extLst>
            </p:cNvPr>
            <p:cNvSpPr/>
            <p:nvPr/>
          </p:nvSpPr>
          <p:spPr>
            <a:xfrm>
              <a:off x="6557643" y="3537234"/>
              <a:ext cx="1811233" cy="72886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/>
            </a:p>
          </p:txBody>
        </p:sp>
        <p:sp>
          <p:nvSpPr>
            <p:cNvPr id="99" name="TextBox 111">
              <a:extLst>
                <a:ext uri="{FF2B5EF4-FFF2-40B4-BE49-F238E27FC236}">
                  <a16:creationId xmlns:a16="http://schemas.microsoft.com/office/drawing/2014/main" id="{B9A6412D-27C2-BD45-57E9-31D9BF3FB753}"/>
                </a:ext>
              </a:extLst>
            </p:cNvPr>
            <p:cNvSpPr txBox="1"/>
            <p:nvPr/>
          </p:nvSpPr>
          <p:spPr>
            <a:xfrm>
              <a:off x="7646999" y="1624164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0" name="TextBox 112">
              <a:extLst>
                <a:ext uri="{FF2B5EF4-FFF2-40B4-BE49-F238E27FC236}">
                  <a16:creationId xmlns:a16="http://schemas.microsoft.com/office/drawing/2014/main" id="{B3D71053-59FF-6ADC-B298-1C439C641588}"/>
                </a:ext>
              </a:extLst>
            </p:cNvPr>
            <p:cNvSpPr txBox="1"/>
            <p:nvPr/>
          </p:nvSpPr>
          <p:spPr>
            <a:xfrm>
              <a:off x="7646999" y="2035897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1" name="TextBox 113">
              <a:extLst>
                <a:ext uri="{FF2B5EF4-FFF2-40B4-BE49-F238E27FC236}">
                  <a16:creationId xmlns:a16="http://schemas.microsoft.com/office/drawing/2014/main" id="{3913E5F5-F827-B786-BBE4-0C3CD4278C76}"/>
                </a:ext>
              </a:extLst>
            </p:cNvPr>
            <p:cNvSpPr txBox="1"/>
            <p:nvPr/>
          </p:nvSpPr>
          <p:spPr>
            <a:xfrm>
              <a:off x="7646999" y="2463914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2" name="TextBox 114">
              <a:extLst>
                <a:ext uri="{FF2B5EF4-FFF2-40B4-BE49-F238E27FC236}">
                  <a16:creationId xmlns:a16="http://schemas.microsoft.com/office/drawing/2014/main" id="{F772754F-6ADE-99C7-4342-39BB4799BDEE}"/>
                </a:ext>
              </a:extLst>
            </p:cNvPr>
            <p:cNvSpPr txBox="1"/>
            <p:nvPr/>
          </p:nvSpPr>
          <p:spPr>
            <a:xfrm>
              <a:off x="7646999" y="2875715"/>
              <a:ext cx="209766" cy="210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050" dirty="0"/>
                <a:t>2</a:t>
              </a:r>
            </a:p>
          </p:txBody>
        </p:sp>
        <p:sp>
          <p:nvSpPr>
            <p:cNvPr id="103" name="TextBox 115">
              <a:extLst>
                <a:ext uri="{FF2B5EF4-FFF2-40B4-BE49-F238E27FC236}">
                  <a16:creationId xmlns:a16="http://schemas.microsoft.com/office/drawing/2014/main" id="{BE7C68DB-5AC2-1F13-441F-49213272C65A}"/>
                </a:ext>
              </a:extLst>
            </p:cNvPr>
            <p:cNvSpPr txBox="1"/>
            <p:nvPr/>
          </p:nvSpPr>
          <p:spPr>
            <a:xfrm>
              <a:off x="7876104" y="3657570"/>
              <a:ext cx="217722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2</a:t>
              </a:r>
            </a:p>
          </p:txBody>
        </p:sp>
        <p:sp>
          <p:nvSpPr>
            <p:cNvPr id="104" name="TextBox 116">
              <a:extLst>
                <a:ext uri="{FF2B5EF4-FFF2-40B4-BE49-F238E27FC236}">
                  <a16:creationId xmlns:a16="http://schemas.microsoft.com/office/drawing/2014/main" id="{F14DFC48-A636-7B01-1ADE-FC087B9E0A97}"/>
                </a:ext>
              </a:extLst>
            </p:cNvPr>
            <p:cNvSpPr txBox="1"/>
            <p:nvPr/>
          </p:nvSpPr>
          <p:spPr>
            <a:xfrm>
              <a:off x="7633658" y="3990062"/>
              <a:ext cx="282693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10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822A8DC-9011-37A7-8DD2-F7258504CC6B}"/>
                </a:ext>
              </a:extLst>
            </p:cNvPr>
            <p:cNvSpPr/>
            <p:nvPr/>
          </p:nvSpPr>
          <p:spPr>
            <a:xfrm>
              <a:off x="9008748" y="3631667"/>
              <a:ext cx="540000" cy="5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JP" sz="2000" dirty="0"/>
            </a:p>
          </p:txBody>
        </p:sp>
        <p:sp>
          <p:nvSpPr>
            <p:cNvPr id="106" name="TextBox 118">
              <a:extLst>
                <a:ext uri="{FF2B5EF4-FFF2-40B4-BE49-F238E27FC236}">
                  <a16:creationId xmlns:a16="http://schemas.microsoft.com/office/drawing/2014/main" id="{C1EF1E80-C8D9-5AED-E9C3-72DB4F2DB017}"/>
                </a:ext>
              </a:extLst>
            </p:cNvPr>
            <p:cNvSpPr txBox="1"/>
            <p:nvPr/>
          </p:nvSpPr>
          <p:spPr>
            <a:xfrm>
              <a:off x="9124847" y="3641598"/>
              <a:ext cx="299930" cy="483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JP" sz="3200" dirty="0"/>
                <a:t>x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95A6F3C-6A74-2E01-407B-270A24E1E7BA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8894993" y="2651228"/>
              <a:ext cx="982" cy="458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4A14709A-326B-AD81-2C90-202E9C3CB13B}"/>
                </a:ext>
              </a:extLst>
            </p:cNvPr>
            <p:cNvCxnSpPr>
              <a:cxnSpLocks/>
            </p:cNvCxnSpPr>
            <p:nvPr/>
          </p:nvCxnSpPr>
          <p:spPr>
            <a:xfrm>
              <a:off x="8894993" y="3109924"/>
              <a:ext cx="162199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TextBox 135">
              <a:extLst>
                <a:ext uri="{FF2B5EF4-FFF2-40B4-BE49-F238E27FC236}">
                  <a16:creationId xmlns:a16="http://schemas.microsoft.com/office/drawing/2014/main" id="{058EADB8-DE62-5C63-F5BC-99CEB87752CE}"/>
                </a:ext>
              </a:extLst>
            </p:cNvPr>
            <p:cNvSpPr txBox="1"/>
            <p:nvPr/>
          </p:nvSpPr>
          <p:spPr>
            <a:xfrm>
              <a:off x="9372052" y="3121223"/>
              <a:ext cx="2125872" cy="30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JP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irtual Synaptic Weight</a:t>
              </a:r>
            </a:p>
          </p:txBody>
        </p:sp>
        <p:sp>
          <p:nvSpPr>
            <p:cNvPr id="110" name="TextBox 136">
              <a:extLst>
                <a:ext uri="{FF2B5EF4-FFF2-40B4-BE49-F238E27FC236}">
                  <a16:creationId xmlns:a16="http://schemas.microsoft.com/office/drawing/2014/main" id="{E3C3FA13-FFC2-4576-7E75-82530B5D71EA}"/>
                </a:ext>
              </a:extLst>
            </p:cNvPr>
            <p:cNvSpPr txBox="1"/>
            <p:nvPr/>
          </p:nvSpPr>
          <p:spPr>
            <a:xfrm>
              <a:off x="9168794" y="2789798"/>
              <a:ext cx="1011967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/>
                <a:t>00011001</a:t>
              </a:r>
            </a:p>
          </p:txBody>
        </p:sp>
        <p:sp>
          <p:nvSpPr>
            <p:cNvPr id="111" name="TextBox 137">
              <a:extLst>
                <a:ext uri="{FF2B5EF4-FFF2-40B4-BE49-F238E27FC236}">
                  <a16:creationId xmlns:a16="http://schemas.microsoft.com/office/drawing/2014/main" id="{D30F0B88-7CDC-CBBE-77A4-1A0091169EB4}"/>
                </a:ext>
              </a:extLst>
            </p:cNvPr>
            <p:cNvSpPr txBox="1"/>
            <p:nvPr/>
          </p:nvSpPr>
          <p:spPr>
            <a:xfrm>
              <a:off x="10017259" y="2897520"/>
              <a:ext cx="217722" cy="229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1200" dirty="0"/>
                <a:t>2</a:t>
              </a:r>
            </a:p>
          </p:txBody>
        </p:sp>
        <p:sp>
          <p:nvSpPr>
            <p:cNvPr id="112" name="TextBox 138">
              <a:extLst>
                <a:ext uri="{FF2B5EF4-FFF2-40B4-BE49-F238E27FC236}">
                  <a16:creationId xmlns:a16="http://schemas.microsoft.com/office/drawing/2014/main" id="{36C3BFEA-DB93-ED09-FF78-6FF1A00A2706}"/>
                </a:ext>
              </a:extLst>
            </p:cNvPr>
            <p:cNvSpPr txBox="1"/>
            <p:nvPr/>
          </p:nvSpPr>
          <p:spPr>
            <a:xfrm>
              <a:off x="10406102" y="2773952"/>
              <a:ext cx="2011734" cy="33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JP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JP" sz="2000" dirty="0">
                  <a:cs typeface="Times New Roman" panose="02020603050405020304" pitchFamily="18" charset="0"/>
                </a:rPr>
                <a:t>“1”</a:t>
              </a:r>
              <a:r>
                <a:rPr lang="en-US" sz="2000" dirty="0"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(Always-on state)</a:t>
              </a:r>
              <a:endParaRPr lang="en-JP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85EB92A-3F4E-10ED-02D7-889C035F0B20}"/>
                </a:ext>
              </a:extLst>
            </p:cNvPr>
            <p:cNvCxnSpPr>
              <a:stCxn id="98" idx="3"/>
              <a:endCxn id="105" idx="2"/>
            </p:cNvCxnSpPr>
            <p:nvPr/>
          </p:nvCxnSpPr>
          <p:spPr>
            <a:xfrm>
              <a:off x="8368876" y="3901667"/>
              <a:ext cx="639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115E09A-5B10-1621-AAB3-7D0F365A8166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H="1" flipV="1">
              <a:off x="9274811" y="3185527"/>
              <a:ext cx="2" cy="45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1D072D4-E606-47A2-4FA7-350A58AAFA9E}"/>
                  </a:ext>
                </a:extLst>
              </p:cNvPr>
              <p:cNvSpPr txBox="1"/>
              <p:nvPr/>
            </p:nvSpPr>
            <p:spPr>
              <a:xfrm>
                <a:off x="1735424" y="5422473"/>
                <a:ext cx="2251514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1D072D4-E606-47A2-4FA7-350A58AAF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424" y="5422473"/>
                <a:ext cx="2251514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273D8C-6C78-4EEC-D626-7C4B18786C31}"/>
                  </a:ext>
                </a:extLst>
              </p:cNvPr>
              <p:cNvSpPr txBox="1"/>
              <p:nvPr/>
            </p:nvSpPr>
            <p:spPr>
              <a:xfrm>
                <a:off x="3187534" y="5412754"/>
                <a:ext cx="4335167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nary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273D8C-6C78-4EEC-D626-7C4B18786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534" y="5412754"/>
                <a:ext cx="4335167" cy="756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Oval 150">
            <a:extLst>
              <a:ext uri="{FF2B5EF4-FFF2-40B4-BE49-F238E27FC236}">
                <a16:creationId xmlns:a16="http://schemas.microsoft.com/office/drawing/2014/main" id="{B811ABD6-0EC7-C8FF-682A-709F17B96AC6}"/>
              </a:ext>
            </a:extLst>
          </p:cNvPr>
          <p:cNvSpPr/>
          <p:nvPr/>
        </p:nvSpPr>
        <p:spPr>
          <a:xfrm>
            <a:off x="6086946" y="5604577"/>
            <a:ext cx="542068" cy="431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8487C01-0BB3-BAFA-FD65-94EE1AEB04B2}"/>
              </a:ext>
            </a:extLst>
          </p:cNvPr>
          <p:cNvSpPr/>
          <p:nvPr/>
        </p:nvSpPr>
        <p:spPr>
          <a:xfrm>
            <a:off x="5125321" y="5604577"/>
            <a:ext cx="589293" cy="431050"/>
          </a:xfrm>
          <a:prstGeom prst="ellipse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4D89168-A06E-D739-6B47-309E7CB15558}"/>
              </a:ext>
            </a:extLst>
          </p:cNvPr>
          <p:cNvSpPr txBox="1"/>
          <p:nvPr/>
        </p:nvSpPr>
        <p:spPr>
          <a:xfrm>
            <a:off x="4766018" y="5072729"/>
            <a:ext cx="1333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weight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CC47C97-661F-89A9-7DCE-26F462D3BF22}"/>
              </a:ext>
            </a:extLst>
          </p:cNvPr>
          <p:cNvSpPr txBox="1"/>
          <p:nvPr/>
        </p:nvSpPr>
        <p:spPr>
          <a:xfrm>
            <a:off x="5323433" y="6188037"/>
            <a:ext cx="1385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weight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82A7E6F-41D1-27E0-0A26-3051B146B600}"/>
              </a:ext>
            </a:extLst>
          </p:cNvPr>
          <p:cNvCxnSpPr>
            <a:cxnSpLocks/>
            <a:endCxn id="151" idx="4"/>
          </p:cNvCxnSpPr>
          <p:nvPr/>
        </p:nvCxnSpPr>
        <p:spPr>
          <a:xfrm flipV="1">
            <a:off x="6357980" y="6035627"/>
            <a:ext cx="0" cy="1524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B1F67E7-7719-9596-D2D6-2E714B54F293}"/>
              </a:ext>
            </a:extLst>
          </p:cNvPr>
          <p:cNvCxnSpPr>
            <a:cxnSpLocks/>
            <a:stCxn id="153" idx="2"/>
            <a:endCxn id="152" idx="0"/>
          </p:cNvCxnSpPr>
          <p:nvPr/>
        </p:nvCxnSpPr>
        <p:spPr>
          <a:xfrm flipH="1">
            <a:off x="5419968" y="5380506"/>
            <a:ext cx="13028" cy="22407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5C65A5-39FD-9F48-103B-61BFA659ADDF}"/>
              </a:ext>
            </a:extLst>
          </p:cNvPr>
          <p:cNvCxnSpPr>
            <a:cxnSpLocks/>
            <a:endCxn id="71" idx="7"/>
          </p:cNvCxnSpPr>
          <p:nvPr/>
        </p:nvCxnSpPr>
        <p:spPr>
          <a:xfrm flipH="1">
            <a:off x="4229170" y="1890769"/>
            <a:ext cx="2208719" cy="77390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229615-8E08-C11C-E55F-31B714B7BC51}"/>
              </a:ext>
            </a:extLst>
          </p:cNvPr>
          <p:cNvSpPr txBox="1"/>
          <p:nvPr/>
        </p:nvSpPr>
        <p:spPr>
          <a:xfrm>
            <a:off x="5714614" y="1408363"/>
            <a:ext cx="2895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Reuse of LIF neuron</a:t>
            </a:r>
          </a:p>
        </p:txBody>
      </p:sp>
    </p:spTree>
    <p:extLst>
      <p:ext uri="{BB962C8B-B14F-4D97-AF65-F5344CB8AC3E}">
        <p14:creationId xmlns:p14="http://schemas.microsoft.com/office/powerpoint/2010/main" val="387668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3B22-8D52-1F25-17E8-ECB22AF9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A106-3895-EBFC-5380-1F515040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ECA0A-60D2-51E2-C80D-264326EA8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Overview of hardware implementation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C75C-BBF1-E14C-B7EC-7505EFA4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D2DA5-D764-D673-2D0B-582D89D5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608FFB-0001-5718-AFB3-7DEB767EBE80}"/>
              </a:ext>
            </a:extLst>
          </p:cNvPr>
          <p:cNvGrpSpPr/>
          <p:nvPr/>
        </p:nvGrpSpPr>
        <p:grpSpPr>
          <a:xfrm>
            <a:off x="622487" y="1248256"/>
            <a:ext cx="3553704" cy="3120086"/>
            <a:chOff x="3661923" y="3517472"/>
            <a:chExt cx="3553704" cy="312008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52CF632-E176-1144-3731-1423F977E428}"/>
                </a:ext>
              </a:extLst>
            </p:cNvPr>
            <p:cNvSpPr/>
            <p:nvPr/>
          </p:nvSpPr>
          <p:spPr>
            <a:xfrm>
              <a:off x="3673365" y="3517472"/>
              <a:ext cx="3542262" cy="3120086"/>
            </a:xfrm>
            <a:prstGeom prst="roundRect">
              <a:avLst>
                <a:gd name="adj" fmla="val 3235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Google Shape;358;p1">
              <a:extLst>
                <a:ext uri="{FF2B5EF4-FFF2-40B4-BE49-F238E27FC236}">
                  <a16:creationId xmlns:a16="http://schemas.microsoft.com/office/drawing/2014/main" id="{5282685C-D3FA-264C-90DC-CCD6AA0D5B2C}"/>
                </a:ext>
              </a:extLst>
            </p:cNvPr>
            <p:cNvCxnSpPr>
              <a:cxnSpLocks/>
            </p:cNvCxnSpPr>
            <p:nvPr/>
          </p:nvCxnSpPr>
          <p:spPr>
            <a:xfrm>
              <a:off x="3754877" y="6363394"/>
              <a:ext cx="214461" cy="20035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434;p1">
              <a:extLst>
                <a:ext uri="{FF2B5EF4-FFF2-40B4-BE49-F238E27FC236}">
                  <a16:creationId xmlns:a16="http://schemas.microsoft.com/office/drawing/2014/main" id="{0E9729C9-C32B-8CBB-95C1-397F7AEED8CD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V="1">
              <a:off x="7018699" y="3563976"/>
              <a:ext cx="0" cy="302798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434;p1">
              <a:extLst>
                <a:ext uri="{FF2B5EF4-FFF2-40B4-BE49-F238E27FC236}">
                  <a16:creationId xmlns:a16="http://schemas.microsoft.com/office/drawing/2014/main" id="{EE0CF724-0D21-F01F-390F-A7DA050EE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3268" y="6534878"/>
              <a:ext cx="34399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" name="Google Shape;481;p1">
              <a:extLst>
                <a:ext uri="{FF2B5EF4-FFF2-40B4-BE49-F238E27FC236}">
                  <a16:creationId xmlns:a16="http://schemas.microsoft.com/office/drawing/2014/main" id="{2F679DDB-80CB-35AA-EBA9-9F80C0FF5BBA}"/>
                </a:ext>
              </a:extLst>
            </p:cNvPr>
            <p:cNvSpPr/>
            <p:nvPr/>
          </p:nvSpPr>
          <p:spPr>
            <a:xfrm>
              <a:off x="4117715" y="3970980"/>
              <a:ext cx="2843129" cy="25080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" name="Google Shape;358;p1">
              <a:extLst>
                <a:ext uri="{FF2B5EF4-FFF2-40B4-BE49-F238E27FC236}">
                  <a16:creationId xmlns:a16="http://schemas.microsoft.com/office/drawing/2014/main" id="{F427523E-A551-D07B-EE3C-A4279F211292}"/>
                </a:ext>
              </a:extLst>
            </p:cNvPr>
            <p:cNvCxnSpPr>
              <a:cxnSpLocks/>
            </p:cNvCxnSpPr>
            <p:nvPr/>
          </p:nvCxnSpPr>
          <p:spPr>
            <a:xfrm>
              <a:off x="6798980" y="6332354"/>
              <a:ext cx="214461" cy="20035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5D94C1-FA6C-305A-CC74-51A3AF8DFE65}"/>
                </a:ext>
              </a:extLst>
            </p:cNvPr>
            <p:cNvSpPr/>
            <p:nvPr/>
          </p:nvSpPr>
          <p:spPr>
            <a:xfrm>
              <a:off x="6960844" y="6475627"/>
              <a:ext cx="115710" cy="116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Google Shape;434;p1">
              <a:extLst>
                <a:ext uri="{FF2B5EF4-FFF2-40B4-BE49-F238E27FC236}">
                  <a16:creationId xmlns:a16="http://schemas.microsoft.com/office/drawing/2014/main" id="{E77C9354-CFE2-A5EC-80FE-96101EAE2C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33634" y="3828037"/>
              <a:ext cx="3469600" cy="135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924CF46-E6EC-CCED-F089-0CC850A2A8D4}"/>
                </a:ext>
              </a:extLst>
            </p:cNvPr>
            <p:cNvCxnSpPr/>
            <p:nvPr/>
          </p:nvCxnSpPr>
          <p:spPr>
            <a:xfrm>
              <a:off x="4124923" y="3721278"/>
              <a:ext cx="2798233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2B7B8F6-AF6D-A1EB-E4FC-9E30244E49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511" y="3587626"/>
              <a:ext cx="0" cy="13524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8CD801-406E-6DB8-6C7F-5F003D51E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3156" y="3563976"/>
              <a:ext cx="0" cy="15889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oogle Shape;358;p1">
              <a:extLst>
                <a:ext uri="{FF2B5EF4-FFF2-40B4-BE49-F238E27FC236}">
                  <a16:creationId xmlns:a16="http://schemas.microsoft.com/office/drawing/2014/main" id="{A7E12CDA-13F6-11A8-B24D-991BE71AAA32}"/>
                </a:ext>
              </a:extLst>
            </p:cNvPr>
            <p:cNvCxnSpPr>
              <a:cxnSpLocks/>
            </p:cNvCxnSpPr>
            <p:nvPr/>
          </p:nvCxnSpPr>
          <p:spPr>
            <a:xfrm>
              <a:off x="6808825" y="3627683"/>
              <a:ext cx="214461" cy="20035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AF529E-747B-D8F6-0B85-562A1B2D833C}"/>
                </a:ext>
              </a:extLst>
            </p:cNvPr>
            <p:cNvSpPr/>
            <p:nvPr/>
          </p:nvSpPr>
          <p:spPr>
            <a:xfrm>
              <a:off x="6960844" y="3772975"/>
              <a:ext cx="115710" cy="116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AE0D8EB-BC61-D89B-F312-23A4024DA9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7606" y="3970980"/>
              <a:ext cx="3140" cy="250398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9ADC4EB-6014-19F5-C604-2D04BC95A38E}"/>
                </a:ext>
              </a:extLst>
            </p:cNvPr>
            <p:cNvCxnSpPr>
              <a:cxnSpLocks/>
            </p:cNvCxnSpPr>
            <p:nvPr/>
          </p:nvCxnSpPr>
          <p:spPr>
            <a:xfrm>
              <a:off x="3665063" y="3970980"/>
              <a:ext cx="215683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Google Shape;434;p1">
              <a:extLst>
                <a:ext uri="{FF2B5EF4-FFF2-40B4-BE49-F238E27FC236}">
                  <a16:creationId xmlns:a16="http://schemas.microsoft.com/office/drawing/2014/main" id="{CDF01B5E-1785-7ED1-D6C2-539DBD7F6C0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V="1">
              <a:off x="3965104" y="3587626"/>
              <a:ext cx="0" cy="30043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F519A3A-CE7F-99F3-FE7E-35A7B8C6A052}"/>
                </a:ext>
              </a:extLst>
            </p:cNvPr>
            <p:cNvSpPr/>
            <p:nvPr/>
          </p:nvSpPr>
          <p:spPr>
            <a:xfrm>
              <a:off x="3907249" y="6475627"/>
              <a:ext cx="115710" cy="116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720EE1-8A4A-937B-A606-B78C854A8865}"/>
                </a:ext>
              </a:extLst>
            </p:cNvPr>
            <p:cNvCxnSpPr>
              <a:cxnSpLocks/>
            </p:cNvCxnSpPr>
            <p:nvPr/>
          </p:nvCxnSpPr>
          <p:spPr>
            <a:xfrm>
              <a:off x="3661923" y="6474968"/>
              <a:ext cx="215683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3D742B-96CD-6FAD-C7AD-1363FA5F4108}"/>
                </a:ext>
              </a:extLst>
            </p:cNvPr>
            <p:cNvSpPr txBox="1"/>
            <p:nvPr/>
          </p:nvSpPr>
          <p:spPr>
            <a:xfrm>
              <a:off x="4658010" y="3969063"/>
              <a:ext cx="17395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i="1" dirty="0"/>
                <a:t>Neuron Computing Core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108CE26-FDBF-0530-9E2D-CC732FDDE47A}"/>
                </a:ext>
              </a:extLst>
            </p:cNvPr>
            <p:cNvSpPr/>
            <p:nvPr/>
          </p:nvSpPr>
          <p:spPr>
            <a:xfrm>
              <a:off x="3907249" y="3772975"/>
              <a:ext cx="115710" cy="116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2920F9A-5C7C-D458-0ACB-7C963A94E7B0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flipV="1">
              <a:off x="5953793" y="5517708"/>
              <a:ext cx="1361" cy="252503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Google Shape;484;p1">
              <a:extLst>
                <a:ext uri="{FF2B5EF4-FFF2-40B4-BE49-F238E27FC236}">
                  <a16:creationId xmlns:a16="http://schemas.microsoft.com/office/drawing/2014/main" id="{5D3E94BA-C93B-AC67-6CC5-B5A24D71FB3E}"/>
                </a:ext>
              </a:extLst>
            </p:cNvPr>
            <p:cNvSpPr/>
            <p:nvPr/>
          </p:nvSpPr>
          <p:spPr>
            <a:xfrm rot="5400000">
              <a:off x="6464609" y="4356057"/>
              <a:ext cx="478733" cy="29520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5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TSV</a:t>
              </a: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965C8E4-85D1-606F-B43A-608A83CF2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6187" y="4394463"/>
              <a:ext cx="300188" cy="155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AB5E9A90-F988-6863-70C0-665FFAAEFD99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rot="16200000" flipV="1">
              <a:off x="5703721" y="5057682"/>
              <a:ext cx="1292374" cy="18744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Google Shape;484;p1">
              <a:extLst>
                <a:ext uri="{FF2B5EF4-FFF2-40B4-BE49-F238E27FC236}">
                  <a16:creationId xmlns:a16="http://schemas.microsoft.com/office/drawing/2014/main" id="{AAD2C488-5C77-5A4E-E5A1-7EC82CA4E359}"/>
                </a:ext>
              </a:extLst>
            </p:cNvPr>
            <p:cNvSpPr/>
            <p:nvPr/>
          </p:nvSpPr>
          <p:spPr>
            <a:xfrm>
              <a:off x="4199028" y="5492381"/>
              <a:ext cx="906042" cy="61631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84;p1">
              <a:extLst>
                <a:ext uri="{FF2B5EF4-FFF2-40B4-BE49-F238E27FC236}">
                  <a16:creationId xmlns:a16="http://schemas.microsoft.com/office/drawing/2014/main" id="{632F7032-F3E6-B1DD-405F-555B863D9A94}"/>
                </a:ext>
              </a:extLst>
            </p:cNvPr>
            <p:cNvSpPr/>
            <p:nvPr/>
          </p:nvSpPr>
          <p:spPr>
            <a:xfrm>
              <a:off x="4243378" y="5563118"/>
              <a:ext cx="906042" cy="61631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484;p1">
              <a:extLst>
                <a:ext uri="{FF2B5EF4-FFF2-40B4-BE49-F238E27FC236}">
                  <a16:creationId xmlns:a16="http://schemas.microsoft.com/office/drawing/2014/main" id="{196812F2-51A5-00BD-E832-99992E69BFEB}"/>
                </a:ext>
              </a:extLst>
            </p:cNvPr>
            <p:cNvSpPr/>
            <p:nvPr/>
          </p:nvSpPr>
          <p:spPr>
            <a:xfrm>
              <a:off x="4287811" y="5647332"/>
              <a:ext cx="906042" cy="61631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484;p1">
              <a:extLst>
                <a:ext uri="{FF2B5EF4-FFF2-40B4-BE49-F238E27FC236}">
                  <a16:creationId xmlns:a16="http://schemas.microsoft.com/office/drawing/2014/main" id="{0F637AFD-FDFD-9B76-C825-6B71A4E1405B}"/>
                </a:ext>
              </a:extLst>
            </p:cNvPr>
            <p:cNvSpPr/>
            <p:nvPr/>
          </p:nvSpPr>
          <p:spPr>
            <a:xfrm>
              <a:off x="4346765" y="5770114"/>
              <a:ext cx="906042" cy="61631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50" b="0" i="0" u="none" strike="noStrike" cap="none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LIF Array</a:t>
              </a: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DD578BF-8928-5235-AFC7-81F550422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7094" y="4475482"/>
              <a:ext cx="394231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Google Shape;484;p1">
              <a:extLst>
                <a:ext uri="{FF2B5EF4-FFF2-40B4-BE49-F238E27FC236}">
                  <a16:creationId xmlns:a16="http://schemas.microsoft.com/office/drawing/2014/main" id="{DD86F59E-2360-82C3-99DC-3C7AD71AA653}"/>
                </a:ext>
              </a:extLst>
            </p:cNvPr>
            <p:cNvSpPr/>
            <p:nvPr/>
          </p:nvSpPr>
          <p:spPr>
            <a:xfrm>
              <a:off x="5441222" y="4265848"/>
              <a:ext cx="814965" cy="4787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Memory Interface</a:t>
              </a:r>
              <a:endParaRPr lang="en-US" sz="10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5AD0DFAA-6A97-96A6-798C-ECC062262434}"/>
                </a:ext>
              </a:extLst>
            </p:cNvPr>
            <p:cNvSpPr/>
            <p:nvPr/>
          </p:nvSpPr>
          <p:spPr>
            <a:xfrm rot="5400000">
              <a:off x="4988262" y="5160637"/>
              <a:ext cx="580211" cy="177637"/>
            </a:xfrm>
            <a:prstGeom prst="trapezoid">
              <a:avLst>
                <a:gd name="adj" fmla="val 63462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2F4F3C1-C5C7-35E6-42CC-6782CBBB80A3}"/>
                </a:ext>
              </a:extLst>
            </p:cNvPr>
            <p:cNvCxnSpPr>
              <a:cxnSpLocks/>
              <a:stCxn id="40" idx="1"/>
              <a:endCxn id="38" idx="0"/>
            </p:cNvCxnSpPr>
            <p:nvPr/>
          </p:nvCxnSpPr>
          <p:spPr>
            <a:xfrm flipH="1" flipV="1">
              <a:off x="5367186" y="5249456"/>
              <a:ext cx="196095" cy="13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Google Shape;484;p1">
              <a:extLst>
                <a:ext uri="{FF2B5EF4-FFF2-40B4-BE49-F238E27FC236}">
                  <a16:creationId xmlns:a16="http://schemas.microsoft.com/office/drawing/2014/main" id="{717211D0-4BBB-7043-3D0B-56CE3D1A3D04}"/>
                </a:ext>
              </a:extLst>
            </p:cNvPr>
            <p:cNvSpPr/>
            <p:nvPr/>
          </p:nvSpPr>
          <p:spPr>
            <a:xfrm>
              <a:off x="5563281" y="4983951"/>
              <a:ext cx="783745" cy="53375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00" b="1" dirty="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VSW Controller</a:t>
              </a:r>
              <a:endParaRPr sz="1000" b="1" i="0" u="none" strike="noStrike" cap="none" dirty="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C47BB04-69C0-BDEA-6A4C-0A33D7511127}"/>
                </a:ext>
              </a:extLst>
            </p:cNvPr>
            <p:cNvCxnSpPr>
              <a:cxnSpLocks/>
              <a:stCxn id="35" idx="3"/>
              <a:endCxn id="52" idx="1"/>
            </p:cNvCxnSpPr>
            <p:nvPr/>
          </p:nvCxnSpPr>
          <p:spPr>
            <a:xfrm>
              <a:off x="5252807" y="6078274"/>
              <a:ext cx="194120" cy="97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23A609EC-EB33-085E-CF90-B42E443FA64F}"/>
                </a:ext>
              </a:extLst>
            </p:cNvPr>
            <p:cNvCxnSpPr>
              <a:cxnSpLocks/>
              <a:stCxn id="40" idx="1"/>
              <a:endCxn id="38" idx="1"/>
            </p:cNvCxnSpPr>
            <p:nvPr/>
          </p:nvCxnSpPr>
          <p:spPr>
            <a:xfrm rot="10800000">
              <a:off x="5278367" y="5015716"/>
              <a:ext cx="284914" cy="235114"/>
            </a:xfrm>
            <a:prstGeom prst="bentConnector4">
              <a:avLst>
                <a:gd name="adj1" fmla="val 23523"/>
                <a:gd name="adj2" fmla="val 15942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8C0A75D-1C57-0065-9AAF-353CD637CEDC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4799786" y="4726383"/>
              <a:ext cx="0" cy="1043731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8F6FE06-84B0-44E8-C362-ECBEFD3276E8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652049" y="4628616"/>
              <a:ext cx="0" cy="863765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43BF986-21DA-AEE0-D119-D1EACCDB171D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 flipH="1">
              <a:off x="4696399" y="4673600"/>
              <a:ext cx="1999" cy="889518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066AABC-6773-F934-0984-499463E0B05C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 flipH="1">
              <a:off x="4740832" y="4701117"/>
              <a:ext cx="1357" cy="946215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Google Shape;484;p1">
              <a:extLst>
                <a:ext uri="{FF2B5EF4-FFF2-40B4-BE49-F238E27FC236}">
                  <a16:creationId xmlns:a16="http://schemas.microsoft.com/office/drawing/2014/main" id="{DC3DD95E-D39E-B08D-6AD5-47282AA35534}"/>
                </a:ext>
              </a:extLst>
            </p:cNvPr>
            <p:cNvSpPr/>
            <p:nvPr/>
          </p:nvSpPr>
          <p:spPr>
            <a:xfrm>
              <a:off x="4312675" y="4266158"/>
              <a:ext cx="807151" cy="58932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US"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US" sz="105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US" sz="105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4768D97-E7A6-4439-B2F3-86359F53E8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367" y="5035550"/>
              <a:ext cx="3907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A460F73-B42C-E3A4-DA10-D4A09E82F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5567" y="5144859"/>
              <a:ext cx="4415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AE30DEB-AB03-8ABF-6056-95BC65CED3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8398" y="5263392"/>
              <a:ext cx="49691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D045587-F965-69EE-2D94-519BB129B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3801" y="5367077"/>
              <a:ext cx="5349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Google Shape;484;p1">
              <a:extLst>
                <a:ext uri="{FF2B5EF4-FFF2-40B4-BE49-F238E27FC236}">
                  <a16:creationId xmlns:a16="http://schemas.microsoft.com/office/drawing/2014/main" id="{EB37F2E8-0728-22EE-5672-21BF1E751B2B}"/>
                </a:ext>
              </a:extLst>
            </p:cNvPr>
            <p:cNvSpPr/>
            <p:nvPr/>
          </p:nvSpPr>
          <p:spPr>
            <a:xfrm>
              <a:off x="5446927" y="5770211"/>
              <a:ext cx="1404650" cy="61631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5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Network Interface</a:t>
              </a: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Multiplication Sign 52">
              <a:extLst>
                <a:ext uri="{FF2B5EF4-FFF2-40B4-BE49-F238E27FC236}">
                  <a16:creationId xmlns:a16="http://schemas.microsoft.com/office/drawing/2014/main" id="{F6A52454-0A5F-ADE2-1491-8D22700B2FA7}"/>
                </a:ext>
              </a:extLst>
            </p:cNvPr>
            <p:cNvSpPr/>
            <p:nvPr/>
          </p:nvSpPr>
          <p:spPr>
            <a:xfrm>
              <a:off x="4483777" y="4362646"/>
              <a:ext cx="487680" cy="558800"/>
            </a:xfrm>
            <a:prstGeom prst="mathMultiply">
              <a:avLst>
                <a:gd name="adj1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A84FC44-22B4-8DE1-291D-C5493A876DF8}"/>
                </a:ext>
              </a:extLst>
            </p:cNvPr>
            <p:cNvCxnSpPr>
              <a:cxnSpLocks/>
            </p:cNvCxnSpPr>
            <p:nvPr/>
          </p:nvCxnSpPr>
          <p:spPr>
            <a:xfrm>
              <a:off x="4564433" y="4494130"/>
              <a:ext cx="402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BEAA3E5-5EE6-EB60-61A3-7AC0A1DC0E42}"/>
                </a:ext>
              </a:extLst>
            </p:cNvPr>
            <p:cNvCxnSpPr>
              <a:cxnSpLocks/>
            </p:cNvCxnSpPr>
            <p:nvPr/>
          </p:nvCxnSpPr>
          <p:spPr>
            <a:xfrm>
              <a:off x="4560199" y="4789404"/>
              <a:ext cx="402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88E694E-BAD8-E4FA-3FC8-5F9E32FD526B}"/>
                </a:ext>
              </a:extLst>
            </p:cNvPr>
            <p:cNvCxnSpPr>
              <a:cxnSpLocks/>
            </p:cNvCxnSpPr>
            <p:nvPr/>
          </p:nvCxnSpPr>
          <p:spPr>
            <a:xfrm>
              <a:off x="4853358" y="4494130"/>
              <a:ext cx="402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40B5B30-64A9-42F0-1765-8BF590056EFC}"/>
                </a:ext>
              </a:extLst>
            </p:cNvPr>
            <p:cNvCxnSpPr>
              <a:cxnSpLocks/>
            </p:cNvCxnSpPr>
            <p:nvPr/>
          </p:nvCxnSpPr>
          <p:spPr>
            <a:xfrm>
              <a:off x="4854946" y="4789405"/>
              <a:ext cx="402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5B14A9A-EC5E-C824-4925-B398F9B37ED1}"/>
                </a:ext>
              </a:extLst>
            </p:cNvPr>
            <p:cNvSpPr txBox="1"/>
            <p:nvPr/>
          </p:nvSpPr>
          <p:spPr>
            <a:xfrm>
              <a:off x="4194765" y="4257437"/>
              <a:ext cx="1047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Crossbar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2DBCE38-953B-B8C9-EC1E-5DFE967E7A61}"/>
                </a:ext>
              </a:extLst>
            </p:cNvPr>
            <p:cNvSpPr txBox="1"/>
            <p:nvPr/>
          </p:nvSpPr>
          <p:spPr>
            <a:xfrm rot="3351162">
              <a:off x="4142689" y="6165030"/>
              <a:ext cx="300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</a:t>
              </a:r>
            </a:p>
          </p:txBody>
        </p:sp>
        <p:sp>
          <p:nvSpPr>
            <p:cNvPr id="31" name="Google Shape;484;p1">
              <a:extLst>
                <a:ext uri="{FF2B5EF4-FFF2-40B4-BE49-F238E27FC236}">
                  <a16:creationId xmlns:a16="http://schemas.microsoft.com/office/drawing/2014/main" id="{E08C3061-8BBA-9CC7-B823-0C2F86AC265A}"/>
                </a:ext>
              </a:extLst>
            </p:cNvPr>
            <p:cNvSpPr/>
            <p:nvPr/>
          </p:nvSpPr>
          <p:spPr>
            <a:xfrm rot="5400000">
              <a:off x="6300595" y="5111714"/>
              <a:ext cx="814862" cy="29520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50" b="0" i="0" u="none" strike="noStrike" cap="none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Controller</a:t>
              </a:r>
              <a:endParaRPr sz="105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Arrow: Left-Right 61">
            <a:extLst>
              <a:ext uri="{FF2B5EF4-FFF2-40B4-BE49-F238E27FC236}">
                <a16:creationId xmlns:a16="http://schemas.microsoft.com/office/drawing/2014/main" id="{28E4792A-533B-A5DB-FCAF-6E9D4BFC5669}"/>
              </a:ext>
            </a:extLst>
          </p:cNvPr>
          <p:cNvSpPr/>
          <p:nvPr/>
        </p:nvSpPr>
        <p:spPr>
          <a:xfrm>
            <a:off x="3847953" y="2106312"/>
            <a:ext cx="527811" cy="26379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C257C-4992-3EFB-8712-E10F9107750C}"/>
              </a:ext>
            </a:extLst>
          </p:cNvPr>
          <p:cNvSpPr/>
          <p:nvPr/>
        </p:nvSpPr>
        <p:spPr>
          <a:xfrm>
            <a:off x="4576131" y="1228676"/>
            <a:ext cx="2115790" cy="1253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0E8B57-EFF3-871D-1E81-93B729F8AFDD}"/>
              </a:ext>
            </a:extLst>
          </p:cNvPr>
          <p:cNvSpPr/>
          <p:nvPr/>
        </p:nvSpPr>
        <p:spPr>
          <a:xfrm>
            <a:off x="4519760" y="1281277"/>
            <a:ext cx="2084694" cy="1277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BC5DE2-1338-35F2-9A9C-26E3BEDD06CA}"/>
              </a:ext>
            </a:extLst>
          </p:cNvPr>
          <p:cNvSpPr/>
          <p:nvPr/>
        </p:nvSpPr>
        <p:spPr>
          <a:xfrm>
            <a:off x="4451279" y="1346540"/>
            <a:ext cx="2032587" cy="1277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2DE21B1-1033-C5E8-B5E0-3D0DFA676322}"/>
              </a:ext>
            </a:extLst>
          </p:cNvPr>
          <p:cNvSpPr/>
          <p:nvPr/>
        </p:nvSpPr>
        <p:spPr>
          <a:xfrm>
            <a:off x="4394814" y="1424156"/>
            <a:ext cx="1972779" cy="1277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DRAM Dies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06A887-7FC3-A8E8-2E0F-D60009F43758}"/>
              </a:ext>
            </a:extLst>
          </p:cNvPr>
          <p:cNvGrpSpPr/>
          <p:nvPr/>
        </p:nvGrpSpPr>
        <p:grpSpPr>
          <a:xfrm>
            <a:off x="5323490" y="2962862"/>
            <a:ext cx="3363310" cy="3410218"/>
            <a:chOff x="7574135" y="3350940"/>
            <a:chExt cx="3363310" cy="3410218"/>
          </a:xfrm>
          <a:noFill/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C35D3BC-7EAF-F1A4-BC38-9791D6CAC19C}"/>
                </a:ext>
              </a:extLst>
            </p:cNvPr>
            <p:cNvSpPr/>
            <p:nvPr/>
          </p:nvSpPr>
          <p:spPr>
            <a:xfrm>
              <a:off x="7574135" y="3351685"/>
              <a:ext cx="3363310" cy="3409473"/>
            </a:xfrm>
            <a:prstGeom prst="roundRect">
              <a:avLst>
                <a:gd name="adj" fmla="val 3235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Google Shape;481;p1">
              <a:extLst>
                <a:ext uri="{FF2B5EF4-FFF2-40B4-BE49-F238E27FC236}">
                  <a16:creationId xmlns:a16="http://schemas.microsoft.com/office/drawing/2014/main" id="{93AE1E11-A9B8-6940-95C5-3A60AABC30E1}"/>
                </a:ext>
              </a:extLst>
            </p:cNvPr>
            <p:cNvSpPr/>
            <p:nvPr/>
          </p:nvSpPr>
          <p:spPr>
            <a:xfrm>
              <a:off x="7845347" y="3597054"/>
              <a:ext cx="2973192" cy="2966693"/>
            </a:xfrm>
            <a:prstGeom prst="rect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538D412-9214-0C52-6312-E0DE325401FA}"/>
                </a:ext>
              </a:extLst>
            </p:cNvPr>
            <p:cNvSpPr/>
            <p:nvPr/>
          </p:nvSpPr>
          <p:spPr>
            <a:xfrm>
              <a:off x="8195535" y="3720626"/>
              <a:ext cx="2167469" cy="26595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Spike Decoder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7BF3CFC-3C2B-BBF2-7C63-69FE11364A80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9279270" y="3457932"/>
              <a:ext cx="0" cy="262694"/>
            </a:xfrm>
            <a:prstGeom prst="straightConnector1">
              <a:avLst/>
            </a:prstGeom>
            <a:grpFill/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2535588-E993-C3BC-9943-40619865A573}"/>
                </a:ext>
              </a:extLst>
            </p:cNvPr>
            <p:cNvSpPr txBox="1"/>
            <p:nvPr/>
          </p:nvSpPr>
          <p:spPr>
            <a:xfrm>
              <a:off x="9309260" y="3350940"/>
              <a:ext cx="1159292" cy="2616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To Neuron Array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354EE5B-0D5F-69F9-7D70-627DA52A3DF8}"/>
                </a:ext>
              </a:extLst>
            </p:cNvPr>
            <p:cNvSpPr/>
            <p:nvPr/>
          </p:nvSpPr>
          <p:spPr>
            <a:xfrm>
              <a:off x="9268921" y="4266564"/>
              <a:ext cx="861443" cy="1300820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LUT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0F635FD-DE94-1E6D-FB16-7A062C65DE64}"/>
                </a:ext>
              </a:extLst>
            </p:cNvPr>
            <p:cNvSpPr/>
            <p:nvPr/>
          </p:nvSpPr>
          <p:spPr>
            <a:xfrm>
              <a:off x="8198946" y="4227571"/>
              <a:ext cx="801674" cy="1809842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8EE06B2-1B7B-3E2B-6C27-4EE653D43766}"/>
                </a:ext>
              </a:extLst>
            </p:cNvPr>
            <p:cNvSpPr txBox="1"/>
            <p:nvPr/>
          </p:nvSpPr>
          <p:spPr>
            <a:xfrm>
              <a:off x="8195535" y="4017264"/>
              <a:ext cx="829073" cy="2539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Index Array</a:t>
              </a:r>
            </a:p>
          </p:txBody>
        </p:sp>
        <p:sp>
          <p:nvSpPr>
            <p:cNvPr id="76" name="Google Shape;494;p1">
              <a:extLst>
                <a:ext uri="{FF2B5EF4-FFF2-40B4-BE49-F238E27FC236}">
                  <a16:creationId xmlns:a16="http://schemas.microsoft.com/office/drawing/2014/main" id="{E6CA2338-EEEF-C8E9-FDA2-A7ECE9BFAAB0}"/>
                </a:ext>
              </a:extLst>
            </p:cNvPr>
            <p:cNvSpPr/>
            <p:nvPr/>
          </p:nvSpPr>
          <p:spPr>
            <a:xfrm>
              <a:off x="8248704" y="4285954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#1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494;p1">
              <a:extLst>
                <a:ext uri="{FF2B5EF4-FFF2-40B4-BE49-F238E27FC236}">
                  <a16:creationId xmlns:a16="http://schemas.microsoft.com/office/drawing/2014/main" id="{D568466D-E791-4949-A96C-CDD50717CAC6}"/>
                </a:ext>
              </a:extLst>
            </p:cNvPr>
            <p:cNvSpPr/>
            <p:nvPr/>
          </p:nvSpPr>
          <p:spPr>
            <a:xfrm>
              <a:off x="8248704" y="4530850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#2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885E0D4-093C-0ACB-8CF7-CC603B36E653}"/>
                </a:ext>
              </a:extLst>
            </p:cNvPr>
            <p:cNvSpPr txBox="1"/>
            <p:nvPr/>
          </p:nvSpPr>
          <p:spPr>
            <a:xfrm rot="5400000">
              <a:off x="8468301" y="4769275"/>
              <a:ext cx="38183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79" name="Google Shape;494;p1">
              <a:extLst>
                <a:ext uri="{FF2B5EF4-FFF2-40B4-BE49-F238E27FC236}">
                  <a16:creationId xmlns:a16="http://schemas.microsoft.com/office/drawing/2014/main" id="{659B5391-ADF1-EE8F-D126-D2F587C56E30}"/>
                </a:ext>
              </a:extLst>
            </p:cNvPr>
            <p:cNvSpPr/>
            <p:nvPr/>
          </p:nvSpPr>
          <p:spPr>
            <a:xfrm>
              <a:off x="8246340" y="5138241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#i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494;p1">
              <a:extLst>
                <a:ext uri="{FF2B5EF4-FFF2-40B4-BE49-F238E27FC236}">
                  <a16:creationId xmlns:a16="http://schemas.microsoft.com/office/drawing/2014/main" id="{5B6DF393-6BFA-7EE3-CD53-0ACB5345DC26}"/>
                </a:ext>
              </a:extLst>
            </p:cNvPr>
            <p:cNvSpPr/>
            <p:nvPr/>
          </p:nvSpPr>
          <p:spPr>
            <a:xfrm>
              <a:off x="8246340" y="5775565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#N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ABDDA80-B9CE-ABB0-459A-16E4BA34AFC9}"/>
                </a:ext>
              </a:extLst>
            </p:cNvPr>
            <p:cNvSpPr txBox="1"/>
            <p:nvPr/>
          </p:nvSpPr>
          <p:spPr>
            <a:xfrm rot="5400000">
              <a:off x="8468301" y="5373329"/>
              <a:ext cx="38183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53A645A4-55EF-D3D8-F935-A7CB2A9A9822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rot="5400000" flipH="1" flipV="1">
              <a:off x="6668457" y="5182566"/>
              <a:ext cx="2856039" cy="198118"/>
            </a:xfrm>
            <a:prstGeom prst="bentConnector2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A5F53AA-BA57-9476-C5CD-ECCBCE50C517}"/>
                </a:ext>
              </a:extLst>
            </p:cNvPr>
            <p:cNvSpPr/>
            <p:nvPr/>
          </p:nvSpPr>
          <p:spPr>
            <a:xfrm>
              <a:off x="9263383" y="5725066"/>
              <a:ext cx="1099621" cy="279981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VSW Interface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EC3B36E-1EF4-0D82-D4D3-9C5E84C2F809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>
              <a:off x="9000620" y="4916974"/>
              <a:ext cx="268301" cy="1757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Flowchart: Summing Junction 84">
              <a:extLst>
                <a:ext uri="{FF2B5EF4-FFF2-40B4-BE49-F238E27FC236}">
                  <a16:creationId xmlns:a16="http://schemas.microsoft.com/office/drawing/2014/main" id="{877EE3E2-DC78-19B6-01E7-A602B19DD450}"/>
                </a:ext>
              </a:extLst>
            </p:cNvPr>
            <p:cNvSpPr/>
            <p:nvPr/>
          </p:nvSpPr>
          <p:spPr>
            <a:xfrm>
              <a:off x="10363004" y="4758752"/>
              <a:ext cx="310693" cy="318763"/>
            </a:xfrm>
            <a:prstGeom prst="flowChartSummingJuncti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658BB84-B247-D7DF-EBB0-2FAA00216742}"/>
                </a:ext>
              </a:extLst>
            </p:cNvPr>
            <p:cNvCxnSpPr>
              <a:cxnSpLocks/>
              <a:stCxn id="85" idx="2"/>
              <a:endCxn id="73" idx="3"/>
            </p:cNvCxnSpPr>
            <p:nvPr/>
          </p:nvCxnSpPr>
          <p:spPr>
            <a:xfrm flipH="1" flipV="1">
              <a:off x="10130364" y="4916974"/>
              <a:ext cx="232640" cy="1160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0D34E43-C437-E596-3DD4-6557E73EF759}"/>
                </a:ext>
              </a:extLst>
            </p:cNvPr>
            <p:cNvCxnSpPr>
              <a:cxnSpLocks/>
              <a:stCxn id="85" idx="0"/>
            </p:cNvCxnSpPr>
            <p:nvPr/>
          </p:nvCxnSpPr>
          <p:spPr>
            <a:xfrm flipV="1">
              <a:off x="10518351" y="3457932"/>
              <a:ext cx="0" cy="1300820"/>
            </a:xfrm>
            <a:prstGeom prst="line">
              <a:avLst/>
            </a:pr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A8654A9-6FB6-3AFF-114B-FDD5296C4776}"/>
                </a:ext>
              </a:extLst>
            </p:cNvPr>
            <p:cNvSpPr txBox="1"/>
            <p:nvPr/>
          </p:nvSpPr>
          <p:spPr>
            <a:xfrm rot="16200000">
              <a:off x="7084865" y="4939015"/>
              <a:ext cx="1258421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VSW Controller</a:t>
              </a:r>
            </a:p>
          </p:txBody>
        </p: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142B9EBF-5040-EE79-3017-E63DF9ACE600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 flipV="1">
              <a:off x="7997417" y="6005047"/>
              <a:ext cx="1815777" cy="144441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C5F9CE2-5442-130C-CB37-90B80384F821}"/>
                </a:ext>
              </a:extLst>
            </p:cNvPr>
            <p:cNvSpPr/>
            <p:nvPr/>
          </p:nvSpPr>
          <p:spPr>
            <a:xfrm>
              <a:off x="8195535" y="6236096"/>
              <a:ext cx="2478161" cy="24290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Flow Controller</a:t>
              </a:r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01300011-85DD-6ABC-AD64-2665E79AA7EE}"/>
                </a:ext>
              </a:extLst>
            </p:cNvPr>
            <p:cNvCxnSpPr>
              <a:cxnSpLocks/>
              <a:stCxn id="83" idx="3"/>
              <a:endCxn id="85" idx="4"/>
            </p:cNvCxnSpPr>
            <p:nvPr/>
          </p:nvCxnSpPr>
          <p:spPr>
            <a:xfrm flipV="1">
              <a:off x="10363004" y="5077515"/>
              <a:ext cx="155347" cy="787542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B3EE61F-B639-7512-1D23-F325BAB1CBEC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9000620" y="5865057"/>
              <a:ext cx="262763" cy="0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4FBAF0-F42F-5270-E7CD-D02F029B1C3A}"/>
                </a:ext>
              </a:extLst>
            </p:cNvPr>
            <p:cNvCxnSpPr>
              <a:cxnSpLocks/>
              <a:endCxn id="83" idx="0"/>
            </p:cNvCxnSpPr>
            <p:nvPr/>
          </p:nvCxnSpPr>
          <p:spPr>
            <a:xfrm>
              <a:off x="9813194" y="5578498"/>
              <a:ext cx="0" cy="146568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8B212E90-B45D-DF16-D1CF-9FEE147A589B}"/>
              </a:ext>
            </a:extLst>
          </p:cNvPr>
          <p:cNvSpPr txBox="1"/>
          <p:nvPr/>
        </p:nvSpPr>
        <p:spPr>
          <a:xfrm>
            <a:off x="5726171" y="6139190"/>
            <a:ext cx="1620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From Network Interface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9126902-0054-F869-82DF-41655A2F837A}"/>
              </a:ext>
            </a:extLst>
          </p:cNvPr>
          <p:cNvCxnSpPr>
            <a:cxnSpLocks/>
          </p:cNvCxnSpPr>
          <p:nvPr/>
        </p:nvCxnSpPr>
        <p:spPr>
          <a:xfrm>
            <a:off x="2584646" y="3277981"/>
            <a:ext cx="2686041" cy="306157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59161DD-B2DD-AE37-7E55-38D11569EA0E}"/>
              </a:ext>
            </a:extLst>
          </p:cNvPr>
          <p:cNvCxnSpPr>
            <a:cxnSpLocks/>
          </p:cNvCxnSpPr>
          <p:nvPr/>
        </p:nvCxnSpPr>
        <p:spPr>
          <a:xfrm>
            <a:off x="3365687" y="2725738"/>
            <a:ext cx="1981200" cy="26539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87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0940-DC5F-31DD-1D46-DC546360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EB97-5432-0043-0AD4-843F198A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6096E-C570-10BB-92DB-5A90E686A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814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Overview of hardware implementation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9112-F53B-5949-14D1-49217F0C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4A605-FCAE-86CF-591D-8139D4D4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732D0AE-EA62-C920-2EE8-45CD766130BA}"/>
              </a:ext>
            </a:extLst>
          </p:cNvPr>
          <p:cNvGrpSpPr/>
          <p:nvPr/>
        </p:nvGrpSpPr>
        <p:grpSpPr>
          <a:xfrm>
            <a:off x="381000" y="2835857"/>
            <a:ext cx="3363310" cy="3410218"/>
            <a:chOff x="7574135" y="3350940"/>
            <a:chExt cx="3363310" cy="3410218"/>
          </a:xfrm>
          <a:noFill/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EDCE0AF-06AD-E726-03D8-EF4531D1AC4F}"/>
                </a:ext>
              </a:extLst>
            </p:cNvPr>
            <p:cNvSpPr/>
            <p:nvPr/>
          </p:nvSpPr>
          <p:spPr>
            <a:xfrm>
              <a:off x="7574135" y="3351685"/>
              <a:ext cx="3363310" cy="3409473"/>
            </a:xfrm>
            <a:prstGeom prst="roundRect">
              <a:avLst>
                <a:gd name="adj" fmla="val 3235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Google Shape;481;p1">
              <a:extLst>
                <a:ext uri="{FF2B5EF4-FFF2-40B4-BE49-F238E27FC236}">
                  <a16:creationId xmlns:a16="http://schemas.microsoft.com/office/drawing/2014/main" id="{F19C7BD4-762D-2E14-2F68-8B09A7F210CB}"/>
                </a:ext>
              </a:extLst>
            </p:cNvPr>
            <p:cNvSpPr/>
            <p:nvPr/>
          </p:nvSpPr>
          <p:spPr>
            <a:xfrm>
              <a:off x="7845347" y="3597054"/>
              <a:ext cx="2973192" cy="2966693"/>
            </a:xfrm>
            <a:prstGeom prst="rect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EB56F1A-296D-E31D-F49C-C9A8B19B1160}"/>
                </a:ext>
              </a:extLst>
            </p:cNvPr>
            <p:cNvSpPr/>
            <p:nvPr/>
          </p:nvSpPr>
          <p:spPr>
            <a:xfrm>
              <a:off x="8195535" y="3720626"/>
              <a:ext cx="2167469" cy="26595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Spike Decoder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E15935B-7B77-4449-0791-304A1ED256C9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flipV="1">
              <a:off x="9279270" y="3457932"/>
              <a:ext cx="0" cy="262694"/>
            </a:xfrm>
            <a:prstGeom prst="straightConnector1">
              <a:avLst/>
            </a:prstGeom>
            <a:grpFill/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67084AB-CA08-61C7-E2AB-C8E888E8BF1C}"/>
                </a:ext>
              </a:extLst>
            </p:cNvPr>
            <p:cNvSpPr txBox="1"/>
            <p:nvPr/>
          </p:nvSpPr>
          <p:spPr>
            <a:xfrm>
              <a:off x="9309260" y="3350940"/>
              <a:ext cx="1159292" cy="2616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To Neuron Array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B329CD6-AED5-E410-7987-95A6BB32F2C6}"/>
                </a:ext>
              </a:extLst>
            </p:cNvPr>
            <p:cNvSpPr/>
            <p:nvPr/>
          </p:nvSpPr>
          <p:spPr>
            <a:xfrm>
              <a:off x="9268921" y="4266564"/>
              <a:ext cx="861443" cy="1300820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LUT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EB42E57-ED5C-A2DD-1C3C-C185660C0EE0}"/>
                </a:ext>
              </a:extLst>
            </p:cNvPr>
            <p:cNvSpPr/>
            <p:nvPr/>
          </p:nvSpPr>
          <p:spPr>
            <a:xfrm>
              <a:off x="8198946" y="4227571"/>
              <a:ext cx="801674" cy="1809842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7BC5A9-C0B2-A68F-049F-F3B68012658E}"/>
                </a:ext>
              </a:extLst>
            </p:cNvPr>
            <p:cNvSpPr txBox="1"/>
            <p:nvPr/>
          </p:nvSpPr>
          <p:spPr>
            <a:xfrm>
              <a:off x="8195535" y="4017264"/>
              <a:ext cx="829073" cy="2539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Index Array</a:t>
              </a:r>
            </a:p>
          </p:txBody>
        </p:sp>
        <p:sp>
          <p:nvSpPr>
            <p:cNvPr id="104" name="Google Shape;494;p1">
              <a:extLst>
                <a:ext uri="{FF2B5EF4-FFF2-40B4-BE49-F238E27FC236}">
                  <a16:creationId xmlns:a16="http://schemas.microsoft.com/office/drawing/2014/main" id="{BA2AF07C-3F29-5058-B369-6A11A7B01AEA}"/>
                </a:ext>
              </a:extLst>
            </p:cNvPr>
            <p:cNvSpPr/>
            <p:nvPr/>
          </p:nvSpPr>
          <p:spPr>
            <a:xfrm>
              <a:off x="8248704" y="4285954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#1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494;p1">
              <a:extLst>
                <a:ext uri="{FF2B5EF4-FFF2-40B4-BE49-F238E27FC236}">
                  <a16:creationId xmlns:a16="http://schemas.microsoft.com/office/drawing/2014/main" id="{842CE90C-7287-75EB-ADAC-10FB39E34AB0}"/>
                </a:ext>
              </a:extLst>
            </p:cNvPr>
            <p:cNvSpPr/>
            <p:nvPr/>
          </p:nvSpPr>
          <p:spPr>
            <a:xfrm>
              <a:off x="8248704" y="4530850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#2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A3B4C00-EBBE-F61A-DC81-95F44B6F381F}"/>
                </a:ext>
              </a:extLst>
            </p:cNvPr>
            <p:cNvSpPr txBox="1"/>
            <p:nvPr/>
          </p:nvSpPr>
          <p:spPr>
            <a:xfrm rot="5400000">
              <a:off x="8468301" y="4769275"/>
              <a:ext cx="38183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07" name="Google Shape;494;p1">
              <a:extLst>
                <a:ext uri="{FF2B5EF4-FFF2-40B4-BE49-F238E27FC236}">
                  <a16:creationId xmlns:a16="http://schemas.microsoft.com/office/drawing/2014/main" id="{AE988CD8-7105-9463-5BFE-3D83D5BEB3D5}"/>
                </a:ext>
              </a:extLst>
            </p:cNvPr>
            <p:cNvSpPr/>
            <p:nvPr/>
          </p:nvSpPr>
          <p:spPr>
            <a:xfrm>
              <a:off x="8246340" y="5138241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#i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494;p1">
              <a:extLst>
                <a:ext uri="{FF2B5EF4-FFF2-40B4-BE49-F238E27FC236}">
                  <a16:creationId xmlns:a16="http://schemas.microsoft.com/office/drawing/2014/main" id="{7B1375B2-BBAD-5314-A8D2-90BFA81B4978}"/>
                </a:ext>
              </a:extLst>
            </p:cNvPr>
            <p:cNvSpPr/>
            <p:nvPr/>
          </p:nvSpPr>
          <p:spPr>
            <a:xfrm>
              <a:off x="8246340" y="5775565"/>
              <a:ext cx="702652" cy="195533"/>
            </a:xfrm>
            <a:prstGeom prst="rect">
              <a:avLst/>
            </a:prstGeom>
            <a:grp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Index #N</a:t>
              </a:r>
              <a:endParaRPr sz="9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9BCEF52-E1ED-440E-7555-C955CCDCDF19}"/>
                </a:ext>
              </a:extLst>
            </p:cNvPr>
            <p:cNvSpPr txBox="1"/>
            <p:nvPr/>
          </p:nvSpPr>
          <p:spPr>
            <a:xfrm rot="5400000">
              <a:off x="8468301" y="5373329"/>
              <a:ext cx="38183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110" name="Connector: Elbow 109">
              <a:extLst>
                <a:ext uri="{FF2B5EF4-FFF2-40B4-BE49-F238E27FC236}">
                  <a16:creationId xmlns:a16="http://schemas.microsoft.com/office/drawing/2014/main" id="{EC4C05A7-4ABD-C604-ED5C-8E00B37503BF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 rot="5400000" flipH="1" flipV="1">
              <a:off x="6668457" y="5182566"/>
              <a:ext cx="2856039" cy="198118"/>
            </a:xfrm>
            <a:prstGeom prst="bentConnector2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C4F9F4E-D014-D924-08E3-1E76965F23D5}"/>
                </a:ext>
              </a:extLst>
            </p:cNvPr>
            <p:cNvSpPr/>
            <p:nvPr/>
          </p:nvSpPr>
          <p:spPr>
            <a:xfrm>
              <a:off x="9263383" y="5725066"/>
              <a:ext cx="1099621" cy="279981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VSW Interface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8389EF9-4594-71D4-A432-F26AE4BED365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 flipH="1">
              <a:off x="9000620" y="4916974"/>
              <a:ext cx="268301" cy="1757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Flowchart: Summing Junction 112">
              <a:extLst>
                <a:ext uri="{FF2B5EF4-FFF2-40B4-BE49-F238E27FC236}">
                  <a16:creationId xmlns:a16="http://schemas.microsoft.com/office/drawing/2014/main" id="{61B68A0C-7F0F-3A65-107F-0BE13363E35E}"/>
                </a:ext>
              </a:extLst>
            </p:cNvPr>
            <p:cNvSpPr/>
            <p:nvPr/>
          </p:nvSpPr>
          <p:spPr>
            <a:xfrm>
              <a:off x="10363004" y="4758752"/>
              <a:ext cx="310693" cy="318763"/>
            </a:xfrm>
            <a:prstGeom prst="flowChartSummingJuncti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2D222C9-571A-2AC8-860D-D943BD2FB8F9}"/>
                </a:ext>
              </a:extLst>
            </p:cNvPr>
            <p:cNvCxnSpPr>
              <a:cxnSpLocks/>
              <a:stCxn id="113" idx="2"/>
              <a:endCxn id="100" idx="3"/>
            </p:cNvCxnSpPr>
            <p:nvPr/>
          </p:nvCxnSpPr>
          <p:spPr>
            <a:xfrm flipH="1" flipV="1">
              <a:off x="10130364" y="4916974"/>
              <a:ext cx="232640" cy="1160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77FADAE-C2EF-5046-661B-8160F3AE1B93}"/>
                </a:ext>
              </a:extLst>
            </p:cNvPr>
            <p:cNvCxnSpPr>
              <a:cxnSpLocks/>
              <a:stCxn id="113" idx="0"/>
            </p:cNvCxnSpPr>
            <p:nvPr/>
          </p:nvCxnSpPr>
          <p:spPr>
            <a:xfrm flipV="1">
              <a:off x="10518351" y="3457932"/>
              <a:ext cx="0" cy="1300820"/>
            </a:xfrm>
            <a:prstGeom prst="line">
              <a:avLst/>
            </a:pr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DD5332E-3AFF-D009-D317-AFA022E6207B}"/>
                </a:ext>
              </a:extLst>
            </p:cNvPr>
            <p:cNvSpPr txBox="1"/>
            <p:nvPr/>
          </p:nvSpPr>
          <p:spPr>
            <a:xfrm rot="16200000">
              <a:off x="7084865" y="4939015"/>
              <a:ext cx="1258421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VSW Controller</a:t>
              </a:r>
            </a:p>
          </p:txBody>
        </p: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13BD62F0-65C3-8D86-66FF-0F215191CEF4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7997417" y="6005047"/>
              <a:ext cx="1815777" cy="144441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E60FE3E-4437-124D-4906-14FB2DF29ADA}"/>
                </a:ext>
              </a:extLst>
            </p:cNvPr>
            <p:cNvSpPr/>
            <p:nvPr/>
          </p:nvSpPr>
          <p:spPr>
            <a:xfrm>
              <a:off x="8195535" y="6236096"/>
              <a:ext cx="2478161" cy="24290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Flow Controller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75B7360-BF41-3D8D-75ED-E44C3062A265}"/>
                </a:ext>
              </a:extLst>
            </p:cNvPr>
            <p:cNvSpPr/>
            <p:nvPr/>
          </p:nvSpPr>
          <p:spPr>
            <a:xfrm>
              <a:off x="8140684" y="4051815"/>
              <a:ext cx="2592198" cy="2139831"/>
            </a:xfrm>
            <a:prstGeom prst="rect">
              <a:avLst/>
            </a:prstGeom>
            <a:grp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713DCC9D-99CF-D0F5-00C3-8258D9F528CF}"/>
                </a:ext>
              </a:extLst>
            </p:cNvPr>
            <p:cNvCxnSpPr>
              <a:cxnSpLocks/>
              <a:stCxn id="111" idx="3"/>
              <a:endCxn id="113" idx="4"/>
            </p:cNvCxnSpPr>
            <p:nvPr/>
          </p:nvCxnSpPr>
          <p:spPr>
            <a:xfrm flipV="1">
              <a:off x="10363004" y="5077515"/>
              <a:ext cx="155347" cy="787542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B2524F1-DAFE-A5D4-7A88-3ECDC7312C15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>
              <a:off x="9000620" y="5865057"/>
              <a:ext cx="262763" cy="0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F046289-3430-253A-D576-8886D107D110}"/>
                </a:ext>
              </a:extLst>
            </p:cNvPr>
            <p:cNvCxnSpPr>
              <a:cxnSpLocks/>
              <a:endCxn id="111" idx="0"/>
            </p:cNvCxnSpPr>
            <p:nvPr/>
          </p:nvCxnSpPr>
          <p:spPr>
            <a:xfrm>
              <a:off x="9813194" y="5578498"/>
              <a:ext cx="0" cy="146568"/>
            </a:xfrm>
            <a:prstGeom prst="line">
              <a:avLst/>
            </a:prstGeom>
            <a:grpFill/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31633FF6-E54C-0D14-9888-A18E6AAFD36E}"/>
              </a:ext>
            </a:extLst>
          </p:cNvPr>
          <p:cNvSpPr txBox="1"/>
          <p:nvPr/>
        </p:nvSpPr>
        <p:spPr>
          <a:xfrm>
            <a:off x="783681" y="6012185"/>
            <a:ext cx="1620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From Network Interface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85620BD-FFCA-DD3D-ED5C-48E2075D1721}"/>
              </a:ext>
            </a:extLst>
          </p:cNvPr>
          <p:cNvSpPr/>
          <p:nvPr/>
        </p:nvSpPr>
        <p:spPr>
          <a:xfrm>
            <a:off x="3910276" y="1284318"/>
            <a:ext cx="5058481" cy="3120086"/>
          </a:xfrm>
          <a:prstGeom prst="roundRect">
            <a:avLst>
              <a:gd name="adj" fmla="val 3235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363F011F-C994-E994-77EF-4C08040D2A4D}"/>
              </a:ext>
            </a:extLst>
          </p:cNvPr>
          <p:cNvCxnSpPr>
            <a:cxnSpLocks/>
            <a:stCxn id="143" idx="3"/>
            <a:endCxn id="155" idx="0"/>
          </p:cNvCxnSpPr>
          <p:nvPr/>
        </p:nvCxnSpPr>
        <p:spPr>
          <a:xfrm rot="5400000" flipH="1">
            <a:off x="4836439" y="1940221"/>
            <a:ext cx="776087" cy="2086214"/>
          </a:xfrm>
          <a:prstGeom prst="bentConnector4">
            <a:avLst>
              <a:gd name="adj1" fmla="val -17484"/>
              <a:gd name="adj2" fmla="val 106871"/>
            </a:avLst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562A9BF-810E-3BAA-42EC-0AAED308C4C2}"/>
              </a:ext>
            </a:extLst>
          </p:cNvPr>
          <p:cNvCxnSpPr>
            <a:cxnSpLocks/>
          </p:cNvCxnSpPr>
          <p:nvPr/>
        </p:nvCxnSpPr>
        <p:spPr>
          <a:xfrm>
            <a:off x="4291299" y="1903674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5685E2C-E8A8-2642-54F5-1D4C53737056}"/>
              </a:ext>
            </a:extLst>
          </p:cNvPr>
          <p:cNvCxnSpPr>
            <a:cxnSpLocks/>
          </p:cNvCxnSpPr>
          <p:nvPr/>
        </p:nvCxnSpPr>
        <p:spPr>
          <a:xfrm>
            <a:off x="4297649" y="2115207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620F31-305B-36AB-7907-2C477B0F0EFD}"/>
              </a:ext>
            </a:extLst>
          </p:cNvPr>
          <p:cNvCxnSpPr>
            <a:cxnSpLocks/>
          </p:cNvCxnSpPr>
          <p:nvPr/>
        </p:nvCxnSpPr>
        <p:spPr>
          <a:xfrm>
            <a:off x="4297649" y="2341324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2A441A7-9BB1-1C53-5858-9383631C1400}"/>
              </a:ext>
            </a:extLst>
          </p:cNvPr>
          <p:cNvCxnSpPr>
            <a:cxnSpLocks/>
          </p:cNvCxnSpPr>
          <p:nvPr/>
        </p:nvCxnSpPr>
        <p:spPr>
          <a:xfrm>
            <a:off x="4295532" y="3114361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8F84C60-BBCC-1756-EF76-432072CFE02F}"/>
              </a:ext>
            </a:extLst>
          </p:cNvPr>
          <p:cNvCxnSpPr>
            <a:cxnSpLocks/>
          </p:cNvCxnSpPr>
          <p:nvPr/>
        </p:nvCxnSpPr>
        <p:spPr>
          <a:xfrm>
            <a:off x="4291299" y="3334114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BCB8C71-C1F4-DD27-888B-B5A358658312}"/>
              </a:ext>
            </a:extLst>
          </p:cNvPr>
          <p:cNvCxnSpPr>
            <a:cxnSpLocks/>
          </p:cNvCxnSpPr>
          <p:nvPr/>
        </p:nvCxnSpPr>
        <p:spPr>
          <a:xfrm>
            <a:off x="5895049" y="2125791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83FAC59-A50B-B596-CA9F-5103140F758F}"/>
              </a:ext>
            </a:extLst>
          </p:cNvPr>
          <p:cNvCxnSpPr>
            <a:cxnSpLocks/>
          </p:cNvCxnSpPr>
          <p:nvPr/>
        </p:nvCxnSpPr>
        <p:spPr>
          <a:xfrm>
            <a:off x="5900639" y="2340029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2DA7615-6966-CCA7-C0C1-7A206A35D1F1}"/>
              </a:ext>
            </a:extLst>
          </p:cNvPr>
          <p:cNvCxnSpPr>
            <a:cxnSpLocks/>
          </p:cNvCxnSpPr>
          <p:nvPr/>
        </p:nvCxnSpPr>
        <p:spPr>
          <a:xfrm>
            <a:off x="5909105" y="3116477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4DD9D36-BF29-DD2C-F876-F1180D87F81F}"/>
              </a:ext>
            </a:extLst>
          </p:cNvPr>
          <p:cNvCxnSpPr>
            <a:cxnSpLocks/>
          </p:cNvCxnSpPr>
          <p:nvPr/>
        </p:nvCxnSpPr>
        <p:spPr>
          <a:xfrm>
            <a:off x="5902793" y="3334114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85FB145-3B82-C3E1-7CD2-A8FAC1E22815}"/>
              </a:ext>
            </a:extLst>
          </p:cNvPr>
          <p:cNvCxnSpPr>
            <a:cxnSpLocks/>
          </p:cNvCxnSpPr>
          <p:nvPr/>
        </p:nvCxnSpPr>
        <p:spPr>
          <a:xfrm>
            <a:off x="5909013" y="1915355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9DDA126-2FDE-40CC-0C93-C5FBCABACC40}"/>
              </a:ext>
            </a:extLst>
          </p:cNvPr>
          <p:cNvCxnSpPr>
            <a:cxnSpLocks/>
            <a:stCxn id="143" idx="0"/>
            <a:endCxn id="159" idx="0"/>
          </p:cNvCxnSpPr>
          <p:nvPr/>
        </p:nvCxnSpPr>
        <p:spPr>
          <a:xfrm flipV="1">
            <a:off x="6357040" y="2595283"/>
            <a:ext cx="306542" cy="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8098C5D-A39F-CB58-7F19-C11722A4D018}"/>
              </a:ext>
            </a:extLst>
          </p:cNvPr>
          <p:cNvCxnSpPr>
            <a:cxnSpLocks/>
          </p:cNvCxnSpPr>
          <p:nvPr/>
        </p:nvCxnSpPr>
        <p:spPr>
          <a:xfrm>
            <a:off x="6795806" y="1918198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0F98720-6F53-76D6-7AE7-46B338770E4A}"/>
              </a:ext>
            </a:extLst>
          </p:cNvPr>
          <p:cNvCxnSpPr>
            <a:cxnSpLocks/>
          </p:cNvCxnSpPr>
          <p:nvPr/>
        </p:nvCxnSpPr>
        <p:spPr>
          <a:xfrm>
            <a:off x="6793689" y="2129731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443FEB5-2DB9-4523-741A-6A3963112ED3}"/>
              </a:ext>
            </a:extLst>
          </p:cNvPr>
          <p:cNvCxnSpPr>
            <a:cxnSpLocks/>
          </p:cNvCxnSpPr>
          <p:nvPr/>
        </p:nvCxnSpPr>
        <p:spPr>
          <a:xfrm>
            <a:off x="6791573" y="2355848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A386FBC-0BC2-F04C-2E2A-1464D09CF0BE}"/>
              </a:ext>
            </a:extLst>
          </p:cNvPr>
          <p:cNvCxnSpPr>
            <a:cxnSpLocks/>
          </p:cNvCxnSpPr>
          <p:nvPr/>
        </p:nvCxnSpPr>
        <p:spPr>
          <a:xfrm>
            <a:off x="6797923" y="3111952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055D112-B345-C62E-A8CF-0F8A296ECBDD}"/>
              </a:ext>
            </a:extLst>
          </p:cNvPr>
          <p:cNvCxnSpPr>
            <a:cxnSpLocks/>
          </p:cNvCxnSpPr>
          <p:nvPr/>
        </p:nvCxnSpPr>
        <p:spPr>
          <a:xfrm>
            <a:off x="6798011" y="3329587"/>
            <a:ext cx="27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Trapezoid 142">
            <a:extLst>
              <a:ext uri="{FF2B5EF4-FFF2-40B4-BE49-F238E27FC236}">
                <a16:creationId xmlns:a16="http://schemas.microsoft.com/office/drawing/2014/main" id="{CA0482DE-282B-B23B-8E20-4ADD005A16F8}"/>
              </a:ext>
            </a:extLst>
          </p:cNvPr>
          <p:cNvSpPr/>
          <p:nvPr/>
        </p:nvSpPr>
        <p:spPr>
          <a:xfrm rot="5400000">
            <a:off x="5434736" y="2505833"/>
            <a:ext cx="1665708" cy="178901"/>
          </a:xfrm>
          <a:prstGeom prst="trapezoid">
            <a:avLst>
              <a:gd name="adj" fmla="val 6346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A37649A-EA39-BA71-6142-A9956C35D58C}"/>
              </a:ext>
            </a:extLst>
          </p:cNvPr>
          <p:cNvCxnSpPr>
            <a:cxnSpLocks/>
            <a:stCxn id="158" idx="0"/>
            <a:endCxn id="145" idx="2"/>
          </p:cNvCxnSpPr>
          <p:nvPr/>
        </p:nvCxnSpPr>
        <p:spPr>
          <a:xfrm flipV="1">
            <a:off x="8539378" y="2600813"/>
            <a:ext cx="138737" cy="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Flowchart: Summing Junction 144">
            <a:extLst>
              <a:ext uri="{FF2B5EF4-FFF2-40B4-BE49-F238E27FC236}">
                <a16:creationId xmlns:a16="http://schemas.microsoft.com/office/drawing/2014/main" id="{E674A230-AD5F-04ED-4F24-77FA95B8E92C}"/>
              </a:ext>
            </a:extLst>
          </p:cNvPr>
          <p:cNvSpPr/>
          <p:nvPr/>
        </p:nvSpPr>
        <p:spPr>
          <a:xfrm>
            <a:off x="8678115" y="2495730"/>
            <a:ext cx="204844" cy="210165"/>
          </a:xfrm>
          <a:prstGeom prst="flowChartSummingJunc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94E4F9D-B4F0-47AB-7B97-314B74AD9916}"/>
              </a:ext>
            </a:extLst>
          </p:cNvPr>
          <p:cNvCxnSpPr>
            <a:cxnSpLocks/>
            <a:stCxn id="145" idx="0"/>
          </p:cNvCxnSpPr>
          <p:nvPr/>
        </p:nvCxnSpPr>
        <p:spPr>
          <a:xfrm flipV="1">
            <a:off x="8780538" y="1422583"/>
            <a:ext cx="0" cy="107314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CD8D1D9-724C-8C7C-DE4C-0891AE004435}"/>
              </a:ext>
            </a:extLst>
          </p:cNvPr>
          <p:cNvCxnSpPr>
            <a:cxnSpLocks/>
          </p:cNvCxnSpPr>
          <p:nvPr/>
        </p:nvCxnSpPr>
        <p:spPr>
          <a:xfrm>
            <a:off x="8160052" y="2137373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1703EDA-6581-139D-A6A9-B3BD6D62B4BE}"/>
              </a:ext>
            </a:extLst>
          </p:cNvPr>
          <p:cNvCxnSpPr>
            <a:cxnSpLocks/>
          </p:cNvCxnSpPr>
          <p:nvPr/>
        </p:nvCxnSpPr>
        <p:spPr>
          <a:xfrm>
            <a:off x="8157065" y="2362194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789BE10-6293-03CF-E21D-215B083C3709}"/>
              </a:ext>
            </a:extLst>
          </p:cNvPr>
          <p:cNvCxnSpPr>
            <a:cxnSpLocks/>
          </p:cNvCxnSpPr>
          <p:nvPr/>
        </p:nvCxnSpPr>
        <p:spPr>
          <a:xfrm>
            <a:off x="8154948" y="3102661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ACAA3E0-5717-98EF-FA5D-3CE170E8F91B}"/>
              </a:ext>
            </a:extLst>
          </p:cNvPr>
          <p:cNvCxnSpPr>
            <a:cxnSpLocks/>
          </p:cNvCxnSpPr>
          <p:nvPr/>
        </p:nvCxnSpPr>
        <p:spPr>
          <a:xfrm>
            <a:off x="8152260" y="3322414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F1949DD-B5E0-B9C3-2700-20236F733A21}"/>
              </a:ext>
            </a:extLst>
          </p:cNvPr>
          <p:cNvCxnSpPr>
            <a:cxnSpLocks/>
          </p:cNvCxnSpPr>
          <p:nvPr/>
        </p:nvCxnSpPr>
        <p:spPr>
          <a:xfrm>
            <a:off x="8156972" y="1922706"/>
            <a:ext cx="27534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3D9A535D-334D-F75E-05B0-9139A4E21A34}"/>
              </a:ext>
            </a:extLst>
          </p:cNvPr>
          <p:cNvCxnSpPr>
            <a:cxnSpLocks/>
            <a:stCxn id="143" idx="0"/>
            <a:endCxn id="158" idx="3"/>
          </p:cNvCxnSpPr>
          <p:nvPr/>
        </p:nvCxnSpPr>
        <p:spPr>
          <a:xfrm>
            <a:off x="6357041" y="2595284"/>
            <a:ext cx="2092886" cy="781617"/>
          </a:xfrm>
          <a:prstGeom prst="bentConnector4">
            <a:avLst>
              <a:gd name="adj1" fmla="val 6931"/>
              <a:gd name="adj2" fmla="val 1167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9C9007B-6BD4-AB0A-3959-1BAE732CAF7E}"/>
              </a:ext>
            </a:extLst>
          </p:cNvPr>
          <p:cNvSpPr txBox="1"/>
          <p:nvPr/>
        </p:nvSpPr>
        <p:spPr>
          <a:xfrm>
            <a:off x="6538593" y="2355936"/>
            <a:ext cx="43" cy="1826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4EB5697-6790-B3A8-6E5D-09D7FA9EE6C1}"/>
              </a:ext>
            </a:extLst>
          </p:cNvPr>
          <p:cNvSpPr txBox="1"/>
          <p:nvPr/>
        </p:nvSpPr>
        <p:spPr>
          <a:xfrm rot="16200000">
            <a:off x="3731670" y="3718797"/>
            <a:ext cx="81887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i="1" dirty="0"/>
              <a:t>VSW</a:t>
            </a:r>
            <a:br>
              <a:rPr lang="en-US" sz="1200" b="1" i="1" dirty="0"/>
            </a:br>
            <a:r>
              <a:rPr lang="en-US" sz="1200" b="1" i="1" dirty="0"/>
              <a:t>Interface</a:t>
            </a:r>
          </a:p>
        </p:txBody>
      </p:sp>
      <p:sp>
        <p:nvSpPr>
          <p:cNvPr id="155" name="Trapezoid 154">
            <a:extLst>
              <a:ext uri="{FF2B5EF4-FFF2-40B4-BE49-F238E27FC236}">
                <a16:creationId xmlns:a16="http://schemas.microsoft.com/office/drawing/2014/main" id="{8466F815-4760-9EFC-381D-27CD1EE34542}"/>
              </a:ext>
            </a:extLst>
          </p:cNvPr>
          <p:cNvSpPr/>
          <p:nvPr/>
        </p:nvSpPr>
        <p:spPr>
          <a:xfrm rot="16200000">
            <a:off x="3436355" y="2507452"/>
            <a:ext cx="1665706" cy="175664"/>
          </a:xfrm>
          <a:prstGeom prst="trapezoid">
            <a:avLst>
              <a:gd name="adj" fmla="val 6346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6" name="Table 155">
                <a:extLst>
                  <a:ext uri="{FF2B5EF4-FFF2-40B4-BE49-F238E27FC236}">
                    <a16:creationId xmlns:a16="http://schemas.microsoft.com/office/drawing/2014/main" id="{BDDACE8F-5A7B-44E9-E92A-7810574E9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5155072"/>
                  </p:ext>
                </p:extLst>
              </p:nvPr>
            </p:nvGraphicFramePr>
            <p:xfrm>
              <a:off x="4565095" y="1466263"/>
              <a:ext cx="1472175" cy="19714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6128">
                      <a:extLst>
                        <a:ext uri="{9D8B030D-6E8A-4147-A177-3AD203B41FA5}">
                          <a16:colId xmlns:a16="http://schemas.microsoft.com/office/drawing/2014/main" val="290952722"/>
                        </a:ext>
                      </a:extLst>
                    </a:gridCol>
                    <a:gridCol w="866047">
                      <a:extLst>
                        <a:ext uri="{9D8B030D-6E8A-4147-A177-3AD203B41FA5}">
                          <a16:colId xmlns:a16="http://schemas.microsoft.com/office/drawing/2014/main" val="3300231692"/>
                        </a:ext>
                      </a:extLst>
                    </a:gridCol>
                  </a:tblGrid>
                  <a:tr h="3062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# Neuron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Index</a:t>
                          </a:r>
                        </a:p>
                        <a:p>
                          <a:pPr algn="ctr"/>
                          <a:r>
                            <a:rPr lang="en-US" sz="800" b="1" dirty="0"/>
                            <a:t>(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800" b="1" dirty="0"/>
                            <a:t> bits)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413616"/>
                      </a:ext>
                    </a:extLst>
                  </a:tr>
                  <a:tr h="19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491759"/>
                      </a:ext>
                    </a:extLst>
                  </a:tr>
                  <a:tr h="19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83007"/>
                      </a:ext>
                    </a:extLst>
                  </a:tr>
                  <a:tr h="19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447349"/>
                      </a:ext>
                    </a:extLst>
                  </a:tr>
                  <a:tr h="56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237687"/>
                      </a:ext>
                    </a:extLst>
                  </a:tr>
                  <a:tr h="19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#(N-1)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(B-1)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738618"/>
                      </a:ext>
                    </a:extLst>
                  </a:tr>
                  <a:tr h="19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764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6" name="Table 155">
                <a:extLst>
                  <a:ext uri="{FF2B5EF4-FFF2-40B4-BE49-F238E27FC236}">
                    <a16:creationId xmlns:a16="http://schemas.microsoft.com/office/drawing/2014/main" id="{BDDACE8F-5A7B-44E9-E92A-7810574E9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5155072"/>
                  </p:ext>
                </p:extLst>
              </p:nvPr>
            </p:nvGraphicFramePr>
            <p:xfrm>
              <a:off x="4565095" y="1466263"/>
              <a:ext cx="1472175" cy="19714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6128">
                      <a:extLst>
                        <a:ext uri="{9D8B030D-6E8A-4147-A177-3AD203B41FA5}">
                          <a16:colId xmlns:a16="http://schemas.microsoft.com/office/drawing/2014/main" val="290952722"/>
                        </a:ext>
                      </a:extLst>
                    </a:gridCol>
                    <a:gridCol w="866047">
                      <a:extLst>
                        <a:ext uri="{9D8B030D-6E8A-4147-A177-3AD203B41FA5}">
                          <a16:colId xmlns:a16="http://schemas.microsoft.com/office/drawing/2014/main" val="330023169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# Neuron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0629" t="-1818" r="-1399" b="-49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41361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49175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8300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447349"/>
                      </a:ext>
                    </a:extLst>
                  </a:tr>
                  <a:tr h="56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23768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#(N-1)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(B-1)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73861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#N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Index 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7644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7" name="Table 156">
                <a:extLst>
                  <a:ext uri="{FF2B5EF4-FFF2-40B4-BE49-F238E27FC236}">
                    <a16:creationId xmlns:a16="http://schemas.microsoft.com/office/drawing/2014/main" id="{9EA5503B-82CE-1AF9-8329-81E1D339792C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2163846"/>
                  </p:ext>
                </p:extLst>
              </p:nvPr>
            </p:nvGraphicFramePr>
            <p:xfrm>
              <a:off x="7071097" y="1462753"/>
              <a:ext cx="1114637" cy="19603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5381">
                      <a:extLst>
                        <a:ext uri="{9D8B030D-6E8A-4147-A177-3AD203B41FA5}">
                          <a16:colId xmlns:a16="http://schemas.microsoft.com/office/drawing/2014/main" val="290952722"/>
                        </a:ext>
                      </a:extLst>
                    </a:gridCol>
                    <a:gridCol w="669256">
                      <a:extLst>
                        <a:ext uri="{9D8B030D-6E8A-4147-A177-3AD203B41FA5}">
                          <a16:colId xmlns:a16="http://schemas.microsoft.com/office/drawing/2014/main" val="3300231692"/>
                        </a:ext>
                      </a:extLst>
                    </a:gridCol>
                  </a:tblGrid>
                  <a:tr h="343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Index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Value</a:t>
                          </a:r>
                        </a:p>
                        <a:p>
                          <a:pPr algn="ctr"/>
                          <a:r>
                            <a:rPr lang="en-US" sz="800" b="1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sz="800" b="1" dirty="0"/>
                            <a:t> bits)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413616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491759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83007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447349"/>
                      </a:ext>
                    </a:extLst>
                  </a:tr>
                  <a:tr h="525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237687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B-1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(B-1)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738618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764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7" name="Table 156">
                <a:extLst>
                  <a:ext uri="{FF2B5EF4-FFF2-40B4-BE49-F238E27FC236}">
                    <a16:creationId xmlns:a16="http://schemas.microsoft.com/office/drawing/2014/main" id="{9EA5503B-82CE-1AF9-8329-81E1D339792C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2163846"/>
                  </p:ext>
                </p:extLst>
              </p:nvPr>
            </p:nvGraphicFramePr>
            <p:xfrm>
              <a:off x="7071097" y="1462753"/>
              <a:ext cx="1114637" cy="19603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5381">
                      <a:extLst>
                        <a:ext uri="{9D8B030D-6E8A-4147-A177-3AD203B41FA5}">
                          <a16:colId xmlns:a16="http://schemas.microsoft.com/office/drawing/2014/main" val="290952722"/>
                        </a:ext>
                      </a:extLst>
                    </a:gridCol>
                    <a:gridCol w="669256">
                      <a:extLst>
                        <a:ext uri="{9D8B030D-6E8A-4147-A177-3AD203B41FA5}">
                          <a16:colId xmlns:a16="http://schemas.microsoft.com/office/drawing/2014/main" val="3300231692"/>
                        </a:ext>
                      </a:extLst>
                    </a:gridCol>
                  </a:tblGrid>
                  <a:tr h="343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/>
                            <a:t>Index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8182" t="-1754" r="-1818" b="-4719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413616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491759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83007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447349"/>
                      </a:ext>
                    </a:extLst>
                  </a:tr>
                  <a:tr h="525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237687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B-1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(B-1)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738618"/>
                      </a:ext>
                    </a:extLst>
                  </a:tr>
                  <a:tr h="218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i="1" dirty="0">
                              <a:latin typeface="+mn-lt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dirty="0">
                              <a:latin typeface="+mn-lt"/>
                              <a:cs typeface="Times New Roman" panose="02020603050405020304" pitchFamily="18" charset="0"/>
                            </a:rPr>
                            <a:t>Var. 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7644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8" name="Trapezoid 157">
            <a:extLst>
              <a:ext uri="{FF2B5EF4-FFF2-40B4-BE49-F238E27FC236}">
                <a16:creationId xmlns:a16="http://schemas.microsoft.com/office/drawing/2014/main" id="{2F626E27-DF68-5438-AF24-78E59E899388}"/>
              </a:ext>
            </a:extLst>
          </p:cNvPr>
          <p:cNvSpPr/>
          <p:nvPr/>
        </p:nvSpPr>
        <p:spPr>
          <a:xfrm rot="5400000">
            <a:off x="7617073" y="2511363"/>
            <a:ext cx="1665708" cy="178901"/>
          </a:xfrm>
          <a:prstGeom prst="trapezoid">
            <a:avLst>
              <a:gd name="adj" fmla="val 6346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59" name="Trapezoid 158">
            <a:extLst>
              <a:ext uri="{FF2B5EF4-FFF2-40B4-BE49-F238E27FC236}">
                <a16:creationId xmlns:a16="http://schemas.microsoft.com/office/drawing/2014/main" id="{9F58AA7B-41B4-C079-B751-63D7B5857C57}"/>
              </a:ext>
            </a:extLst>
          </p:cNvPr>
          <p:cNvSpPr/>
          <p:nvPr/>
        </p:nvSpPr>
        <p:spPr>
          <a:xfrm rot="16200000">
            <a:off x="5920179" y="2505832"/>
            <a:ext cx="1665708" cy="178901"/>
          </a:xfrm>
          <a:prstGeom prst="trapezoid">
            <a:avLst>
              <a:gd name="adj" fmla="val 6346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Decoder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E47AE05-E300-9EE9-741B-E03049D8F91C}"/>
              </a:ext>
            </a:extLst>
          </p:cNvPr>
          <p:cNvGrpSpPr/>
          <p:nvPr/>
        </p:nvGrpSpPr>
        <p:grpSpPr>
          <a:xfrm>
            <a:off x="4343015" y="3593840"/>
            <a:ext cx="4454154" cy="745127"/>
            <a:chOff x="6364386" y="2413662"/>
            <a:chExt cx="4454154" cy="745127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658C150-2303-4D0F-CB02-E74A430A44A3}"/>
                </a:ext>
              </a:extLst>
            </p:cNvPr>
            <p:cNvSpPr/>
            <p:nvPr/>
          </p:nvSpPr>
          <p:spPr>
            <a:xfrm>
              <a:off x="6364386" y="2420548"/>
              <a:ext cx="4454154" cy="69934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0BE4B7B-1EF1-C2A5-EF40-EF8A1CC91B15}"/>
                </a:ext>
              </a:extLst>
            </p:cNvPr>
            <p:cNvSpPr/>
            <p:nvPr/>
          </p:nvSpPr>
          <p:spPr>
            <a:xfrm>
              <a:off x="9525306" y="2486026"/>
              <a:ext cx="1159293" cy="483888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C95C845-FFC8-D021-EE53-D5F5421DFAC3}"/>
                </a:ext>
              </a:extLst>
            </p:cNvPr>
            <p:cNvSpPr txBox="1"/>
            <p:nvPr/>
          </p:nvSpPr>
          <p:spPr>
            <a:xfrm>
              <a:off x="7753828" y="2778657"/>
              <a:ext cx="43" cy="1826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96A53851-16E1-D02A-3453-DFF84D503DA7}"/>
                </a:ext>
              </a:extLst>
            </p:cNvPr>
            <p:cNvCxnSpPr>
              <a:cxnSpLocks/>
              <a:stCxn id="176" idx="3"/>
              <a:endCxn id="162" idx="1"/>
            </p:cNvCxnSpPr>
            <p:nvPr/>
          </p:nvCxnSpPr>
          <p:spPr>
            <a:xfrm flipV="1">
              <a:off x="9387915" y="2727970"/>
              <a:ext cx="137391" cy="14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F847DBF7-4E40-23ED-E903-E181331A41C3}"/>
                </a:ext>
              </a:extLst>
            </p:cNvPr>
            <p:cNvGrpSpPr/>
            <p:nvPr/>
          </p:nvGrpSpPr>
          <p:grpSpPr>
            <a:xfrm>
              <a:off x="10168567" y="2537225"/>
              <a:ext cx="388873" cy="99095"/>
              <a:chOff x="391160" y="2951480"/>
              <a:chExt cx="388873" cy="99095"/>
            </a:xfrm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633A3BBD-E50B-674D-9523-0632110AE2FA}"/>
                  </a:ext>
                </a:extLst>
              </p:cNvPr>
              <p:cNvSpPr/>
              <p:nvPr/>
            </p:nvSpPr>
            <p:spPr>
              <a:xfrm>
                <a:off x="39116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2025D7F-9F66-9BB8-C7C4-A2DAA3D0D1E5}"/>
                  </a:ext>
                </a:extLst>
              </p:cNvPr>
              <p:cNvSpPr/>
              <p:nvPr/>
            </p:nvSpPr>
            <p:spPr>
              <a:xfrm>
                <a:off x="48799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5041180-39D3-ADFF-2DBE-63E36A7615F9}"/>
                  </a:ext>
                </a:extLst>
              </p:cNvPr>
              <p:cNvSpPr/>
              <p:nvPr/>
            </p:nvSpPr>
            <p:spPr>
              <a:xfrm>
                <a:off x="58289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019E3E94-0236-3A69-C013-D1388BF21F98}"/>
                  </a:ext>
                </a:extLst>
              </p:cNvPr>
              <p:cNvSpPr/>
              <p:nvPr/>
            </p:nvSpPr>
            <p:spPr>
              <a:xfrm>
                <a:off x="67906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7ED116A-7217-440C-87A0-27DAE61C11CB}"/>
                </a:ext>
              </a:extLst>
            </p:cNvPr>
            <p:cNvGrpSpPr/>
            <p:nvPr/>
          </p:nvGrpSpPr>
          <p:grpSpPr>
            <a:xfrm>
              <a:off x="10168567" y="2685763"/>
              <a:ext cx="388873" cy="99095"/>
              <a:chOff x="391160" y="2951480"/>
              <a:chExt cx="388873" cy="99095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D6AF6B9B-F7A0-19E6-80BE-5AC281CF806D}"/>
                  </a:ext>
                </a:extLst>
              </p:cNvPr>
              <p:cNvSpPr/>
              <p:nvPr/>
            </p:nvSpPr>
            <p:spPr>
              <a:xfrm>
                <a:off x="39116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E038D48B-8B3E-3933-9FEB-DCBEB148F9FA}"/>
                  </a:ext>
                </a:extLst>
              </p:cNvPr>
              <p:cNvSpPr/>
              <p:nvPr/>
            </p:nvSpPr>
            <p:spPr>
              <a:xfrm>
                <a:off x="48799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490517C-1544-A129-7366-399387BA9085}"/>
                  </a:ext>
                </a:extLst>
              </p:cNvPr>
              <p:cNvSpPr/>
              <p:nvPr/>
            </p:nvSpPr>
            <p:spPr>
              <a:xfrm>
                <a:off x="58289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C897A1B8-FCA4-D8F3-9B74-8B9FC150908F}"/>
                  </a:ext>
                </a:extLst>
              </p:cNvPr>
              <p:cNvSpPr/>
              <p:nvPr/>
            </p:nvSpPr>
            <p:spPr>
              <a:xfrm>
                <a:off x="67906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C19D2A15-CCF4-62BD-13DA-2DD1783C5977}"/>
                </a:ext>
              </a:extLst>
            </p:cNvPr>
            <p:cNvGrpSpPr/>
            <p:nvPr/>
          </p:nvGrpSpPr>
          <p:grpSpPr>
            <a:xfrm>
              <a:off x="10168567" y="2835714"/>
              <a:ext cx="388873" cy="99095"/>
              <a:chOff x="391160" y="2951480"/>
              <a:chExt cx="388873" cy="99095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39E7D310-95C5-5BF1-9ED9-1D3DC9C25A3C}"/>
                  </a:ext>
                </a:extLst>
              </p:cNvPr>
              <p:cNvSpPr/>
              <p:nvPr/>
            </p:nvSpPr>
            <p:spPr>
              <a:xfrm>
                <a:off x="39116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C4B0319-85F0-4A8B-DF78-58EE07C00AA6}"/>
                  </a:ext>
                </a:extLst>
              </p:cNvPr>
              <p:cNvSpPr/>
              <p:nvPr/>
            </p:nvSpPr>
            <p:spPr>
              <a:xfrm>
                <a:off x="48799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4AEAEE7-A8F2-2CE6-B228-17955AB0730C}"/>
                  </a:ext>
                </a:extLst>
              </p:cNvPr>
              <p:cNvSpPr/>
              <p:nvPr/>
            </p:nvSpPr>
            <p:spPr>
              <a:xfrm>
                <a:off x="582890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3FE6AC13-A5CE-2899-D828-E857F6152D39}"/>
                  </a:ext>
                </a:extLst>
              </p:cNvPr>
              <p:cNvSpPr/>
              <p:nvPr/>
            </p:nvSpPr>
            <p:spPr>
              <a:xfrm>
                <a:off x="679068" y="2951480"/>
                <a:ext cx="100965" cy="99095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8" name="Trapezoid 167">
              <a:extLst>
                <a:ext uri="{FF2B5EF4-FFF2-40B4-BE49-F238E27FC236}">
                  <a16:creationId xmlns:a16="http://schemas.microsoft.com/office/drawing/2014/main" id="{F5A75EFD-6277-8113-C8F0-89C1978E24FE}"/>
                </a:ext>
              </a:extLst>
            </p:cNvPr>
            <p:cNvSpPr/>
            <p:nvPr/>
          </p:nvSpPr>
          <p:spPr>
            <a:xfrm rot="16200000">
              <a:off x="9750088" y="2672550"/>
              <a:ext cx="389513" cy="134068"/>
            </a:xfrm>
            <a:prstGeom prst="trapezoid">
              <a:avLst>
                <a:gd name="adj" fmla="val 63462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5E298ED5-C5B6-5FCD-C964-4CF73A3A8497}"/>
                </a:ext>
              </a:extLst>
            </p:cNvPr>
            <p:cNvCxnSpPr>
              <a:cxnSpLocks/>
              <a:endCxn id="203" idx="1"/>
            </p:cNvCxnSpPr>
            <p:nvPr/>
          </p:nvCxnSpPr>
          <p:spPr>
            <a:xfrm>
              <a:off x="10017125" y="2586773"/>
              <a:ext cx="15144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8BEAC442-970F-5FC1-ECAF-5938E580F447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651" y="2736409"/>
              <a:ext cx="15144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28206680-A7D2-A8DA-5AC7-44121D4545A1}"/>
                </a:ext>
              </a:extLst>
            </p:cNvPr>
            <p:cNvCxnSpPr>
              <a:cxnSpLocks/>
            </p:cNvCxnSpPr>
            <p:nvPr/>
          </p:nvCxnSpPr>
          <p:spPr>
            <a:xfrm>
              <a:off x="10013950" y="2888398"/>
              <a:ext cx="15144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E5644CBF-A3F5-2E64-C0BE-3D650E3AFDDD}"/>
                </a:ext>
              </a:extLst>
            </p:cNvPr>
            <p:cNvSpPr txBox="1"/>
            <p:nvPr/>
          </p:nvSpPr>
          <p:spPr>
            <a:xfrm>
              <a:off x="9667443" y="2916693"/>
              <a:ext cx="925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Spike Counter</a:t>
              </a:r>
            </a:p>
          </p:txBody>
        </p: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6FFBD83D-6087-489A-A763-2FE8E239E984}"/>
                </a:ext>
              </a:extLst>
            </p:cNvPr>
            <p:cNvCxnSpPr>
              <a:cxnSpLocks/>
            </p:cNvCxnSpPr>
            <p:nvPr/>
          </p:nvCxnSpPr>
          <p:spPr>
            <a:xfrm>
              <a:off x="9718470" y="2739585"/>
              <a:ext cx="15144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10BDC69D-2689-90BA-F056-759940AC6477}"/>
                </a:ext>
              </a:extLst>
            </p:cNvPr>
            <p:cNvSpPr txBox="1"/>
            <p:nvPr/>
          </p:nvSpPr>
          <p:spPr>
            <a:xfrm rot="16200000">
              <a:off x="9333963" y="2618391"/>
              <a:ext cx="6402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In-Spike</a:t>
              </a: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AF71B018-83E8-8F55-5AA2-12A020CAFA2C}"/>
                </a:ext>
              </a:extLst>
            </p:cNvPr>
            <p:cNvCxnSpPr>
              <a:cxnSpLocks/>
              <a:endCxn id="168" idx="3"/>
            </p:cNvCxnSpPr>
            <p:nvPr/>
          </p:nvCxnSpPr>
          <p:spPr>
            <a:xfrm>
              <a:off x="9944845" y="2454275"/>
              <a:ext cx="0" cy="13309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A56B6EE8-FAB2-D34D-8EC7-42D5C8BE9CA5}"/>
                </a:ext>
              </a:extLst>
            </p:cNvPr>
            <p:cNvSpPr/>
            <p:nvPr/>
          </p:nvSpPr>
          <p:spPr>
            <a:xfrm>
              <a:off x="7924800" y="2490788"/>
              <a:ext cx="1463115" cy="477294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78D17224-CBE9-C95C-A8E7-F6E55E79C8F7}"/>
                </a:ext>
              </a:extLst>
            </p:cNvPr>
            <p:cNvSpPr/>
            <p:nvPr/>
          </p:nvSpPr>
          <p:spPr>
            <a:xfrm>
              <a:off x="8482530" y="2526580"/>
              <a:ext cx="387784" cy="15946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>
                  <a:solidFill>
                    <a:schemeClr val="tx1"/>
                  </a:solidFill>
                </a:rPr>
                <a:t>Spk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0B56D7F-C66E-673F-F332-F6C099CB2A00}"/>
                </a:ext>
              </a:extLst>
            </p:cNvPr>
            <p:cNvSpPr/>
            <p:nvPr/>
          </p:nvSpPr>
          <p:spPr>
            <a:xfrm>
              <a:off x="7979868" y="2526580"/>
              <a:ext cx="418235" cy="156295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>
                  <a:solidFill>
                    <a:schemeClr val="tx1"/>
                  </a:solidFill>
                </a:rPr>
                <a:t>Addr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83B053A-7402-6A46-314C-8DF8043329CB}"/>
                </a:ext>
              </a:extLst>
            </p:cNvPr>
            <p:cNvSpPr/>
            <p:nvPr/>
          </p:nvSpPr>
          <p:spPr>
            <a:xfrm>
              <a:off x="8957040" y="2526580"/>
              <a:ext cx="390685" cy="159183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>
                  <a:solidFill>
                    <a:schemeClr val="tx1"/>
                  </a:solidFill>
                </a:rPr>
                <a:t>Lyr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0BD49019-D149-D73A-160B-7A369F2244B5}"/>
                </a:ext>
              </a:extLst>
            </p:cNvPr>
            <p:cNvSpPr txBox="1"/>
            <p:nvPr/>
          </p:nvSpPr>
          <p:spPr>
            <a:xfrm>
              <a:off x="8160610" y="2927909"/>
              <a:ext cx="10545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Input Decoder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BDF0993F-0BAB-B24A-E4E6-AFBE601B0EF8}"/>
                </a:ext>
              </a:extLst>
            </p:cNvPr>
            <p:cNvSpPr/>
            <p:nvPr/>
          </p:nvSpPr>
          <p:spPr>
            <a:xfrm>
              <a:off x="6484774" y="2492523"/>
              <a:ext cx="1350207" cy="477294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4DD4AAAC-BDAE-3209-76DD-D567870552BF}"/>
                </a:ext>
              </a:extLst>
            </p:cNvPr>
            <p:cNvSpPr txBox="1"/>
            <p:nvPr/>
          </p:nvSpPr>
          <p:spPr>
            <a:xfrm>
              <a:off x="6593539" y="2927957"/>
              <a:ext cx="10471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LUT Controller</a:t>
              </a: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AA6BDB98-6FBB-C5D3-ED20-F32DDAAAC674}"/>
                </a:ext>
              </a:extLst>
            </p:cNvPr>
            <p:cNvGrpSpPr/>
            <p:nvPr/>
          </p:nvGrpSpPr>
          <p:grpSpPr>
            <a:xfrm>
              <a:off x="6716115" y="2607070"/>
              <a:ext cx="150032" cy="334436"/>
              <a:chOff x="11671300" y="3052831"/>
              <a:chExt cx="150032" cy="334436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209B0A3C-FC6B-9DD0-037D-892D438553C4}"/>
                  </a:ext>
                </a:extLst>
              </p:cNvPr>
              <p:cNvSpPr/>
              <p:nvPr/>
            </p:nvSpPr>
            <p:spPr>
              <a:xfrm>
                <a:off x="11673165" y="3052831"/>
                <a:ext cx="148167" cy="132824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CE71D9A-285E-48CC-D7DE-2920D7D4AEB7}"/>
                  </a:ext>
                </a:extLst>
              </p:cNvPr>
              <p:cNvSpPr/>
              <p:nvPr/>
            </p:nvSpPr>
            <p:spPr>
              <a:xfrm>
                <a:off x="11671300" y="3254443"/>
                <a:ext cx="148167" cy="132824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Connector: Curved 192">
                <a:extLst>
                  <a:ext uri="{FF2B5EF4-FFF2-40B4-BE49-F238E27FC236}">
                    <a16:creationId xmlns:a16="http://schemas.microsoft.com/office/drawing/2014/main" id="{33EBDE85-5F93-FF66-7BEF-432CF76B6838}"/>
                  </a:ext>
                </a:extLst>
              </p:cNvPr>
              <p:cNvCxnSpPr>
                <a:cxnSpLocks/>
                <a:stCxn id="192" idx="6"/>
                <a:endCxn id="191" idx="6"/>
              </p:cNvCxnSpPr>
              <p:nvPr/>
            </p:nvCxnSpPr>
            <p:spPr>
              <a:xfrm flipV="1">
                <a:off x="11819467" y="3119243"/>
                <a:ext cx="1865" cy="201612"/>
              </a:xfrm>
              <a:prstGeom prst="curvedConnector3">
                <a:avLst>
                  <a:gd name="adj1" fmla="val 5888204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4" name="Connector: Curved 193">
                <a:extLst>
                  <a:ext uri="{FF2B5EF4-FFF2-40B4-BE49-F238E27FC236}">
                    <a16:creationId xmlns:a16="http://schemas.microsoft.com/office/drawing/2014/main" id="{AB17DAD8-66B3-F086-E060-ABBE04B3D308}"/>
                  </a:ext>
                </a:extLst>
              </p:cNvPr>
              <p:cNvCxnSpPr>
                <a:cxnSpLocks/>
                <a:stCxn id="191" idx="2"/>
                <a:endCxn id="192" idx="2"/>
              </p:cNvCxnSpPr>
              <p:nvPr/>
            </p:nvCxnSpPr>
            <p:spPr>
              <a:xfrm rot="10800000" flipV="1">
                <a:off x="11671301" y="3119243"/>
                <a:ext cx="1865" cy="201612"/>
              </a:xfrm>
              <a:prstGeom prst="curvedConnector3">
                <a:avLst>
                  <a:gd name="adj1" fmla="val 6228686"/>
                </a:avLst>
              </a:prstGeom>
              <a:ln w="127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AE212A8-1633-45AB-D8FF-7775F5D570A0}"/>
                </a:ext>
              </a:extLst>
            </p:cNvPr>
            <p:cNvSpPr txBox="1"/>
            <p:nvPr/>
          </p:nvSpPr>
          <p:spPr>
            <a:xfrm>
              <a:off x="6478835" y="2443254"/>
              <a:ext cx="6402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R/W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53933495-524C-2F9C-6557-6F490B488EF7}"/>
                </a:ext>
              </a:extLst>
            </p:cNvPr>
            <p:cNvSpPr/>
            <p:nvPr/>
          </p:nvSpPr>
          <p:spPr>
            <a:xfrm>
              <a:off x="7101549" y="2537225"/>
              <a:ext cx="628428" cy="17105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>
                  <a:solidFill>
                    <a:schemeClr val="tx1"/>
                  </a:solidFill>
                </a:rPr>
                <a:t>Addr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4741E7AD-7AF9-0AB8-EF12-AF49779BE462}"/>
                </a:ext>
              </a:extLst>
            </p:cNvPr>
            <p:cNvSpPr/>
            <p:nvPr/>
          </p:nvSpPr>
          <p:spPr>
            <a:xfrm>
              <a:off x="7103125" y="2757922"/>
              <a:ext cx="628428" cy="17105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Value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5E0A74B-7AF7-4A48-CADD-D3CA5563E724}"/>
                </a:ext>
              </a:extLst>
            </p:cNvPr>
            <p:cNvSpPr/>
            <p:nvPr/>
          </p:nvSpPr>
          <p:spPr>
            <a:xfrm>
              <a:off x="7981954" y="2790235"/>
              <a:ext cx="1365769" cy="140713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Extractor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679DCC87-BEB5-5234-5421-C5E8C1B124D2}"/>
                </a:ext>
              </a:extLst>
            </p:cNvPr>
            <p:cNvCxnSpPr>
              <a:cxnSpLocks/>
              <a:endCxn id="179" idx="2"/>
            </p:cNvCxnSpPr>
            <p:nvPr/>
          </p:nvCxnSpPr>
          <p:spPr>
            <a:xfrm flipV="1">
              <a:off x="9152383" y="2685763"/>
              <a:ext cx="0" cy="1044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8BF0BDBB-213F-EEC7-A7AD-4EFA8AB19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4071" y="2687349"/>
              <a:ext cx="0" cy="1044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30EBE2A4-1523-6771-75D0-C3E2B670F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4393" y="2687349"/>
              <a:ext cx="0" cy="1044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1CE1AF8E-2A57-7F9E-9E7D-A37DA83FD76F}"/>
              </a:ext>
            </a:extLst>
          </p:cNvPr>
          <p:cNvCxnSpPr>
            <a:cxnSpLocks/>
            <a:endCxn id="155" idx="0"/>
          </p:cNvCxnSpPr>
          <p:nvPr/>
        </p:nvCxnSpPr>
        <p:spPr>
          <a:xfrm>
            <a:off x="3947346" y="2595284"/>
            <a:ext cx="2340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A47D10DF-1D65-6FD1-B034-C6449640B011}"/>
              </a:ext>
            </a:extLst>
          </p:cNvPr>
          <p:cNvCxnSpPr>
            <a:cxnSpLocks/>
            <a:endCxn id="145" idx="4"/>
          </p:cNvCxnSpPr>
          <p:nvPr/>
        </p:nvCxnSpPr>
        <p:spPr>
          <a:xfrm flipV="1">
            <a:off x="8780537" y="2705895"/>
            <a:ext cx="0" cy="80205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58E945B-539C-9257-8B5D-7669F079888F}"/>
              </a:ext>
            </a:extLst>
          </p:cNvPr>
          <p:cNvCxnSpPr>
            <a:cxnSpLocks/>
          </p:cNvCxnSpPr>
          <p:nvPr/>
        </p:nvCxnSpPr>
        <p:spPr>
          <a:xfrm flipV="1">
            <a:off x="3505200" y="4452852"/>
            <a:ext cx="5334000" cy="118594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5139B54-ACB2-3C39-B5CD-9991E05AB8E5}"/>
              </a:ext>
            </a:extLst>
          </p:cNvPr>
          <p:cNvCxnSpPr>
            <a:cxnSpLocks/>
          </p:cNvCxnSpPr>
          <p:nvPr/>
        </p:nvCxnSpPr>
        <p:spPr>
          <a:xfrm flipV="1">
            <a:off x="3540470" y="1363489"/>
            <a:ext cx="369806" cy="217670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535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515-5C8D-48C8-C68A-D6F246B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Proposed Methodology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3DF6-DD1E-FCD4-BAB0-54B0169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D2028-9205-36F9-1DAB-380AC35D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DD419A-0832-D097-367E-06BED409E3E9}"/>
              </a:ext>
            </a:extLst>
          </p:cNvPr>
          <p:cNvSpPr txBox="1">
            <a:spLocks/>
          </p:cNvSpPr>
          <p:nvPr/>
        </p:nvSpPr>
        <p:spPr>
          <a:xfrm>
            <a:off x="457200" y="609605"/>
            <a:ext cx="8229600" cy="1397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LUT implementation strategy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Use binning approximation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48A771F2-773A-11B7-4C8F-28C7D6CE9883}"/>
              </a:ext>
            </a:extLst>
          </p:cNvPr>
          <p:cNvSpPr/>
          <p:nvPr/>
        </p:nvSpPr>
        <p:spPr>
          <a:xfrm>
            <a:off x="592419" y="2671524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AA4C4-0E45-266F-1165-C3AE5C1CAF2C}"/>
              </a:ext>
            </a:extLst>
          </p:cNvPr>
          <p:cNvSpPr txBox="1"/>
          <p:nvPr/>
        </p:nvSpPr>
        <p:spPr>
          <a:xfrm>
            <a:off x="673118" y="261607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164F3-4836-0D92-FAA8-617B5CA4F464}"/>
              </a:ext>
            </a:extLst>
          </p:cNvPr>
          <p:cNvSpPr txBox="1"/>
          <p:nvPr/>
        </p:nvSpPr>
        <p:spPr>
          <a:xfrm>
            <a:off x="673118" y="2955671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4.817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1C4EA-38F5-9F9A-B6E2-B5C59278950A}"/>
              </a:ext>
            </a:extLst>
          </p:cNvPr>
          <p:cNvSpPr txBox="1"/>
          <p:nvPr/>
        </p:nvSpPr>
        <p:spPr>
          <a:xfrm>
            <a:off x="673118" y="331138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7568A-ACDE-36CE-763C-A886DB997CCB}"/>
              </a:ext>
            </a:extLst>
          </p:cNvPr>
          <p:cNvSpPr txBox="1"/>
          <p:nvPr/>
        </p:nvSpPr>
        <p:spPr>
          <a:xfrm>
            <a:off x="673118" y="365098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3939F-7D35-AAAC-7DF3-9277364DEB92}"/>
              </a:ext>
            </a:extLst>
          </p:cNvPr>
          <p:cNvSpPr txBox="1"/>
          <p:nvPr/>
        </p:nvSpPr>
        <p:spPr>
          <a:xfrm>
            <a:off x="673118" y="483571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4.990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597BD-ED52-3D6B-CC99-02A464B9AC82}"/>
              </a:ext>
            </a:extLst>
          </p:cNvPr>
          <p:cNvSpPr txBox="1"/>
          <p:nvPr/>
        </p:nvSpPr>
        <p:spPr>
          <a:xfrm>
            <a:off x="668254" y="517391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4CD40E-C03F-81A7-E56E-D7D6956F6049}"/>
              </a:ext>
            </a:extLst>
          </p:cNvPr>
          <p:cNvSpPr txBox="1"/>
          <p:nvPr/>
        </p:nvSpPr>
        <p:spPr>
          <a:xfrm>
            <a:off x="673118" y="5494606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0BCA7-A9BA-72D0-6014-92186BFE92FB}"/>
              </a:ext>
            </a:extLst>
          </p:cNvPr>
          <p:cNvSpPr txBox="1"/>
          <p:nvPr/>
        </p:nvSpPr>
        <p:spPr>
          <a:xfrm rot="5400000">
            <a:off x="640385" y="42541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5E3859-5B8D-A421-8A2E-233446803343}"/>
                  </a:ext>
                </a:extLst>
              </p:cNvPr>
              <p:cNvSpPr txBox="1"/>
              <p:nvPr/>
            </p:nvSpPr>
            <p:spPr>
              <a:xfrm>
                <a:off x="222250" y="2205857"/>
                <a:ext cx="1907830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(16 bits)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5E3859-5B8D-A421-8A2E-233446803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" y="2205857"/>
                <a:ext cx="1907830" cy="395621"/>
              </a:xfrm>
              <a:prstGeom prst="rect">
                <a:avLst/>
              </a:prstGeom>
              <a:blipFill>
                <a:blip r:embed="rId3"/>
                <a:stretch>
                  <a:fillRect l="-2556" t="-9231" r="-2556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7E8DC45-A6B8-D50C-F68A-FB05D4DFF133}"/>
              </a:ext>
            </a:extLst>
          </p:cNvPr>
          <p:cNvSpPr txBox="1"/>
          <p:nvPr/>
        </p:nvSpPr>
        <p:spPr>
          <a:xfrm>
            <a:off x="5860426" y="218805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(3 bits)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65332D-BA75-FF73-9787-8E54505A2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457304"/>
              </p:ext>
            </p:extLst>
          </p:nvPr>
        </p:nvGraphicFramePr>
        <p:xfrm>
          <a:off x="2271081" y="2576529"/>
          <a:ext cx="3257191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0077">
                  <a:extLst>
                    <a:ext uri="{9D8B030D-6E8A-4147-A177-3AD203B41FA5}">
                      <a16:colId xmlns:a16="http://schemas.microsoft.com/office/drawing/2014/main" val="290952722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3300231692"/>
                    </a:ext>
                  </a:extLst>
                </a:gridCol>
                <a:gridCol w="1272844">
                  <a:extLst>
                    <a:ext uri="{9D8B030D-6E8A-4147-A177-3AD203B41FA5}">
                      <a16:colId xmlns:a16="http://schemas.microsoft.com/office/drawing/2014/main" val="4075940214"/>
                    </a:ext>
                  </a:extLst>
                </a:gridCol>
              </a:tblGrid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13616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 – 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1759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 – 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583007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4.51 –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447349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5.01 – 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589520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5.51 – 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318252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6.01 – 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27144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 –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738618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7.01 – 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644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846A84E-CCA2-CC4C-0263-175FD9A5A333}"/>
              </a:ext>
            </a:extLst>
          </p:cNvPr>
          <p:cNvSpPr txBox="1"/>
          <p:nvPr/>
        </p:nvSpPr>
        <p:spPr>
          <a:xfrm>
            <a:off x="2827429" y="2185220"/>
            <a:ext cx="249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Assignment Table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C4C3162-842C-0478-4A2A-13C7581DE3D6}"/>
              </a:ext>
            </a:extLst>
          </p:cNvPr>
          <p:cNvSpPr/>
          <p:nvPr/>
        </p:nvSpPr>
        <p:spPr>
          <a:xfrm>
            <a:off x="1706606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24C332-CFC1-B116-C894-0F3CF420839F}"/>
                  </a:ext>
                </a:extLst>
              </p:cNvPr>
              <p:cNvSpPr txBox="1"/>
              <p:nvPr/>
            </p:nvSpPr>
            <p:spPr>
              <a:xfrm>
                <a:off x="7895482" y="2196637"/>
                <a:ext cx="950068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24C332-CFC1-B116-C894-0F3CF4208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482" y="2196637"/>
                <a:ext cx="950068" cy="395621"/>
              </a:xfrm>
              <a:prstGeom prst="rect">
                <a:avLst/>
              </a:prstGeom>
              <a:blipFill>
                <a:blip r:embed="rId4"/>
                <a:stretch>
                  <a:fillRect l="-5128" t="-7692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59846F4-FC4B-5E47-46CA-1B54E53AA8AC}"/>
              </a:ext>
            </a:extLst>
          </p:cNvPr>
          <p:cNvSpPr txBox="1"/>
          <p:nvPr/>
        </p:nvSpPr>
        <p:spPr>
          <a:xfrm rot="16200000">
            <a:off x="-162275" y="4031659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Neurons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5E339D1-C220-1F1E-D77B-2D94AEBC8E7B}"/>
              </a:ext>
            </a:extLst>
          </p:cNvPr>
          <p:cNvSpPr/>
          <p:nvPr/>
        </p:nvSpPr>
        <p:spPr>
          <a:xfrm>
            <a:off x="5734073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Double Bracket 27">
            <a:extLst>
              <a:ext uri="{FF2B5EF4-FFF2-40B4-BE49-F238E27FC236}">
                <a16:creationId xmlns:a16="http://schemas.microsoft.com/office/drawing/2014/main" id="{96572B9A-8ADB-13FA-0867-F01A6E5934EF}"/>
              </a:ext>
            </a:extLst>
          </p:cNvPr>
          <p:cNvSpPr/>
          <p:nvPr/>
        </p:nvSpPr>
        <p:spPr>
          <a:xfrm>
            <a:off x="6139817" y="2667666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50AD40-ED28-8F30-779E-C3232D540B41}"/>
              </a:ext>
            </a:extLst>
          </p:cNvPr>
          <p:cNvSpPr txBox="1"/>
          <p:nvPr/>
        </p:nvSpPr>
        <p:spPr>
          <a:xfrm>
            <a:off x="6188016" y="2955301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(010)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6958B-07C7-4125-0F43-3DDEEE1B7407}"/>
              </a:ext>
            </a:extLst>
          </p:cNvPr>
          <p:cNvSpPr txBox="1"/>
          <p:nvPr/>
        </p:nvSpPr>
        <p:spPr>
          <a:xfrm>
            <a:off x="6188016" y="3311012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(001)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8C731-9A2F-950A-6A3E-6517BEA3A3AA}"/>
              </a:ext>
            </a:extLst>
          </p:cNvPr>
          <p:cNvSpPr txBox="1"/>
          <p:nvPr/>
        </p:nvSpPr>
        <p:spPr>
          <a:xfrm>
            <a:off x="6188016" y="3650613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(111)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F7A3B0-CA71-AC5E-3D4B-4F075F6DBAFA}"/>
              </a:ext>
            </a:extLst>
          </p:cNvPr>
          <p:cNvSpPr txBox="1"/>
          <p:nvPr/>
        </p:nvSpPr>
        <p:spPr>
          <a:xfrm>
            <a:off x="6188016" y="4835347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(010)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3491CD-F333-E8D0-35B3-31FDB5297721}"/>
              </a:ext>
            </a:extLst>
          </p:cNvPr>
          <p:cNvSpPr txBox="1"/>
          <p:nvPr/>
        </p:nvSpPr>
        <p:spPr>
          <a:xfrm>
            <a:off x="6183152" y="5173544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(101)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127E1-5D26-44A3-92AF-9DE9F0371669}"/>
              </a:ext>
            </a:extLst>
          </p:cNvPr>
          <p:cNvSpPr txBox="1"/>
          <p:nvPr/>
        </p:nvSpPr>
        <p:spPr>
          <a:xfrm>
            <a:off x="6188016" y="549423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(000)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F942A9-BB13-4AFC-44BB-B02A250FC578}"/>
              </a:ext>
            </a:extLst>
          </p:cNvPr>
          <p:cNvSpPr txBox="1"/>
          <p:nvPr/>
        </p:nvSpPr>
        <p:spPr>
          <a:xfrm rot="5400000">
            <a:off x="6155283" y="42537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5447D1-12C0-916F-A246-730B0B4E1ADC}"/>
              </a:ext>
            </a:extLst>
          </p:cNvPr>
          <p:cNvSpPr txBox="1"/>
          <p:nvPr/>
        </p:nvSpPr>
        <p:spPr>
          <a:xfrm>
            <a:off x="6183152" y="263558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(011)</a:t>
            </a:r>
          </a:p>
        </p:txBody>
      </p:sp>
      <p:sp>
        <p:nvSpPr>
          <p:cNvPr id="38" name="Double Bracket 37">
            <a:extLst>
              <a:ext uri="{FF2B5EF4-FFF2-40B4-BE49-F238E27FC236}">
                <a16:creationId xmlns:a16="http://schemas.microsoft.com/office/drawing/2014/main" id="{E9193F81-5899-3082-A90B-6C20CBF4AE3B}"/>
              </a:ext>
            </a:extLst>
          </p:cNvPr>
          <p:cNvSpPr/>
          <p:nvPr/>
        </p:nvSpPr>
        <p:spPr>
          <a:xfrm>
            <a:off x="7873030" y="2652104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33BD2B-D7D0-98F8-7C68-C4E75C6B5F1B}"/>
              </a:ext>
            </a:extLst>
          </p:cNvPr>
          <p:cNvSpPr txBox="1"/>
          <p:nvPr/>
        </p:nvSpPr>
        <p:spPr>
          <a:xfrm>
            <a:off x="8021825" y="259665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A0B824-A49A-47E9-9126-50CEF012CCF9}"/>
              </a:ext>
            </a:extLst>
          </p:cNvPr>
          <p:cNvSpPr txBox="1"/>
          <p:nvPr/>
        </p:nvSpPr>
        <p:spPr>
          <a:xfrm>
            <a:off x="8021825" y="293625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D76E6-03EE-956C-5690-690959F5C2FD}"/>
              </a:ext>
            </a:extLst>
          </p:cNvPr>
          <p:cNvSpPr txBox="1"/>
          <p:nvPr/>
        </p:nvSpPr>
        <p:spPr>
          <a:xfrm>
            <a:off x="8021825" y="329196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951DCD-9028-31B1-2045-92B8FB9A6C21}"/>
              </a:ext>
            </a:extLst>
          </p:cNvPr>
          <p:cNvSpPr txBox="1"/>
          <p:nvPr/>
        </p:nvSpPr>
        <p:spPr>
          <a:xfrm>
            <a:off x="8021825" y="363156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4276A1-0481-DDD5-A8FF-62E5AF77C0ED}"/>
              </a:ext>
            </a:extLst>
          </p:cNvPr>
          <p:cNvSpPr txBox="1"/>
          <p:nvPr/>
        </p:nvSpPr>
        <p:spPr>
          <a:xfrm>
            <a:off x="8021825" y="481629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8EC118-5279-3C5D-2605-832A20F55B3E}"/>
              </a:ext>
            </a:extLst>
          </p:cNvPr>
          <p:cNvSpPr txBox="1"/>
          <p:nvPr/>
        </p:nvSpPr>
        <p:spPr>
          <a:xfrm>
            <a:off x="8016961" y="515449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988224-C0BD-3213-D607-26552E761B97}"/>
              </a:ext>
            </a:extLst>
          </p:cNvPr>
          <p:cNvSpPr txBox="1"/>
          <p:nvPr/>
        </p:nvSpPr>
        <p:spPr>
          <a:xfrm>
            <a:off x="8021825" y="547518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74720-CA85-249A-5EA8-69CE7517BC73}"/>
              </a:ext>
            </a:extLst>
          </p:cNvPr>
          <p:cNvSpPr txBox="1"/>
          <p:nvPr/>
        </p:nvSpPr>
        <p:spPr>
          <a:xfrm rot="5400000">
            <a:off x="7989092" y="42347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046C189-94B4-DD54-19B1-1E36A349FD27}"/>
              </a:ext>
            </a:extLst>
          </p:cNvPr>
          <p:cNvSpPr/>
          <p:nvPr/>
        </p:nvSpPr>
        <p:spPr>
          <a:xfrm>
            <a:off x="7352832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09A3CF7-7659-57EF-AC82-61A9A05980FD}"/>
              </a:ext>
            </a:extLst>
          </p:cNvPr>
          <p:cNvCxnSpPr>
            <a:cxnSpLocks/>
          </p:cNvCxnSpPr>
          <p:nvPr/>
        </p:nvCxnSpPr>
        <p:spPr>
          <a:xfrm flipV="1">
            <a:off x="7099300" y="3136879"/>
            <a:ext cx="924001" cy="308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2A7EA5A-F988-146A-3D04-D2B378978750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5140475" y="3139967"/>
            <a:ext cx="1047541" cy="730955"/>
          </a:xfrm>
          <a:prstGeom prst="bentConnector3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038233F-9E6C-77EA-ECF8-BC3604D7259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77157" y="3140337"/>
            <a:ext cx="1095775" cy="72829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45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3572-6E09-9137-A2AB-718A7EF4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5896-53E8-5A8E-7889-6462909D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Proposed Methodology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77E2C-1FFF-5ACB-B4C6-6DE9B91D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CD969-6969-F704-E31C-8BDB2C48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846CBD-03C0-8D90-0B98-270C2B5FE6C2}"/>
              </a:ext>
            </a:extLst>
          </p:cNvPr>
          <p:cNvSpPr txBox="1">
            <a:spLocks/>
          </p:cNvSpPr>
          <p:nvPr/>
        </p:nvSpPr>
        <p:spPr>
          <a:xfrm>
            <a:off x="457200" y="609605"/>
            <a:ext cx="8229600" cy="1397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LUT implementation strategy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Use binning approximation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A354B490-3F93-DD31-50C2-1DE6622A4EC9}"/>
              </a:ext>
            </a:extLst>
          </p:cNvPr>
          <p:cNvSpPr/>
          <p:nvPr/>
        </p:nvSpPr>
        <p:spPr>
          <a:xfrm>
            <a:off x="592419" y="2671524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7C356-2471-2B5D-C3E0-A14797892E77}"/>
              </a:ext>
            </a:extLst>
          </p:cNvPr>
          <p:cNvSpPr txBox="1"/>
          <p:nvPr/>
        </p:nvSpPr>
        <p:spPr>
          <a:xfrm>
            <a:off x="673118" y="261607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C05157-C181-16F8-740F-D91627AE7787}"/>
              </a:ext>
            </a:extLst>
          </p:cNvPr>
          <p:cNvSpPr txBox="1"/>
          <p:nvPr/>
        </p:nvSpPr>
        <p:spPr>
          <a:xfrm>
            <a:off x="673118" y="2955671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4.817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CD7DB-2B1B-455F-2105-7BE26C531320}"/>
              </a:ext>
            </a:extLst>
          </p:cNvPr>
          <p:cNvSpPr txBox="1"/>
          <p:nvPr/>
        </p:nvSpPr>
        <p:spPr>
          <a:xfrm>
            <a:off x="673118" y="331138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19F6F-C4D0-A97B-00E8-495B3C6BB976}"/>
              </a:ext>
            </a:extLst>
          </p:cNvPr>
          <p:cNvSpPr txBox="1"/>
          <p:nvPr/>
        </p:nvSpPr>
        <p:spPr>
          <a:xfrm>
            <a:off x="673118" y="365098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36CB3-93BE-966D-17D6-B7B7DBC3FA7C}"/>
              </a:ext>
            </a:extLst>
          </p:cNvPr>
          <p:cNvSpPr txBox="1"/>
          <p:nvPr/>
        </p:nvSpPr>
        <p:spPr>
          <a:xfrm>
            <a:off x="673118" y="483571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4.990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50D63-F8C8-CE51-E82A-BBBED927E84D}"/>
              </a:ext>
            </a:extLst>
          </p:cNvPr>
          <p:cNvSpPr txBox="1"/>
          <p:nvPr/>
        </p:nvSpPr>
        <p:spPr>
          <a:xfrm>
            <a:off x="668254" y="517391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E5F2B-E9A7-F4DD-F514-835E488CDB80}"/>
              </a:ext>
            </a:extLst>
          </p:cNvPr>
          <p:cNvSpPr txBox="1"/>
          <p:nvPr/>
        </p:nvSpPr>
        <p:spPr>
          <a:xfrm>
            <a:off x="673118" y="5494606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D964B-859C-FC15-CA0D-64CC65075F14}"/>
              </a:ext>
            </a:extLst>
          </p:cNvPr>
          <p:cNvSpPr txBox="1"/>
          <p:nvPr/>
        </p:nvSpPr>
        <p:spPr>
          <a:xfrm rot="5400000">
            <a:off x="640385" y="42541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7098F8-239B-8DF8-9E24-2EF8E2D390F2}"/>
                  </a:ext>
                </a:extLst>
              </p:cNvPr>
              <p:cNvSpPr txBox="1"/>
              <p:nvPr/>
            </p:nvSpPr>
            <p:spPr>
              <a:xfrm>
                <a:off x="222250" y="2205857"/>
                <a:ext cx="1907830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(16 bits)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7098F8-239B-8DF8-9E24-2EF8E2D3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" y="2205857"/>
                <a:ext cx="1907830" cy="395621"/>
              </a:xfrm>
              <a:prstGeom prst="rect">
                <a:avLst/>
              </a:prstGeom>
              <a:blipFill>
                <a:blip r:embed="rId3"/>
                <a:stretch>
                  <a:fillRect l="-2556" t="-9231" r="-2556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2347BE8-618C-487C-67D1-0133626C2557}"/>
              </a:ext>
            </a:extLst>
          </p:cNvPr>
          <p:cNvSpPr txBox="1"/>
          <p:nvPr/>
        </p:nvSpPr>
        <p:spPr>
          <a:xfrm>
            <a:off x="5860426" y="218805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(3 bits)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D3DFF1C-E2F0-A1FD-353C-7460B0956F9F}"/>
              </a:ext>
            </a:extLst>
          </p:cNvPr>
          <p:cNvGraphicFramePr>
            <a:graphicFrameLocks noGrp="1"/>
          </p:cNvGraphicFramePr>
          <p:nvPr/>
        </p:nvGraphicFramePr>
        <p:xfrm>
          <a:off x="2271081" y="2576529"/>
          <a:ext cx="3257191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0077">
                  <a:extLst>
                    <a:ext uri="{9D8B030D-6E8A-4147-A177-3AD203B41FA5}">
                      <a16:colId xmlns:a16="http://schemas.microsoft.com/office/drawing/2014/main" val="290952722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3300231692"/>
                    </a:ext>
                  </a:extLst>
                </a:gridCol>
                <a:gridCol w="1272844">
                  <a:extLst>
                    <a:ext uri="{9D8B030D-6E8A-4147-A177-3AD203B41FA5}">
                      <a16:colId xmlns:a16="http://schemas.microsoft.com/office/drawing/2014/main" val="4075940214"/>
                    </a:ext>
                  </a:extLst>
                </a:gridCol>
              </a:tblGrid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13616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 – 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1759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 – 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583007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4.51 –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447349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5.01 – 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589520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5.51 – 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318252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6.01 – 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27144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 –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738618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7.01 – 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644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1DDFED7-6CC8-2FA9-A5A9-B3819B0E2419}"/>
              </a:ext>
            </a:extLst>
          </p:cNvPr>
          <p:cNvSpPr txBox="1"/>
          <p:nvPr/>
        </p:nvSpPr>
        <p:spPr>
          <a:xfrm>
            <a:off x="2827429" y="2185220"/>
            <a:ext cx="249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Assignment Table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418985A-6819-0233-BF3B-DC6B9A1768B6}"/>
              </a:ext>
            </a:extLst>
          </p:cNvPr>
          <p:cNvSpPr/>
          <p:nvPr/>
        </p:nvSpPr>
        <p:spPr>
          <a:xfrm>
            <a:off x="1706606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E7ED91-5A25-570C-5451-7FF1CFD315ED}"/>
                  </a:ext>
                </a:extLst>
              </p:cNvPr>
              <p:cNvSpPr txBox="1"/>
              <p:nvPr/>
            </p:nvSpPr>
            <p:spPr>
              <a:xfrm>
                <a:off x="7895482" y="2196637"/>
                <a:ext cx="950068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E7ED91-5A25-570C-5451-7FF1CFD31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482" y="2196637"/>
                <a:ext cx="950068" cy="395621"/>
              </a:xfrm>
              <a:prstGeom prst="rect">
                <a:avLst/>
              </a:prstGeom>
              <a:blipFill>
                <a:blip r:embed="rId4"/>
                <a:stretch>
                  <a:fillRect l="-5128" t="-7692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579F52B-A0C7-8EED-543F-2562868B7364}"/>
              </a:ext>
            </a:extLst>
          </p:cNvPr>
          <p:cNvSpPr txBox="1"/>
          <p:nvPr/>
        </p:nvSpPr>
        <p:spPr>
          <a:xfrm rot="16200000">
            <a:off x="-162275" y="4031659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Neurons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DC2B373-9BB8-6024-C013-BEFB7D9080FB}"/>
              </a:ext>
            </a:extLst>
          </p:cNvPr>
          <p:cNvSpPr/>
          <p:nvPr/>
        </p:nvSpPr>
        <p:spPr>
          <a:xfrm>
            <a:off x="5734073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Double Bracket 27">
            <a:extLst>
              <a:ext uri="{FF2B5EF4-FFF2-40B4-BE49-F238E27FC236}">
                <a16:creationId xmlns:a16="http://schemas.microsoft.com/office/drawing/2014/main" id="{67897952-686D-8559-F35F-A630FC38511A}"/>
              </a:ext>
            </a:extLst>
          </p:cNvPr>
          <p:cNvSpPr/>
          <p:nvPr/>
        </p:nvSpPr>
        <p:spPr>
          <a:xfrm>
            <a:off x="6139817" y="2667666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546D60-E881-F121-24F4-B609531EAA2B}"/>
              </a:ext>
            </a:extLst>
          </p:cNvPr>
          <p:cNvSpPr txBox="1"/>
          <p:nvPr/>
        </p:nvSpPr>
        <p:spPr>
          <a:xfrm>
            <a:off x="6188016" y="2955301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(010)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A7BB6A-8E17-F1EE-6564-CA1365F92219}"/>
              </a:ext>
            </a:extLst>
          </p:cNvPr>
          <p:cNvSpPr txBox="1"/>
          <p:nvPr/>
        </p:nvSpPr>
        <p:spPr>
          <a:xfrm>
            <a:off x="6188016" y="3311012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(001)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D48CCA-1EE0-D9DA-5173-FFAC8D86B8B0}"/>
              </a:ext>
            </a:extLst>
          </p:cNvPr>
          <p:cNvSpPr txBox="1"/>
          <p:nvPr/>
        </p:nvSpPr>
        <p:spPr>
          <a:xfrm>
            <a:off x="6188016" y="3650613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(111)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58BE15-C67A-9A71-60B8-592431F34ED0}"/>
              </a:ext>
            </a:extLst>
          </p:cNvPr>
          <p:cNvSpPr txBox="1"/>
          <p:nvPr/>
        </p:nvSpPr>
        <p:spPr>
          <a:xfrm>
            <a:off x="6188016" y="4835347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(010)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C6876A-341F-3733-61DA-489EE86CEADD}"/>
              </a:ext>
            </a:extLst>
          </p:cNvPr>
          <p:cNvSpPr txBox="1"/>
          <p:nvPr/>
        </p:nvSpPr>
        <p:spPr>
          <a:xfrm>
            <a:off x="6183152" y="5173544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(101)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EAF3F0-3C87-46A2-C404-F5BA99CCE7A0}"/>
              </a:ext>
            </a:extLst>
          </p:cNvPr>
          <p:cNvSpPr txBox="1"/>
          <p:nvPr/>
        </p:nvSpPr>
        <p:spPr>
          <a:xfrm>
            <a:off x="6188016" y="549423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(000)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F99BF-EE8F-8B87-F0FF-B38EED59075D}"/>
              </a:ext>
            </a:extLst>
          </p:cNvPr>
          <p:cNvSpPr txBox="1"/>
          <p:nvPr/>
        </p:nvSpPr>
        <p:spPr>
          <a:xfrm rot="5400000">
            <a:off x="6155283" y="42537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5C34EF-16E5-B746-FFDD-D8207AD49F37}"/>
              </a:ext>
            </a:extLst>
          </p:cNvPr>
          <p:cNvSpPr txBox="1"/>
          <p:nvPr/>
        </p:nvSpPr>
        <p:spPr>
          <a:xfrm>
            <a:off x="6183152" y="263558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(011)</a:t>
            </a:r>
          </a:p>
        </p:txBody>
      </p:sp>
      <p:sp>
        <p:nvSpPr>
          <p:cNvPr id="38" name="Double Bracket 37">
            <a:extLst>
              <a:ext uri="{FF2B5EF4-FFF2-40B4-BE49-F238E27FC236}">
                <a16:creationId xmlns:a16="http://schemas.microsoft.com/office/drawing/2014/main" id="{6E9E566A-F0E8-3676-A1C6-FAA5A49A791B}"/>
              </a:ext>
            </a:extLst>
          </p:cNvPr>
          <p:cNvSpPr/>
          <p:nvPr/>
        </p:nvSpPr>
        <p:spPr>
          <a:xfrm>
            <a:off x="7873030" y="2652104"/>
            <a:ext cx="899571" cy="3177822"/>
          </a:xfrm>
          <a:prstGeom prst="bracketPair">
            <a:avLst>
              <a:gd name="adj" fmla="val 6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7C8083-9D4B-4635-6951-61BB6D6EAEF0}"/>
              </a:ext>
            </a:extLst>
          </p:cNvPr>
          <p:cNvSpPr txBox="1"/>
          <p:nvPr/>
        </p:nvSpPr>
        <p:spPr>
          <a:xfrm>
            <a:off x="8021825" y="259665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C74A5B-2803-3DBF-7D85-7868ECAC6FF5}"/>
              </a:ext>
            </a:extLst>
          </p:cNvPr>
          <p:cNvSpPr txBox="1"/>
          <p:nvPr/>
        </p:nvSpPr>
        <p:spPr>
          <a:xfrm>
            <a:off x="8021825" y="293625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44A59E-3504-BACF-E70D-7373D588F1F2}"/>
              </a:ext>
            </a:extLst>
          </p:cNvPr>
          <p:cNvSpPr txBox="1"/>
          <p:nvPr/>
        </p:nvSpPr>
        <p:spPr>
          <a:xfrm>
            <a:off x="8021825" y="329196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DCC02A-7473-F718-F452-3794AD8A0E36}"/>
              </a:ext>
            </a:extLst>
          </p:cNvPr>
          <p:cNvSpPr txBox="1"/>
          <p:nvPr/>
        </p:nvSpPr>
        <p:spPr>
          <a:xfrm>
            <a:off x="8021825" y="363156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EA44FC-982C-5487-2478-3311B1C30826}"/>
              </a:ext>
            </a:extLst>
          </p:cNvPr>
          <p:cNvSpPr txBox="1"/>
          <p:nvPr/>
        </p:nvSpPr>
        <p:spPr>
          <a:xfrm>
            <a:off x="8021825" y="481629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8FDC09-96E4-2B88-3ECD-A928B7FCC3AE}"/>
              </a:ext>
            </a:extLst>
          </p:cNvPr>
          <p:cNvSpPr txBox="1"/>
          <p:nvPr/>
        </p:nvSpPr>
        <p:spPr>
          <a:xfrm>
            <a:off x="8016961" y="515449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0C278E-1DAC-70B7-E6D9-52EA09C3162E}"/>
              </a:ext>
            </a:extLst>
          </p:cNvPr>
          <p:cNvSpPr txBox="1"/>
          <p:nvPr/>
        </p:nvSpPr>
        <p:spPr>
          <a:xfrm>
            <a:off x="8021825" y="547518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761047-DA90-AF69-E711-E7532A05FB93}"/>
              </a:ext>
            </a:extLst>
          </p:cNvPr>
          <p:cNvSpPr txBox="1"/>
          <p:nvPr/>
        </p:nvSpPr>
        <p:spPr>
          <a:xfrm rot="5400000">
            <a:off x="7989092" y="42347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DAEEC32-6279-6143-FBC4-416A3E46FC08}"/>
              </a:ext>
            </a:extLst>
          </p:cNvPr>
          <p:cNvSpPr/>
          <p:nvPr/>
        </p:nvSpPr>
        <p:spPr>
          <a:xfrm>
            <a:off x="7352832" y="3977566"/>
            <a:ext cx="265691" cy="520510"/>
          </a:xfrm>
          <a:prstGeom prst="rightArrow">
            <a:avLst>
              <a:gd name="adj1" fmla="val 50000"/>
              <a:gd name="adj2" fmla="val 5915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CDECB9C-EACD-96FA-9EE2-71A5057D2FC1}"/>
              </a:ext>
            </a:extLst>
          </p:cNvPr>
          <p:cNvCxnSpPr>
            <a:cxnSpLocks/>
          </p:cNvCxnSpPr>
          <p:nvPr/>
        </p:nvCxnSpPr>
        <p:spPr>
          <a:xfrm flipV="1">
            <a:off x="7099300" y="3136879"/>
            <a:ext cx="924001" cy="308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C2481FB-366D-8B86-DD9B-1038EB791C3A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5140475" y="3139967"/>
            <a:ext cx="1047541" cy="730955"/>
          </a:xfrm>
          <a:prstGeom prst="bentConnector3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0AFC622-44B7-76F3-15E8-D7367F5914F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77157" y="3140337"/>
            <a:ext cx="1095775" cy="72829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8BC59C3D-66D4-559C-07E5-3E6F80B47968}"/>
              </a:ext>
            </a:extLst>
          </p:cNvPr>
          <p:cNvSpPr/>
          <p:nvPr/>
        </p:nvSpPr>
        <p:spPr>
          <a:xfrm>
            <a:off x="1150055" y="2177017"/>
            <a:ext cx="987539" cy="4310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F4651A-799C-8E12-B212-AEAB3E522A52}"/>
              </a:ext>
            </a:extLst>
          </p:cNvPr>
          <p:cNvSpPr/>
          <p:nvPr/>
        </p:nvSpPr>
        <p:spPr>
          <a:xfrm>
            <a:off x="6418372" y="2154361"/>
            <a:ext cx="987539" cy="4310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F251A8C1-13FC-4C82-C76C-7A4419743D68}"/>
              </a:ext>
            </a:extLst>
          </p:cNvPr>
          <p:cNvCxnSpPr>
            <a:stCxn id="3" idx="0"/>
            <a:endCxn id="21" idx="0"/>
          </p:cNvCxnSpPr>
          <p:nvPr/>
        </p:nvCxnSpPr>
        <p:spPr>
          <a:xfrm rot="5400000" flipH="1" flipV="1">
            <a:off x="4266655" y="-468469"/>
            <a:ext cx="22656" cy="5268317"/>
          </a:xfrm>
          <a:prstGeom prst="curvedConnector3">
            <a:avLst>
              <a:gd name="adj1" fmla="val 1109004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5E96911-E091-6AFA-7A38-BB7C5D60C7F4}"/>
              </a:ext>
            </a:extLst>
          </p:cNvPr>
          <p:cNvSpPr txBox="1"/>
          <p:nvPr/>
        </p:nvSpPr>
        <p:spPr>
          <a:xfrm>
            <a:off x="5658191" y="1633690"/>
            <a:ext cx="1601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overheads</a:t>
            </a:r>
          </a:p>
        </p:txBody>
      </p:sp>
    </p:spTree>
    <p:extLst>
      <p:ext uri="{BB962C8B-B14F-4D97-AF65-F5344CB8AC3E}">
        <p14:creationId xmlns:p14="http://schemas.microsoft.com/office/powerpoint/2010/main" val="373227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00C5-8C97-7CB9-3E7A-8BA9DB00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C447-04E3-B9C9-AFB5-C06BDA41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496DA-5C46-56E6-CA20-471F5F80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References 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D47-BBDE-09EE-7074-9B888383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436AD-13CD-E76F-A509-FEC960E5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56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7637-03AA-216D-D026-B6B8C811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FAD0-B233-EF83-CD0F-474355B0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13AF-49A4-7052-2091-FC19CF27A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382000" cy="58642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Accuracy assessment: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Network architecture and benchmark</a:t>
            </a:r>
          </a:p>
          <a:p>
            <a:pPr lvl="2"/>
            <a:r>
              <a:rPr lang="en-US" i="1" dirty="0">
                <a:solidFill>
                  <a:srgbClr val="002060"/>
                </a:solidFill>
              </a:rPr>
              <a:t>MNIST</a:t>
            </a:r>
            <a:r>
              <a:rPr lang="en-US" dirty="0">
                <a:solidFill>
                  <a:srgbClr val="002060"/>
                </a:solidFill>
              </a:rPr>
              <a:t> (MLP), </a:t>
            </a:r>
            <a:r>
              <a:rPr lang="en-US" i="1" dirty="0">
                <a:solidFill>
                  <a:srgbClr val="002060"/>
                </a:solidFill>
              </a:rPr>
              <a:t>F-MNIST</a:t>
            </a:r>
            <a:r>
              <a:rPr lang="en-US" dirty="0">
                <a:solidFill>
                  <a:srgbClr val="002060"/>
                </a:solidFill>
              </a:rPr>
              <a:t> (VGG5), </a:t>
            </a:r>
            <a:r>
              <a:rPr lang="en-US" i="1" dirty="0">
                <a:solidFill>
                  <a:srgbClr val="002060"/>
                </a:solidFill>
              </a:rPr>
              <a:t>CIFAR-10</a:t>
            </a:r>
            <a:r>
              <a:rPr lang="en-US" dirty="0">
                <a:solidFill>
                  <a:srgbClr val="002060"/>
                </a:solidFill>
              </a:rPr>
              <a:t> (VGG16)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Insert single-bit faults randomly to trained weights</a:t>
            </a:r>
          </a:p>
          <a:p>
            <a:pPr lvl="2"/>
            <a:r>
              <a:rPr lang="en-US" b="1" dirty="0">
                <a:solidFill>
                  <a:srgbClr val="002060"/>
                </a:solidFill>
              </a:rPr>
              <a:t>1-to-0</a:t>
            </a:r>
            <a:r>
              <a:rPr lang="en-US" dirty="0">
                <a:solidFill>
                  <a:srgbClr val="002060"/>
                </a:solidFill>
              </a:rPr>
              <a:t> bit-flipping @ 100%, 90%, 80% ratio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Change granularity of binning approximation</a:t>
            </a:r>
          </a:p>
          <a:p>
            <a:pPr marL="457200" lvl="1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Hardware evaluation: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Logic synthesis with Synopsys Design Compiler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45nm technology node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Memory modeling: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DESTINY[6] tool to model 3D-DRAM with 45nm node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2EBF5-9445-FFB4-E352-ABBF01F9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24747-35A4-ACCF-A3E7-6CF09146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98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E6C9-2167-CDF3-D70D-21E06494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D021-D731-6BF8-14F3-8610FDA0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080D-8D02-24C5-6F26-E748C4BA6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Impact on benchmark accuracy 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30C1-CFDA-073F-A131-5C24E96A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7E75B-CC7E-2F73-1F29-0A0D6191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89B12C-C8E0-D181-AFA8-012220370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219200"/>
            <a:ext cx="7386802" cy="51276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5AC2C4-65AE-39C0-7524-127719F05DA7}"/>
              </a:ext>
            </a:extLst>
          </p:cNvPr>
          <p:cNvSpPr/>
          <p:nvPr/>
        </p:nvSpPr>
        <p:spPr>
          <a:xfrm>
            <a:off x="1066800" y="1219200"/>
            <a:ext cx="7386802" cy="51276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39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463F-6EF9-D0E7-CEE7-0CD05B71D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0C08-14D1-5C19-C1E0-11F80EA1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1360-8F8A-88AF-9853-813050847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Impact on benchmark accuracy 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91561-62F4-512D-E795-4948B065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4031-83AA-E6D2-2957-D5E48A64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049795-1A38-C98A-2844-A7AC9FC74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219200"/>
            <a:ext cx="7386802" cy="51276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9DAC8E-8213-8E01-5A7D-F11EC889191F}"/>
              </a:ext>
            </a:extLst>
          </p:cNvPr>
          <p:cNvSpPr/>
          <p:nvPr/>
        </p:nvSpPr>
        <p:spPr>
          <a:xfrm>
            <a:off x="1066800" y="1219200"/>
            <a:ext cx="7386802" cy="51276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2885C4-E441-2BAF-5BE6-744BF2BC5872}"/>
              </a:ext>
            </a:extLst>
          </p:cNvPr>
          <p:cNvCxnSpPr/>
          <p:nvPr/>
        </p:nvCxnSpPr>
        <p:spPr>
          <a:xfrm flipV="1">
            <a:off x="3581400" y="1828800"/>
            <a:ext cx="0" cy="6096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571EB2-5E24-18F8-C8A9-449394B16788}"/>
              </a:ext>
            </a:extLst>
          </p:cNvPr>
          <p:cNvSpPr txBox="1"/>
          <p:nvPr/>
        </p:nvSpPr>
        <p:spPr>
          <a:xfrm>
            <a:off x="2587470" y="2149323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+54.60%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8B3EDA-2CE5-DBC0-5AAB-D4221B1070F9}"/>
              </a:ext>
            </a:extLst>
          </p:cNvPr>
          <p:cNvCxnSpPr>
            <a:cxnSpLocks/>
          </p:cNvCxnSpPr>
          <p:nvPr/>
        </p:nvCxnSpPr>
        <p:spPr>
          <a:xfrm flipV="1">
            <a:off x="3581400" y="5105400"/>
            <a:ext cx="3928" cy="6096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F73D11-71DF-ED9A-0BD6-004B46C4CF0C}"/>
              </a:ext>
            </a:extLst>
          </p:cNvPr>
          <p:cNvSpPr txBox="1"/>
          <p:nvPr/>
        </p:nvSpPr>
        <p:spPr>
          <a:xfrm>
            <a:off x="2623030" y="5469523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+54.87%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A64EC0-5F3A-E3C5-8D1E-DBFC6265CFEF}"/>
              </a:ext>
            </a:extLst>
          </p:cNvPr>
          <p:cNvCxnSpPr>
            <a:cxnSpLocks/>
          </p:cNvCxnSpPr>
          <p:nvPr/>
        </p:nvCxnSpPr>
        <p:spPr>
          <a:xfrm flipV="1">
            <a:off x="3581400" y="3352800"/>
            <a:ext cx="0" cy="2286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83E649-A269-119B-3C1D-7A727A96E2A0}"/>
              </a:ext>
            </a:extLst>
          </p:cNvPr>
          <p:cNvSpPr txBox="1"/>
          <p:nvPr/>
        </p:nvSpPr>
        <p:spPr>
          <a:xfrm>
            <a:off x="2743200" y="3496269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+13.04%</a:t>
            </a:r>
          </a:p>
        </p:txBody>
      </p:sp>
    </p:spTree>
    <p:extLst>
      <p:ext uri="{BB962C8B-B14F-4D97-AF65-F5344CB8AC3E}">
        <p14:creationId xmlns:p14="http://schemas.microsoft.com/office/powerpoint/2010/main" val="3096608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EA95-4391-B32B-E06E-1D4A7B6F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67AA-511E-00B7-5256-57977A6C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1B3E3-A773-8B3F-1318-3CDD3D5B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13715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Characteristics of accuracy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SEAL can be both excitatory and inhibitory factors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A0EA-4443-6800-67D9-A9BDB47E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34572-5809-7626-A296-99AAE39E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21BC3F9-3D95-D192-8910-AB102172E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01" y="2292078"/>
            <a:ext cx="8753398" cy="2884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52CE23-0AA3-D35C-0073-83AEA814CD5F}"/>
              </a:ext>
            </a:extLst>
          </p:cNvPr>
          <p:cNvSpPr/>
          <p:nvPr/>
        </p:nvSpPr>
        <p:spPr>
          <a:xfrm>
            <a:off x="195301" y="2292079"/>
            <a:ext cx="8753398" cy="28843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F3324-A432-E719-0E62-CF05DE9B16F7}"/>
              </a:ext>
            </a:extLst>
          </p:cNvPr>
          <p:cNvSpPr txBox="1"/>
          <p:nvPr/>
        </p:nvSpPr>
        <p:spPr>
          <a:xfrm>
            <a:off x="457200" y="5594299"/>
            <a:ext cx="8269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Constantly providing better accuracy than the LIF neuron</a:t>
            </a:r>
          </a:p>
        </p:txBody>
      </p:sp>
    </p:spTree>
    <p:extLst>
      <p:ext uri="{BB962C8B-B14F-4D97-AF65-F5344CB8AC3E}">
        <p14:creationId xmlns:p14="http://schemas.microsoft.com/office/powerpoint/2010/main" val="2766428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C9C0-0DD6-4F2F-1FF7-62206955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5D61-2B8F-C71C-44C3-5BE9A4B8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AB80-8CE5-43A4-0AAA-B1CAA518A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21335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Impact of binning approximation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Depends on network architectures &amp; workloads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BE769-0D11-A831-EC6F-8A5A0155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B52A8-D16E-B596-D68A-0874A57F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91219AC-E77D-8B13-D261-0A0CBE08B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01" y="2292079"/>
            <a:ext cx="8753398" cy="2884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9A81DA-4DC5-87FE-4F69-BCCF7F754108}"/>
              </a:ext>
            </a:extLst>
          </p:cNvPr>
          <p:cNvSpPr/>
          <p:nvPr/>
        </p:nvSpPr>
        <p:spPr>
          <a:xfrm>
            <a:off x="195301" y="2292079"/>
            <a:ext cx="8753398" cy="28843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04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7D44-BAEC-2F5C-01CE-E69FA95C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DA3D-D4FC-9044-4900-DFB70B9F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93A15-EAFD-24C0-C871-FA2416E7C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21335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Impact of binning approximation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Depends on network architectures &amp; workloads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98911-B14F-CFD5-50DA-BAA905C9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FB2A0-3BB9-27AA-E3E2-CC4D3F83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C98C8A-034C-A0D6-C8F6-6ECDDAD88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01" y="2292079"/>
            <a:ext cx="8753398" cy="2884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4E7841-EC38-25E5-A364-7F2917B52935}"/>
              </a:ext>
            </a:extLst>
          </p:cNvPr>
          <p:cNvSpPr/>
          <p:nvPr/>
        </p:nvSpPr>
        <p:spPr>
          <a:xfrm>
            <a:off x="195301" y="2292079"/>
            <a:ext cx="8753398" cy="28843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9FB5F5-83F5-71C2-FFC7-97650D30A26D}"/>
              </a:ext>
            </a:extLst>
          </p:cNvPr>
          <p:cNvSpPr/>
          <p:nvPr/>
        </p:nvSpPr>
        <p:spPr>
          <a:xfrm>
            <a:off x="8305800" y="2895606"/>
            <a:ext cx="543560" cy="83819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B01011-7B74-A0E8-07CC-226E40DEB69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025468" y="1906494"/>
            <a:ext cx="609827" cy="11061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771E4B-1008-AF68-103D-616178411CA2}"/>
              </a:ext>
            </a:extLst>
          </p:cNvPr>
          <p:cNvSpPr txBox="1"/>
          <p:nvPr/>
        </p:nvSpPr>
        <p:spPr>
          <a:xfrm>
            <a:off x="4754188" y="1675661"/>
            <a:ext cx="3271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improve accuracy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23229B-F389-D897-AFE8-638DAEBD766F}"/>
              </a:ext>
            </a:extLst>
          </p:cNvPr>
          <p:cNvSpPr/>
          <p:nvPr/>
        </p:nvSpPr>
        <p:spPr>
          <a:xfrm rot="17162363">
            <a:off x="4563350" y="2201543"/>
            <a:ext cx="457200" cy="242966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336F15-DF9C-ACCC-D4CC-E94E2A30A18A}"/>
              </a:ext>
            </a:extLst>
          </p:cNvPr>
          <p:cNvCxnSpPr>
            <a:cxnSpLocks/>
          </p:cNvCxnSpPr>
          <p:nvPr/>
        </p:nvCxnSpPr>
        <p:spPr>
          <a:xfrm flipV="1">
            <a:off x="3948784" y="3559876"/>
            <a:ext cx="918788" cy="1926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8447A13-0382-9D7D-03F9-F8D1F32024DB}"/>
              </a:ext>
            </a:extLst>
          </p:cNvPr>
          <p:cNvSpPr txBox="1"/>
          <p:nvPr/>
        </p:nvSpPr>
        <p:spPr>
          <a:xfrm>
            <a:off x="1666308" y="5267854"/>
            <a:ext cx="2307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drop</a:t>
            </a:r>
          </a:p>
        </p:txBody>
      </p:sp>
    </p:spTree>
    <p:extLst>
      <p:ext uri="{BB962C8B-B14F-4D97-AF65-F5344CB8AC3E}">
        <p14:creationId xmlns:p14="http://schemas.microsoft.com/office/powerpoint/2010/main" val="2127955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8BD6-B9C8-AAE8-E4F9-D4D654FE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1A6D-B8D8-2527-AE10-6B5384E4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C19BA-E85C-DF79-AD5D-6421FCB6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5"/>
            <a:ext cx="8229600" cy="20573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Hardware evaluation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Modest overheads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04423-D59F-A835-3A13-BB1C8081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2ECD8-DD4C-7C23-91A9-2B716396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B74352-9AC2-5661-9C99-6E38AAD1E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0" y="2292079"/>
            <a:ext cx="8753398" cy="2884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49FDEF-3456-1EA4-9A87-BBDC09E5048C}"/>
              </a:ext>
            </a:extLst>
          </p:cNvPr>
          <p:cNvSpPr/>
          <p:nvPr/>
        </p:nvSpPr>
        <p:spPr>
          <a:xfrm>
            <a:off x="195301" y="2292079"/>
            <a:ext cx="8753398" cy="28843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84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5C4F-F240-0A17-A7BF-FA33C00D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463D-CB1E-6D5A-70DA-8244BEF1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720D-694C-D2B1-D182-1497C148E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Comparison to prior arts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8478-4B98-B96F-E1FB-F565EC27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0BFCA-AF7B-665A-8005-2FF34312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FE010-1A75-9D79-DA5B-44F252B447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3" y="1219199"/>
            <a:ext cx="8305111" cy="51212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DC83E9-E2BC-A53F-D51E-6CBCA9B20580}"/>
              </a:ext>
            </a:extLst>
          </p:cNvPr>
          <p:cNvSpPr/>
          <p:nvPr/>
        </p:nvSpPr>
        <p:spPr>
          <a:xfrm>
            <a:off x="482600" y="1206499"/>
            <a:ext cx="8305111" cy="513397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E2B1C-3C6D-7AD1-9897-DABDC2B52292}"/>
              </a:ext>
            </a:extLst>
          </p:cNvPr>
          <p:cNvSpPr/>
          <p:nvPr/>
        </p:nvSpPr>
        <p:spPr>
          <a:xfrm>
            <a:off x="6781800" y="2590800"/>
            <a:ext cx="1676401" cy="312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FCBDC-6D07-24E7-9F5D-CBF5056C9347}"/>
              </a:ext>
            </a:extLst>
          </p:cNvPr>
          <p:cNvSpPr/>
          <p:nvPr/>
        </p:nvSpPr>
        <p:spPr>
          <a:xfrm>
            <a:off x="2450592" y="2606040"/>
            <a:ext cx="1254526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ICCAD’21 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8D4952-5C28-9D48-84CB-6FCF92636F25}"/>
              </a:ext>
            </a:extLst>
          </p:cNvPr>
          <p:cNvSpPr/>
          <p:nvPr/>
        </p:nvSpPr>
        <p:spPr>
          <a:xfrm>
            <a:off x="3788033" y="2596318"/>
            <a:ext cx="1254526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DAC’22 [2]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941B9-9567-E143-25E4-1DBA6D7FB668}"/>
              </a:ext>
            </a:extLst>
          </p:cNvPr>
          <p:cNvSpPr/>
          <p:nvPr/>
        </p:nvSpPr>
        <p:spPr>
          <a:xfrm>
            <a:off x="5312033" y="2596318"/>
            <a:ext cx="1317367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TCPMT’24 [3]</a:t>
            </a:r>
          </a:p>
        </p:txBody>
      </p:sp>
    </p:spTree>
    <p:extLst>
      <p:ext uri="{BB962C8B-B14F-4D97-AF65-F5344CB8AC3E}">
        <p14:creationId xmlns:p14="http://schemas.microsoft.com/office/powerpoint/2010/main" val="436224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560B2-F927-4EC2-2C29-72751413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FE2E-3003-44C4-9078-7B7FA36F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5D1A7-498B-6F6C-D68D-A19A016CE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References </a:t>
            </a:r>
            <a:r>
              <a:rPr lang="en-US" dirty="0">
                <a:solidFill>
                  <a:srgbClr val="002060"/>
                </a:solidFill>
              </a:rPr>
              <a:t>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AF837-297C-91A7-B1D5-D12A69F6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F5875-AE2D-CED4-A5D5-2CAD6E96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515-5C8D-48C8-C68A-D6F246B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Conclusion &amp; Future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6D97-467F-6233-86B8-5F2ECFCE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229600" cy="571499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SEAL neuron compensates for retention failure</a:t>
            </a:r>
          </a:p>
          <a:p>
            <a:pPr lvl="2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Virtual Synaptic Weight (VSW) minimizes the modification from the LIF neuron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 VSW controller is independent of neuron types</a:t>
            </a:r>
          </a:p>
          <a:p>
            <a:pPr lvl="2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Results show enhanced fault-tolerance and reasonable HW overhead</a:t>
            </a:r>
          </a:p>
          <a:p>
            <a:pPr lvl="2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Future works include thermal-aware fault-tolerance based on SEAL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3DF6-DD1E-FCD4-BAB0-54B0169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D2028-9205-36F9-1DAB-380AC35D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24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8851-DE85-621C-595C-A10BECD7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B6BB-0983-0487-A2D4-D76C6CEB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Presentation Outline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8D1EC-50E2-AFCB-305B-7B7A09579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Evaluation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Conclusion and Future Work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2060"/>
                </a:solidFill>
              </a:rPr>
              <a:t>References    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3A95D-0A12-2322-F5E3-0DED30EB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783E8-7536-AE72-62A6-00E6EC51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96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515-5C8D-48C8-C68A-D6F246B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6D97-467F-6233-86B8-5F2ECFCE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4"/>
            <a:ext cx="8229600" cy="60197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002060"/>
                </a:solidFill>
              </a:rPr>
              <a:t>[1] </a:t>
            </a:r>
            <a:r>
              <a:rPr lang="en-US" sz="2400" dirty="0">
                <a:solidFill>
                  <a:srgbClr val="002060"/>
                </a:solidFill>
              </a:rPr>
              <a:t>A. Gholami </a:t>
            </a:r>
            <a:r>
              <a:rPr lang="en-US" sz="2400" i="1" dirty="0">
                <a:solidFill>
                  <a:srgbClr val="002060"/>
                </a:solidFill>
              </a:rPr>
              <a:t>et al.</a:t>
            </a:r>
            <a:r>
              <a:rPr lang="en-US" sz="2400" dirty="0">
                <a:solidFill>
                  <a:srgbClr val="002060"/>
                </a:solidFill>
              </a:rPr>
              <a:t>,</a:t>
            </a:r>
            <a:r>
              <a:rPr lang="en-US" sz="2400" i="1" dirty="0">
                <a:solidFill>
                  <a:srgbClr val="00206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“AI and Memory Wall,” IEEE Micro, 2024.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2060"/>
                </a:solidFill>
              </a:rPr>
              <a:t>[2] </a:t>
            </a:r>
            <a:r>
              <a:rPr lang="en-US" sz="2400" dirty="0">
                <a:solidFill>
                  <a:srgbClr val="002060"/>
                </a:solidFill>
              </a:rPr>
              <a:t>K. Kim and M.-j. Park, “Present and Future, Challenges of High Bandwidth Memory (HBM),” in 2024 IEEE International Memory Workshop (IMW). IEEE, 2024, pp. 1–4.</a:t>
            </a:r>
            <a:endParaRPr lang="en-IN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[3] </a:t>
            </a:r>
            <a:r>
              <a:rPr lang="en-US" sz="2400" dirty="0">
                <a:solidFill>
                  <a:srgbClr val="002060"/>
                </a:solidFill>
              </a:rPr>
              <a:t>R. V. W. Putra </a:t>
            </a:r>
            <a:r>
              <a:rPr lang="en-US" sz="2400" i="1" dirty="0">
                <a:solidFill>
                  <a:srgbClr val="002060"/>
                </a:solidFill>
              </a:rPr>
              <a:t>et al</a:t>
            </a:r>
            <a:r>
              <a:rPr lang="en-US" sz="2400" dirty="0">
                <a:solidFill>
                  <a:srgbClr val="002060"/>
                </a:solidFill>
              </a:rPr>
              <a:t>., “</a:t>
            </a:r>
            <a:r>
              <a:rPr lang="en-US" sz="2400" dirty="0" err="1">
                <a:solidFill>
                  <a:srgbClr val="002060"/>
                </a:solidFill>
              </a:rPr>
              <a:t>ReSpawn</a:t>
            </a:r>
            <a:r>
              <a:rPr lang="en-US" sz="2400" dirty="0">
                <a:solidFill>
                  <a:srgbClr val="002060"/>
                </a:solidFill>
              </a:rPr>
              <a:t>: Energy-Efficient Fault-Tolerance for Spiking Neural Networks considering Unreliable Memories,” in 2021 IEEE/ACM International Conference on Computer-Aided Design (ICCAD). IEEE, 2021, pp. 1–9.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[4] </a:t>
            </a:r>
            <a:r>
              <a:rPr lang="en-US" sz="2400" dirty="0">
                <a:solidFill>
                  <a:srgbClr val="002060"/>
                </a:solidFill>
              </a:rPr>
              <a:t>R. V. W. Putra </a:t>
            </a:r>
            <a:r>
              <a:rPr lang="en-US" sz="2400" i="1" dirty="0">
                <a:solidFill>
                  <a:srgbClr val="002060"/>
                </a:solidFill>
              </a:rPr>
              <a:t>et al</a:t>
            </a:r>
            <a:r>
              <a:rPr lang="en-US" sz="2400" dirty="0">
                <a:solidFill>
                  <a:srgbClr val="002060"/>
                </a:solidFill>
              </a:rPr>
              <a:t>., “</a:t>
            </a:r>
            <a:r>
              <a:rPr lang="en-US" sz="2400" dirty="0" err="1">
                <a:solidFill>
                  <a:srgbClr val="002060"/>
                </a:solidFill>
              </a:rPr>
              <a:t>SoftSNN</a:t>
            </a:r>
            <a:r>
              <a:rPr lang="en-US" sz="2400" dirty="0">
                <a:solidFill>
                  <a:srgbClr val="002060"/>
                </a:solidFill>
              </a:rPr>
              <a:t>: Low-Cost Fault Tolerance for Spiking Neural Network Accelerators under Soft Errors,” in Proceedings of the 59th ACM/IEEE Design Automation Conference, 2022, pp. 151–156.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[5] </a:t>
            </a:r>
            <a:r>
              <a:rPr lang="en-US" sz="2400" dirty="0">
                <a:solidFill>
                  <a:srgbClr val="002060"/>
                </a:solidFill>
              </a:rPr>
              <a:t>N.-D. Nguyen </a:t>
            </a:r>
            <a:r>
              <a:rPr lang="en-US" sz="2400" i="1" dirty="0">
                <a:solidFill>
                  <a:srgbClr val="002060"/>
                </a:solidFill>
              </a:rPr>
              <a:t>et al</a:t>
            </a:r>
            <a:r>
              <a:rPr lang="en-US" sz="2400" dirty="0">
                <a:solidFill>
                  <a:srgbClr val="002060"/>
                </a:solidFill>
              </a:rPr>
              <a:t>., “NOMA: A Novel Reliability Improvement Methodology for 3-D IC-based Neuromorphic Systems,” IEEE Transactions on Components, Packaging and Manufacturing Technology, 2024.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[6] </a:t>
            </a:r>
            <a:r>
              <a:rPr lang="en-US" sz="2400" dirty="0">
                <a:solidFill>
                  <a:srgbClr val="002060"/>
                </a:solidFill>
              </a:rPr>
              <a:t>M. Poremba </a:t>
            </a:r>
            <a:r>
              <a:rPr lang="en-US" sz="2400" i="1" dirty="0">
                <a:solidFill>
                  <a:srgbClr val="002060"/>
                </a:solidFill>
              </a:rPr>
              <a:t>et al</a:t>
            </a:r>
            <a:r>
              <a:rPr lang="en-US" sz="2400" dirty="0">
                <a:solidFill>
                  <a:srgbClr val="002060"/>
                </a:solidFill>
              </a:rPr>
              <a:t>., “DESTINY: A tool for modeling emerging 3D NVM and </a:t>
            </a:r>
            <a:r>
              <a:rPr lang="en-US" sz="2400" dirty="0" err="1">
                <a:solidFill>
                  <a:srgbClr val="002060"/>
                </a:solidFill>
              </a:rPr>
              <a:t>eDRAM</a:t>
            </a:r>
            <a:r>
              <a:rPr lang="en-US" sz="2400" dirty="0">
                <a:solidFill>
                  <a:srgbClr val="002060"/>
                </a:solidFill>
              </a:rPr>
              <a:t> caches,” in 2015 Design, Automation &amp; Test in Europe Conference &amp; Exhibition (DATE). IEEE, 2015, pp. 1543–1546.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3DF6-DD1E-FCD4-BAB0-54B0169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7CF8-BADC-4661-A856-413299F874E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D2028-9205-36F9-1DAB-380AC35D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7BC5-A392-4DA0-BB84-2D09111EF1C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20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8A9C975-1999-71D7-5845-5360E3E6BBC8}"/>
              </a:ext>
            </a:extLst>
          </p:cNvPr>
          <p:cNvGrpSpPr/>
          <p:nvPr/>
        </p:nvGrpSpPr>
        <p:grpSpPr>
          <a:xfrm>
            <a:off x="2133600" y="1219200"/>
            <a:ext cx="5029200" cy="2743200"/>
            <a:chOff x="2133600" y="1447800"/>
            <a:chExt cx="5029200" cy="27432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8E3843-C051-BD7B-C16C-C8A8EAEE1E6B}"/>
                </a:ext>
              </a:extLst>
            </p:cNvPr>
            <p:cNvGrpSpPr/>
            <p:nvPr/>
          </p:nvGrpSpPr>
          <p:grpSpPr>
            <a:xfrm>
              <a:off x="2133600" y="1447800"/>
              <a:ext cx="5029200" cy="914400"/>
              <a:chOff x="2133600" y="4800600"/>
              <a:chExt cx="5029200" cy="9144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76B48A5-D8B5-8A01-D831-6056EE24D533}"/>
                  </a:ext>
                </a:extLst>
              </p:cNvPr>
              <p:cNvSpPr/>
              <p:nvPr/>
            </p:nvSpPr>
            <p:spPr>
              <a:xfrm>
                <a:off x="2133600" y="4800600"/>
                <a:ext cx="5029200" cy="914400"/>
              </a:xfrm>
              <a:prstGeom prst="rect">
                <a:avLst/>
              </a:prstGeom>
              <a:solidFill>
                <a:srgbClr val="B6E0F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636589-686E-15E7-6ACF-ABC067D55D3E}"/>
                  </a:ext>
                </a:extLst>
              </p:cNvPr>
              <p:cNvSpPr txBox="1"/>
              <p:nvPr/>
            </p:nvSpPr>
            <p:spPr>
              <a:xfrm>
                <a:off x="2590800" y="4842301"/>
                <a:ext cx="427669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THANK YOU</a:t>
                </a:r>
                <a:endPara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979F5B-933B-D8B9-138F-3DE44280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5195" y="2729554"/>
              <a:ext cx="1333609" cy="1461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9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16043</TotalTime>
  <Words>2487</Words>
  <Application>Microsoft Office PowerPoint</Application>
  <PresentationFormat>On-screen Show (4:3)</PresentationFormat>
  <Paragraphs>805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Times New Roman</vt:lpstr>
      <vt:lpstr>Office Theme</vt:lpstr>
      <vt:lpstr>SEAL: Fault-Tolerant Neuron Model for Spiking Neural Networks on Unreliable DRAM Systems</vt:lpstr>
      <vt:lpstr>Presentation Outline  </vt:lpstr>
      <vt:lpstr>Presentation Outline  </vt:lpstr>
      <vt:lpstr>Introduction</vt:lpstr>
      <vt:lpstr>Introduction</vt:lpstr>
      <vt:lpstr>Motivation &amp; Contribution</vt:lpstr>
      <vt:lpstr>Motivation &amp; Contribution</vt:lpstr>
      <vt:lpstr>Why SEAL?</vt:lpstr>
      <vt:lpstr>Presentation Outline  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Presentation Outline  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Presentation Outline  </vt:lpstr>
      <vt:lpstr>Conclusion &amp; Future Works</vt:lpstr>
      <vt:lpstr>Presentation Outline 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Ryoji Kobayashi</cp:lastModifiedBy>
  <cp:revision>68</cp:revision>
  <dcterms:created xsi:type="dcterms:W3CDTF">2026-06-07T11:43:39Z</dcterms:created>
  <dcterms:modified xsi:type="dcterms:W3CDTF">2026-06-28T10:59:41Z</dcterms:modified>
</cp:coreProperties>
</file>
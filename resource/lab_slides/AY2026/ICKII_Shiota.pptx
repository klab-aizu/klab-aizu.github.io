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8B547C-4954-3679-B7AA-8275389B5E2A}" v="194" dt="2026-08-12T14:33:50.488"/>
    <p1510:client id="{9963A188-1E57-3AE8-B8CB-512FB5E31EF4}" v="3" dt="2026-08-14T07:10:10.645"/>
    <p1510:client id="{DE1024E6-4C42-7110-4180-5DA822EDB859}" v="1" dt="2026-08-13T06:34:59.4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0"/>
        <c:ser>
          <c:idx val="0"/>
          <c:order val="0"/>
          <c:tx>
            <c:v>Score (%)</c:v>
          </c:tx>
          <c:spPr>
            <a:solidFill>
              <a:srgbClr val="3D8DFF"/>
            </a:solidFill>
          </c:spPr>
          <c:invertIfNegative val="1"/>
          <c:dLbls>
            <c:spPr>
              <a:noFill/>
              <a:ln>
                <a:noFill/>
              </a:ln>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Accuracy</c:v>
              </c:pt>
              <c:pt idx="1">
                <c:v>Precision</c:v>
              </c:pt>
              <c:pt idx="2">
                <c:v>Recall</c:v>
              </c:pt>
              <c:pt idx="3">
                <c:v>F1</c:v>
              </c:pt>
            </c:strLit>
          </c:cat>
          <c:val>
            <c:numLit>
              <c:formatCode>General</c:formatCode>
              <c:ptCount val="4"/>
              <c:pt idx="0">
                <c:v>95.52</c:v>
              </c:pt>
              <c:pt idx="1">
                <c:v>100</c:v>
              </c:pt>
              <c:pt idx="2">
                <c:v>94.56</c:v>
              </c:pt>
              <c:pt idx="3">
                <c:v>97.21</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579-45AE-81C2-13E23ADBED4D}"/>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ja-JP"/>
          </a:p>
        </c:txPr>
        <c:crossAx val="48672768"/>
        <c:crosses val="autoZero"/>
        <c:auto val="1"/>
        <c:lblAlgn val="ctr"/>
        <c:lblOffset val="100"/>
        <c:noMultiLvlLbl val="1"/>
      </c:catAx>
      <c:valAx>
        <c:axId val="48672768"/>
        <c:scaling>
          <c:orientation val="minMax"/>
        </c:scaling>
        <c:delete val="1"/>
        <c:axPos val="l"/>
        <c:numFmt formatCode="General" sourceLinked="1"/>
        <c:majorTickMark val="none"/>
        <c:minorTickMark val="none"/>
        <c:tickLblPos val="nextTo"/>
        <c:crossAx val="48650112"/>
        <c:crosses val="autoZero"/>
        <c:crossBetween val="between"/>
      </c:valAx>
    </c:plotArea>
    <c:plotVisOnly val="1"/>
    <c:dispBlanksAs val="zero"/>
    <c:showDLblsOverMax val="1"/>
  </c:chart>
  <c:spPr>
    <a:solidFill>
      <a:srgbClr val="FFFFFF"/>
    </a:solidFill>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0"/>
        <c:ser>
          <c:idx val="0"/>
          <c:order val="0"/>
          <c:tx>
            <c:v>Recall / accuracy (%)</c:v>
          </c:tx>
          <c:spPr>
            <a:solidFill>
              <a:srgbClr val="6DCBF4"/>
            </a:solidFill>
          </c:spPr>
          <c:invertIfNegative val="1"/>
          <c:dLbls>
            <c:spPr>
              <a:noFill/>
              <a:ln>
                <a:noFill/>
              </a:ln>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Walking</c:v>
              </c:pt>
              <c:pt idx="1">
                <c:v>Hand waving</c:v>
              </c:pt>
              <c:pt idx="2">
                <c:v>Sitting-standing</c:v>
              </c:pt>
              <c:pt idx="3">
                <c:v>Empty</c:v>
              </c:pt>
            </c:strLit>
          </c:cat>
          <c:val>
            <c:numLit>
              <c:formatCode>General</c:formatCode>
              <c:ptCount val="4"/>
              <c:pt idx="0">
                <c:v>99.74</c:v>
              </c:pt>
              <c:pt idx="1">
                <c:v>98.81</c:v>
              </c:pt>
              <c:pt idx="2">
                <c:v>82.89</c:v>
              </c:pt>
              <c:pt idx="3">
                <c:v>100</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36C-4F16-8931-BD1EFB988F10}"/>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ja-JP"/>
          </a:p>
        </c:txPr>
        <c:crossAx val="48672768"/>
        <c:crosses val="autoZero"/>
        <c:auto val="1"/>
        <c:lblAlgn val="ctr"/>
        <c:lblOffset val="100"/>
        <c:noMultiLvlLbl val="1"/>
      </c:catAx>
      <c:valAx>
        <c:axId val="48672768"/>
        <c:scaling>
          <c:orientation val="minMax"/>
        </c:scaling>
        <c:delete val="1"/>
        <c:axPos val="l"/>
        <c:numFmt formatCode="General" sourceLinked="1"/>
        <c:majorTickMark val="none"/>
        <c:minorTickMark val="none"/>
        <c:tickLblPos val="nextTo"/>
        <c:crossAx val="48650112"/>
        <c:crosses val="autoZero"/>
        <c:crossBetween val="between"/>
      </c:valAx>
    </c:plotArea>
    <c:plotVisOnly val="1"/>
    <c:dispBlanksAs val="zero"/>
    <c:showDLblsOverMax val="1"/>
  </c:chart>
  <c:spPr>
    <a:solidFill>
      <a:srgbClr val="FFFFFF"/>
    </a:solidFill>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briefly with the target: an event-driven front end for lightweight activity screening. Avoid claiming that the quantitative accuracy was measured on the FPGA hardware.</a:t>
            </a:r>
          </a:p>
          <a:p>
            <a:endParaRPr/>
          </a:p>
          <a:p>
            <a:r>
              <a:t>[Sources]</a:t>
            </a:r>
          </a:p>
          <a:p>
            <a:r>
              <a:t>- User-provided ICKII.pdf (submitted manuscript)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will begin by introducing event-driven perception and the research topic. I will then explain why event counting is useful, define the contribution, describe the method, present the evaluation and preliminary results, and close with the current limitations and next steps.</a:t>
            </a:r>
          </a:p>
          <a:p>
            <a:endParaRPr/>
          </a:p>
          <a:p>
            <a:r>
              <a:t>[Sources]</a:t>
            </a:r>
          </a:p>
          <a:p>
            <a:r>
              <a:t>- User-provided experimental records and submitted paper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research examines simple motion detection for embedded systems. A GENX320 event camera reports brightness changes caused by movement. OpenMV counts those events in 20 millisecond windows, and a fixed rule outputs motion or no motion. The current quantitative evidence comes from recorded event-rate data.</a:t>
            </a:r>
          </a:p>
          <a:p>
            <a:endParaRPr/>
          </a:p>
          <a:p>
            <a:r>
              <a:t>[Sources]</a:t>
            </a:r>
          </a:p>
          <a:p>
            <a:r>
              <a:t>- User-provided experimental records and submitted paper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Conventional frame cameras repeatedly capture complete images, including periods with little change. An event camera outputs brightness changes only. Therefore, the system can count events continuously and report motion when the count remains high. A separate recognition method could then run only after motion is detected.</a:t>
            </a:r>
          </a:p>
          <a:p>
            <a:endParaRPr/>
          </a:p>
          <a:p>
            <a:r>
              <a:t>[Sources]</a:t>
            </a:r>
          </a:p>
          <a:p>
            <a:r>
              <a:t>- User-provided experimental records and submitted paper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contribution is a simple motion-detection rule. OpenMV counts events in 20 millisecond windows. A threshold and a consecutive-window filter produce a binary motion signal. Recordings of walking, hand waving, sitting, and an empty scene are used for quantitative evaluation. The FPGA UART path was checked separately, so I do not claim that the reported accuracy was measured on the FPGA.</a:t>
            </a:r>
          </a:p>
          <a:p>
            <a:endParaRPr/>
          </a:p>
          <a:p>
            <a:r>
              <a:t>[Sources]</a:t>
            </a:r>
          </a:p>
          <a:p>
            <a:r>
              <a:t>- User-provided experimental records and submitted paper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separates the processing chain from the two evaluation paths. Each camera event contains x and y coordinates, polarity, and a timestamp. OpenMV aggregates the events every 20 milliseconds. The basic scenarios contain predefined walking, hand-waving, sitting, and empty-scene conditions used to calculate metrics. The challenge scenarios contain entry and exit, a moving chair, and a dropped object; they are used only to inspect detector behavior and are excluded from those metrics. The UART-to-FPGA path was checked separately through reception and output behavior.</a:t>
            </a:r>
          </a:p>
          <a:p>
            <a:endParaRPr/>
          </a:p>
          <a:p>
            <a:r>
              <a:t>[Sources]</a:t>
            </a:r>
          </a:p>
          <a:p>
            <a:r>
              <a:t>- User-provided experimental records and submitted paper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algorithm has four operations. First, count events in each 20 millisecond window. Second, convert that count into an event rate. Third, compare the rate with 10,000 events per second. Finally, require three consecutive high windows. With a 20 millisecond window, the confirmation delay is 60 milliseconds.</a:t>
            </a:r>
          </a:p>
          <a:p>
            <a:endParaRPr/>
          </a:p>
          <a:p>
            <a:r>
              <a:t>[Sources]</a:t>
            </a:r>
          </a:p>
          <a:p>
            <a:r>
              <a:t>- User-provided experimental records and submitted paper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recordings are divided into basic and challenge scenarios. The basic scenarios are walking, hand waving, sitting, and an empty scene. These are used to calculate accuracy, recall, precision, and F1. The challenge scenarios are entry and exit, a moving chair, and a dropped object. These are used to inspect detector behavior and are excluded from the reported metrics. The table therefore defines each name by both its contents and its evaluation role.</a:t>
            </a:r>
          </a:p>
          <a:p>
            <a:endParaRPr/>
          </a:p>
          <a:p>
            <a:r>
              <a:t>[Sources]</a:t>
            </a:r>
          </a:p>
          <a:p>
            <a:r>
              <a:t>- User-provided experimental records and submitted paper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20 millisecond window in the basic scenarios is labeled as motion or no motion. Walking, waving, and sitting windows are labeled as motion. Empty-scene windows are labeled as no motion. The offline replay applies the same fixed threshold and three-window filter. Accuracy summarizes all windows, recall shows how often motion windows are detected, and false positives show motion outputs during the empty-scene condition.</a:t>
            </a:r>
          </a:p>
          <a:p>
            <a:endParaRPr/>
          </a:p>
          <a:p>
            <a:r>
              <a:t>[Sources]</a:t>
            </a:r>
          </a:p>
          <a:p>
            <a:r>
              <a:t>- User-provided experimental records and submitted paper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the basic scenarios, overall accuracy is 95.52 percent, precision is 100 percent, recall is 94.56 percent, and F1 is 97.21 percent. The per-condition chart explains where the errors occur. Walking and hand waving are detected reliably. Sitting is lower at 82.89 percent because event activity decreases during weak or stationary periods. Empty-scene accuracy is 100 percent, meaning zero false-positive windows in that condition.</a:t>
            </a:r>
          </a:p>
          <a:p>
            <a:endParaRPr/>
          </a:p>
          <a:p>
            <a:r>
              <a:t>[Sources]</a:t>
            </a:r>
          </a:p>
          <a:p>
            <a:r>
              <a:t>- User-provided experimental records and submitted paper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predefined walking, waving, sitting, and empty-scene recordings provide the preliminary numerical result. The entry-and-exit, moving-chair, and dropped-object recordings show detector behavior in additional scenarios, but are not included in the metrics. The UART reception path has also been checked on Basys 3. The next step is to replay labeled traces through the FPGA logic and verify bit-level agreement, then measure latency and power. Sensor integration remains a later extension.</a:t>
            </a:r>
          </a:p>
          <a:p>
            <a:endParaRPr/>
          </a:p>
          <a:p>
            <a:r>
              <a:t>[Sources]</a:t>
            </a:r>
          </a:p>
          <a:p>
            <a:r>
              <a:t>- User-provided experimental records and submitted paper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9B8A4-43B1-E387-980A-77D6F9A79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2CF4F3-01E1-2564-EFFB-E4AFBB7CEC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A9616C-BF82-7582-DB66-20D3B04F6127}"/>
              </a:ext>
            </a:extLst>
          </p:cNvPr>
          <p:cNvSpPr>
            <a:spLocks noGrp="1"/>
          </p:cNvSpPr>
          <p:nvPr>
            <p:ph type="body" idx="1"/>
          </p:nvPr>
        </p:nvSpPr>
        <p:spPr/>
        <p:txBody>
          <a:bodyPr/>
          <a:lstStyle/>
          <a:p>
            <a:r>
              <a:t>The predefined walking, waving, sitting, and empty-scene recordings provide the preliminary numerical result. The entry-and-exit, moving-chair, and dropped-object recordings show detector behavior in additional scenarios, but are not included in the metrics. The UART reception path has also been checked on Basys 3. The next step is to replay labeled traces through the FPGA logic and verify bit-level agreement, then measure latency and power. Sensor integration remains a later extension.</a:t>
            </a:r>
          </a:p>
          <a:p>
            <a:endParaRPr/>
          </a:p>
          <a:p>
            <a:r>
              <a:t>[Sources]</a:t>
            </a:r>
          </a:p>
          <a:p>
            <a:r>
              <a:t>- User-provided experimental records and submitted paper</a:t>
            </a:r>
          </a:p>
        </p:txBody>
      </p:sp>
      <p:sp>
        <p:nvSpPr>
          <p:cNvPr id="4" name="Slide Number Placeholder 3">
            <a:extLst>
              <a:ext uri="{FF2B5EF4-FFF2-40B4-BE49-F238E27FC236}">
                <a16:creationId xmlns:a16="http://schemas.microsoft.com/office/drawing/2014/main" id="{9A3F1E7A-3479-4F50-4825-1CF8433D892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835945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BACBA335-3935-46F7-B8C6-D8C2E30C5ABF}"/>
              </a:ext>
            </a:extLst>
          </p:cNvPr>
          <p:cNvSpPr>
            <a:spLocks noGrp="1"/>
          </p:cNvSpPr>
          <p:nvPr/>
        </p:nvSpPr>
        <p:spPr>
          <a:xfrm>
            <a:off x="8382000" y="400050"/>
            <a:ext cx="3276600" cy="457200"/>
          </a:xfrm>
          <a:prstGeom prst="rect">
            <a:avLst/>
          </a:prstGeom>
          <a:noFill/>
          <a:ln w="0">
            <a:noFill/>
            <a:prstDash val="solid"/>
          </a:ln>
        </p:spPr>
        <p:txBody>
          <a:bodyPr anchor="t">
            <a:normAutofit/>
          </a:bodyPr>
          <a:lstStyle/>
          <a:p>
            <a:pPr algn="r">
              <a:buNone/>
              <a:defRPr sz="1800" b="0">
                <a:solidFill>
                  <a:srgbClr val="5F6670"/>
                </a:solidFill>
                <a:latin typeface="Arial"/>
                <a:ea typeface="Arial"/>
                <a:cs typeface="Arial"/>
              </a:defRPr>
            </a:pPr>
            <a:r>
              <a:rPr sz="1800" b="0">
                <a:solidFill>
                  <a:srgbClr val="5F6670"/>
                </a:solidFill>
                <a:latin typeface="Arial"/>
                <a:ea typeface="Arial"/>
                <a:cs typeface="Arial"/>
              </a:rPr>
              <a:t>Conference Presentation</a:t>
            </a:r>
          </a:p>
        </p:txBody>
      </p:sp>
      <p:sp>
        <p:nvSpPr>
          <p:cNvPr id="3" name="正方形/長方形 2">
            <a:extLst>
              <a:ext uri="{FF2B5EF4-FFF2-40B4-BE49-F238E27FC236}">
                <a16:creationId xmlns:a16="http://schemas.microsoft.com/office/drawing/2014/main" id="{8381569A-7787-4047-8397-F625B6492AFD}"/>
              </a:ext>
            </a:extLst>
          </p:cNvPr>
          <p:cNvSpPr>
            <a:spLocks noGrp="1"/>
          </p:cNvSpPr>
          <p:nvPr/>
        </p:nvSpPr>
        <p:spPr>
          <a:xfrm>
            <a:off x="533400" y="1409701"/>
            <a:ext cx="11370468" cy="2238374"/>
          </a:xfrm>
          <a:prstGeom prst="rect">
            <a:avLst/>
          </a:prstGeom>
          <a:noFill/>
          <a:ln w="0">
            <a:noFill/>
            <a:prstDash val="solid"/>
          </a:ln>
        </p:spPr>
        <p:txBody>
          <a:bodyPr lIns="91440" tIns="45720" rIns="91440" bIns="45720" anchor="b">
            <a:normAutofit/>
          </a:bodyPr>
          <a:lstStyle/>
          <a:p>
            <a:pPr>
              <a:buNone/>
              <a:defRPr sz="4950" b="1">
                <a:solidFill>
                  <a:srgbClr val="000000"/>
                </a:solidFill>
                <a:latin typeface="Arial"/>
                <a:ea typeface="Arial"/>
                <a:cs typeface="Arial"/>
              </a:defRPr>
            </a:pPr>
            <a:r>
              <a:rPr sz="4000" b="1">
                <a:solidFill>
                  <a:srgbClr val="000000"/>
                </a:solidFill>
                <a:latin typeface="Arial"/>
                <a:ea typeface="Arial"/>
                <a:cs typeface="Arial"/>
              </a:rPr>
              <a:t>A Neuromorphic Human Detection System Using Thermal and Event Cameras</a:t>
            </a:r>
          </a:p>
          <a:p>
            <a:pPr algn="l">
              <a:buNone/>
              <a:defRPr sz="4950" b="1">
                <a:solidFill>
                  <a:srgbClr val="000000"/>
                </a:solidFill>
                <a:latin typeface="Arial"/>
                <a:ea typeface="Arial"/>
                <a:cs typeface="Arial"/>
              </a:defRPr>
            </a:pPr>
            <a:r>
              <a:rPr sz="4000" b="1">
                <a:solidFill>
                  <a:srgbClr val="000000"/>
                </a:solidFill>
                <a:latin typeface="Arial"/>
                <a:ea typeface="Arial"/>
                <a:cs typeface="Arial"/>
              </a:rPr>
              <a:t>for Humanoid Robotics</a:t>
            </a:r>
          </a:p>
        </p:txBody>
      </p:sp>
      <p:sp>
        <p:nvSpPr>
          <p:cNvPr id="4" name="正方形/長方形 3">
            <a:extLst>
              <a:ext uri="{FF2B5EF4-FFF2-40B4-BE49-F238E27FC236}">
                <a16:creationId xmlns:a16="http://schemas.microsoft.com/office/drawing/2014/main" id="{F7240B05-2A57-4766-8244-864685558A7F}"/>
              </a:ext>
            </a:extLst>
          </p:cNvPr>
          <p:cNvSpPr>
            <a:spLocks noGrp="1"/>
          </p:cNvSpPr>
          <p:nvPr/>
        </p:nvSpPr>
        <p:spPr>
          <a:xfrm>
            <a:off x="533400" y="3831431"/>
            <a:ext cx="2667000" cy="76200"/>
          </a:xfrm>
          <a:prstGeom prst="rect">
            <a:avLst/>
          </a:prstGeom>
          <a:solidFill>
            <a:srgbClr val="3D8DFF"/>
          </a:solidFill>
          <a:ln w="0">
            <a:noFill/>
            <a:prstDash val="solid"/>
          </a:ln>
        </p:spPr>
      </p:sp>
      <p:pic>
        <p:nvPicPr>
          <p:cNvPr id="9" name="図 6"/>
          <p:cNvPicPr>
            <a:picLocks noChangeAspect="1"/>
          </p:cNvPicPr>
          <p:nvPr/>
        </p:nvPicPr>
        <p:blipFill>
          <a:blip r:embed="rId3"/>
          <a:stretch>
            <a:fillRect/>
          </a:stretch>
        </p:blipFill>
        <p:spPr>
          <a:xfrm>
            <a:off x="535782" y="402431"/>
            <a:ext cx="2357438" cy="778669"/>
          </a:xfrm>
          <a:prstGeom prst="rect">
            <a:avLst/>
          </a:prstGeom>
        </p:spPr>
      </p:pic>
      <p:sp>
        <p:nvSpPr>
          <p:cNvPr id="5" name="テキスト ボックス 5">
            <a:extLst>
              <a:ext uri="{FF2B5EF4-FFF2-40B4-BE49-F238E27FC236}">
                <a16:creationId xmlns:a16="http://schemas.microsoft.com/office/drawing/2014/main" id="{92B777D4-79A3-54CF-4925-2E74BF9195AE}"/>
              </a:ext>
            </a:extLst>
          </p:cNvPr>
          <p:cNvSpPr txBox="1"/>
          <p:nvPr/>
        </p:nvSpPr>
        <p:spPr>
          <a:xfrm>
            <a:off x="535081" y="4437591"/>
            <a:ext cx="9507429" cy="193899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2000">
                <a:ea typeface="+mn-lt"/>
                <a:cs typeface="+mn-lt"/>
              </a:rPr>
              <a:t>Authors: </a:t>
            </a:r>
            <a:r>
              <a:rPr lang="ja-JP" sz="2000">
                <a:ea typeface="+mn-lt"/>
                <a:cs typeface="+mn-lt"/>
              </a:rPr>
              <a:t>Rui Shiota, Abderazek Ben Abdallah, Khanh N. Dang and Zhishang Wang</a:t>
            </a:r>
          </a:p>
          <a:p>
            <a:endParaRPr lang="ja-JP" altLang="en-US" sz="2000">
              <a:ea typeface="+mn-lt"/>
              <a:cs typeface="+mn-lt"/>
            </a:endParaRPr>
          </a:p>
          <a:p>
            <a:r>
              <a:rPr lang="ja-JP" sz="2000">
                <a:ea typeface="+mn-lt"/>
                <a:cs typeface="+mn-lt"/>
              </a:rPr>
              <a:t>The School of Computer Science and Engineering, The University of Aizu, Aizu-Wakamatsu 965-8580, Fukushima, Japan</a:t>
            </a:r>
          </a:p>
          <a:p>
            <a:endParaRPr lang="ja-JP" altLang="en-US" sz="2000"/>
          </a:p>
          <a:p>
            <a:r>
              <a:rPr lang="ja-JP" altLang="en-US" sz="2000"/>
              <a:t>August 14 2026</a:t>
            </a:r>
          </a:p>
        </p:txBody>
      </p:sp>
    </p:spTree>
    <p:extLst>
      <p:ext uri="{BB962C8B-B14F-4D97-AF65-F5344CB8AC3E}">
        <p14:creationId xmlns:p14="http://schemas.microsoft.com/office/powerpoint/2010/main" val="1267112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正方形/長方形 19">
            <a:extLst>
              <a:ext uri="{FF2B5EF4-FFF2-40B4-BE49-F238E27FC236}">
                <a16:creationId xmlns:a16="http://schemas.microsoft.com/office/drawing/2014/main" id="{267C64A9-09BC-4523-A7C5-367F131EBC3B}"/>
              </a:ext>
            </a:extLst>
          </p:cNvPr>
          <p:cNvSpPr>
            <a:spLocks noGrp="1"/>
          </p:cNvSpPr>
          <p:nvPr/>
        </p:nvSpPr>
        <p:spPr>
          <a:xfrm>
            <a:off x="400050" y="323850"/>
            <a:ext cx="10572750" cy="590550"/>
          </a:xfrm>
          <a:prstGeom prst="rect">
            <a:avLst/>
          </a:prstGeom>
          <a:noFill/>
          <a:ln w="0">
            <a:noFill/>
            <a:prstDash val="solid"/>
          </a:ln>
        </p:spPr>
        <p:txBody>
          <a:bodyPr/>
          <a:lstStyle/>
          <a:p>
            <a:pPr algn="l">
              <a:buNone/>
              <a:defRPr sz="2700" b="1">
                <a:solidFill>
                  <a:srgbClr val="111111"/>
                </a:solidFill>
              </a:defRPr>
            </a:pPr>
            <a:r>
              <a:rPr sz="2700" b="1">
                <a:solidFill>
                  <a:srgbClr val="111111"/>
                </a:solidFill>
              </a:rPr>
              <a:t>Contents</a:t>
            </a:r>
          </a:p>
        </p:txBody>
      </p:sp>
      <p:sp>
        <p:nvSpPr>
          <p:cNvPr id="2" name="正方形/長方形 1">
            <a:extLst>
              <a:ext uri="{FF2B5EF4-FFF2-40B4-BE49-F238E27FC236}">
                <a16:creationId xmlns:a16="http://schemas.microsoft.com/office/drawing/2014/main" id="{D566B49D-0A19-48E3-942E-77514F9E5C4D}"/>
              </a:ext>
            </a:extLst>
          </p:cNvPr>
          <p:cNvSpPr>
            <a:spLocks noGrp="1"/>
          </p:cNvSpPr>
          <p:nvPr/>
        </p:nvSpPr>
        <p:spPr>
          <a:xfrm>
            <a:off x="11277600" y="6286500"/>
            <a:ext cx="514350" cy="228600"/>
          </a:xfrm>
          <a:prstGeom prst="rect">
            <a:avLst/>
          </a:prstGeom>
          <a:noFill/>
          <a:ln w="0">
            <a:noFill/>
            <a:prstDash val="solid"/>
          </a:ln>
        </p:spPr>
        <p:txBody>
          <a:bodyPr/>
          <a:lstStyle/>
          <a:p>
            <a:pPr algn="r">
              <a:buNone/>
              <a:defRPr sz="1050" b="0">
                <a:solidFill>
                  <a:srgbClr val="5F6670"/>
                </a:solidFill>
              </a:defRPr>
            </a:pPr>
            <a:r>
              <a:rPr sz="1050" b="0">
                <a:solidFill>
                  <a:srgbClr val="5F6670"/>
                </a:solidFill>
              </a:rPr>
              <a:t>2</a:t>
            </a:r>
          </a:p>
        </p:txBody>
      </p:sp>
      <p:sp>
        <p:nvSpPr>
          <p:cNvPr id="3" name="正方形/長方形 2">
            <a:extLst>
              <a:ext uri="{FF2B5EF4-FFF2-40B4-BE49-F238E27FC236}">
                <a16:creationId xmlns:a16="http://schemas.microsoft.com/office/drawing/2014/main" id="{6832093C-DEF2-43EE-B7E1-AC894B29090A}"/>
              </a:ext>
            </a:extLst>
          </p:cNvPr>
          <p:cNvSpPr>
            <a:spLocks noGrp="1"/>
          </p:cNvSpPr>
          <p:nvPr/>
        </p:nvSpPr>
        <p:spPr>
          <a:xfrm>
            <a:off x="666750" y="1352550"/>
            <a:ext cx="762000" cy="323850"/>
          </a:xfrm>
          <a:prstGeom prst="rect">
            <a:avLst/>
          </a:prstGeom>
          <a:noFill/>
          <a:ln w="0">
            <a:noFill/>
            <a:prstDash val="solid"/>
          </a:ln>
        </p:spPr>
        <p:txBody>
          <a:bodyPr/>
          <a:lstStyle/>
          <a:p>
            <a:pPr algn="l">
              <a:buNone/>
              <a:defRPr sz="1725" b="1">
                <a:solidFill>
                  <a:srgbClr val="3D8DFF"/>
                </a:solidFill>
              </a:defRPr>
            </a:pPr>
            <a:r>
              <a:rPr sz="1725" b="1">
                <a:solidFill>
                  <a:srgbClr val="3D8DFF"/>
                </a:solidFill>
              </a:rPr>
              <a:t>01</a:t>
            </a:r>
          </a:p>
        </p:txBody>
      </p:sp>
      <p:sp>
        <p:nvSpPr>
          <p:cNvPr id="4" name="正方形/長方形 3">
            <a:extLst>
              <a:ext uri="{FF2B5EF4-FFF2-40B4-BE49-F238E27FC236}">
                <a16:creationId xmlns:a16="http://schemas.microsoft.com/office/drawing/2014/main" id="{926A5389-DEBF-4D5D-817D-E81436C37508}"/>
              </a:ext>
            </a:extLst>
          </p:cNvPr>
          <p:cNvSpPr>
            <a:spLocks noGrp="1"/>
          </p:cNvSpPr>
          <p:nvPr/>
        </p:nvSpPr>
        <p:spPr>
          <a:xfrm>
            <a:off x="1619250" y="1314450"/>
            <a:ext cx="8096250" cy="400050"/>
          </a:xfrm>
          <a:prstGeom prst="rect">
            <a:avLst/>
          </a:prstGeom>
          <a:noFill/>
          <a:ln w="0">
            <a:noFill/>
            <a:prstDash val="solid"/>
          </a:ln>
        </p:spPr>
        <p:txBody>
          <a:bodyPr/>
          <a:lstStyle/>
          <a:p>
            <a:pPr algn="l">
              <a:buNone/>
              <a:defRPr sz="2025" b="1">
                <a:solidFill>
                  <a:srgbClr val="111111"/>
                </a:solidFill>
              </a:defRPr>
            </a:pPr>
            <a:r>
              <a:rPr sz="2025" b="1">
                <a:solidFill>
                  <a:srgbClr val="111111"/>
                </a:solidFill>
              </a:rPr>
              <a:t>Introduction</a:t>
            </a:r>
          </a:p>
        </p:txBody>
      </p:sp>
      <p:sp>
        <p:nvSpPr>
          <p:cNvPr id="5" name="正方形/長方形 4">
            <a:extLst>
              <a:ext uri="{FF2B5EF4-FFF2-40B4-BE49-F238E27FC236}">
                <a16:creationId xmlns:a16="http://schemas.microsoft.com/office/drawing/2014/main" id="{122D35DA-C567-4C6A-A925-DDD714D77367}"/>
              </a:ext>
            </a:extLst>
          </p:cNvPr>
          <p:cNvSpPr>
            <a:spLocks noGrp="1"/>
          </p:cNvSpPr>
          <p:nvPr/>
        </p:nvSpPr>
        <p:spPr>
          <a:xfrm>
            <a:off x="1619250" y="1809750"/>
            <a:ext cx="8858250" cy="9525"/>
          </a:xfrm>
          <a:prstGeom prst="rect">
            <a:avLst/>
          </a:prstGeom>
          <a:solidFill>
            <a:srgbClr val="B8BCC4"/>
          </a:solidFill>
          <a:ln w="9525">
            <a:solidFill>
              <a:srgbClr val="B8BCC4"/>
            </a:solidFill>
            <a:prstDash val="solid"/>
          </a:ln>
        </p:spPr>
      </p:sp>
      <p:sp>
        <p:nvSpPr>
          <p:cNvPr id="6" name="正方形/長方形 5">
            <a:extLst>
              <a:ext uri="{FF2B5EF4-FFF2-40B4-BE49-F238E27FC236}">
                <a16:creationId xmlns:a16="http://schemas.microsoft.com/office/drawing/2014/main" id="{613A67B3-455F-4C58-B387-FF8455AFB186}"/>
              </a:ext>
            </a:extLst>
          </p:cNvPr>
          <p:cNvSpPr>
            <a:spLocks noGrp="1"/>
          </p:cNvSpPr>
          <p:nvPr/>
        </p:nvSpPr>
        <p:spPr>
          <a:xfrm>
            <a:off x="666750" y="2057400"/>
            <a:ext cx="762000" cy="323850"/>
          </a:xfrm>
          <a:prstGeom prst="rect">
            <a:avLst/>
          </a:prstGeom>
          <a:noFill/>
          <a:ln w="0">
            <a:noFill/>
            <a:prstDash val="solid"/>
          </a:ln>
        </p:spPr>
        <p:txBody>
          <a:bodyPr/>
          <a:lstStyle/>
          <a:p>
            <a:pPr algn="l">
              <a:buNone/>
              <a:defRPr sz="1725" b="1">
                <a:solidFill>
                  <a:srgbClr val="3D8DFF"/>
                </a:solidFill>
              </a:defRPr>
            </a:pPr>
            <a:r>
              <a:rPr sz="1725" b="1">
                <a:solidFill>
                  <a:srgbClr val="3D8DFF"/>
                </a:solidFill>
              </a:rPr>
              <a:t>02</a:t>
            </a:r>
          </a:p>
        </p:txBody>
      </p:sp>
      <p:sp>
        <p:nvSpPr>
          <p:cNvPr id="7" name="正方形/長方形 6">
            <a:extLst>
              <a:ext uri="{FF2B5EF4-FFF2-40B4-BE49-F238E27FC236}">
                <a16:creationId xmlns:a16="http://schemas.microsoft.com/office/drawing/2014/main" id="{886622E9-B03B-452B-9DCB-1AF9D9E7DCC9}"/>
              </a:ext>
            </a:extLst>
          </p:cNvPr>
          <p:cNvSpPr>
            <a:spLocks noGrp="1"/>
          </p:cNvSpPr>
          <p:nvPr/>
        </p:nvSpPr>
        <p:spPr>
          <a:xfrm>
            <a:off x="1619250" y="2019300"/>
            <a:ext cx="8096250" cy="400050"/>
          </a:xfrm>
          <a:prstGeom prst="rect">
            <a:avLst/>
          </a:prstGeom>
          <a:noFill/>
          <a:ln w="0">
            <a:noFill/>
            <a:prstDash val="solid"/>
          </a:ln>
        </p:spPr>
        <p:txBody>
          <a:bodyPr lIns="91440" tIns="45720" rIns="91440" bIns="45720" anchor="t"/>
          <a:lstStyle/>
          <a:p>
            <a:pPr algn="l">
              <a:buNone/>
              <a:defRPr sz="2025" b="0">
                <a:solidFill>
                  <a:srgbClr val="111111"/>
                </a:solidFill>
              </a:defRPr>
            </a:pPr>
            <a:r>
              <a:rPr sz="2000" b="1">
                <a:solidFill>
                  <a:srgbClr val="111111"/>
                </a:solidFill>
              </a:rPr>
              <a:t>Motivation</a:t>
            </a:r>
          </a:p>
        </p:txBody>
      </p:sp>
      <p:sp>
        <p:nvSpPr>
          <p:cNvPr id="8" name="正方形/長方形 7">
            <a:extLst>
              <a:ext uri="{FF2B5EF4-FFF2-40B4-BE49-F238E27FC236}">
                <a16:creationId xmlns:a16="http://schemas.microsoft.com/office/drawing/2014/main" id="{F638F837-1167-49CA-B7BE-3EE8F6687A6F}"/>
              </a:ext>
            </a:extLst>
          </p:cNvPr>
          <p:cNvSpPr>
            <a:spLocks noGrp="1"/>
          </p:cNvSpPr>
          <p:nvPr/>
        </p:nvSpPr>
        <p:spPr>
          <a:xfrm>
            <a:off x="1619250" y="2514600"/>
            <a:ext cx="8858250" cy="9525"/>
          </a:xfrm>
          <a:prstGeom prst="rect">
            <a:avLst/>
          </a:prstGeom>
          <a:solidFill>
            <a:srgbClr val="B8BCC4"/>
          </a:solidFill>
          <a:ln w="9525">
            <a:solidFill>
              <a:srgbClr val="B8BCC4"/>
            </a:solidFill>
            <a:prstDash val="solid"/>
          </a:ln>
        </p:spPr>
      </p:sp>
      <p:sp>
        <p:nvSpPr>
          <p:cNvPr id="9" name="正方形/長方形 8">
            <a:extLst>
              <a:ext uri="{FF2B5EF4-FFF2-40B4-BE49-F238E27FC236}">
                <a16:creationId xmlns:a16="http://schemas.microsoft.com/office/drawing/2014/main" id="{50F29FE0-C533-4B67-B86C-BDF3EE7D1019}"/>
              </a:ext>
            </a:extLst>
          </p:cNvPr>
          <p:cNvSpPr>
            <a:spLocks noGrp="1"/>
          </p:cNvSpPr>
          <p:nvPr/>
        </p:nvSpPr>
        <p:spPr>
          <a:xfrm>
            <a:off x="666750" y="2762250"/>
            <a:ext cx="762000" cy="323850"/>
          </a:xfrm>
          <a:prstGeom prst="rect">
            <a:avLst/>
          </a:prstGeom>
          <a:noFill/>
          <a:ln w="0">
            <a:noFill/>
            <a:prstDash val="solid"/>
          </a:ln>
        </p:spPr>
        <p:txBody>
          <a:bodyPr/>
          <a:lstStyle/>
          <a:p>
            <a:pPr algn="l">
              <a:buNone/>
              <a:defRPr sz="1725" b="1">
                <a:solidFill>
                  <a:srgbClr val="3D8DFF"/>
                </a:solidFill>
              </a:defRPr>
            </a:pPr>
            <a:r>
              <a:rPr sz="1725" b="1">
                <a:solidFill>
                  <a:srgbClr val="3D8DFF"/>
                </a:solidFill>
              </a:rPr>
              <a:t>03</a:t>
            </a:r>
          </a:p>
        </p:txBody>
      </p:sp>
      <p:sp>
        <p:nvSpPr>
          <p:cNvPr id="10" name="正方形/長方形 9">
            <a:extLst>
              <a:ext uri="{FF2B5EF4-FFF2-40B4-BE49-F238E27FC236}">
                <a16:creationId xmlns:a16="http://schemas.microsoft.com/office/drawing/2014/main" id="{2781C045-22E9-4AE5-95EA-A64C59ADE2D0}"/>
              </a:ext>
            </a:extLst>
          </p:cNvPr>
          <p:cNvSpPr>
            <a:spLocks noGrp="1"/>
          </p:cNvSpPr>
          <p:nvPr/>
        </p:nvSpPr>
        <p:spPr>
          <a:xfrm>
            <a:off x="1619250" y="2724150"/>
            <a:ext cx="8096250" cy="400050"/>
          </a:xfrm>
          <a:prstGeom prst="rect">
            <a:avLst/>
          </a:prstGeom>
          <a:noFill/>
          <a:ln w="0">
            <a:noFill/>
            <a:prstDash val="solid"/>
          </a:ln>
        </p:spPr>
        <p:txBody>
          <a:bodyPr lIns="91440" tIns="45720" rIns="91440" bIns="45720" anchor="t"/>
          <a:lstStyle/>
          <a:p>
            <a:pPr algn="l">
              <a:buNone/>
              <a:defRPr sz="2025" b="0">
                <a:solidFill>
                  <a:srgbClr val="111111"/>
                </a:solidFill>
              </a:defRPr>
            </a:pPr>
            <a:r>
              <a:rPr sz="2000" b="1">
                <a:solidFill>
                  <a:srgbClr val="111111"/>
                </a:solidFill>
              </a:rPr>
              <a:t>Contribution</a:t>
            </a:r>
          </a:p>
        </p:txBody>
      </p:sp>
      <p:sp>
        <p:nvSpPr>
          <p:cNvPr id="11" name="正方形/長方形 10">
            <a:extLst>
              <a:ext uri="{FF2B5EF4-FFF2-40B4-BE49-F238E27FC236}">
                <a16:creationId xmlns:a16="http://schemas.microsoft.com/office/drawing/2014/main" id="{BEABCB16-B08B-4DB8-9BDB-3E053D7393E4}"/>
              </a:ext>
            </a:extLst>
          </p:cNvPr>
          <p:cNvSpPr>
            <a:spLocks noGrp="1"/>
          </p:cNvSpPr>
          <p:nvPr/>
        </p:nvSpPr>
        <p:spPr>
          <a:xfrm>
            <a:off x="1619250" y="3219450"/>
            <a:ext cx="8858250" cy="9525"/>
          </a:xfrm>
          <a:prstGeom prst="rect">
            <a:avLst/>
          </a:prstGeom>
          <a:solidFill>
            <a:srgbClr val="B8BCC4"/>
          </a:solidFill>
          <a:ln w="9525">
            <a:solidFill>
              <a:srgbClr val="B8BCC4"/>
            </a:solidFill>
            <a:prstDash val="solid"/>
          </a:ln>
        </p:spPr>
      </p:sp>
      <p:sp>
        <p:nvSpPr>
          <p:cNvPr id="12" name="正方形/長方形 11">
            <a:extLst>
              <a:ext uri="{FF2B5EF4-FFF2-40B4-BE49-F238E27FC236}">
                <a16:creationId xmlns:a16="http://schemas.microsoft.com/office/drawing/2014/main" id="{62F20507-1485-4FC2-BBFC-F0D025B5D09C}"/>
              </a:ext>
            </a:extLst>
          </p:cNvPr>
          <p:cNvSpPr>
            <a:spLocks noGrp="1"/>
          </p:cNvSpPr>
          <p:nvPr/>
        </p:nvSpPr>
        <p:spPr>
          <a:xfrm>
            <a:off x="666750" y="3467100"/>
            <a:ext cx="762000" cy="323850"/>
          </a:xfrm>
          <a:prstGeom prst="rect">
            <a:avLst/>
          </a:prstGeom>
          <a:noFill/>
          <a:ln w="0">
            <a:noFill/>
            <a:prstDash val="solid"/>
          </a:ln>
        </p:spPr>
        <p:txBody>
          <a:bodyPr/>
          <a:lstStyle/>
          <a:p>
            <a:pPr algn="l">
              <a:buNone/>
              <a:defRPr sz="1725" b="1">
                <a:solidFill>
                  <a:srgbClr val="3D8DFF"/>
                </a:solidFill>
              </a:defRPr>
            </a:pPr>
            <a:r>
              <a:rPr sz="1725" b="1">
                <a:solidFill>
                  <a:srgbClr val="3D8DFF"/>
                </a:solidFill>
              </a:rPr>
              <a:t>04</a:t>
            </a:r>
          </a:p>
        </p:txBody>
      </p:sp>
      <p:sp>
        <p:nvSpPr>
          <p:cNvPr id="13" name="正方形/長方形 12">
            <a:extLst>
              <a:ext uri="{FF2B5EF4-FFF2-40B4-BE49-F238E27FC236}">
                <a16:creationId xmlns:a16="http://schemas.microsoft.com/office/drawing/2014/main" id="{81DD4FF8-2064-4491-B847-4D6661750359}"/>
              </a:ext>
            </a:extLst>
          </p:cNvPr>
          <p:cNvSpPr>
            <a:spLocks noGrp="1"/>
          </p:cNvSpPr>
          <p:nvPr/>
        </p:nvSpPr>
        <p:spPr>
          <a:xfrm>
            <a:off x="1619250" y="3429000"/>
            <a:ext cx="8096250" cy="400050"/>
          </a:xfrm>
          <a:prstGeom prst="rect">
            <a:avLst/>
          </a:prstGeom>
          <a:noFill/>
          <a:ln w="0">
            <a:noFill/>
            <a:prstDash val="solid"/>
          </a:ln>
        </p:spPr>
        <p:txBody>
          <a:bodyPr lIns="91440" tIns="45720" rIns="91440" bIns="45720" anchor="t"/>
          <a:lstStyle/>
          <a:p>
            <a:pPr algn="l">
              <a:buNone/>
              <a:defRPr sz="2025" b="0">
                <a:solidFill>
                  <a:srgbClr val="111111"/>
                </a:solidFill>
              </a:defRPr>
            </a:pPr>
            <a:r>
              <a:rPr sz="2000" b="1">
                <a:solidFill>
                  <a:srgbClr val="111111"/>
                </a:solidFill>
              </a:rPr>
              <a:t>Method</a:t>
            </a:r>
          </a:p>
        </p:txBody>
      </p:sp>
      <p:sp>
        <p:nvSpPr>
          <p:cNvPr id="14" name="正方形/長方形 13">
            <a:extLst>
              <a:ext uri="{FF2B5EF4-FFF2-40B4-BE49-F238E27FC236}">
                <a16:creationId xmlns:a16="http://schemas.microsoft.com/office/drawing/2014/main" id="{21D41E61-5DAF-49B6-87BE-CF2276D1FDB5}"/>
              </a:ext>
            </a:extLst>
          </p:cNvPr>
          <p:cNvSpPr>
            <a:spLocks noGrp="1"/>
          </p:cNvSpPr>
          <p:nvPr/>
        </p:nvSpPr>
        <p:spPr>
          <a:xfrm>
            <a:off x="1619250" y="3924300"/>
            <a:ext cx="8858250" cy="9525"/>
          </a:xfrm>
          <a:prstGeom prst="rect">
            <a:avLst/>
          </a:prstGeom>
          <a:solidFill>
            <a:srgbClr val="B8BCC4"/>
          </a:solidFill>
          <a:ln w="9525">
            <a:solidFill>
              <a:srgbClr val="B8BCC4"/>
            </a:solidFill>
            <a:prstDash val="solid"/>
          </a:ln>
        </p:spPr>
      </p:sp>
      <p:sp>
        <p:nvSpPr>
          <p:cNvPr id="15" name="正方形/長方形 14">
            <a:extLst>
              <a:ext uri="{FF2B5EF4-FFF2-40B4-BE49-F238E27FC236}">
                <a16:creationId xmlns:a16="http://schemas.microsoft.com/office/drawing/2014/main" id="{28D33B85-30C7-4A6C-9973-D4B056874E73}"/>
              </a:ext>
            </a:extLst>
          </p:cNvPr>
          <p:cNvSpPr>
            <a:spLocks noGrp="1"/>
          </p:cNvSpPr>
          <p:nvPr/>
        </p:nvSpPr>
        <p:spPr>
          <a:xfrm>
            <a:off x="666750" y="4171950"/>
            <a:ext cx="762000" cy="323850"/>
          </a:xfrm>
          <a:prstGeom prst="rect">
            <a:avLst/>
          </a:prstGeom>
          <a:noFill/>
          <a:ln w="0">
            <a:noFill/>
            <a:prstDash val="solid"/>
          </a:ln>
        </p:spPr>
        <p:txBody>
          <a:bodyPr/>
          <a:lstStyle/>
          <a:p>
            <a:pPr algn="l">
              <a:buNone/>
              <a:defRPr sz="1725" b="1">
                <a:solidFill>
                  <a:srgbClr val="3D8DFF"/>
                </a:solidFill>
              </a:defRPr>
            </a:pPr>
            <a:r>
              <a:rPr sz="1725" b="1">
                <a:solidFill>
                  <a:srgbClr val="3D8DFF"/>
                </a:solidFill>
              </a:rPr>
              <a:t>05</a:t>
            </a:r>
          </a:p>
        </p:txBody>
      </p:sp>
      <p:sp>
        <p:nvSpPr>
          <p:cNvPr id="16" name="正方形/長方形 15">
            <a:extLst>
              <a:ext uri="{FF2B5EF4-FFF2-40B4-BE49-F238E27FC236}">
                <a16:creationId xmlns:a16="http://schemas.microsoft.com/office/drawing/2014/main" id="{0EB6D71F-CD36-4BF0-AAFD-603C600C8122}"/>
              </a:ext>
            </a:extLst>
          </p:cNvPr>
          <p:cNvSpPr>
            <a:spLocks noGrp="1"/>
          </p:cNvSpPr>
          <p:nvPr/>
        </p:nvSpPr>
        <p:spPr>
          <a:xfrm>
            <a:off x="1619250" y="4133850"/>
            <a:ext cx="8096250" cy="400050"/>
          </a:xfrm>
          <a:prstGeom prst="rect">
            <a:avLst/>
          </a:prstGeom>
          <a:noFill/>
          <a:ln w="0">
            <a:noFill/>
            <a:prstDash val="solid"/>
          </a:ln>
        </p:spPr>
        <p:txBody>
          <a:bodyPr lIns="91440" tIns="45720" rIns="91440" bIns="45720" anchor="t"/>
          <a:lstStyle/>
          <a:p>
            <a:pPr algn="l">
              <a:buNone/>
              <a:defRPr sz="2025" b="0">
                <a:solidFill>
                  <a:srgbClr val="111111"/>
                </a:solidFill>
              </a:defRPr>
            </a:pPr>
            <a:r>
              <a:rPr sz="2000" b="1">
                <a:solidFill>
                  <a:srgbClr val="111111"/>
                </a:solidFill>
              </a:rPr>
              <a:t>Evaluation</a:t>
            </a:r>
          </a:p>
        </p:txBody>
      </p:sp>
      <p:sp>
        <p:nvSpPr>
          <p:cNvPr id="17" name="正方形/長方形 16">
            <a:extLst>
              <a:ext uri="{FF2B5EF4-FFF2-40B4-BE49-F238E27FC236}">
                <a16:creationId xmlns:a16="http://schemas.microsoft.com/office/drawing/2014/main" id="{A8B4E36B-AD9F-407B-9BE0-5E928D749AD8}"/>
              </a:ext>
            </a:extLst>
          </p:cNvPr>
          <p:cNvSpPr>
            <a:spLocks noGrp="1"/>
          </p:cNvSpPr>
          <p:nvPr/>
        </p:nvSpPr>
        <p:spPr>
          <a:xfrm>
            <a:off x="1619250" y="4629150"/>
            <a:ext cx="8858250" cy="9525"/>
          </a:xfrm>
          <a:prstGeom prst="rect">
            <a:avLst/>
          </a:prstGeom>
          <a:solidFill>
            <a:srgbClr val="B8BCC4"/>
          </a:solidFill>
          <a:ln w="9525">
            <a:solidFill>
              <a:srgbClr val="B8BCC4"/>
            </a:solidFill>
            <a:prstDash val="solid"/>
          </a:ln>
        </p:spPr>
      </p:sp>
      <p:sp>
        <p:nvSpPr>
          <p:cNvPr id="18" name="正方形/長方形 17">
            <a:extLst>
              <a:ext uri="{FF2B5EF4-FFF2-40B4-BE49-F238E27FC236}">
                <a16:creationId xmlns:a16="http://schemas.microsoft.com/office/drawing/2014/main" id="{639E43A4-A152-44E5-974B-52E328813E42}"/>
              </a:ext>
            </a:extLst>
          </p:cNvPr>
          <p:cNvSpPr>
            <a:spLocks noGrp="1"/>
          </p:cNvSpPr>
          <p:nvPr/>
        </p:nvSpPr>
        <p:spPr>
          <a:xfrm>
            <a:off x="666750" y="4876800"/>
            <a:ext cx="762000" cy="323850"/>
          </a:xfrm>
          <a:prstGeom prst="rect">
            <a:avLst/>
          </a:prstGeom>
          <a:noFill/>
          <a:ln w="0">
            <a:noFill/>
            <a:prstDash val="solid"/>
          </a:ln>
        </p:spPr>
        <p:txBody>
          <a:bodyPr/>
          <a:lstStyle/>
          <a:p>
            <a:pPr algn="l">
              <a:buNone/>
              <a:defRPr sz="1725" b="1">
                <a:solidFill>
                  <a:srgbClr val="3D8DFF"/>
                </a:solidFill>
              </a:defRPr>
            </a:pPr>
            <a:r>
              <a:rPr sz="1725" b="1">
                <a:solidFill>
                  <a:srgbClr val="3D8DFF"/>
                </a:solidFill>
              </a:rPr>
              <a:t>06</a:t>
            </a:r>
          </a:p>
        </p:txBody>
      </p:sp>
      <p:sp>
        <p:nvSpPr>
          <p:cNvPr id="19" name="正方形/長方形 18">
            <a:extLst>
              <a:ext uri="{FF2B5EF4-FFF2-40B4-BE49-F238E27FC236}">
                <a16:creationId xmlns:a16="http://schemas.microsoft.com/office/drawing/2014/main" id="{A724A967-ED77-4C8F-8136-72CB711F0F08}"/>
              </a:ext>
            </a:extLst>
          </p:cNvPr>
          <p:cNvSpPr>
            <a:spLocks noGrp="1"/>
          </p:cNvSpPr>
          <p:nvPr/>
        </p:nvSpPr>
        <p:spPr>
          <a:xfrm>
            <a:off x="1619250" y="4838700"/>
            <a:ext cx="8096250" cy="400050"/>
          </a:xfrm>
          <a:prstGeom prst="rect">
            <a:avLst/>
          </a:prstGeom>
          <a:noFill/>
          <a:ln w="0">
            <a:noFill/>
            <a:prstDash val="solid"/>
          </a:ln>
        </p:spPr>
        <p:txBody>
          <a:bodyPr lIns="91440" tIns="45720" rIns="91440" bIns="45720" anchor="t"/>
          <a:lstStyle/>
          <a:p>
            <a:pPr algn="l">
              <a:buNone/>
              <a:defRPr sz="2025" b="0">
                <a:solidFill>
                  <a:srgbClr val="111111"/>
                </a:solidFill>
              </a:defRPr>
            </a:pPr>
            <a:r>
              <a:rPr sz="2000" b="1">
                <a:solidFill>
                  <a:srgbClr val="111111"/>
                </a:solidFill>
              </a:rPr>
              <a:t>Discussion</a:t>
            </a:r>
          </a:p>
        </p:txBody>
      </p:sp>
    </p:spTree>
    <p:extLst>
      <p:ext uri="{BB962C8B-B14F-4D97-AF65-F5344CB8AC3E}">
        <p14:creationId xmlns:p14="http://schemas.microsoft.com/office/powerpoint/2010/main" val="12414200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正方形/長方形 21">
            <a:extLst>
              <a:ext uri="{FF2B5EF4-FFF2-40B4-BE49-F238E27FC236}">
                <a16:creationId xmlns:a16="http://schemas.microsoft.com/office/drawing/2014/main" id="{E27D4EF9-8063-4E49-A524-F9A125BA38D3}"/>
              </a:ext>
            </a:extLst>
          </p:cNvPr>
          <p:cNvSpPr>
            <a:spLocks noGrp="1"/>
          </p:cNvSpPr>
          <p:nvPr/>
        </p:nvSpPr>
        <p:spPr>
          <a:xfrm>
            <a:off x="400050" y="323850"/>
            <a:ext cx="10572750" cy="590550"/>
          </a:xfrm>
          <a:prstGeom prst="rect">
            <a:avLst/>
          </a:prstGeom>
          <a:noFill/>
          <a:ln w="0">
            <a:noFill/>
            <a:prstDash val="solid"/>
          </a:ln>
        </p:spPr>
        <p:txBody>
          <a:bodyPr/>
          <a:lstStyle/>
          <a:p>
            <a:pPr algn="l">
              <a:buNone/>
              <a:defRPr sz="2700" b="1">
                <a:solidFill>
                  <a:srgbClr val="111111"/>
                </a:solidFill>
              </a:defRPr>
            </a:pPr>
            <a:r>
              <a:rPr sz="2700" b="1">
                <a:solidFill>
                  <a:srgbClr val="111111"/>
                </a:solidFill>
              </a:rPr>
              <a:t>Introduction</a:t>
            </a:r>
          </a:p>
        </p:txBody>
      </p:sp>
      <p:sp>
        <p:nvSpPr>
          <p:cNvPr id="2" name="正方形/長方形 1">
            <a:extLst>
              <a:ext uri="{FF2B5EF4-FFF2-40B4-BE49-F238E27FC236}">
                <a16:creationId xmlns:a16="http://schemas.microsoft.com/office/drawing/2014/main" id="{8441EEB5-1B81-49F0-A703-EAD43B09E978}"/>
              </a:ext>
            </a:extLst>
          </p:cNvPr>
          <p:cNvSpPr>
            <a:spLocks noGrp="1"/>
          </p:cNvSpPr>
          <p:nvPr/>
        </p:nvSpPr>
        <p:spPr>
          <a:xfrm>
            <a:off x="11277600" y="6286500"/>
            <a:ext cx="514350" cy="228600"/>
          </a:xfrm>
          <a:prstGeom prst="rect">
            <a:avLst/>
          </a:prstGeom>
          <a:noFill/>
          <a:ln w="0">
            <a:noFill/>
            <a:prstDash val="solid"/>
          </a:ln>
        </p:spPr>
        <p:txBody>
          <a:bodyPr/>
          <a:lstStyle/>
          <a:p>
            <a:pPr algn="r">
              <a:buNone/>
              <a:defRPr sz="1050" b="0">
                <a:solidFill>
                  <a:srgbClr val="5F6670"/>
                </a:solidFill>
              </a:defRPr>
            </a:pPr>
            <a:r>
              <a:rPr sz="1050" b="0">
                <a:solidFill>
                  <a:srgbClr val="5F6670"/>
                </a:solidFill>
              </a:rPr>
              <a:t>3</a:t>
            </a:r>
          </a:p>
        </p:txBody>
      </p:sp>
      <p:sp>
        <p:nvSpPr>
          <p:cNvPr id="3" name="正方形/長方形 2">
            <a:extLst>
              <a:ext uri="{FF2B5EF4-FFF2-40B4-BE49-F238E27FC236}">
                <a16:creationId xmlns:a16="http://schemas.microsoft.com/office/drawing/2014/main" id="{77424479-A888-4A64-8C62-A9CD77FAD372}"/>
              </a:ext>
            </a:extLst>
          </p:cNvPr>
          <p:cNvSpPr>
            <a:spLocks noGrp="1"/>
          </p:cNvSpPr>
          <p:nvPr/>
        </p:nvSpPr>
        <p:spPr>
          <a:xfrm>
            <a:off x="400050" y="1028700"/>
            <a:ext cx="2857500" cy="209550"/>
          </a:xfrm>
          <a:prstGeom prst="rect">
            <a:avLst/>
          </a:prstGeom>
          <a:noFill/>
          <a:ln w="0">
            <a:noFill/>
            <a:prstDash val="solid"/>
          </a:ln>
        </p:spPr>
        <p:txBody>
          <a:bodyPr/>
          <a:lstStyle/>
          <a:p>
            <a:pPr algn="l">
              <a:buNone/>
              <a:defRPr sz="1050" b="1">
                <a:solidFill>
                  <a:srgbClr val="3D8DFF"/>
                </a:solidFill>
              </a:defRPr>
            </a:pPr>
            <a:r>
              <a:rPr sz="1050" b="1">
                <a:solidFill>
                  <a:srgbClr val="3D8DFF"/>
                </a:solidFill>
              </a:rPr>
              <a:t>RESEARCH CONTEXT</a:t>
            </a:r>
          </a:p>
        </p:txBody>
      </p:sp>
      <p:sp>
        <p:nvSpPr>
          <p:cNvPr id="4" name="正方形/長方形 3">
            <a:extLst>
              <a:ext uri="{FF2B5EF4-FFF2-40B4-BE49-F238E27FC236}">
                <a16:creationId xmlns:a16="http://schemas.microsoft.com/office/drawing/2014/main" id="{4CD50376-47D8-4FD0-BF7F-BE4D47A71A76}"/>
              </a:ext>
            </a:extLst>
          </p:cNvPr>
          <p:cNvSpPr>
            <a:spLocks noGrp="1"/>
          </p:cNvSpPr>
          <p:nvPr/>
        </p:nvSpPr>
        <p:spPr>
          <a:xfrm>
            <a:off x="523875" y="1428750"/>
            <a:ext cx="4762500" cy="400050"/>
          </a:xfrm>
          <a:prstGeom prst="rect">
            <a:avLst/>
          </a:prstGeom>
          <a:noFill/>
          <a:ln w="0">
            <a:noFill/>
            <a:prstDash val="solid"/>
          </a:ln>
        </p:spPr>
        <p:txBody>
          <a:bodyPr/>
          <a:lstStyle/>
          <a:p>
            <a:pPr algn="l">
              <a:buNone/>
              <a:defRPr sz="2175" b="1">
                <a:solidFill>
                  <a:srgbClr val="111111"/>
                </a:solidFill>
              </a:defRPr>
            </a:pPr>
            <a:r>
              <a:rPr sz="2175" b="1">
                <a:solidFill>
                  <a:srgbClr val="111111"/>
                </a:solidFill>
              </a:rPr>
              <a:t>Event-driven perception</a:t>
            </a:r>
          </a:p>
        </p:txBody>
      </p:sp>
      <p:sp>
        <p:nvSpPr>
          <p:cNvPr id="5" name="矢印: 右 4">
            <a:extLst>
              <a:ext uri="{FF2B5EF4-FFF2-40B4-BE49-F238E27FC236}">
                <a16:creationId xmlns:a16="http://schemas.microsoft.com/office/drawing/2014/main" id="{C7E6F003-9578-42FA-B7D1-302AF1BA63A4}"/>
              </a:ext>
            </a:extLst>
          </p:cNvPr>
          <p:cNvSpPr>
            <a:spLocks noGrp="1"/>
          </p:cNvSpPr>
          <p:nvPr/>
        </p:nvSpPr>
        <p:spPr>
          <a:xfrm>
            <a:off x="2886075" y="2571750"/>
            <a:ext cx="361950" cy="266700"/>
          </a:xfrm>
          <a:prstGeom prst="rightArrow">
            <a:avLst/>
          </a:prstGeom>
          <a:solidFill>
            <a:srgbClr val="3D8DFF"/>
          </a:solidFill>
          <a:ln w="0">
            <a:solidFill>
              <a:srgbClr val="3D8DFF"/>
            </a:solidFill>
            <a:prstDash val="solid"/>
          </a:ln>
        </p:spPr>
      </p:sp>
      <p:sp>
        <p:nvSpPr>
          <p:cNvPr id="6" name="四角形: 角を丸くする 5">
            <a:extLst>
              <a:ext uri="{FF2B5EF4-FFF2-40B4-BE49-F238E27FC236}">
                <a16:creationId xmlns:a16="http://schemas.microsoft.com/office/drawing/2014/main" id="{5817539D-D463-45D0-94A8-8B394406AE75}"/>
              </a:ext>
            </a:extLst>
          </p:cNvPr>
          <p:cNvSpPr>
            <a:spLocks noGrp="1"/>
          </p:cNvSpPr>
          <p:nvPr/>
        </p:nvSpPr>
        <p:spPr>
          <a:xfrm>
            <a:off x="523875" y="2095500"/>
            <a:ext cx="2362200" cy="1381125"/>
          </a:xfrm>
          <a:prstGeom prst="roundRect">
            <a:avLst>
              <a:gd name="adj" fmla="val 8276"/>
            </a:avLst>
          </a:prstGeom>
          <a:solidFill>
            <a:srgbClr val="FFFFFF"/>
          </a:solidFill>
          <a:ln w="9525">
            <a:solidFill>
              <a:srgbClr val="B8BCC4"/>
            </a:solidFill>
            <a:prstDash val="solid"/>
          </a:ln>
        </p:spPr>
      </p:sp>
      <p:sp>
        <p:nvSpPr>
          <p:cNvPr id="7" name="正方形/長方形 6">
            <a:extLst>
              <a:ext uri="{FF2B5EF4-FFF2-40B4-BE49-F238E27FC236}">
                <a16:creationId xmlns:a16="http://schemas.microsoft.com/office/drawing/2014/main" id="{61817793-50F7-4101-8E9F-54E2C6AF138B}"/>
              </a:ext>
            </a:extLst>
          </p:cNvPr>
          <p:cNvSpPr>
            <a:spLocks noGrp="1"/>
          </p:cNvSpPr>
          <p:nvPr/>
        </p:nvSpPr>
        <p:spPr>
          <a:xfrm>
            <a:off x="657225" y="2228850"/>
            <a:ext cx="2095500" cy="285750"/>
          </a:xfrm>
          <a:prstGeom prst="rect">
            <a:avLst/>
          </a:prstGeom>
          <a:noFill/>
          <a:ln w="0">
            <a:noFill/>
            <a:prstDash val="solid"/>
          </a:ln>
        </p:spPr>
        <p:txBody>
          <a:bodyPr/>
          <a:lstStyle/>
          <a:p>
            <a:pPr algn="ctr">
              <a:buNone/>
              <a:defRPr sz="1650" b="1">
                <a:solidFill>
                  <a:srgbClr val="111111"/>
                </a:solidFill>
              </a:defRPr>
            </a:pPr>
            <a:r>
              <a:rPr sz="1650" b="1">
                <a:solidFill>
                  <a:srgbClr val="111111"/>
                </a:solidFill>
              </a:rPr>
              <a:t>Physical motion</a:t>
            </a:r>
          </a:p>
        </p:txBody>
      </p:sp>
      <p:sp>
        <p:nvSpPr>
          <p:cNvPr id="8" name="正方形/長方形 7">
            <a:extLst>
              <a:ext uri="{FF2B5EF4-FFF2-40B4-BE49-F238E27FC236}">
                <a16:creationId xmlns:a16="http://schemas.microsoft.com/office/drawing/2014/main" id="{233072E3-211C-4646-9B31-02AA53B70753}"/>
              </a:ext>
            </a:extLst>
          </p:cNvPr>
          <p:cNvSpPr>
            <a:spLocks noGrp="1"/>
          </p:cNvSpPr>
          <p:nvPr/>
        </p:nvSpPr>
        <p:spPr>
          <a:xfrm>
            <a:off x="666750" y="2647950"/>
            <a:ext cx="2076450" cy="714375"/>
          </a:xfrm>
          <a:prstGeom prst="rect">
            <a:avLst/>
          </a:prstGeom>
          <a:noFill/>
          <a:ln w="0">
            <a:noFill/>
            <a:prstDash val="solid"/>
          </a:ln>
        </p:spPr>
        <p:txBody>
          <a:bodyPr/>
          <a:lstStyle/>
          <a:p>
            <a:pPr algn="ctr">
              <a:buNone/>
              <a:defRPr sz="1275" b="0">
                <a:solidFill>
                  <a:srgbClr val="5F6670"/>
                </a:solidFill>
              </a:defRPr>
            </a:pPr>
            <a:r>
              <a:rPr sz="1275" b="0">
                <a:solidFill>
                  <a:srgbClr val="5F6670"/>
                </a:solidFill>
              </a:rPr>
              <a:t>Scene change</a:t>
            </a:r>
          </a:p>
        </p:txBody>
      </p:sp>
      <p:sp>
        <p:nvSpPr>
          <p:cNvPr id="9" name="矢印: 右 8">
            <a:extLst>
              <a:ext uri="{FF2B5EF4-FFF2-40B4-BE49-F238E27FC236}">
                <a16:creationId xmlns:a16="http://schemas.microsoft.com/office/drawing/2014/main" id="{ED34CB88-88A2-40ED-A476-F92BF3592918}"/>
              </a:ext>
            </a:extLst>
          </p:cNvPr>
          <p:cNvSpPr>
            <a:spLocks noGrp="1"/>
          </p:cNvSpPr>
          <p:nvPr/>
        </p:nvSpPr>
        <p:spPr>
          <a:xfrm>
            <a:off x="5743575" y="2571750"/>
            <a:ext cx="361950" cy="266700"/>
          </a:xfrm>
          <a:prstGeom prst="rightArrow">
            <a:avLst/>
          </a:prstGeom>
          <a:solidFill>
            <a:srgbClr val="3D8DFF"/>
          </a:solidFill>
          <a:ln w="0">
            <a:solidFill>
              <a:srgbClr val="3D8DFF"/>
            </a:solidFill>
            <a:prstDash val="solid"/>
          </a:ln>
        </p:spPr>
      </p:sp>
      <p:sp>
        <p:nvSpPr>
          <p:cNvPr id="10" name="四角形: 角を丸くする 9">
            <a:extLst>
              <a:ext uri="{FF2B5EF4-FFF2-40B4-BE49-F238E27FC236}">
                <a16:creationId xmlns:a16="http://schemas.microsoft.com/office/drawing/2014/main" id="{E48BB7A4-ED5C-4110-A0E6-0FD24781D877}"/>
              </a:ext>
            </a:extLst>
          </p:cNvPr>
          <p:cNvSpPr>
            <a:spLocks noGrp="1"/>
          </p:cNvSpPr>
          <p:nvPr/>
        </p:nvSpPr>
        <p:spPr>
          <a:xfrm>
            <a:off x="3381375" y="2095500"/>
            <a:ext cx="2362200" cy="1381125"/>
          </a:xfrm>
          <a:prstGeom prst="roundRect">
            <a:avLst>
              <a:gd name="adj" fmla="val 8276"/>
            </a:avLst>
          </a:prstGeom>
          <a:noFill/>
          <a:ln w="9525">
            <a:solidFill>
              <a:srgbClr val="B8BCC4"/>
            </a:solidFill>
            <a:prstDash val="solid"/>
          </a:ln>
        </p:spPr>
      </p:sp>
      <p:sp>
        <p:nvSpPr>
          <p:cNvPr id="11" name="正方形/長方形 10">
            <a:extLst>
              <a:ext uri="{FF2B5EF4-FFF2-40B4-BE49-F238E27FC236}">
                <a16:creationId xmlns:a16="http://schemas.microsoft.com/office/drawing/2014/main" id="{4FC45BD6-7973-4DD1-954A-59DB7AFDF750}"/>
              </a:ext>
            </a:extLst>
          </p:cNvPr>
          <p:cNvSpPr>
            <a:spLocks noGrp="1"/>
          </p:cNvSpPr>
          <p:nvPr/>
        </p:nvSpPr>
        <p:spPr>
          <a:xfrm>
            <a:off x="3514725" y="2228850"/>
            <a:ext cx="2095500" cy="285750"/>
          </a:xfrm>
          <a:prstGeom prst="rect">
            <a:avLst/>
          </a:prstGeom>
          <a:noFill/>
          <a:ln w="0">
            <a:noFill/>
            <a:prstDash val="solid"/>
          </a:ln>
        </p:spPr>
        <p:txBody>
          <a:bodyPr/>
          <a:lstStyle/>
          <a:p>
            <a:pPr algn="ctr">
              <a:buNone/>
              <a:defRPr sz="1650" b="1">
                <a:solidFill>
                  <a:srgbClr val="111111"/>
                </a:solidFill>
              </a:defRPr>
            </a:pPr>
            <a:r>
              <a:rPr sz="1650" b="1">
                <a:solidFill>
                  <a:srgbClr val="111111"/>
                </a:solidFill>
              </a:rPr>
              <a:t>GENX320</a:t>
            </a:r>
          </a:p>
        </p:txBody>
      </p:sp>
      <p:sp>
        <p:nvSpPr>
          <p:cNvPr id="12" name="正方形/長方形 11">
            <a:extLst>
              <a:ext uri="{FF2B5EF4-FFF2-40B4-BE49-F238E27FC236}">
                <a16:creationId xmlns:a16="http://schemas.microsoft.com/office/drawing/2014/main" id="{E574548C-0DD0-46B0-B86A-D4A7F93009EF}"/>
              </a:ext>
            </a:extLst>
          </p:cNvPr>
          <p:cNvSpPr>
            <a:spLocks noGrp="1"/>
          </p:cNvSpPr>
          <p:nvPr/>
        </p:nvSpPr>
        <p:spPr>
          <a:xfrm>
            <a:off x="3524250" y="2647950"/>
            <a:ext cx="2076450" cy="714375"/>
          </a:xfrm>
          <a:prstGeom prst="rect">
            <a:avLst/>
          </a:prstGeom>
          <a:noFill/>
          <a:ln w="0">
            <a:noFill/>
            <a:prstDash val="solid"/>
          </a:ln>
        </p:spPr>
        <p:txBody>
          <a:bodyPr/>
          <a:lstStyle/>
          <a:p>
            <a:pPr algn="ctr">
              <a:buNone/>
              <a:defRPr sz="1275" b="0">
                <a:solidFill>
                  <a:srgbClr val="5F6670"/>
                </a:solidFill>
              </a:defRPr>
            </a:pPr>
            <a:r>
              <a:rPr sz="1275" b="0">
                <a:solidFill>
                  <a:srgbClr val="5F6670"/>
                </a:solidFill>
              </a:rPr>
              <a:t>Brightness events</a:t>
            </a:r>
          </a:p>
        </p:txBody>
      </p:sp>
      <p:sp>
        <p:nvSpPr>
          <p:cNvPr id="13" name="矢印: 右 12">
            <a:extLst>
              <a:ext uri="{FF2B5EF4-FFF2-40B4-BE49-F238E27FC236}">
                <a16:creationId xmlns:a16="http://schemas.microsoft.com/office/drawing/2014/main" id="{416A2EB4-3A0B-43A1-94C9-5531CAC580BB}"/>
              </a:ext>
            </a:extLst>
          </p:cNvPr>
          <p:cNvSpPr>
            <a:spLocks noGrp="1"/>
          </p:cNvSpPr>
          <p:nvPr/>
        </p:nvSpPr>
        <p:spPr>
          <a:xfrm>
            <a:off x="8601075" y="2571750"/>
            <a:ext cx="361950" cy="266700"/>
          </a:xfrm>
          <a:prstGeom prst="rightArrow">
            <a:avLst/>
          </a:prstGeom>
          <a:solidFill>
            <a:srgbClr val="3D8DFF"/>
          </a:solidFill>
          <a:ln w="0">
            <a:solidFill>
              <a:srgbClr val="3D8DFF"/>
            </a:solidFill>
            <a:prstDash val="solid"/>
          </a:ln>
        </p:spPr>
      </p:sp>
      <p:sp>
        <p:nvSpPr>
          <p:cNvPr id="14" name="四角形: 角を丸くする 13">
            <a:extLst>
              <a:ext uri="{FF2B5EF4-FFF2-40B4-BE49-F238E27FC236}">
                <a16:creationId xmlns:a16="http://schemas.microsoft.com/office/drawing/2014/main" id="{93AF9093-3502-4AA5-9A84-FD4225BF556F}"/>
              </a:ext>
            </a:extLst>
          </p:cNvPr>
          <p:cNvSpPr>
            <a:spLocks noGrp="1"/>
          </p:cNvSpPr>
          <p:nvPr/>
        </p:nvSpPr>
        <p:spPr>
          <a:xfrm>
            <a:off x="6238875" y="2095500"/>
            <a:ext cx="2362200" cy="1381125"/>
          </a:xfrm>
          <a:prstGeom prst="roundRect">
            <a:avLst>
              <a:gd name="adj" fmla="val 8276"/>
            </a:avLst>
          </a:prstGeom>
          <a:solidFill>
            <a:srgbClr val="FFFFFF"/>
          </a:solidFill>
          <a:ln w="9525">
            <a:solidFill>
              <a:srgbClr val="B8BCC4"/>
            </a:solidFill>
            <a:prstDash val="solid"/>
          </a:ln>
        </p:spPr>
      </p:sp>
      <p:sp>
        <p:nvSpPr>
          <p:cNvPr id="15" name="正方形/長方形 14">
            <a:extLst>
              <a:ext uri="{FF2B5EF4-FFF2-40B4-BE49-F238E27FC236}">
                <a16:creationId xmlns:a16="http://schemas.microsoft.com/office/drawing/2014/main" id="{7C555477-DE05-465D-B9B4-095E08D7D417}"/>
              </a:ext>
            </a:extLst>
          </p:cNvPr>
          <p:cNvSpPr>
            <a:spLocks noGrp="1"/>
          </p:cNvSpPr>
          <p:nvPr/>
        </p:nvSpPr>
        <p:spPr>
          <a:xfrm>
            <a:off x="6372225" y="2228850"/>
            <a:ext cx="2095500" cy="285750"/>
          </a:xfrm>
          <a:prstGeom prst="rect">
            <a:avLst/>
          </a:prstGeom>
          <a:noFill/>
          <a:ln w="0">
            <a:noFill/>
            <a:prstDash val="solid"/>
          </a:ln>
        </p:spPr>
        <p:txBody>
          <a:bodyPr/>
          <a:lstStyle/>
          <a:p>
            <a:pPr algn="ctr">
              <a:buNone/>
              <a:defRPr sz="1650" b="1">
                <a:solidFill>
                  <a:srgbClr val="111111"/>
                </a:solidFill>
              </a:defRPr>
            </a:pPr>
            <a:r>
              <a:rPr sz="1650" b="1">
                <a:solidFill>
                  <a:srgbClr val="111111"/>
                </a:solidFill>
              </a:rPr>
              <a:t>Event-rate trace</a:t>
            </a:r>
          </a:p>
        </p:txBody>
      </p:sp>
      <p:sp>
        <p:nvSpPr>
          <p:cNvPr id="16" name="正方形/長方形 15">
            <a:extLst>
              <a:ext uri="{FF2B5EF4-FFF2-40B4-BE49-F238E27FC236}">
                <a16:creationId xmlns:a16="http://schemas.microsoft.com/office/drawing/2014/main" id="{3D8599CA-F5CB-4926-B898-2774850A0EBF}"/>
              </a:ext>
            </a:extLst>
          </p:cNvPr>
          <p:cNvSpPr>
            <a:spLocks noGrp="1"/>
          </p:cNvSpPr>
          <p:nvPr/>
        </p:nvSpPr>
        <p:spPr>
          <a:xfrm>
            <a:off x="6381750" y="2647950"/>
            <a:ext cx="2076450" cy="714375"/>
          </a:xfrm>
          <a:prstGeom prst="rect">
            <a:avLst/>
          </a:prstGeom>
          <a:noFill/>
          <a:ln w="0">
            <a:noFill/>
            <a:prstDash val="solid"/>
          </a:ln>
        </p:spPr>
        <p:txBody>
          <a:bodyPr lIns="91440" tIns="45720" rIns="91440" bIns="45720" anchor="t"/>
          <a:lstStyle/>
          <a:p>
            <a:pPr algn="ctr">
              <a:buNone/>
              <a:defRPr sz="1275" b="0">
                <a:solidFill>
                  <a:srgbClr val="5F6670"/>
                </a:solidFill>
              </a:defRPr>
            </a:pPr>
            <a:r>
              <a:rPr lang="af-ZA" sz="1250" b="0">
                <a:solidFill>
                  <a:srgbClr val="5F6670"/>
                </a:solidFill>
              </a:rPr>
              <a:t>windows</a:t>
            </a:r>
          </a:p>
        </p:txBody>
      </p:sp>
      <p:sp>
        <p:nvSpPr>
          <p:cNvPr id="18" name="正方形/長方形 17">
            <a:extLst>
              <a:ext uri="{FF2B5EF4-FFF2-40B4-BE49-F238E27FC236}">
                <a16:creationId xmlns:a16="http://schemas.microsoft.com/office/drawing/2014/main" id="{8BE5AE53-3097-4336-A647-65DF5785F01F}"/>
              </a:ext>
            </a:extLst>
          </p:cNvPr>
          <p:cNvSpPr>
            <a:spLocks noGrp="1"/>
          </p:cNvSpPr>
          <p:nvPr/>
        </p:nvSpPr>
        <p:spPr>
          <a:xfrm>
            <a:off x="9229725" y="2228850"/>
            <a:ext cx="2095500" cy="285750"/>
          </a:xfrm>
          <a:prstGeom prst="rect">
            <a:avLst/>
          </a:prstGeom>
          <a:noFill/>
          <a:ln w="0">
            <a:noFill/>
            <a:prstDash val="solid"/>
          </a:ln>
        </p:spPr>
        <p:txBody>
          <a:bodyPr/>
          <a:lstStyle/>
          <a:p>
            <a:pPr algn="ctr">
              <a:buNone/>
              <a:defRPr sz="1650" b="1">
                <a:solidFill>
                  <a:srgbClr val="111111"/>
                </a:solidFill>
              </a:defRPr>
            </a:pPr>
            <a:r>
              <a:rPr sz="1650" b="1">
                <a:solidFill>
                  <a:srgbClr val="111111"/>
                </a:solidFill>
              </a:rPr>
              <a:t>Motion decision</a:t>
            </a:r>
          </a:p>
        </p:txBody>
      </p:sp>
      <p:sp>
        <p:nvSpPr>
          <p:cNvPr id="19" name="正方形/長方形 18">
            <a:extLst>
              <a:ext uri="{FF2B5EF4-FFF2-40B4-BE49-F238E27FC236}">
                <a16:creationId xmlns:a16="http://schemas.microsoft.com/office/drawing/2014/main" id="{4DDD387D-8F89-4238-9868-F46A70841C42}"/>
              </a:ext>
            </a:extLst>
          </p:cNvPr>
          <p:cNvSpPr>
            <a:spLocks noGrp="1"/>
          </p:cNvSpPr>
          <p:nvPr/>
        </p:nvSpPr>
        <p:spPr>
          <a:xfrm>
            <a:off x="9239250" y="2647950"/>
            <a:ext cx="2076450" cy="714375"/>
          </a:xfrm>
          <a:prstGeom prst="rect">
            <a:avLst/>
          </a:prstGeom>
          <a:noFill/>
          <a:ln w="0">
            <a:noFill/>
            <a:prstDash val="solid"/>
          </a:ln>
        </p:spPr>
        <p:txBody>
          <a:bodyPr/>
          <a:lstStyle/>
          <a:p>
            <a:pPr algn="ctr">
              <a:buNone/>
              <a:defRPr sz="1275" b="0">
                <a:solidFill>
                  <a:srgbClr val="5F6670"/>
                </a:solidFill>
              </a:defRPr>
            </a:pPr>
            <a:r>
              <a:rPr sz="1275" b="0">
                <a:solidFill>
                  <a:srgbClr val="5F6670"/>
                </a:solidFill>
              </a:rPr>
              <a:t>Motion / no motion</a:t>
            </a:r>
          </a:p>
        </p:txBody>
      </p:sp>
      <p:graphicFrame>
        <p:nvGraphicFramePr>
          <p:cNvPr id="43" name="表 40"/>
          <p:cNvGraphicFramePr/>
          <p:nvPr/>
        </p:nvGraphicFramePr>
        <p:xfrm>
          <a:off x="1095375" y="4238625"/>
          <a:ext cx="10001250" cy="1476375"/>
        </p:xfrm>
        <a:graphic>
          <a:graphicData uri="http://schemas.openxmlformats.org/drawingml/2006/table">
            <a:tbl>
              <a:tblPr firstRow="1" bandRow="1"/>
              <a:tblGrid>
                <a:gridCol w="2667000">
                  <a:extLst>
                    <a:ext uri="{9D8B030D-6E8A-4147-A177-3AD203B41FA5}">
                      <a16:colId xmlns:a16="http://schemas.microsoft.com/office/drawing/2014/main" val="20000"/>
                    </a:ext>
                  </a:extLst>
                </a:gridCol>
                <a:gridCol w="3667125">
                  <a:extLst>
                    <a:ext uri="{9D8B030D-6E8A-4147-A177-3AD203B41FA5}">
                      <a16:colId xmlns:a16="http://schemas.microsoft.com/office/drawing/2014/main" val="20001"/>
                    </a:ext>
                  </a:extLst>
                </a:gridCol>
                <a:gridCol w="3667125">
                  <a:extLst>
                    <a:ext uri="{9D8B030D-6E8A-4147-A177-3AD203B41FA5}">
                      <a16:colId xmlns:a16="http://schemas.microsoft.com/office/drawing/2014/main" val="20002"/>
                    </a:ext>
                  </a:extLst>
                </a:gridCol>
              </a:tblGrid>
              <a:tr h="492125">
                <a:tc>
                  <a:txBody>
                    <a:bodyPr/>
                    <a:lstStyle/>
                    <a:p>
                      <a:pPr algn="ctr">
                        <a:buNone/>
                      </a:pPr>
                      <a:r>
                        <a:rPr sz="1350" b="1">
                          <a:solidFill>
                            <a:srgbClr val="FFFFFF"/>
                          </a:solidFill>
                        </a:rPr>
                        <a:t>Research topic</a:t>
                      </a:r>
                    </a:p>
                  </a:txBody>
                  <a:tcPr anchor="ctr">
                    <a:solidFill>
                      <a:srgbClr val="111111"/>
                    </a:solidFill>
                  </a:tcPr>
                </a:tc>
                <a:tc>
                  <a:txBody>
                    <a:bodyPr/>
                    <a:lstStyle/>
                    <a:p>
                      <a:pPr algn="ctr">
                        <a:buNone/>
                      </a:pPr>
                      <a:r>
                        <a:rPr sz="1350" b="1">
                          <a:solidFill>
                            <a:srgbClr val="FFFFFF"/>
                          </a:solidFill>
                        </a:rPr>
                        <a:t>Platform</a:t>
                      </a:r>
                    </a:p>
                  </a:txBody>
                  <a:tcPr anchor="ctr">
                    <a:solidFill>
                      <a:srgbClr val="111111"/>
                    </a:solidFill>
                  </a:tcPr>
                </a:tc>
                <a:tc>
                  <a:txBody>
                    <a:bodyPr/>
                    <a:lstStyle/>
                    <a:p>
                      <a:pPr algn="ctr">
                        <a:buNone/>
                      </a:pPr>
                      <a:r>
                        <a:rPr sz="1350" b="1">
                          <a:solidFill>
                            <a:srgbClr val="FFFFFF"/>
                          </a:solidFill>
                        </a:rPr>
                        <a:t>Output</a:t>
                      </a:r>
                    </a:p>
                  </a:txBody>
                  <a:tcPr anchor="ctr">
                    <a:solidFill>
                      <a:srgbClr val="111111"/>
                    </a:solidFill>
                  </a:tcPr>
                </a:tc>
                <a:extLst>
                  <a:ext uri="{0D108BD9-81ED-4DB2-BD59-A6C34878D82A}">
                    <a16:rowId xmlns:a16="http://schemas.microsoft.com/office/drawing/2014/main" val="10000"/>
                  </a:ext>
                </a:extLst>
              </a:tr>
              <a:tr h="492125">
                <a:tc>
                  <a:txBody>
                    <a:bodyPr/>
                    <a:lstStyle/>
                    <a:p>
                      <a:pPr algn="ctr">
                        <a:buNone/>
                      </a:pPr>
                      <a:r>
                        <a:rPr sz="1350"/>
                        <a:t>Motion detection</a:t>
                      </a:r>
                    </a:p>
                  </a:txBody>
                  <a:tcPr anchor="ctr"/>
                </a:tc>
                <a:tc>
                  <a:txBody>
                    <a:bodyPr/>
                    <a:lstStyle/>
                    <a:p>
                      <a:pPr algn="ctr">
                        <a:buNone/>
                      </a:pPr>
                      <a:r>
                        <a:rPr sz="1350"/>
                        <a:t>OpenMV + FPGA</a:t>
                      </a:r>
                    </a:p>
                  </a:txBody>
                  <a:tcPr anchor="ctr"/>
                </a:tc>
                <a:tc>
                  <a:txBody>
                    <a:bodyPr/>
                    <a:lstStyle/>
                    <a:p>
                      <a:pPr algn="ctr">
                        <a:buNone/>
                      </a:pPr>
                      <a:r>
                        <a:rPr sz="1350"/>
                        <a:t>Binary output</a:t>
                      </a:r>
                    </a:p>
                  </a:txBody>
                  <a:tcPr anchor="ctr"/>
                </a:tc>
                <a:extLst>
                  <a:ext uri="{0D108BD9-81ED-4DB2-BD59-A6C34878D82A}">
                    <a16:rowId xmlns:a16="http://schemas.microsoft.com/office/drawing/2014/main" val="10001"/>
                  </a:ext>
                </a:extLst>
              </a:tr>
              <a:tr h="492125">
                <a:tc>
                  <a:txBody>
                    <a:bodyPr/>
                    <a:lstStyle/>
                    <a:p>
                      <a:pPr algn="ctr">
                        <a:buNone/>
                      </a:pPr>
                      <a:r>
                        <a:rPr sz="1350"/>
                        <a:t>Current evidence</a:t>
                      </a:r>
                    </a:p>
                  </a:txBody>
                  <a:tcPr anchor="ctr"/>
                </a:tc>
                <a:tc>
                  <a:txBody>
                    <a:bodyPr/>
                    <a:lstStyle/>
                    <a:p>
                      <a:pPr algn="ctr">
                        <a:buNone/>
                      </a:pPr>
                      <a:r>
                        <a:rPr sz="1350"/>
                        <a:t>Recorded traces</a:t>
                      </a:r>
                    </a:p>
                  </a:txBody>
                  <a:tcPr anchor="ctr"/>
                </a:tc>
                <a:tc>
                  <a:txBody>
                    <a:bodyPr/>
                    <a:lstStyle/>
                    <a:p>
                      <a:pPr algn="ctr">
                        <a:buNone/>
                      </a:pPr>
                      <a:r>
                        <a:rPr sz="1350"/>
                        <a:t>Preliminary metrics</a:t>
                      </a:r>
                    </a:p>
                  </a:txBody>
                  <a:tcPr anchor="ctr"/>
                </a:tc>
                <a:extLst>
                  <a:ext uri="{0D108BD9-81ED-4DB2-BD59-A6C34878D82A}">
                    <a16:rowId xmlns:a16="http://schemas.microsoft.com/office/drawing/2014/main" val="10002"/>
                  </a:ext>
                </a:extLst>
              </a:tr>
            </a:tbl>
          </a:graphicData>
        </a:graphic>
      </p:graphicFrame>
      <p:sp>
        <p:nvSpPr>
          <p:cNvPr id="20" name="四角形: 角を丸くする 19">
            <a:extLst>
              <a:ext uri="{FF2B5EF4-FFF2-40B4-BE49-F238E27FC236}">
                <a16:creationId xmlns:a16="http://schemas.microsoft.com/office/drawing/2014/main" id="{174BFAD6-1001-DA6A-E879-29B9E766BDA0}"/>
              </a:ext>
            </a:extLst>
          </p:cNvPr>
          <p:cNvSpPr>
            <a:spLocks noGrp="1"/>
          </p:cNvSpPr>
          <p:nvPr/>
        </p:nvSpPr>
        <p:spPr>
          <a:xfrm>
            <a:off x="9095043" y="2047542"/>
            <a:ext cx="2362200" cy="1381125"/>
          </a:xfrm>
          <a:prstGeom prst="roundRect">
            <a:avLst>
              <a:gd name="adj" fmla="val 8276"/>
            </a:avLst>
          </a:prstGeom>
          <a:noFill/>
          <a:ln w="9525">
            <a:solidFill>
              <a:srgbClr val="B8BCC4"/>
            </a:solidFill>
            <a:prstDash val="solid"/>
          </a:ln>
        </p:spPr>
      </p:sp>
    </p:spTree>
    <p:extLst>
      <p:ext uri="{BB962C8B-B14F-4D97-AF65-F5344CB8AC3E}">
        <p14:creationId xmlns:p14="http://schemas.microsoft.com/office/powerpoint/2010/main" val="1107602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A5750BBF-5E7C-402D-913F-68381305BFD7}"/>
              </a:ext>
            </a:extLst>
          </p:cNvPr>
          <p:cNvSpPr>
            <a:spLocks noGrp="1"/>
          </p:cNvSpPr>
          <p:nvPr/>
        </p:nvSpPr>
        <p:spPr>
          <a:xfrm>
            <a:off x="400050" y="323850"/>
            <a:ext cx="10572750" cy="590550"/>
          </a:xfrm>
          <a:prstGeom prst="rect">
            <a:avLst/>
          </a:prstGeom>
          <a:noFill/>
          <a:ln w="0">
            <a:noFill/>
            <a:prstDash val="solid"/>
          </a:ln>
        </p:spPr>
        <p:txBody>
          <a:bodyPr/>
          <a:lstStyle/>
          <a:p>
            <a:pPr algn="l">
              <a:buNone/>
              <a:defRPr sz="2700" b="1">
                <a:solidFill>
                  <a:srgbClr val="111111"/>
                </a:solidFill>
              </a:defRPr>
            </a:pPr>
            <a:r>
              <a:rPr sz="2700" b="1">
                <a:solidFill>
                  <a:srgbClr val="111111"/>
                </a:solidFill>
              </a:rPr>
              <a:t>Motivation</a:t>
            </a:r>
          </a:p>
        </p:txBody>
      </p:sp>
      <p:sp>
        <p:nvSpPr>
          <p:cNvPr id="2" name="正方形/長方形 1">
            <a:extLst>
              <a:ext uri="{FF2B5EF4-FFF2-40B4-BE49-F238E27FC236}">
                <a16:creationId xmlns:a16="http://schemas.microsoft.com/office/drawing/2014/main" id="{BF0FFD35-2CCF-456A-81D5-57A1D41F965A}"/>
              </a:ext>
            </a:extLst>
          </p:cNvPr>
          <p:cNvSpPr>
            <a:spLocks noGrp="1"/>
          </p:cNvSpPr>
          <p:nvPr/>
        </p:nvSpPr>
        <p:spPr>
          <a:xfrm>
            <a:off x="11277600" y="6286500"/>
            <a:ext cx="514350" cy="228600"/>
          </a:xfrm>
          <a:prstGeom prst="rect">
            <a:avLst/>
          </a:prstGeom>
          <a:noFill/>
          <a:ln w="0">
            <a:noFill/>
            <a:prstDash val="solid"/>
          </a:ln>
        </p:spPr>
        <p:txBody>
          <a:bodyPr/>
          <a:lstStyle/>
          <a:p>
            <a:pPr algn="r">
              <a:buNone/>
              <a:defRPr sz="1050" b="0">
                <a:solidFill>
                  <a:srgbClr val="5F6670"/>
                </a:solidFill>
              </a:defRPr>
            </a:pPr>
            <a:r>
              <a:rPr sz="1050" b="0">
                <a:solidFill>
                  <a:srgbClr val="5F6670"/>
                </a:solidFill>
              </a:rPr>
              <a:t>4</a:t>
            </a:r>
          </a:p>
        </p:txBody>
      </p:sp>
      <p:sp>
        <p:nvSpPr>
          <p:cNvPr id="3" name="正方形/長方形 2">
            <a:extLst>
              <a:ext uri="{FF2B5EF4-FFF2-40B4-BE49-F238E27FC236}">
                <a16:creationId xmlns:a16="http://schemas.microsoft.com/office/drawing/2014/main" id="{353A9920-D78E-4497-B3FE-20A882F4BAF3}"/>
              </a:ext>
            </a:extLst>
          </p:cNvPr>
          <p:cNvSpPr>
            <a:spLocks noGrp="1"/>
          </p:cNvSpPr>
          <p:nvPr/>
        </p:nvSpPr>
        <p:spPr>
          <a:xfrm>
            <a:off x="400050" y="1028700"/>
            <a:ext cx="2857500" cy="209550"/>
          </a:xfrm>
          <a:prstGeom prst="rect">
            <a:avLst/>
          </a:prstGeom>
          <a:noFill/>
          <a:ln w="0">
            <a:noFill/>
            <a:prstDash val="solid"/>
          </a:ln>
        </p:spPr>
        <p:txBody>
          <a:bodyPr/>
          <a:lstStyle/>
          <a:p>
            <a:pPr algn="l">
              <a:buNone/>
              <a:defRPr sz="1050" b="1">
                <a:solidFill>
                  <a:srgbClr val="3D8DFF"/>
                </a:solidFill>
              </a:defRPr>
            </a:pPr>
            <a:r>
              <a:rPr sz="1050" b="1">
                <a:solidFill>
                  <a:srgbClr val="3D8DFF"/>
                </a:solidFill>
              </a:rPr>
              <a:t>WHY COUNT EVENTS</a:t>
            </a:r>
          </a:p>
        </p:txBody>
      </p:sp>
      <p:graphicFrame>
        <p:nvGraphicFramePr>
          <p:cNvPr id="21" name="表 18"/>
          <p:cNvGraphicFramePr/>
          <p:nvPr/>
        </p:nvGraphicFramePr>
        <p:xfrm>
          <a:off x="523875" y="1571625"/>
          <a:ext cx="6858000" cy="3333752"/>
        </p:xfrm>
        <a:graphic>
          <a:graphicData uri="http://schemas.openxmlformats.org/drawingml/2006/table">
            <a:tbl>
              <a:tblPr firstRow="1" bandRow="1"/>
              <a:tblGrid>
                <a:gridCol w="209550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gridCol w="2381250">
                  <a:extLst>
                    <a:ext uri="{9D8B030D-6E8A-4147-A177-3AD203B41FA5}">
                      <a16:colId xmlns:a16="http://schemas.microsoft.com/office/drawing/2014/main" val="20002"/>
                    </a:ext>
                  </a:extLst>
                </a:gridCol>
              </a:tblGrid>
              <a:tr h="833438">
                <a:tc>
                  <a:txBody>
                    <a:bodyPr/>
                    <a:lstStyle/>
                    <a:p>
                      <a:pPr algn="ctr">
                        <a:buNone/>
                      </a:pPr>
                      <a:r>
                        <a:rPr sz="1425" b="1">
                          <a:solidFill>
                            <a:srgbClr val="FFFFFF"/>
                          </a:solidFill>
                        </a:rPr>
                        <a:t>Property</a:t>
                      </a:r>
                    </a:p>
                  </a:txBody>
                  <a:tcPr anchor="ctr">
                    <a:solidFill>
                      <a:srgbClr val="111111"/>
                    </a:solidFill>
                  </a:tcPr>
                </a:tc>
                <a:tc>
                  <a:txBody>
                    <a:bodyPr/>
                    <a:lstStyle/>
                    <a:p>
                      <a:pPr algn="ctr">
                        <a:buNone/>
                      </a:pPr>
                      <a:r>
                        <a:rPr sz="1425" b="1">
                          <a:solidFill>
                            <a:srgbClr val="FFFFFF"/>
                          </a:solidFill>
                        </a:rPr>
                        <a:t>Frame camera</a:t>
                      </a:r>
                    </a:p>
                  </a:txBody>
                  <a:tcPr anchor="ctr">
                    <a:solidFill>
                      <a:srgbClr val="111111"/>
                    </a:solidFill>
                  </a:tcPr>
                </a:tc>
                <a:tc>
                  <a:txBody>
                    <a:bodyPr/>
                    <a:lstStyle/>
                    <a:p>
                      <a:pPr algn="ctr">
                        <a:buNone/>
                      </a:pPr>
                      <a:r>
                        <a:rPr sz="1425" b="1">
                          <a:solidFill>
                            <a:srgbClr val="FFFFFF"/>
                          </a:solidFill>
                        </a:rPr>
                        <a:t>Event camera</a:t>
                      </a:r>
                    </a:p>
                  </a:txBody>
                  <a:tcPr anchor="ctr">
                    <a:solidFill>
                      <a:srgbClr val="111111"/>
                    </a:solidFill>
                  </a:tcPr>
                </a:tc>
                <a:extLst>
                  <a:ext uri="{0D108BD9-81ED-4DB2-BD59-A6C34878D82A}">
                    <a16:rowId xmlns:a16="http://schemas.microsoft.com/office/drawing/2014/main" val="10000"/>
                  </a:ext>
                </a:extLst>
              </a:tr>
              <a:tr h="833438">
                <a:tc>
                  <a:txBody>
                    <a:bodyPr/>
                    <a:lstStyle/>
                    <a:p>
                      <a:pPr algn="ctr">
                        <a:buNone/>
                      </a:pPr>
                      <a:r>
                        <a:rPr sz="1350"/>
                        <a:t>Output</a:t>
                      </a:r>
                    </a:p>
                  </a:txBody>
                  <a:tcPr anchor="ctr"/>
                </a:tc>
                <a:tc>
                  <a:txBody>
                    <a:bodyPr/>
                    <a:lstStyle/>
                    <a:p>
                      <a:pPr algn="ctr">
                        <a:buNone/>
                      </a:pPr>
                      <a:r>
                        <a:rPr sz="1350"/>
                        <a:t>Full frames</a:t>
                      </a:r>
                    </a:p>
                  </a:txBody>
                  <a:tcPr anchor="ctr"/>
                </a:tc>
                <a:tc>
                  <a:txBody>
                    <a:bodyPr/>
                    <a:lstStyle/>
                    <a:p>
                      <a:pPr algn="ctr">
                        <a:buNone/>
                      </a:pPr>
                      <a:r>
                        <a:rPr sz="1350"/>
                        <a:t>Brightness changes</a:t>
                      </a:r>
                    </a:p>
                  </a:txBody>
                  <a:tcPr anchor="ctr"/>
                </a:tc>
                <a:extLst>
                  <a:ext uri="{0D108BD9-81ED-4DB2-BD59-A6C34878D82A}">
                    <a16:rowId xmlns:a16="http://schemas.microsoft.com/office/drawing/2014/main" val="10001"/>
                  </a:ext>
                </a:extLst>
              </a:tr>
              <a:tr h="833438">
                <a:tc>
                  <a:txBody>
                    <a:bodyPr/>
                    <a:lstStyle/>
                    <a:p>
                      <a:pPr algn="ctr">
                        <a:buNone/>
                      </a:pPr>
                      <a:r>
                        <a:rPr sz="1350"/>
                        <a:t>Timing</a:t>
                      </a:r>
                    </a:p>
                  </a:txBody>
                  <a:tcPr anchor="ctr"/>
                </a:tc>
                <a:tc>
                  <a:txBody>
                    <a:bodyPr/>
                    <a:lstStyle/>
                    <a:p>
                      <a:pPr algn="ctr">
                        <a:buNone/>
                      </a:pPr>
                      <a:r>
                        <a:rPr sz="1350"/>
                        <a:t>Fixed rate</a:t>
                      </a:r>
                    </a:p>
                  </a:txBody>
                  <a:tcPr anchor="ctr"/>
                </a:tc>
                <a:tc>
                  <a:txBody>
                    <a:bodyPr/>
                    <a:lstStyle/>
                    <a:p>
                      <a:pPr algn="ctr">
                        <a:buNone/>
                      </a:pPr>
                      <a:r>
                        <a:rPr sz="1350"/>
                        <a:t>Asynchronous</a:t>
                      </a:r>
                    </a:p>
                  </a:txBody>
                  <a:tcPr anchor="ctr"/>
                </a:tc>
                <a:extLst>
                  <a:ext uri="{0D108BD9-81ED-4DB2-BD59-A6C34878D82A}">
                    <a16:rowId xmlns:a16="http://schemas.microsoft.com/office/drawing/2014/main" val="10002"/>
                  </a:ext>
                </a:extLst>
              </a:tr>
              <a:tr h="833438">
                <a:tc>
                  <a:txBody>
                    <a:bodyPr/>
                    <a:lstStyle/>
                    <a:p>
                      <a:pPr algn="ctr">
                        <a:buNone/>
                      </a:pPr>
                      <a:r>
                        <a:rPr sz="1350"/>
                        <a:t>Processing</a:t>
                      </a:r>
                    </a:p>
                  </a:txBody>
                  <a:tcPr anchor="ctr"/>
                </a:tc>
                <a:tc>
                  <a:txBody>
                    <a:bodyPr/>
                    <a:lstStyle/>
                    <a:p>
                      <a:pPr algn="ctr">
                        <a:buNone/>
                      </a:pPr>
                      <a:r>
                        <a:rPr sz="1350"/>
                        <a:t>Full-image analysis</a:t>
                      </a:r>
                    </a:p>
                  </a:txBody>
                  <a:tcPr anchor="ctr"/>
                </a:tc>
                <a:tc>
                  <a:txBody>
                    <a:bodyPr/>
                    <a:lstStyle/>
                    <a:p>
                      <a:pPr algn="ctr">
                        <a:buNone/>
                      </a:pPr>
                      <a:r>
                        <a:rPr sz="1350"/>
                        <a:t>Event counting</a:t>
                      </a:r>
                    </a:p>
                  </a:txBody>
                  <a:tcPr anchor="ctr"/>
                </a:tc>
                <a:extLst>
                  <a:ext uri="{0D108BD9-81ED-4DB2-BD59-A6C34878D82A}">
                    <a16:rowId xmlns:a16="http://schemas.microsoft.com/office/drawing/2014/main" val="10003"/>
                  </a:ext>
                </a:extLst>
              </a:tr>
            </a:tbl>
          </a:graphicData>
        </a:graphic>
      </p:graphicFrame>
      <p:sp>
        <p:nvSpPr>
          <p:cNvPr id="5" name="矢印: 右 4">
            <a:extLst>
              <a:ext uri="{FF2B5EF4-FFF2-40B4-BE49-F238E27FC236}">
                <a16:creationId xmlns:a16="http://schemas.microsoft.com/office/drawing/2014/main" id="{2CD2DACD-429A-473B-B709-201A9FF0154A}"/>
              </a:ext>
            </a:extLst>
          </p:cNvPr>
          <p:cNvSpPr>
            <a:spLocks noGrp="1"/>
          </p:cNvSpPr>
          <p:nvPr/>
        </p:nvSpPr>
        <p:spPr>
          <a:xfrm>
            <a:off x="7715250" y="2952750"/>
            <a:ext cx="400050" cy="266700"/>
          </a:xfrm>
          <a:prstGeom prst="rightArrow">
            <a:avLst/>
          </a:prstGeom>
          <a:solidFill>
            <a:srgbClr val="3D8DFF"/>
          </a:solidFill>
          <a:ln w="0">
            <a:solidFill>
              <a:srgbClr val="3D8DFF"/>
            </a:solidFill>
            <a:prstDash val="solid"/>
          </a:ln>
        </p:spPr>
      </p:sp>
      <p:sp>
        <p:nvSpPr>
          <p:cNvPr id="6" name="四角形: 角を丸くする 5">
            <a:extLst>
              <a:ext uri="{FF2B5EF4-FFF2-40B4-BE49-F238E27FC236}">
                <a16:creationId xmlns:a16="http://schemas.microsoft.com/office/drawing/2014/main" id="{C83F1E90-8CB3-4792-BD0E-4344262D3893}"/>
              </a:ext>
            </a:extLst>
          </p:cNvPr>
          <p:cNvSpPr>
            <a:spLocks noGrp="1"/>
          </p:cNvSpPr>
          <p:nvPr/>
        </p:nvSpPr>
        <p:spPr>
          <a:xfrm>
            <a:off x="8334375" y="1571625"/>
            <a:ext cx="3048000" cy="1000125"/>
          </a:xfrm>
          <a:prstGeom prst="roundRect">
            <a:avLst>
              <a:gd name="adj" fmla="val 11429"/>
            </a:avLst>
          </a:prstGeom>
          <a:solidFill>
            <a:srgbClr val="EAF5FB"/>
          </a:solidFill>
          <a:ln w="9525">
            <a:solidFill>
              <a:srgbClr val="B8BCC4"/>
            </a:solidFill>
            <a:prstDash val="solid"/>
          </a:ln>
        </p:spPr>
      </p:sp>
      <p:sp>
        <p:nvSpPr>
          <p:cNvPr id="7" name="正方形/長方形 6">
            <a:extLst>
              <a:ext uri="{FF2B5EF4-FFF2-40B4-BE49-F238E27FC236}">
                <a16:creationId xmlns:a16="http://schemas.microsoft.com/office/drawing/2014/main" id="{BEBB7260-FC0E-4FCB-82C9-8A774B206492}"/>
              </a:ext>
            </a:extLst>
          </p:cNvPr>
          <p:cNvSpPr>
            <a:spLocks noGrp="1"/>
          </p:cNvSpPr>
          <p:nvPr/>
        </p:nvSpPr>
        <p:spPr>
          <a:xfrm>
            <a:off x="8467725" y="1704975"/>
            <a:ext cx="2781300" cy="285750"/>
          </a:xfrm>
          <a:prstGeom prst="rect">
            <a:avLst/>
          </a:prstGeom>
          <a:noFill/>
          <a:ln w="0">
            <a:noFill/>
            <a:prstDash val="solid"/>
          </a:ln>
        </p:spPr>
        <p:txBody>
          <a:bodyPr/>
          <a:lstStyle/>
          <a:p>
            <a:pPr algn="ctr">
              <a:buNone/>
              <a:defRPr sz="1650" b="1">
                <a:solidFill>
                  <a:srgbClr val="111111"/>
                </a:solidFill>
              </a:defRPr>
            </a:pPr>
            <a:r>
              <a:rPr sz="1650" b="1">
                <a:solidFill>
                  <a:srgbClr val="111111"/>
                </a:solidFill>
              </a:rPr>
              <a:t>Event stream</a:t>
            </a:r>
          </a:p>
        </p:txBody>
      </p:sp>
      <p:sp>
        <p:nvSpPr>
          <p:cNvPr id="8" name="正方形/長方形 7">
            <a:extLst>
              <a:ext uri="{FF2B5EF4-FFF2-40B4-BE49-F238E27FC236}">
                <a16:creationId xmlns:a16="http://schemas.microsoft.com/office/drawing/2014/main" id="{19AB0FEB-D413-4326-8DAD-99775DE07034}"/>
              </a:ext>
            </a:extLst>
          </p:cNvPr>
          <p:cNvSpPr>
            <a:spLocks noGrp="1"/>
          </p:cNvSpPr>
          <p:nvPr/>
        </p:nvSpPr>
        <p:spPr>
          <a:xfrm>
            <a:off x="8477250" y="2046419"/>
            <a:ext cx="2762250" cy="333375"/>
          </a:xfrm>
          <a:prstGeom prst="rect">
            <a:avLst/>
          </a:prstGeom>
          <a:noFill/>
          <a:ln w="0">
            <a:noFill/>
            <a:prstDash val="solid"/>
          </a:ln>
        </p:spPr>
        <p:txBody>
          <a:bodyPr lIns="91440" tIns="45720" rIns="91440" bIns="45720" anchor="t"/>
          <a:lstStyle/>
          <a:p>
            <a:pPr algn="ctr">
              <a:buNone/>
              <a:defRPr sz="1275" b="0">
                <a:solidFill>
                  <a:srgbClr val="5F6670"/>
                </a:solidFill>
              </a:defRPr>
            </a:pPr>
            <a:r>
              <a:rPr sz="1300" b="0">
                <a:solidFill>
                  <a:srgbClr val="5F6670"/>
                </a:solidFill>
              </a:rPr>
              <a:t>x</a:t>
            </a:r>
            <a:r>
              <a:rPr sz="1300">
                <a:solidFill>
                  <a:srgbClr val="5F6670"/>
                </a:solidFill>
              </a:rPr>
              <a:t>,</a:t>
            </a:r>
            <a:r>
              <a:rPr sz="1300" b="0">
                <a:solidFill>
                  <a:srgbClr val="5F6670"/>
                </a:solidFill>
              </a:rPr>
              <a:t> y </a:t>
            </a:r>
            <a:r>
              <a:rPr sz="1300">
                <a:solidFill>
                  <a:srgbClr val="5F6670"/>
                </a:solidFill>
              </a:rPr>
              <a:t>coordinates </a:t>
            </a:r>
            <a:r>
              <a:rPr sz="1250" b="0">
                <a:solidFill>
                  <a:srgbClr val="5F6670"/>
                </a:solidFill>
              </a:rPr>
              <a:t>· polarity · time</a:t>
            </a:r>
            <a:endParaRPr sz="1300">
              <a:solidFill>
                <a:srgbClr val="000000"/>
              </a:solidFill>
            </a:endParaRPr>
          </a:p>
        </p:txBody>
      </p:sp>
      <p:sp>
        <p:nvSpPr>
          <p:cNvPr id="9" name="四角形: 角を丸くする 8">
            <a:extLst>
              <a:ext uri="{FF2B5EF4-FFF2-40B4-BE49-F238E27FC236}">
                <a16:creationId xmlns:a16="http://schemas.microsoft.com/office/drawing/2014/main" id="{3750E2DF-5993-4EF3-A1F3-E2447DFA1A2B}"/>
              </a:ext>
            </a:extLst>
          </p:cNvPr>
          <p:cNvSpPr>
            <a:spLocks noGrp="1"/>
          </p:cNvSpPr>
          <p:nvPr/>
        </p:nvSpPr>
        <p:spPr>
          <a:xfrm>
            <a:off x="8334375" y="2857500"/>
            <a:ext cx="3048000" cy="1000125"/>
          </a:xfrm>
          <a:prstGeom prst="roundRect">
            <a:avLst>
              <a:gd name="adj" fmla="val 11429"/>
            </a:avLst>
          </a:prstGeom>
          <a:solidFill>
            <a:srgbClr val="FFFFFF"/>
          </a:solidFill>
          <a:ln w="9525">
            <a:solidFill>
              <a:srgbClr val="B8BCC4"/>
            </a:solidFill>
            <a:prstDash val="solid"/>
          </a:ln>
        </p:spPr>
      </p:sp>
      <p:sp>
        <p:nvSpPr>
          <p:cNvPr id="10" name="正方形/長方形 9">
            <a:extLst>
              <a:ext uri="{FF2B5EF4-FFF2-40B4-BE49-F238E27FC236}">
                <a16:creationId xmlns:a16="http://schemas.microsoft.com/office/drawing/2014/main" id="{5ED52D74-DEDE-48C7-BC70-6D5623A90F2F}"/>
              </a:ext>
            </a:extLst>
          </p:cNvPr>
          <p:cNvSpPr>
            <a:spLocks noGrp="1"/>
          </p:cNvSpPr>
          <p:nvPr/>
        </p:nvSpPr>
        <p:spPr>
          <a:xfrm>
            <a:off x="8467725" y="2990850"/>
            <a:ext cx="2781300" cy="285750"/>
          </a:xfrm>
          <a:prstGeom prst="rect">
            <a:avLst/>
          </a:prstGeom>
          <a:noFill/>
          <a:ln w="0">
            <a:noFill/>
            <a:prstDash val="solid"/>
          </a:ln>
        </p:spPr>
        <p:txBody>
          <a:bodyPr lIns="91440" tIns="45720" rIns="91440" bIns="45720" anchor="t"/>
          <a:lstStyle/>
          <a:p>
            <a:pPr algn="ctr">
              <a:buNone/>
              <a:defRPr sz="1650" b="1">
                <a:solidFill>
                  <a:srgbClr val="111111"/>
                </a:solidFill>
              </a:defRPr>
            </a:pPr>
            <a:r>
              <a:rPr sz="1650" b="1">
                <a:solidFill>
                  <a:srgbClr val="111111"/>
                </a:solidFill>
              </a:rPr>
              <a:t>windows</a:t>
            </a:r>
          </a:p>
        </p:txBody>
      </p:sp>
      <p:sp>
        <p:nvSpPr>
          <p:cNvPr id="11" name="正方形/長方形 10">
            <a:extLst>
              <a:ext uri="{FF2B5EF4-FFF2-40B4-BE49-F238E27FC236}">
                <a16:creationId xmlns:a16="http://schemas.microsoft.com/office/drawing/2014/main" id="{20A2CB77-09C2-4794-AB64-7B3D71E12D05}"/>
              </a:ext>
            </a:extLst>
          </p:cNvPr>
          <p:cNvSpPr>
            <a:spLocks noGrp="1"/>
          </p:cNvSpPr>
          <p:nvPr/>
        </p:nvSpPr>
        <p:spPr>
          <a:xfrm>
            <a:off x="8477250" y="3409950"/>
            <a:ext cx="2762250" cy="333375"/>
          </a:xfrm>
          <a:prstGeom prst="rect">
            <a:avLst/>
          </a:prstGeom>
          <a:noFill/>
          <a:ln w="0">
            <a:noFill/>
            <a:prstDash val="solid"/>
          </a:ln>
        </p:spPr>
        <p:txBody>
          <a:bodyPr/>
          <a:lstStyle/>
          <a:p>
            <a:pPr algn="ctr">
              <a:buNone/>
              <a:defRPr sz="1275" b="0">
                <a:solidFill>
                  <a:srgbClr val="5F6670"/>
                </a:solidFill>
              </a:defRPr>
            </a:pPr>
            <a:r>
              <a:rPr sz="1275" b="0">
                <a:solidFill>
                  <a:srgbClr val="5F6670"/>
                </a:solidFill>
              </a:rPr>
              <a:t>Event count</a:t>
            </a:r>
          </a:p>
        </p:txBody>
      </p:sp>
      <p:sp>
        <p:nvSpPr>
          <p:cNvPr id="12" name="四角形: 角を丸くする 11">
            <a:extLst>
              <a:ext uri="{FF2B5EF4-FFF2-40B4-BE49-F238E27FC236}">
                <a16:creationId xmlns:a16="http://schemas.microsoft.com/office/drawing/2014/main" id="{E9E1A831-1A56-43F6-B67B-5E5663C73D24}"/>
              </a:ext>
            </a:extLst>
          </p:cNvPr>
          <p:cNvSpPr>
            <a:spLocks noGrp="1"/>
          </p:cNvSpPr>
          <p:nvPr/>
        </p:nvSpPr>
        <p:spPr>
          <a:xfrm>
            <a:off x="8334375" y="4143375"/>
            <a:ext cx="3048000" cy="1000125"/>
          </a:xfrm>
          <a:prstGeom prst="roundRect">
            <a:avLst>
              <a:gd name="adj" fmla="val 11429"/>
            </a:avLst>
          </a:prstGeom>
          <a:solidFill>
            <a:srgbClr val="EDF7F2"/>
          </a:solidFill>
          <a:ln w="9525">
            <a:solidFill>
              <a:srgbClr val="B8BCC4"/>
            </a:solidFill>
            <a:prstDash val="solid"/>
          </a:ln>
        </p:spPr>
      </p:sp>
      <p:sp>
        <p:nvSpPr>
          <p:cNvPr id="13" name="正方形/長方形 12">
            <a:extLst>
              <a:ext uri="{FF2B5EF4-FFF2-40B4-BE49-F238E27FC236}">
                <a16:creationId xmlns:a16="http://schemas.microsoft.com/office/drawing/2014/main" id="{30073485-91C3-48C9-9046-BE1E8C2C138C}"/>
              </a:ext>
            </a:extLst>
          </p:cNvPr>
          <p:cNvSpPr>
            <a:spLocks noGrp="1"/>
          </p:cNvSpPr>
          <p:nvPr/>
        </p:nvSpPr>
        <p:spPr>
          <a:xfrm>
            <a:off x="8467725" y="4276725"/>
            <a:ext cx="2781300" cy="285750"/>
          </a:xfrm>
          <a:prstGeom prst="rect">
            <a:avLst/>
          </a:prstGeom>
          <a:noFill/>
          <a:ln w="0">
            <a:noFill/>
            <a:prstDash val="solid"/>
          </a:ln>
        </p:spPr>
        <p:txBody>
          <a:bodyPr/>
          <a:lstStyle/>
          <a:p>
            <a:pPr algn="ctr">
              <a:buNone/>
              <a:defRPr sz="1650" b="1">
                <a:solidFill>
                  <a:srgbClr val="111111"/>
                </a:solidFill>
              </a:defRPr>
            </a:pPr>
            <a:r>
              <a:rPr sz="1650" b="1">
                <a:solidFill>
                  <a:srgbClr val="111111"/>
                </a:solidFill>
              </a:rPr>
              <a:t>Output</a:t>
            </a:r>
          </a:p>
        </p:txBody>
      </p:sp>
      <p:sp>
        <p:nvSpPr>
          <p:cNvPr id="14" name="正方形/長方形 13">
            <a:extLst>
              <a:ext uri="{FF2B5EF4-FFF2-40B4-BE49-F238E27FC236}">
                <a16:creationId xmlns:a16="http://schemas.microsoft.com/office/drawing/2014/main" id="{B878479E-9779-4398-A9D8-3B45C1DD8EBF}"/>
              </a:ext>
            </a:extLst>
          </p:cNvPr>
          <p:cNvSpPr>
            <a:spLocks noGrp="1"/>
          </p:cNvSpPr>
          <p:nvPr/>
        </p:nvSpPr>
        <p:spPr>
          <a:xfrm>
            <a:off x="8477250" y="4695825"/>
            <a:ext cx="2762250" cy="333375"/>
          </a:xfrm>
          <a:prstGeom prst="rect">
            <a:avLst/>
          </a:prstGeom>
          <a:noFill/>
          <a:ln w="0">
            <a:noFill/>
            <a:prstDash val="solid"/>
          </a:ln>
        </p:spPr>
        <p:txBody>
          <a:bodyPr/>
          <a:lstStyle/>
          <a:p>
            <a:pPr algn="ctr">
              <a:buNone/>
              <a:defRPr sz="1275" b="0">
                <a:solidFill>
                  <a:srgbClr val="5F6670"/>
                </a:solidFill>
              </a:defRPr>
            </a:pPr>
            <a:r>
              <a:rPr sz="1275" b="0">
                <a:solidFill>
                  <a:srgbClr val="5F6670"/>
                </a:solidFill>
              </a:rPr>
              <a:t>Motion / no motion</a:t>
            </a:r>
          </a:p>
        </p:txBody>
      </p:sp>
      <p:sp>
        <p:nvSpPr>
          <p:cNvPr id="15" name="正方形/長方形 14">
            <a:extLst>
              <a:ext uri="{FF2B5EF4-FFF2-40B4-BE49-F238E27FC236}">
                <a16:creationId xmlns:a16="http://schemas.microsoft.com/office/drawing/2014/main" id="{EDA3F5E5-07E9-4805-8FD4-6AD0D711DA85}"/>
              </a:ext>
            </a:extLst>
          </p:cNvPr>
          <p:cNvSpPr>
            <a:spLocks noGrp="1"/>
          </p:cNvSpPr>
          <p:nvPr/>
        </p:nvSpPr>
        <p:spPr>
          <a:xfrm>
            <a:off x="523875" y="5476875"/>
            <a:ext cx="10858500" cy="400050"/>
          </a:xfrm>
          <a:prstGeom prst="rect">
            <a:avLst/>
          </a:prstGeom>
          <a:noFill/>
          <a:ln w="0">
            <a:noFill/>
            <a:prstDash val="solid"/>
          </a:ln>
        </p:spPr>
        <p:txBody>
          <a:bodyPr/>
          <a:lstStyle/>
          <a:p>
            <a:pPr algn="ctr">
              <a:buNone/>
              <a:defRPr sz="2025" b="1">
                <a:solidFill>
                  <a:srgbClr val="3D8DFF"/>
                </a:solidFill>
              </a:defRPr>
            </a:pPr>
            <a:r>
              <a:rPr sz="2025" b="1">
                <a:solidFill>
                  <a:srgbClr val="3D8DFF"/>
                </a:solidFill>
              </a:rPr>
              <a:t>Continuous motion check by event counting</a:t>
            </a:r>
          </a:p>
        </p:txBody>
      </p:sp>
    </p:spTree>
    <p:extLst>
      <p:ext uri="{BB962C8B-B14F-4D97-AF65-F5344CB8AC3E}">
        <p14:creationId xmlns:p14="http://schemas.microsoft.com/office/powerpoint/2010/main" val="76747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1D3DABA3-3A00-4146-9E35-6C6457357C3A}"/>
              </a:ext>
            </a:extLst>
          </p:cNvPr>
          <p:cNvSpPr>
            <a:spLocks noGrp="1"/>
          </p:cNvSpPr>
          <p:nvPr/>
        </p:nvSpPr>
        <p:spPr>
          <a:xfrm>
            <a:off x="400050" y="323850"/>
            <a:ext cx="10572750" cy="590550"/>
          </a:xfrm>
          <a:prstGeom prst="rect">
            <a:avLst/>
          </a:prstGeom>
          <a:noFill/>
          <a:ln w="0">
            <a:noFill/>
            <a:prstDash val="solid"/>
          </a:ln>
        </p:spPr>
        <p:txBody>
          <a:bodyPr/>
          <a:lstStyle/>
          <a:p>
            <a:pPr algn="l">
              <a:buNone/>
              <a:defRPr sz="2700" b="1">
                <a:solidFill>
                  <a:srgbClr val="111111"/>
                </a:solidFill>
              </a:defRPr>
            </a:pPr>
            <a:r>
              <a:rPr sz="2700" b="1">
                <a:solidFill>
                  <a:srgbClr val="111111"/>
                </a:solidFill>
              </a:rPr>
              <a:t>Contribution</a:t>
            </a:r>
          </a:p>
        </p:txBody>
      </p:sp>
      <p:sp>
        <p:nvSpPr>
          <p:cNvPr id="2" name="正方形/長方形 1">
            <a:extLst>
              <a:ext uri="{FF2B5EF4-FFF2-40B4-BE49-F238E27FC236}">
                <a16:creationId xmlns:a16="http://schemas.microsoft.com/office/drawing/2014/main" id="{40E88067-2F2F-4709-A8B1-4CAE44564F9A}"/>
              </a:ext>
            </a:extLst>
          </p:cNvPr>
          <p:cNvSpPr>
            <a:spLocks noGrp="1"/>
          </p:cNvSpPr>
          <p:nvPr/>
        </p:nvSpPr>
        <p:spPr>
          <a:xfrm>
            <a:off x="11277600" y="6286500"/>
            <a:ext cx="514350" cy="228600"/>
          </a:xfrm>
          <a:prstGeom prst="rect">
            <a:avLst/>
          </a:prstGeom>
          <a:noFill/>
          <a:ln w="0">
            <a:noFill/>
            <a:prstDash val="solid"/>
          </a:ln>
        </p:spPr>
        <p:txBody>
          <a:bodyPr/>
          <a:lstStyle/>
          <a:p>
            <a:pPr algn="r">
              <a:buNone/>
              <a:defRPr sz="1050" b="0">
                <a:solidFill>
                  <a:srgbClr val="5F6670"/>
                </a:solidFill>
              </a:defRPr>
            </a:pPr>
            <a:r>
              <a:rPr sz="1050" b="0">
                <a:solidFill>
                  <a:srgbClr val="5F6670"/>
                </a:solidFill>
              </a:rPr>
              <a:t>5</a:t>
            </a:r>
          </a:p>
        </p:txBody>
      </p:sp>
      <p:sp>
        <p:nvSpPr>
          <p:cNvPr id="3" name="正方形/長方形 2">
            <a:extLst>
              <a:ext uri="{FF2B5EF4-FFF2-40B4-BE49-F238E27FC236}">
                <a16:creationId xmlns:a16="http://schemas.microsoft.com/office/drawing/2014/main" id="{C100FC86-3EA9-4D90-894D-D8952A2DA2B3}"/>
              </a:ext>
            </a:extLst>
          </p:cNvPr>
          <p:cNvSpPr>
            <a:spLocks noGrp="1"/>
          </p:cNvSpPr>
          <p:nvPr/>
        </p:nvSpPr>
        <p:spPr>
          <a:xfrm>
            <a:off x="400050" y="1028700"/>
            <a:ext cx="2857500" cy="209550"/>
          </a:xfrm>
          <a:prstGeom prst="rect">
            <a:avLst/>
          </a:prstGeom>
          <a:noFill/>
          <a:ln w="0">
            <a:noFill/>
            <a:prstDash val="solid"/>
          </a:ln>
        </p:spPr>
        <p:txBody>
          <a:bodyPr/>
          <a:lstStyle/>
          <a:p>
            <a:pPr algn="l">
              <a:buNone/>
              <a:defRPr sz="1050" b="1">
                <a:solidFill>
                  <a:srgbClr val="3D8DFF"/>
                </a:solidFill>
              </a:defRPr>
            </a:pPr>
            <a:r>
              <a:rPr sz="1050" b="1">
                <a:solidFill>
                  <a:srgbClr val="3D8DFF"/>
                </a:solidFill>
              </a:rPr>
              <a:t>OBJECTIVE</a:t>
            </a:r>
          </a:p>
        </p:txBody>
      </p:sp>
      <p:graphicFrame>
        <p:nvGraphicFramePr>
          <p:cNvPr id="14" name="表 11"/>
          <p:cNvGraphicFramePr/>
          <p:nvPr/>
        </p:nvGraphicFramePr>
        <p:xfrm>
          <a:off x="523875" y="1571625"/>
          <a:ext cx="11144250" cy="3762375"/>
        </p:xfrm>
        <a:graphic>
          <a:graphicData uri="http://schemas.openxmlformats.org/drawingml/2006/table">
            <a:tbl>
              <a:tblPr firstRow="1" bandRow="1"/>
              <a:tblGrid>
                <a:gridCol w="2095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3143250">
                  <a:extLst>
                    <a:ext uri="{9D8B030D-6E8A-4147-A177-3AD203B41FA5}">
                      <a16:colId xmlns:a16="http://schemas.microsoft.com/office/drawing/2014/main" val="20002"/>
                    </a:ext>
                  </a:extLst>
                </a:gridCol>
                <a:gridCol w="3048000">
                  <a:extLst>
                    <a:ext uri="{9D8B030D-6E8A-4147-A177-3AD203B41FA5}">
                      <a16:colId xmlns:a16="http://schemas.microsoft.com/office/drawing/2014/main" val="20003"/>
                    </a:ext>
                  </a:extLst>
                </a:gridCol>
              </a:tblGrid>
              <a:tr h="752475">
                <a:tc>
                  <a:txBody>
                    <a:bodyPr/>
                    <a:lstStyle/>
                    <a:p>
                      <a:pPr algn="ctr">
                        <a:buNone/>
                      </a:pPr>
                      <a:r>
                        <a:rPr sz="1425" b="1">
                          <a:solidFill>
                            <a:srgbClr val="FFFFFF"/>
                          </a:solidFill>
                        </a:rPr>
                        <a:t>Layer</a:t>
                      </a:r>
                    </a:p>
                  </a:txBody>
                  <a:tcPr anchor="ctr">
                    <a:solidFill>
                      <a:srgbClr val="111111"/>
                    </a:solidFill>
                  </a:tcPr>
                </a:tc>
                <a:tc>
                  <a:txBody>
                    <a:bodyPr/>
                    <a:lstStyle/>
                    <a:p>
                      <a:pPr algn="ctr">
                        <a:buNone/>
                      </a:pPr>
                      <a:r>
                        <a:rPr sz="1425" b="1">
                          <a:solidFill>
                            <a:srgbClr val="FFFFFF"/>
                          </a:solidFill>
                        </a:rPr>
                        <a:t>Content</a:t>
                      </a:r>
                    </a:p>
                  </a:txBody>
                  <a:tcPr anchor="ctr">
                    <a:solidFill>
                      <a:srgbClr val="111111"/>
                    </a:solidFill>
                  </a:tcPr>
                </a:tc>
                <a:tc>
                  <a:txBody>
                    <a:bodyPr/>
                    <a:lstStyle/>
                    <a:p>
                      <a:pPr algn="ctr">
                        <a:buNone/>
                      </a:pPr>
                      <a:r>
                        <a:rPr sz="1425" b="1">
                          <a:solidFill>
                            <a:srgbClr val="FFFFFF"/>
                          </a:solidFill>
                        </a:rPr>
                        <a:t>Evidence</a:t>
                      </a:r>
                    </a:p>
                  </a:txBody>
                  <a:tcPr anchor="ctr">
                    <a:solidFill>
                      <a:srgbClr val="111111"/>
                    </a:solidFill>
                  </a:tcPr>
                </a:tc>
                <a:tc>
                  <a:txBody>
                    <a:bodyPr/>
                    <a:lstStyle/>
                    <a:p>
                      <a:pPr algn="ctr">
                        <a:buNone/>
                      </a:pPr>
                      <a:r>
                        <a:rPr sz="1425" b="1">
                          <a:solidFill>
                            <a:srgbClr val="FFFFFF"/>
                          </a:solidFill>
                        </a:rPr>
                        <a:t>Status</a:t>
                      </a:r>
                    </a:p>
                  </a:txBody>
                  <a:tcPr anchor="ctr">
                    <a:solidFill>
                      <a:srgbClr val="111111"/>
                    </a:solidFill>
                  </a:tcPr>
                </a:tc>
                <a:extLst>
                  <a:ext uri="{0D108BD9-81ED-4DB2-BD59-A6C34878D82A}">
                    <a16:rowId xmlns:a16="http://schemas.microsoft.com/office/drawing/2014/main" val="10000"/>
                  </a:ext>
                </a:extLst>
              </a:tr>
              <a:tr h="752475">
                <a:tc>
                  <a:txBody>
                    <a:bodyPr/>
                    <a:lstStyle/>
                    <a:p>
                      <a:pPr algn="ctr">
                        <a:buNone/>
                      </a:pPr>
                      <a:r>
                        <a:rPr sz="1275"/>
                        <a:t>Proposal</a:t>
                      </a:r>
                    </a:p>
                  </a:txBody>
                  <a:tcPr anchor="ctr"/>
                </a:tc>
                <a:tc>
                  <a:txBody>
                    <a:bodyPr/>
                    <a:lstStyle/>
                    <a:p>
                      <a:pPr algn="ctr">
                        <a:buNone/>
                      </a:pPr>
                      <a:r>
                        <a:rPr sz="1275"/>
                        <a:t>Event-rate rule</a:t>
                      </a:r>
                    </a:p>
                  </a:txBody>
                  <a:tcPr anchor="ctr"/>
                </a:tc>
                <a:tc>
                  <a:txBody>
                    <a:bodyPr/>
                    <a:lstStyle/>
                    <a:p>
                      <a:pPr algn="ctr">
                        <a:buNone/>
                      </a:pPr>
                      <a:r>
                        <a:rPr sz="1275"/>
                        <a:t>Algorithm definition</a:t>
                      </a:r>
                    </a:p>
                  </a:txBody>
                  <a:tcPr anchor="ctr"/>
                </a:tc>
                <a:tc>
                  <a:txBody>
                    <a:bodyPr/>
                    <a:lstStyle/>
                    <a:p>
                      <a:pPr algn="ctr">
                        <a:buNone/>
                      </a:pPr>
                      <a:r>
                        <a:rPr sz="1275"/>
                        <a:t>Defined</a:t>
                      </a:r>
                    </a:p>
                  </a:txBody>
                  <a:tcPr anchor="ctr"/>
                </a:tc>
                <a:extLst>
                  <a:ext uri="{0D108BD9-81ED-4DB2-BD59-A6C34878D82A}">
                    <a16:rowId xmlns:a16="http://schemas.microsoft.com/office/drawing/2014/main" val="10001"/>
                  </a:ext>
                </a:extLst>
              </a:tr>
              <a:tr h="752475">
                <a:tc>
                  <a:txBody>
                    <a:bodyPr/>
                    <a:lstStyle/>
                    <a:p>
                      <a:pPr algn="ctr">
                        <a:buNone/>
                      </a:pPr>
                      <a:r>
                        <a:rPr sz="1275"/>
                        <a:t>Evaluation</a:t>
                      </a:r>
                    </a:p>
                  </a:txBody>
                  <a:tcPr anchor="ctr"/>
                </a:tc>
                <a:tc>
                  <a:txBody>
                    <a:bodyPr/>
                    <a:lstStyle/>
                    <a:p>
                      <a:pPr algn="ctr">
                        <a:buNone/>
                      </a:pPr>
                      <a:r>
                        <a:rPr sz="1275"/>
                        <a:t>Basic scenarios</a:t>
                      </a:r>
                    </a:p>
                  </a:txBody>
                  <a:tcPr anchor="ctr"/>
                </a:tc>
                <a:tc>
                  <a:txBody>
                    <a:bodyPr/>
                    <a:lstStyle/>
                    <a:p>
                      <a:pPr algn="ctr">
                        <a:buNone/>
                      </a:pPr>
                      <a:r>
                        <a:rPr sz="1275"/>
                        <a:t>29,366 windows</a:t>
                      </a:r>
                    </a:p>
                  </a:txBody>
                  <a:tcPr anchor="ctr"/>
                </a:tc>
                <a:tc>
                  <a:txBody>
                    <a:bodyPr/>
                    <a:lstStyle/>
                    <a:p>
                      <a:pPr algn="ctr">
                        <a:buNone/>
                      </a:pPr>
                      <a:r>
                        <a:rPr sz="1275"/>
                        <a:t>Completed</a:t>
                      </a:r>
                    </a:p>
                  </a:txBody>
                  <a:tcPr anchor="ctr"/>
                </a:tc>
                <a:extLst>
                  <a:ext uri="{0D108BD9-81ED-4DB2-BD59-A6C34878D82A}">
                    <a16:rowId xmlns:a16="http://schemas.microsoft.com/office/drawing/2014/main" val="10002"/>
                  </a:ext>
                </a:extLst>
              </a:tr>
              <a:tr h="752475">
                <a:tc>
                  <a:txBody>
                    <a:bodyPr/>
                    <a:lstStyle/>
                    <a:p>
                      <a:pPr algn="ctr">
                        <a:buNone/>
                      </a:pPr>
                      <a:r>
                        <a:rPr sz="1275"/>
                        <a:t>Hardware</a:t>
                      </a:r>
                    </a:p>
                  </a:txBody>
                  <a:tcPr anchor="ctr"/>
                </a:tc>
                <a:tc>
                  <a:txBody>
                    <a:bodyPr/>
                    <a:lstStyle/>
                    <a:p>
                      <a:pPr algn="ctr">
                        <a:buNone/>
                      </a:pPr>
                      <a:r>
                        <a:rPr sz="1275"/>
                        <a:t>UART RX → LED</a:t>
                      </a:r>
                    </a:p>
                  </a:txBody>
                  <a:tcPr anchor="ctr"/>
                </a:tc>
                <a:tc>
                  <a:txBody>
                    <a:bodyPr/>
                    <a:lstStyle/>
                    <a:p>
                      <a:pPr algn="ctr">
                        <a:buNone/>
                      </a:pPr>
                      <a:r>
                        <a:rPr sz="1250"/>
                        <a:t>Basys 3 check</a:t>
                      </a:r>
                    </a:p>
                  </a:txBody>
                  <a:tcPr anchor="ctr"/>
                </a:tc>
                <a:tc>
                  <a:txBody>
                    <a:bodyPr/>
                    <a:lstStyle/>
                    <a:p>
                      <a:pPr algn="ctr">
                        <a:buNone/>
                      </a:pPr>
                      <a:r>
                        <a:rPr sz="1275"/>
                        <a:t>Verified</a:t>
                      </a:r>
                    </a:p>
                  </a:txBody>
                  <a:tcPr anchor="ctr"/>
                </a:tc>
                <a:extLst>
                  <a:ext uri="{0D108BD9-81ED-4DB2-BD59-A6C34878D82A}">
                    <a16:rowId xmlns:a16="http://schemas.microsoft.com/office/drawing/2014/main" val="10003"/>
                  </a:ext>
                </a:extLst>
              </a:tr>
              <a:tr h="752475">
                <a:tc>
                  <a:txBody>
                    <a:bodyPr/>
                    <a:lstStyle/>
                    <a:p>
                      <a:pPr algn="ctr">
                        <a:buNone/>
                      </a:pPr>
                      <a:r>
                        <a:rPr sz="1275"/>
                        <a:t>System</a:t>
                      </a:r>
                    </a:p>
                  </a:txBody>
                  <a:tcPr anchor="ctr"/>
                </a:tc>
                <a:tc>
                  <a:txBody>
                    <a:bodyPr/>
                    <a:lstStyle/>
                    <a:p>
                      <a:pPr algn="ctr">
                        <a:buNone/>
                      </a:pPr>
                      <a:r>
                        <a:rPr sz="1275"/>
                        <a:t>FPGA metrics / power</a:t>
                      </a:r>
                    </a:p>
                  </a:txBody>
                  <a:tcPr anchor="ctr"/>
                </a:tc>
                <a:tc>
                  <a:txBody>
                    <a:bodyPr/>
                    <a:lstStyle/>
                    <a:p>
                      <a:pPr algn="ctr">
                        <a:buNone/>
                      </a:pPr>
                      <a:r>
                        <a:rPr sz="1275"/>
                        <a:t>End-to-end test</a:t>
                      </a:r>
                    </a:p>
                  </a:txBody>
                  <a:tcPr anchor="ctr"/>
                </a:tc>
                <a:tc>
                  <a:txBody>
                    <a:bodyPr/>
                    <a:lstStyle/>
                    <a:p>
                      <a:pPr algn="ctr">
                        <a:buNone/>
                      </a:pPr>
                      <a:r>
                        <a:rPr sz="1275"/>
                        <a:t>Pending</a:t>
                      </a:r>
                    </a:p>
                  </a:txBody>
                  <a:tcPr anchor="ctr"/>
                </a:tc>
                <a:extLst>
                  <a:ext uri="{0D108BD9-81ED-4DB2-BD59-A6C34878D82A}">
                    <a16:rowId xmlns:a16="http://schemas.microsoft.com/office/drawing/2014/main" val="10004"/>
                  </a:ext>
                </a:extLst>
              </a:tr>
            </a:tbl>
          </a:graphicData>
        </a:graphic>
      </p:graphicFrame>
      <p:sp>
        <p:nvSpPr>
          <p:cNvPr id="5" name="正方形/長方形 4">
            <a:extLst>
              <a:ext uri="{FF2B5EF4-FFF2-40B4-BE49-F238E27FC236}">
                <a16:creationId xmlns:a16="http://schemas.microsoft.com/office/drawing/2014/main" id="{99B793D8-D1A3-4216-B958-9A48781417CE}"/>
              </a:ext>
            </a:extLst>
          </p:cNvPr>
          <p:cNvSpPr>
            <a:spLocks noGrp="1"/>
          </p:cNvSpPr>
          <p:nvPr/>
        </p:nvSpPr>
        <p:spPr>
          <a:xfrm>
            <a:off x="619125" y="5715000"/>
            <a:ext cx="1428750" cy="285750"/>
          </a:xfrm>
          <a:prstGeom prst="rect">
            <a:avLst/>
          </a:prstGeom>
          <a:noFill/>
          <a:ln w="0">
            <a:noFill/>
            <a:prstDash val="solid"/>
          </a:ln>
        </p:spPr>
        <p:txBody>
          <a:bodyPr/>
          <a:lstStyle/>
          <a:p>
            <a:pPr algn="l">
              <a:buNone/>
              <a:defRPr sz="1500" b="1">
                <a:solidFill>
                  <a:srgbClr val="3D8DFF"/>
                </a:solidFill>
              </a:defRPr>
            </a:pPr>
            <a:r>
              <a:rPr sz="1500" b="1">
                <a:solidFill>
                  <a:srgbClr val="3D8DFF"/>
                </a:solidFill>
              </a:rPr>
              <a:t>Output</a:t>
            </a:r>
          </a:p>
        </p:txBody>
      </p:sp>
      <p:sp>
        <p:nvSpPr>
          <p:cNvPr id="6" name="正方形/長方形 5">
            <a:extLst>
              <a:ext uri="{FF2B5EF4-FFF2-40B4-BE49-F238E27FC236}">
                <a16:creationId xmlns:a16="http://schemas.microsoft.com/office/drawing/2014/main" id="{774FF9B0-C703-41DD-9750-79B912730466}"/>
              </a:ext>
            </a:extLst>
          </p:cNvPr>
          <p:cNvSpPr>
            <a:spLocks noGrp="1"/>
          </p:cNvSpPr>
          <p:nvPr/>
        </p:nvSpPr>
        <p:spPr>
          <a:xfrm>
            <a:off x="2190750" y="5686425"/>
            <a:ext cx="3714750" cy="323850"/>
          </a:xfrm>
          <a:prstGeom prst="rect">
            <a:avLst/>
          </a:prstGeom>
          <a:noFill/>
          <a:ln w="0">
            <a:noFill/>
            <a:prstDash val="solid"/>
          </a:ln>
        </p:spPr>
        <p:txBody>
          <a:bodyPr/>
          <a:lstStyle/>
          <a:p>
            <a:pPr algn="l">
              <a:buNone/>
              <a:defRPr sz="1725" b="1">
                <a:solidFill>
                  <a:srgbClr val="111111"/>
                </a:solidFill>
              </a:defRPr>
            </a:pPr>
            <a:r>
              <a:rPr sz="1725" b="1">
                <a:solidFill>
                  <a:srgbClr val="111111"/>
                </a:solidFill>
              </a:rPr>
              <a:t>MOTION / NO MOTION</a:t>
            </a:r>
          </a:p>
        </p:txBody>
      </p:sp>
      <p:sp>
        <p:nvSpPr>
          <p:cNvPr id="7" name="正方形/長方形 6">
            <a:extLst>
              <a:ext uri="{FF2B5EF4-FFF2-40B4-BE49-F238E27FC236}">
                <a16:creationId xmlns:a16="http://schemas.microsoft.com/office/drawing/2014/main" id="{A19FAEEB-AD7C-4756-8301-A10F7F34E468}"/>
              </a:ext>
            </a:extLst>
          </p:cNvPr>
          <p:cNvSpPr>
            <a:spLocks noGrp="1"/>
          </p:cNvSpPr>
          <p:nvPr/>
        </p:nvSpPr>
        <p:spPr>
          <a:xfrm>
            <a:off x="6715125" y="5715000"/>
            <a:ext cx="1428750" cy="285750"/>
          </a:xfrm>
          <a:prstGeom prst="rect">
            <a:avLst/>
          </a:prstGeom>
          <a:noFill/>
          <a:ln w="0">
            <a:noFill/>
            <a:prstDash val="solid"/>
          </a:ln>
        </p:spPr>
        <p:txBody>
          <a:bodyPr/>
          <a:lstStyle/>
          <a:p>
            <a:pPr algn="l">
              <a:buNone/>
              <a:defRPr sz="1500" b="1">
                <a:solidFill>
                  <a:srgbClr val="E58A35"/>
                </a:solidFill>
              </a:defRPr>
            </a:pPr>
            <a:r>
              <a:rPr sz="1500" b="1">
                <a:solidFill>
                  <a:srgbClr val="E58A35"/>
                </a:solidFill>
              </a:rPr>
              <a:t>FPGA check</a:t>
            </a:r>
          </a:p>
        </p:txBody>
      </p:sp>
      <p:sp>
        <p:nvSpPr>
          <p:cNvPr id="8" name="正方形/長方形 7">
            <a:extLst>
              <a:ext uri="{FF2B5EF4-FFF2-40B4-BE49-F238E27FC236}">
                <a16:creationId xmlns:a16="http://schemas.microsoft.com/office/drawing/2014/main" id="{532B979B-DCE3-41D6-91BF-9E737FDB126B}"/>
              </a:ext>
            </a:extLst>
          </p:cNvPr>
          <p:cNvSpPr>
            <a:spLocks noGrp="1"/>
          </p:cNvSpPr>
          <p:nvPr/>
        </p:nvSpPr>
        <p:spPr>
          <a:xfrm>
            <a:off x="8143875" y="5686425"/>
            <a:ext cx="3143250" cy="323850"/>
          </a:xfrm>
          <a:prstGeom prst="rect">
            <a:avLst/>
          </a:prstGeom>
          <a:noFill/>
          <a:ln w="0">
            <a:noFill/>
            <a:prstDash val="solid"/>
          </a:ln>
        </p:spPr>
        <p:txBody>
          <a:bodyPr/>
          <a:lstStyle/>
          <a:p>
            <a:pPr algn="l">
              <a:buNone/>
              <a:defRPr sz="1725" b="1">
                <a:solidFill>
                  <a:srgbClr val="111111"/>
                </a:solidFill>
              </a:defRPr>
            </a:pPr>
            <a:r>
              <a:rPr sz="1725" b="1">
                <a:solidFill>
                  <a:srgbClr val="111111"/>
                </a:solidFill>
              </a:rPr>
              <a:t>UART reception</a:t>
            </a:r>
          </a:p>
        </p:txBody>
      </p:sp>
    </p:spTree>
    <p:extLst>
      <p:ext uri="{BB962C8B-B14F-4D97-AF65-F5344CB8AC3E}">
        <p14:creationId xmlns:p14="http://schemas.microsoft.com/office/powerpoint/2010/main" val="581351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正方形/長方形 30">
            <a:extLst>
              <a:ext uri="{FF2B5EF4-FFF2-40B4-BE49-F238E27FC236}">
                <a16:creationId xmlns:a16="http://schemas.microsoft.com/office/drawing/2014/main" id="{8393ED97-1FB4-49AE-84DB-24A34E7544ED}"/>
              </a:ext>
            </a:extLst>
          </p:cNvPr>
          <p:cNvSpPr>
            <a:spLocks noGrp="1"/>
          </p:cNvSpPr>
          <p:nvPr/>
        </p:nvSpPr>
        <p:spPr>
          <a:xfrm>
            <a:off x="400050" y="323850"/>
            <a:ext cx="10572750" cy="590550"/>
          </a:xfrm>
          <a:prstGeom prst="rect">
            <a:avLst/>
          </a:prstGeom>
          <a:noFill/>
          <a:ln w="0">
            <a:noFill/>
            <a:prstDash val="solid"/>
          </a:ln>
        </p:spPr>
        <p:txBody>
          <a:bodyPr/>
          <a:lstStyle/>
          <a:p>
            <a:pPr algn="l">
              <a:buNone/>
              <a:defRPr sz="2700" b="1">
                <a:solidFill>
                  <a:srgbClr val="111111"/>
                </a:solidFill>
              </a:defRPr>
            </a:pPr>
            <a:r>
              <a:rPr sz="2700" b="1">
                <a:solidFill>
                  <a:srgbClr val="111111"/>
                </a:solidFill>
              </a:rPr>
              <a:t>System and Evidence Paths</a:t>
            </a:r>
          </a:p>
        </p:txBody>
      </p:sp>
      <p:sp>
        <p:nvSpPr>
          <p:cNvPr id="2" name="正方形/長方形 1">
            <a:extLst>
              <a:ext uri="{FF2B5EF4-FFF2-40B4-BE49-F238E27FC236}">
                <a16:creationId xmlns:a16="http://schemas.microsoft.com/office/drawing/2014/main" id="{7247855B-F744-4705-94D7-4003F7647682}"/>
              </a:ext>
            </a:extLst>
          </p:cNvPr>
          <p:cNvSpPr>
            <a:spLocks noGrp="1"/>
          </p:cNvSpPr>
          <p:nvPr/>
        </p:nvSpPr>
        <p:spPr>
          <a:xfrm>
            <a:off x="11277600" y="6286500"/>
            <a:ext cx="514350" cy="228600"/>
          </a:xfrm>
          <a:prstGeom prst="rect">
            <a:avLst/>
          </a:prstGeom>
          <a:noFill/>
          <a:ln w="0">
            <a:noFill/>
            <a:prstDash val="solid"/>
          </a:ln>
        </p:spPr>
        <p:txBody>
          <a:bodyPr/>
          <a:lstStyle/>
          <a:p>
            <a:pPr algn="r">
              <a:buNone/>
              <a:defRPr sz="1050" b="0">
                <a:solidFill>
                  <a:srgbClr val="5F6670"/>
                </a:solidFill>
              </a:defRPr>
            </a:pPr>
            <a:r>
              <a:rPr sz="1050" b="0">
                <a:solidFill>
                  <a:srgbClr val="5F6670"/>
                </a:solidFill>
              </a:rPr>
              <a:t>6</a:t>
            </a:r>
          </a:p>
        </p:txBody>
      </p:sp>
      <p:sp>
        <p:nvSpPr>
          <p:cNvPr id="3" name="正方形/長方形 2">
            <a:extLst>
              <a:ext uri="{FF2B5EF4-FFF2-40B4-BE49-F238E27FC236}">
                <a16:creationId xmlns:a16="http://schemas.microsoft.com/office/drawing/2014/main" id="{EB924D6A-D525-4DEA-BC2F-A7D719465F1B}"/>
              </a:ext>
            </a:extLst>
          </p:cNvPr>
          <p:cNvSpPr>
            <a:spLocks noGrp="1"/>
          </p:cNvSpPr>
          <p:nvPr/>
        </p:nvSpPr>
        <p:spPr>
          <a:xfrm>
            <a:off x="400050" y="1028700"/>
            <a:ext cx="2857500" cy="209550"/>
          </a:xfrm>
          <a:prstGeom prst="rect">
            <a:avLst/>
          </a:prstGeom>
          <a:noFill/>
          <a:ln w="0">
            <a:noFill/>
            <a:prstDash val="solid"/>
          </a:ln>
        </p:spPr>
        <p:txBody>
          <a:bodyPr/>
          <a:lstStyle/>
          <a:p>
            <a:pPr algn="l">
              <a:buNone/>
              <a:defRPr sz="1050" b="1">
                <a:solidFill>
                  <a:srgbClr val="3D8DFF"/>
                </a:solidFill>
              </a:defRPr>
            </a:pPr>
            <a:r>
              <a:rPr sz="1050" b="1">
                <a:solidFill>
                  <a:srgbClr val="3D8DFF"/>
                </a:solidFill>
              </a:rPr>
              <a:t>METHOD</a:t>
            </a:r>
          </a:p>
        </p:txBody>
      </p:sp>
      <p:sp>
        <p:nvSpPr>
          <p:cNvPr id="4" name="矢印: 右 3">
            <a:extLst>
              <a:ext uri="{FF2B5EF4-FFF2-40B4-BE49-F238E27FC236}">
                <a16:creationId xmlns:a16="http://schemas.microsoft.com/office/drawing/2014/main" id="{54958516-D9DC-4BC7-9FA9-7D3113E09DC7}"/>
              </a:ext>
            </a:extLst>
          </p:cNvPr>
          <p:cNvSpPr>
            <a:spLocks noGrp="1"/>
          </p:cNvSpPr>
          <p:nvPr/>
        </p:nvSpPr>
        <p:spPr>
          <a:xfrm>
            <a:off x="2600325" y="2286000"/>
            <a:ext cx="361950" cy="266700"/>
          </a:xfrm>
          <a:prstGeom prst="rightArrow">
            <a:avLst/>
          </a:prstGeom>
          <a:solidFill>
            <a:srgbClr val="3D8DFF"/>
          </a:solidFill>
          <a:ln w="0">
            <a:solidFill>
              <a:srgbClr val="3D8DFF"/>
            </a:solidFill>
            <a:prstDash val="solid"/>
          </a:ln>
        </p:spPr>
      </p:sp>
      <p:sp>
        <p:nvSpPr>
          <p:cNvPr id="5" name="矢印: 右 4">
            <a:extLst>
              <a:ext uri="{FF2B5EF4-FFF2-40B4-BE49-F238E27FC236}">
                <a16:creationId xmlns:a16="http://schemas.microsoft.com/office/drawing/2014/main" id="{211AF7E9-9B1D-420B-847E-E6AA3E32FAD7}"/>
              </a:ext>
            </a:extLst>
          </p:cNvPr>
          <p:cNvSpPr>
            <a:spLocks noGrp="1"/>
          </p:cNvSpPr>
          <p:nvPr/>
        </p:nvSpPr>
        <p:spPr>
          <a:xfrm>
            <a:off x="5029200" y="2286000"/>
            <a:ext cx="361950" cy="266700"/>
          </a:xfrm>
          <a:prstGeom prst="rightArrow">
            <a:avLst/>
          </a:prstGeom>
          <a:solidFill>
            <a:srgbClr val="3D8DFF"/>
          </a:solidFill>
          <a:ln w="0">
            <a:solidFill>
              <a:srgbClr val="3D8DFF"/>
            </a:solidFill>
            <a:prstDash val="solid"/>
          </a:ln>
        </p:spPr>
      </p:sp>
      <p:sp>
        <p:nvSpPr>
          <p:cNvPr id="6" name="矢印: 右 5">
            <a:extLst>
              <a:ext uri="{FF2B5EF4-FFF2-40B4-BE49-F238E27FC236}">
                <a16:creationId xmlns:a16="http://schemas.microsoft.com/office/drawing/2014/main" id="{5C2FA462-DC99-424B-AAEE-3EDB99C6E8D1}"/>
              </a:ext>
            </a:extLst>
          </p:cNvPr>
          <p:cNvSpPr>
            <a:spLocks noGrp="1"/>
          </p:cNvSpPr>
          <p:nvPr/>
        </p:nvSpPr>
        <p:spPr>
          <a:xfrm>
            <a:off x="7458075" y="2286000"/>
            <a:ext cx="361950" cy="266700"/>
          </a:xfrm>
          <a:prstGeom prst="rightArrow">
            <a:avLst/>
          </a:prstGeom>
          <a:solidFill>
            <a:srgbClr val="3D8DFF"/>
          </a:solidFill>
          <a:ln w="0">
            <a:solidFill>
              <a:srgbClr val="3D8DFF"/>
            </a:solidFill>
            <a:prstDash val="solid"/>
          </a:ln>
        </p:spPr>
      </p:sp>
      <p:sp>
        <p:nvSpPr>
          <p:cNvPr id="7" name="矢印: 右 6">
            <a:extLst>
              <a:ext uri="{FF2B5EF4-FFF2-40B4-BE49-F238E27FC236}">
                <a16:creationId xmlns:a16="http://schemas.microsoft.com/office/drawing/2014/main" id="{E0EB0382-627A-476E-B4B0-62C9B357A8C4}"/>
              </a:ext>
            </a:extLst>
          </p:cNvPr>
          <p:cNvSpPr>
            <a:spLocks noGrp="1"/>
          </p:cNvSpPr>
          <p:nvPr/>
        </p:nvSpPr>
        <p:spPr>
          <a:xfrm>
            <a:off x="9886950" y="2286000"/>
            <a:ext cx="361950" cy="266700"/>
          </a:xfrm>
          <a:prstGeom prst="rightArrow">
            <a:avLst/>
          </a:prstGeom>
          <a:solidFill>
            <a:srgbClr val="3D8DFF"/>
          </a:solidFill>
          <a:ln w="0">
            <a:solidFill>
              <a:srgbClr val="3D8DFF"/>
            </a:solidFill>
            <a:prstDash val="solid"/>
          </a:ln>
        </p:spPr>
      </p:sp>
      <p:sp>
        <p:nvSpPr>
          <p:cNvPr id="8" name="四角形: 角を丸くする 7">
            <a:extLst>
              <a:ext uri="{FF2B5EF4-FFF2-40B4-BE49-F238E27FC236}">
                <a16:creationId xmlns:a16="http://schemas.microsoft.com/office/drawing/2014/main" id="{3FB997A8-16B8-48F2-805A-6319A0412BFE}"/>
              </a:ext>
            </a:extLst>
          </p:cNvPr>
          <p:cNvSpPr>
            <a:spLocks noGrp="1"/>
          </p:cNvSpPr>
          <p:nvPr/>
        </p:nvSpPr>
        <p:spPr>
          <a:xfrm>
            <a:off x="333375" y="1809750"/>
            <a:ext cx="2266950" cy="1219200"/>
          </a:xfrm>
          <a:prstGeom prst="roundRect">
            <a:avLst>
              <a:gd name="adj" fmla="val 9375"/>
            </a:avLst>
          </a:prstGeom>
          <a:solidFill>
            <a:srgbClr val="EAF5FB"/>
          </a:solidFill>
          <a:ln w="9525">
            <a:solidFill>
              <a:srgbClr val="B8BCC4"/>
            </a:solidFill>
            <a:prstDash val="solid"/>
          </a:ln>
        </p:spPr>
      </p:sp>
      <p:sp>
        <p:nvSpPr>
          <p:cNvPr id="9" name="正方形/長方形 8">
            <a:extLst>
              <a:ext uri="{FF2B5EF4-FFF2-40B4-BE49-F238E27FC236}">
                <a16:creationId xmlns:a16="http://schemas.microsoft.com/office/drawing/2014/main" id="{4320E668-546F-4E16-B7E8-D4D86AFE3CC8}"/>
              </a:ext>
            </a:extLst>
          </p:cNvPr>
          <p:cNvSpPr>
            <a:spLocks noGrp="1"/>
          </p:cNvSpPr>
          <p:nvPr/>
        </p:nvSpPr>
        <p:spPr>
          <a:xfrm>
            <a:off x="466725" y="1943100"/>
            <a:ext cx="2000250" cy="285750"/>
          </a:xfrm>
          <a:prstGeom prst="rect">
            <a:avLst/>
          </a:prstGeom>
          <a:noFill/>
          <a:ln w="0">
            <a:noFill/>
            <a:prstDash val="solid"/>
          </a:ln>
        </p:spPr>
        <p:txBody>
          <a:bodyPr/>
          <a:lstStyle/>
          <a:p>
            <a:pPr algn="ctr">
              <a:buNone/>
              <a:defRPr sz="1650" b="1">
                <a:solidFill>
                  <a:srgbClr val="111111"/>
                </a:solidFill>
              </a:defRPr>
            </a:pPr>
            <a:r>
              <a:rPr sz="1650" b="1">
                <a:solidFill>
                  <a:srgbClr val="111111"/>
                </a:solidFill>
              </a:rPr>
              <a:t>GENX320</a:t>
            </a:r>
          </a:p>
        </p:txBody>
      </p:sp>
      <p:sp>
        <p:nvSpPr>
          <p:cNvPr id="10" name="正方形/長方形 9">
            <a:extLst>
              <a:ext uri="{FF2B5EF4-FFF2-40B4-BE49-F238E27FC236}">
                <a16:creationId xmlns:a16="http://schemas.microsoft.com/office/drawing/2014/main" id="{D9E1D88F-8866-4B4F-A444-C65832326485}"/>
              </a:ext>
            </a:extLst>
          </p:cNvPr>
          <p:cNvSpPr>
            <a:spLocks noGrp="1"/>
          </p:cNvSpPr>
          <p:nvPr/>
        </p:nvSpPr>
        <p:spPr>
          <a:xfrm>
            <a:off x="476250" y="2362200"/>
            <a:ext cx="1981200" cy="552450"/>
          </a:xfrm>
          <a:prstGeom prst="rect">
            <a:avLst/>
          </a:prstGeom>
          <a:noFill/>
          <a:ln w="0">
            <a:noFill/>
            <a:prstDash val="solid"/>
          </a:ln>
        </p:spPr>
        <p:txBody>
          <a:bodyPr/>
          <a:lstStyle/>
          <a:p>
            <a:pPr algn="ctr">
              <a:buNone/>
              <a:defRPr sz="1275" b="0">
                <a:solidFill>
                  <a:srgbClr val="5F6670"/>
                </a:solidFill>
              </a:defRPr>
            </a:pPr>
            <a:r>
              <a:rPr sz="1275" b="0">
                <a:solidFill>
                  <a:srgbClr val="5F6670"/>
                </a:solidFill>
              </a:rPr>
              <a:t>x, y coordinates</a:t>
            </a:r>
          </a:p>
          <a:p>
            <a:pPr algn="ctr">
              <a:buNone/>
              <a:defRPr sz="1275" b="0">
                <a:solidFill>
                  <a:srgbClr val="5F6670"/>
                </a:solidFill>
              </a:defRPr>
            </a:pPr>
            <a:r>
              <a:rPr sz="1275" b="0">
                <a:solidFill>
                  <a:srgbClr val="5F6670"/>
                </a:solidFill>
              </a:rPr>
              <a:t>polarity · timestamp</a:t>
            </a:r>
          </a:p>
        </p:txBody>
      </p:sp>
      <p:sp>
        <p:nvSpPr>
          <p:cNvPr id="11" name="四角形: 角を丸くする 10">
            <a:extLst>
              <a:ext uri="{FF2B5EF4-FFF2-40B4-BE49-F238E27FC236}">
                <a16:creationId xmlns:a16="http://schemas.microsoft.com/office/drawing/2014/main" id="{0398A862-1D9A-4F8D-99C9-3E377D53E1AA}"/>
              </a:ext>
            </a:extLst>
          </p:cNvPr>
          <p:cNvSpPr>
            <a:spLocks noGrp="1"/>
          </p:cNvSpPr>
          <p:nvPr/>
        </p:nvSpPr>
        <p:spPr>
          <a:xfrm>
            <a:off x="2952750" y="1809750"/>
            <a:ext cx="2076450" cy="1219200"/>
          </a:xfrm>
          <a:prstGeom prst="roundRect">
            <a:avLst>
              <a:gd name="adj" fmla="val 9375"/>
            </a:avLst>
          </a:prstGeom>
          <a:solidFill>
            <a:srgbClr val="FFFFFF"/>
          </a:solidFill>
          <a:ln w="9525">
            <a:solidFill>
              <a:srgbClr val="B8BCC4"/>
            </a:solidFill>
            <a:prstDash val="solid"/>
          </a:ln>
        </p:spPr>
      </p:sp>
      <p:sp>
        <p:nvSpPr>
          <p:cNvPr id="12" name="正方形/長方形 11">
            <a:extLst>
              <a:ext uri="{FF2B5EF4-FFF2-40B4-BE49-F238E27FC236}">
                <a16:creationId xmlns:a16="http://schemas.microsoft.com/office/drawing/2014/main" id="{47112B48-826F-4B21-A45E-FBC1180C9B40}"/>
              </a:ext>
            </a:extLst>
          </p:cNvPr>
          <p:cNvSpPr>
            <a:spLocks noGrp="1"/>
          </p:cNvSpPr>
          <p:nvPr/>
        </p:nvSpPr>
        <p:spPr>
          <a:xfrm>
            <a:off x="3086100" y="1943100"/>
            <a:ext cx="1809750" cy="285750"/>
          </a:xfrm>
          <a:prstGeom prst="rect">
            <a:avLst/>
          </a:prstGeom>
          <a:noFill/>
          <a:ln w="0">
            <a:noFill/>
            <a:prstDash val="solid"/>
          </a:ln>
        </p:spPr>
        <p:txBody>
          <a:bodyPr lIns="91440" tIns="45720" rIns="91440" bIns="45720" anchor="t"/>
          <a:lstStyle/>
          <a:p>
            <a:pPr algn="ctr">
              <a:buNone/>
              <a:defRPr sz="1650" b="1">
                <a:solidFill>
                  <a:srgbClr val="111111"/>
                </a:solidFill>
              </a:defRPr>
            </a:pPr>
            <a:r>
              <a:rPr sz="1650" b="1">
                <a:solidFill>
                  <a:srgbClr val="111111"/>
                </a:solidFill>
              </a:rPr>
              <a:t>H7 Plus</a:t>
            </a:r>
          </a:p>
        </p:txBody>
      </p:sp>
      <p:sp>
        <p:nvSpPr>
          <p:cNvPr id="13" name="正方形/長方形 12">
            <a:extLst>
              <a:ext uri="{FF2B5EF4-FFF2-40B4-BE49-F238E27FC236}">
                <a16:creationId xmlns:a16="http://schemas.microsoft.com/office/drawing/2014/main" id="{92D74724-E29D-4F97-9873-403C3C7B0D18}"/>
              </a:ext>
            </a:extLst>
          </p:cNvPr>
          <p:cNvSpPr>
            <a:spLocks noGrp="1"/>
          </p:cNvSpPr>
          <p:nvPr/>
        </p:nvSpPr>
        <p:spPr>
          <a:xfrm>
            <a:off x="3095625" y="2362200"/>
            <a:ext cx="1790700" cy="552450"/>
          </a:xfrm>
          <a:prstGeom prst="rect">
            <a:avLst/>
          </a:prstGeom>
          <a:noFill/>
          <a:ln w="0">
            <a:noFill/>
            <a:prstDash val="solid"/>
          </a:ln>
        </p:spPr>
        <p:txBody>
          <a:bodyPr/>
          <a:lstStyle/>
          <a:p>
            <a:pPr algn="ctr">
              <a:buNone/>
              <a:defRPr sz="1275" b="0">
                <a:solidFill>
                  <a:srgbClr val="5F6670"/>
                </a:solidFill>
              </a:defRPr>
            </a:pPr>
            <a:r>
              <a:rPr sz="1275" b="0">
                <a:solidFill>
                  <a:srgbClr val="5F6670"/>
                </a:solidFill>
              </a:rPr>
              <a:t>20 ms event count</a:t>
            </a:r>
          </a:p>
        </p:txBody>
      </p:sp>
      <p:sp>
        <p:nvSpPr>
          <p:cNvPr id="14" name="四角形: 角を丸くする 13">
            <a:extLst>
              <a:ext uri="{FF2B5EF4-FFF2-40B4-BE49-F238E27FC236}">
                <a16:creationId xmlns:a16="http://schemas.microsoft.com/office/drawing/2014/main" id="{40E5B76A-758E-4457-AE86-FD44135D2F99}"/>
              </a:ext>
            </a:extLst>
          </p:cNvPr>
          <p:cNvSpPr>
            <a:spLocks noGrp="1"/>
          </p:cNvSpPr>
          <p:nvPr/>
        </p:nvSpPr>
        <p:spPr>
          <a:xfrm>
            <a:off x="5381625" y="1809750"/>
            <a:ext cx="2076450" cy="1219200"/>
          </a:xfrm>
          <a:prstGeom prst="roundRect">
            <a:avLst>
              <a:gd name="adj" fmla="val 9375"/>
            </a:avLst>
          </a:prstGeom>
          <a:solidFill>
            <a:srgbClr val="EDEDED"/>
          </a:solidFill>
          <a:ln w="9525">
            <a:solidFill>
              <a:srgbClr val="B8BCC4"/>
            </a:solidFill>
            <a:prstDash val="solid"/>
          </a:ln>
        </p:spPr>
      </p:sp>
      <p:sp>
        <p:nvSpPr>
          <p:cNvPr id="15" name="正方形/長方形 14">
            <a:extLst>
              <a:ext uri="{FF2B5EF4-FFF2-40B4-BE49-F238E27FC236}">
                <a16:creationId xmlns:a16="http://schemas.microsoft.com/office/drawing/2014/main" id="{26845E0B-258E-4F31-AC63-816C8895F987}"/>
              </a:ext>
            </a:extLst>
          </p:cNvPr>
          <p:cNvSpPr>
            <a:spLocks noGrp="1"/>
          </p:cNvSpPr>
          <p:nvPr/>
        </p:nvSpPr>
        <p:spPr>
          <a:xfrm>
            <a:off x="5514975" y="1943100"/>
            <a:ext cx="1809750" cy="285750"/>
          </a:xfrm>
          <a:prstGeom prst="rect">
            <a:avLst/>
          </a:prstGeom>
          <a:noFill/>
          <a:ln w="0">
            <a:noFill/>
            <a:prstDash val="solid"/>
          </a:ln>
        </p:spPr>
        <p:txBody>
          <a:bodyPr/>
          <a:lstStyle/>
          <a:p>
            <a:pPr algn="ctr">
              <a:buNone/>
              <a:defRPr sz="1650" b="1">
                <a:solidFill>
                  <a:srgbClr val="111111"/>
                </a:solidFill>
              </a:defRPr>
            </a:pPr>
            <a:r>
              <a:rPr sz="1650" b="1">
                <a:solidFill>
                  <a:srgbClr val="111111"/>
                </a:solidFill>
              </a:rPr>
              <a:t>UART data</a:t>
            </a:r>
          </a:p>
        </p:txBody>
      </p:sp>
      <p:sp>
        <p:nvSpPr>
          <p:cNvPr id="16" name="正方形/長方形 15">
            <a:extLst>
              <a:ext uri="{FF2B5EF4-FFF2-40B4-BE49-F238E27FC236}">
                <a16:creationId xmlns:a16="http://schemas.microsoft.com/office/drawing/2014/main" id="{6724B563-1481-410B-B5D7-AB568B8A5466}"/>
              </a:ext>
            </a:extLst>
          </p:cNvPr>
          <p:cNvSpPr>
            <a:spLocks noGrp="1"/>
          </p:cNvSpPr>
          <p:nvPr/>
        </p:nvSpPr>
        <p:spPr>
          <a:xfrm>
            <a:off x="5524500" y="2362200"/>
            <a:ext cx="1790700" cy="552450"/>
          </a:xfrm>
          <a:prstGeom prst="rect">
            <a:avLst/>
          </a:prstGeom>
          <a:noFill/>
          <a:ln w="0">
            <a:noFill/>
            <a:prstDash val="solid"/>
          </a:ln>
        </p:spPr>
        <p:txBody>
          <a:bodyPr/>
          <a:lstStyle/>
          <a:p>
            <a:pPr algn="ctr">
              <a:buNone/>
              <a:defRPr sz="1275" b="0">
                <a:solidFill>
                  <a:srgbClr val="5F6670"/>
                </a:solidFill>
              </a:defRPr>
            </a:pPr>
            <a:r>
              <a:rPr sz="1275" b="0">
                <a:solidFill>
                  <a:srgbClr val="5F6670"/>
                </a:solidFill>
              </a:rPr>
              <a:t>Event count</a:t>
            </a:r>
          </a:p>
          <a:p>
            <a:pPr algn="ctr">
              <a:buNone/>
              <a:defRPr sz="1275" b="0">
                <a:solidFill>
                  <a:srgbClr val="5F6670"/>
                </a:solidFill>
              </a:defRPr>
            </a:pPr>
            <a:r>
              <a:rPr sz="1275" b="0">
                <a:solidFill>
                  <a:srgbClr val="5F6670"/>
                </a:solidFill>
              </a:rPr>
              <a:t>Motion flag</a:t>
            </a:r>
          </a:p>
        </p:txBody>
      </p:sp>
      <p:sp>
        <p:nvSpPr>
          <p:cNvPr id="17" name="四角形: 角を丸くする 16">
            <a:extLst>
              <a:ext uri="{FF2B5EF4-FFF2-40B4-BE49-F238E27FC236}">
                <a16:creationId xmlns:a16="http://schemas.microsoft.com/office/drawing/2014/main" id="{562C9BE2-0A73-466D-AAF5-09C3F05021A3}"/>
              </a:ext>
            </a:extLst>
          </p:cNvPr>
          <p:cNvSpPr>
            <a:spLocks noGrp="1"/>
          </p:cNvSpPr>
          <p:nvPr/>
        </p:nvSpPr>
        <p:spPr>
          <a:xfrm>
            <a:off x="7810500" y="1809750"/>
            <a:ext cx="2076450" cy="1219200"/>
          </a:xfrm>
          <a:prstGeom prst="roundRect">
            <a:avLst>
              <a:gd name="adj" fmla="val 9375"/>
            </a:avLst>
          </a:prstGeom>
          <a:solidFill>
            <a:srgbClr val="F4F7F9"/>
          </a:solidFill>
          <a:ln w="9525">
            <a:solidFill>
              <a:srgbClr val="B8BCC4"/>
            </a:solidFill>
            <a:prstDash val="solid"/>
          </a:ln>
        </p:spPr>
      </p:sp>
      <p:sp>
        <p:nvSpPr>
          <p:cNvPr id="18" name="正方形/長方形 17">
            <a:extLst>
              <a:ext uri="{FF2B5EF4-FFF2-40B4-BE49-F238E27FC236}">
                <a16:creationId xmlns:a16="http://schemas.microsoft.com/office/drawing/2014/main" id="{A649BA81-9EE3-4CC6-9A83-02692400621D}"/>
              </a:ext>
            </a:extLst>
          </p:cNvPr>
          <p:cNvSpPr>
            <a:spLocks noGrp="1"/>
          </p:cNvSpPr>
          <p:nvPr/>
        </p:nvSpPr>
        <p:spPr>
          <a:xfrm>
            <a:off x="7943850" y="1943100"/>
            <a:ext cx="1809750" cy="285750"/>
          </a:xfrm>
          <a:prstGeom prst="rect">
            <a:avLst/>
          </a:prstGeom>
          <a:noFill/>
          <a:ln w="0">
            <a:noFill/>
            <a:prstDash val="solid"/>
          </a:ln>
        </p:spPr>
        <p:txBody>
          <a:bodyPr/>
          <a:lstStyle/>
          <a:p>
            <a:pPr algn="ctr">
              <a:buNone/>
              <a:defRPr sz="1650" b="1">
                <a:solidFill>
                  <a:srgbClr val="111111"/>
                </a:solidFill>
              </a:defRPr>
            </a:pPr>
            <a:r>
              <a:rPr sz="1650" b="1">
                <a:solidFill>
                  <a:srgbClr val="111111"/>
                </a:solidFill>
              </a:rPr>
              <a:t>Basys 3</a:t>
            </a:r>
          </a:p>
        </p:txBody>
      </p:sp>
      <p:sp>
        <p:nvSpPr>
          <p:cNvPr id="19" name="正方形/長方形 18">
            <a:extLst>
              <a:ext uri="{FF2B5EF4-FFF2-40B4-BE49-F238E27FC236}">
                <a16:creationId xmlns:a16="http://schemas.microsoft.com/office/drawing/2014/main" id="{BDDD0C00-3C0A-439D-B077-CB026E26F3B8}"/>
              </a:ext>
            </a:extLst>
          </p:cNvPr>
          <p:cNvSpPr>
            <a:spLocks noGrp="1"/>
          </p:cNvSpPr>
          <p:nvPr/>
        </p:nvSpPr>
        <p:spPr>
          <a:xfrm>
            <a:off x="7953375" y="2362200"/>
            <a:ext cx="1790700" cy="552450"/>
          </a:xfrm>
          <a:prstGeom prst="rect">
            <a:avLst/>
          </a:prstGeom>
          <a:noFill/>
          <a:ln w="0">
            <a:noFill/>
            <a:prstDash val="solid"/>
          </a:ln>
        </p:spPr>
        <p:txBody>
          <a:bodyPr/>
          <a:lstStyle/>
          <a:p>
            <a:pPr algn="ctr">
              <a:buNone/>
              <a:defRPr sz="1275" b="0">
                <a:solidFill>
                  <a:srgbClr val="5F6670"/>
                </a:solidFill>
              </a:defRPr>
            </a:pPr>
            <a:r>
              <a:rPr sz="1275" b="0">
                <a:solidFill>
                  <a:srgbClr val="5F6670"/>
                </a:solidFill>
              </a:rPr>
              <a:t>Threshold · 3 windows</a:t>
            </a:r>
          </a:p>
        </p:txBody>
      </p:sp>
      <p:sp>
        <p:nvSpPr>
          <p:cNvPr id="20" name="四角形: 角を丸くする 19">
            <a:extLst>
              <a:ext uri="{FF2B5EF4-FFF2-40B4-BE49-F238E27FC236}">
                <a16:creationId xmlns:a16="http://schemas.microsoft.com/office/drawing/2014/main" id="{F38EFE4E-7FF4-4944-A2AC-E76754A3AC2A}"/>
              </a:ext>
            </a:extLst>
          </p:cNvPr>
          <p:cNvSpPr>
            <a:spLocks noGrp="1"/>
          </p:cNvSpPr>
          <p:nvPr/>
        </p:nvSpPr>
        <p:spPr>
          <a:xfrm>
            <a:off x="10239375" y="1809750"/>
            <a:ext cx="1619250" cy="1219200"/>
          </a:xfrm>
          <a:prstGeom prst="roundRect">
            <a:avLst>
              <a:gd name="adj" fmla="val 9375"/>
            </a:avLst>
          </a:prstGeom>
          <a:solidFill>
            <a:srgbClr val="EDF7F2"/>
          </a:solidFill>
          <a:ln w="9525">
            <a:solidFill>
              <a:srgbClr val="B8BCC4"/>
            </a:solidFill>
            <a:prstDash val="solid"/>
          </a:ln>
        </p:spPr>
      </p:sp>
      <p:sp>
        <p:nvSpPr>
          <p:cNvPr id="21" name="正方形/長方形 20">
            <a:extLst>
              <a:ext uri="{FF2B5EF4-FFF2-40B4-BE49-F238E27FC236}">
                <a16:creationId xmlns:a16="http://schemas.microsoft.com/office/drawing/2014/main" id="{160C50E0-67DF-4612-8844-2D588E9EE65B}"/>
              </a:ext>
            </a:extLst>
          </p:cNvPr>
          <p:cNvSpPr>
            <a:spLocks noGrp="1"/>
          </p:cNvSpPr>
          <p:nvPr/>
        </p:nvSpPr>
        <p:spPr>
          <a:xfrm>
            <a:off x="10372725" y="1943100"/>
            <a:ext cx="1352550" cy="285750"/>
          </a:xfrm>
          <a:prstGeom prst="rect">
            <a:avLst/>
          </a:prstGeom>
          <a:noFill/>
          <a:ln w="0">
            <a:noFill/>
            <a:prstDash val="solid"/>
          </a:ln>
        </p:spPr>
        <p:txBody>
          <a:bodyPr/>
          <a:lstStyle/>
          <a:p>
            <a:pPr algn="ctr">
              <a:buNone/>
              <a:defRPr sz="1650" b="1">
                <a:solidFill>
                  <a:srgbClr val="111111"/>
                </a:solidFill>
              </a:defRPr>
            </a:pPr>
            <a:r>
              <a:rPr sz="1650" b="1">
                <a:solidFill>
                  <a:srgbClr val="111111"/>
                </a:solidFill>
              </a:rPr>
              <a:t>Output</a:t>
            </a:r>
          </a:p>
        </p:txBody>
      </p:sp>
      <p:sp>
        <p:nvSpPr>
          <p:cNvPr id="22" name="正方形/長方形 21">
            <a:extLst>
              <a:ext uri="{FF2B5EF4-FFF2-40B4-BE49-F238E27FC236}">
                <a16:creationId xmlns:a16="http://schemas.microsoft.com/office/drawing/2014/main" id="{B5EE86F9-596D-48E3-92B9-69115BC6602C}"/>
              </a:ext>
            </a:extLst>
          </p:cNvPr>
          <p:cNvSpPr>
            <a:spLocks noGrp="1"/>
          </p:cNvSpPr>
          <p:nvPr/>
        </p:nvSpPr>
        <p:spPr>
          <a:xfrm>
            <a:off x="10382250" y="2362200"/>
            <a:ext cx="1333500" cy="552450"/>
          </a:xfrm>
          <a:prstGeom prst="rect">
            <a:avLst/>
          </a:prstGeom>
          <a:noFill/>
          <a:ln w="0">
            <a:noFill/>
            <a:prstDash val="solid"/>
          </a:ln>
        </p:spPr>
        <p:txBody>
          <a:bodyPr/>
          <a:lstStyle/>
          <a:p>
            <a:pPr algn="ctr">
              <a:buNone/>
              <a:defRPr sz="1275" b="0">
                <a:solidFill>
                  <a:srgbClr val="5F6670"/>
                </a:solidFill>
              </a:defRPr>
            </a:pPr>
            <a:r>
              <a:rPr sz="1275" b="0">
                <a:solidFill>
                  <a:srgbClr val="5F6670"/>
                </a:solidFill>
              </a:rPr>
              <a:t>Motion / no motion</a:t>
            </a:r>
          </a:p>
        </p:txBody>
      </p:sp>
      <p:sp>
        <p:nvSpPr>
          <p:cNvPr id="23" name="四角形: 角を丸くする 22">
            <a:extLst>
              <a:ext uri="{FF2B5EF4-FFF2-40B4-BE49-F238E27FC236}">
                <a16:creationId xmlns:a16="http://schemas.microsoft.com/office/drawing/2014/main" id="{8B6644B4-10B9-4E46-9F9F-6933B6FB2A76}"/>
              </a:ext>
            </a:extLst>
          </p:cNvPr>
          <p:cNvSpPr>
            <a:spLocks noGrp="1"/>
          </p:cNvSpPr>
          <p:nvPr/>
        </p:nvSpPr>
        <p:spPr>
          <a:xfrm>
            <a:off x="476250" y="3638550"/>
            <a:ext cx="5238750" cy="1952625"/>
          </a:xfrm>
          <a:prstGeom prst="roundRect">
            <a:avLst>
              <a:gd name="adj" fmla="val 5854"/>
            </a:avLst>
          </a:prstGeom>
          <a:solidFill>
            <a:srgbClr val="EAF5FB"/>
          </a:solidFill>
          <a:ln w="9525">
            <a:solidFill>
              <a:srgbClr val="6DCBF4"/>
            </a:solidFill>
            <a:prstDash val="solid"/>
          </a:ln>
        </p:spPr>
      </p:sp>
      <p:sp>
        <p:nvSpPr>
          <p:cNvPr id="24" name="正方形/長方形 23">
            <a:extLst>
              <a:ext uri="{FF2B5EF4-FFF2-40B4-BE49-F238E27FC236}">
                <a16:creationId xmlns:a16="http://schemas.microsoft.com/office/drawing/2014/main" id="{21882CB5-7E46-4E47-9418-7E4BA379D95E}"/>
              </a:ext>
            </a:extLst>
          </p:cNvPr>
          <p:cNvSpPr>
            <a:spLocks noGrp="1"/>
          </p:cNvSpPr>
          <p:nvPr/>
        </p:nvSpPr>
        <p:spPr>
          <a:xfrm>
            <a:off x="685800" y="3838575"/>
            <a:ext cx="4762500" cy="285750"/>
          </a:xfrm>
          <a:prstGeom prst="rect">
            <a:avLst/>
          </a:prstGeom>
          <a:noFill/>
          <a:ln w="0">
            <a:noFill/>
            <a:prstDash val="solid"/>
          </a:ln>
        </p:spPr>
        <p:txBody>
          <a:bodyPr/>
          <a:lstStyle/>
          <a:p>
            <a:pPr algn="l">
              <a:buNone/>
              <a:defRPr sz="1575" b="1">
                <a:solidFill>
                  <a:srgbClr val="3D8DFF"/>
                </a:solidFill>
              </a:defRPr>
            </a:pPr>
            <a:r>
              <a:rPr sz="1575" b="1">
                <a:solidFill>
                  <a:srgbClr val="3D8DFF"/>
                </a:solidFill>
              </a:rPr>
              <a:t>Recorded data</a:t>
            </a:r>
          </a:p>
        </p:txBody>
      </p:sp>
      <p:sp>
        <p:nvSpPr>
          <p:cNvPr id="25" name="正方形/長方形 24">
            <a:extLst>
              <a:ext uri="{FF2B5EF4-FFF2-40B4-BE49-F238E27FC236}">
                <a16:creationId xmlns:a16="http://schemas.microsoft.com/office/drawing/2014/main" id="{BC19BED5-665F-47BC-87D9-7CA48F106E58}"/>
              </a:ext>
            </a:extLst>
          </p:cNvPr>
          <p:cNvSpPr>
            <a:spLocks noGrp="1"/>
          </p:cNvSpPr>
          <p:nvPr/>
        </p:nvSpPr>
        <p:spPr>
          <a:xfrm>
            <a:off x="685800" y="4362450"/>
            <a:ext cx="4762500" cy="304800"/>
          </a:xfrm>
          <a:prstGeom prst="rect">
            <a:avLst/>
          </a:prstGeom>
          <a:noFill/>
          <a:ln w="0">
            <a:noFill/>
            <a:prstDash val="solid"/>
          </a:ln>
        </p:spPr>
        <p:txBody>
          <a:bodyPr/>
          <a:lstStyle/>
          <a:p>
            <a:pPr algn="ctr">
              <a:buNone/>
              <a:defRPr sz="1650" b="1">
                <a:solidFill>
                  <a:srgbClr val="111111"/>
                </a:solidFill>
              </a:defRPr>
            </a:pPr>
            <a:r>
              <a:rPr sz="1650" b="1">
                <a:solidFill>
                  <a:srgbClr val="111111"/>
                </a:solidFill>
              </a:rPr>
              <a:t>Basic scenarios  →  Metrics</a:t>
            </a:r>
          </a:p>
        </p:txBody>
      </p:sp>
      <p:sp>
        <p:nvSpPr>
          <p:cNvPr id="26" name="正方形/長方形 25">
            <a:extLst>
              <a:ext uri="{FF2B5EF4-FFF2-40B4-BE49-F238E27FC236}">
                <a16:creationId xmlns:a16="http://schemas.microsoft.com/office/drawing/2014/main" id="{0557DE88-BAA0-46CA-A939-BD38ED5E3AAA}"/>
              </a:ext>
            </a:extLst>
          </p:cNvPr>
          <p:cNvSpPr>
            <a:spLocks noGrp="1"/>
          </p:cNvSpPr>
          <p:nvPr/>
        </p:nvSpPr>
        <p:spPr>
          <a:xfrm>
            <a:off x="685800" y="4810125"/>
            <a:ext cx="4762500" cy="304800"/>
          </a:xfrm>
          <a:prstGeom prst="rect">
            <a:avLst/>
          </a:prstGeom>
          <a:noFill/>
          <a:ln w="0">
            <a:noFill/>
            <a:prstDash val="solid"/>
          </a:ln>
        </p:spPr>
        <p:txBody>
          <a:bodyPr/>
          <a:lstStyle/>
          <a:p>
            <a:pPr algn="ctr">
              <a:buNone/>
              <a:defRPr sz="1650" b="1">
                <a:solidFill>
                  <a:srgbClr val="111111"/>
                </a:solidFill>
              </a:defRPr>
            </a:pPr>
            <a:r>
              <a:rPr sz="1650" b="1">
                <a:solidFill>
                  <a:srgbClr val="111111"/>
                </a:solidFill>
              </a:rPr>
              <a:t>Challenge scenarios  →  Behavior</a:t>
            </a:r>
          </a:p>
        </p:txBody>
      </p:sp>
      <p:sp>
        <p:nvSpPr>
          <p:cNvPr id="27" name="四角形: 角を丸くする 26">
            <a:extLst>
              <a:ext uri="{FF2B5EF4-FFF2-40B4-BE49-F238E27FC236}">
                <a16:creationId xmlns:a16="http://schemas.microsoft.com/office/drawing/2014/main" id="{49C01575-14F2-41E8-B7EE-62ADC933A66C}"/>
              </a:ext>
            </a:extLst>
          </p:cNvPr>
          <p:cNvSpPr>
            <a:spLocks noGrp="1"/>
          </p:cNvSpPr>
          <p:nvPr/>
        </p:nvSpPr>
        <p:spPr>
          <a:xfrm>
            <a:off x="6477000" y="3638550"/>
            <a:ext cx="5238750" cy="1952625"/>
          </a:xfrm>
          <a:prstGeom prst="roundRect">
            <a:avLst>
              <a:gd name="adj" fmla="val 5854"/>
            </a:avLst>
          </a:prstGeom>
          <a:solidFill>
            <a:srgbClr val="F5F5F5"/>
          </a:solidFill>
          <a:ln w="9525">
            <a:solidFill>
              <a:srgbClr val="B8BCC4"/>
            </a:solidFill>
            <a:prstDash val="solid"/>
          </a:ln>
        </p:spPr>
      </p:sp>
      <p:sp>
        <p:nvSpPr>
          <p:cNvPr id="28" name="正方形/長方形 27">
            <a:extLst>
              <a:ext uri="{FF2B5EF4-FFF2-40B4-BE49-F238E27FC236}">
                <a16:creationId xmlns:a16="http://schemas.microsoft.com/office/drawing/2014/main" id="{1B9FBE71-FCBA-47AE-9782-41DBC0EC3939}"/>
              </a:ext>
            </a:extLst>
          </p:cNvPr>
          <p:cNvSpPr>
            <a:spLocks noGrp="1"/>
          </p:cNvSpPr>
          <p:nvPr/>
        </p:nvSpPr>
        <p:spPr>
          <a:xfrm>
            <a:off x="6686550" y="3838575"/>
            <a:ext cx="4762500" cy="285750"/>
          </a:xfrm>
          <a:prstGeom prst="rect">
            <a:avLst/>
          </a:prstGeom>
          <a:noFill/>
          <a:ln w="0">
            <a:noFill/>
            <a:prstDash val="solid"/>
          </a:ln>
        </p:spPr>
        <p:txBody>
          <a:bodyPr/>
          <a:lstStyle/>
          <a:p>
            <a:pPr algn="l">
              <a:buNone/>
              <a:defRPr sz="1575" b="1">
                <a:solidFill>
                  <a:srgbClr val="111111"/>
                </a:solidFill>
              </a:defRPr>
            </a:pPr>
            <a:r>
              <a:rPr sz="1575" b="1">
                <a:solidFill>
                  <a:srgbClr val="111111"/>
                </a:solidFill>
              </a:rPr>
              <a:t>Hardware check</a:t>
            </a:r>
          </a:p>
        </p:txBody>
      </p:sp>
      <p:sp>
        <p:nvSpPr>
          <p:cNvPr id="29" name="正方形/長方形 28">
            <a:extLst>
              <a:ext uri="{FF2B5EF4-FFF2-40B4-BE49-F238E27FC236}">
                <a16:creationId xmlns:a16="http://schemas.microsoft.com/office/drawing/2014/main" id="{453A0974-8187-4597-B382-1E9F90B3B9B9}"/>
              </a:ext>
            </a:extLst>
          </p:cNvPr>
          <p:cNvSpPr>
            <a:spLocks noGrp="1"/>
          </p:cNvSpPr>
          <p:nvPr/>
        </p:nvSpPr>
        <p:spPr>
          <a:xfrm>
            <a:off x="6686550" y="4457700"/>
            <a:ext cx="4762500" cy="523875"/>
          </a:xfrm>
          <a:prstGeom prst="rect">
            <a:avLst/>
          </a:prstGeom>
          <a:noFill/>
          <a:ln w="0">
            <a:noFill/>
            <a:prstDash val="solid"/>
          </a:ln>
        </p:spPr>
        <p:txBody>
          <a:bodyPr/>
          <a:lstStyle/>
          <a:p>
            <a:pPr algn="ctr">
              <a:buNone/>
              <a:defRPr sz="1800" b="1">
                <a:solidFill>
                  <a:srgbClr val="111111"/>
                </a:solidFill>
              </a:defRPr>
            </a:pPr>
            <a:r>
              <a:rPr sz="1800" b="1">
                <a:solidFill>
                  <a:srgbClr val="111111"/>
                </a:solidFill>
              </a:rPr>
              <a:t>UART  →  FPGA  →  LED</a:t>
            </a:r>
          </a:p>
        </p:txBody>
      </p:sp>
      <p:sp>
        <p:nvSpPr>
          <p:cNvPr id="30" name="正方形/長方形 29">
            <a:extLst>
              <a:ext uri="{FF2B5EF4-FFF2-40B4-BE49-F238E27FC236}">
                <a16:creationId xmlns:a16="http://schemas.microsoft.com/office/drawing/2014/main" id="{290663CB-8FF7-4E91-96E3-EB6B0A96C426}"/>
              </a:ext>
            </a:extLst>
          </p:cNvPr>
          <p:cNvSpPr>
            <a:spLocks noGrp="1"/>
          </p:cNvSpPr>
          <p:nvPr/>
        </p:nvSpPr>
        <p:spPr>
          <a:xfrm>
            <a:off x="1428750" y="5953125"/>
            <a:ext cx="9334500" cy="285750"/>
          </a:xfrm>
          <a:prstGeom prst="rect">
            <a:avLst/>
          </a:prstGeom>
          <a:noFill/>
          <a:ln w="0">
            <a:noFill/>
            <a:prstDash val="solid"/>
          </a:ln>
        </p:spPr>
        <p:txBody>
          <a:bodyPr/>
          <a:lstStyle/>
          <a:p>
            <a:pPr algn="ctr">
              <a:buNone/>
              <a:defRPr sz="1500" b="1">
                <a:solidFill>
                  <a:srgbClr val="E58A35"/>
                </a:solidFill>
              </a:defRPr>
            </a:pPr>
            <a:r>
              <a:rPr sz="1500" b="1">
                <a:solidFill>
                  <a:srgbClr val="E58A35"/>
                </a:solidFill>
              </a:rPr>
              <a:t>Offline  ≠  FPGA</a:t>
            </a:r>
          </a:p>
        </p:txBody>
      </p:sp>
    </p:spTree>
    <p:extLst>
      <p:ext uri="{BB962C8B-B14F-4D97-AF65-F5344CB8AC3E}">
        <p14:creationId xmlns:p14="http://schemas.microsoft.com/office/powerpoint/2010/main" val="2082861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正方形/長方形 33">
            <a:extLst>
              <a:ext uri="{FF2B5EF4-FFF2-40B4-BE49-F238E27FC236}">
                <a16:creationId xmlns:a16="http://schemas.microsoft.com/office/drawing/2014/main" id="{1A1641AA-76EB-4682-AABA-52FB4B1DF5F5}"/>
              </a:ext>
            </a:extLst>
          </p:cNvPr>
          <p:cNvSpPr>
            <a:spLocks noGrp="1"/>
          </p:cNvSpPr>
          <p:nvPr/>
        </p:nvSpPr>
        <p:spPr>
          <a:xfrm>
            <a:off x="400050" y="323850"/>
            <a:ext cx="10572750" cy="590550"/>
          </a:xfrm>
          <a:prstGeom prst="rect">
            <a:avLst/>
          </a:prstGeom>
          <a:noFill/>
          <a:ln w="0">
            <a:noFill/>
            <a:prstDash val="solid"/>
          </a:ln>
        </p:spPr>
        <p:txBody>
          <a:bodyPr/>
          <a:lstStyle/>
          <a:p>
            <a:pPr algn="l">
              <a:buNone/>
              <a:defRPr sz="2700" b="1">
                <a:solidFill>
                  <a:srgbClr val="111111"/>
                </a:solidFill>
              </a:defRPr>
            </a:pPr>
            <a:r>
              <a:rPr sz="2700" b="1">
                <a:solidFill>
                  <a:srgbClr val="111111"/>
                </a:solidFill>
              </a:rPr>
              <a:t>Detection Rule</a:t>
            </a:r>
          </a:p>
        </p:txBody>
      </p:sp>
      <p:sp>
        <p:nvSpPr>
          <p:cNvPr id="2" name="正方形/長方形 1">
            <a:extLst>
              <a:ext uri="{FF2B5EF4-FFF2-40B4-BE49-F238E27FC236}">
                <a16:creationId xmlns:a16="http://schemas.microsoft.com/office/drawing/2014/main" id="{97A1279A-1E61-4861-A88D-83D73797E4A6}"/>
              </a:ext>
            </a:extLst>
          </p:cNvPr>
          <p:cNvSpPr>
            <a:spLocks noGrp="1"/>
          </p:cNvSpPr>
          <p:nvPr/>
        </p:nvSpPr>
        <p:spPr>
          <a:xfrm>
            <a:off x="11277600" y="6286500"/>
            <a:ext cx="514350" cy="228600"/>
          </a:xfrm>
          <a:prstGeom prst="rect">
            <a:avLst/>
          </a:prstGeom>
          <a:noFill/>
          <a:ln w="0">
            <a:noFill/>
            <a:prstDash val="solid"/>
          </a:ln>
        </p:spPr>
        <p:txBody>
          <a:bodyPr/>
          <a:lstStyle/>
          <a:p>
            <a:pPr algn="r">
              <a:buNone/>
              <a:defRPr sz="1050" b="0">
                <a:solidFill>
                  <a:srgbClr val="5F6670"/>
                </a:solidFill>
              </a:defRPr>
            </a:pPr>
            <a:r>
              <a:rPr sz="1050" b="0">
                <a:solidFill>
                  <a:srgbClr val="5F6670"/>
                </a:solidFill>
              </a:rPr>
              <a:t>7</a:t>
            </a:r>
          </a:p>
        </p:txBody>
      </p:sp>
      <p:sp>
        <p:nvSpPr>
          <p:cNvPr id="3" name="正方形/長方形 2">
            <a:extLst>
              <a:ext uri="{FF2B5EF4-FFF2-40B4-BE49-F238E27FC236}">
                <a16:creationId xmlns:a16="http://schemas.microsoft.com/office/drawing/2014/main" id="{063433A1-E5AE-4B8F-85E2-370D9422A0D0}"/>
              </a:ext>
            </a:extLst>
          </p:cNvPr>
          <p:cNvSpPr>
            <a:spLocks noGrp="1"/>
          </p:cNvSpPr>
          <p:nvPr/>
        </p:nvSpPr>
        <p:spPr>
          <a:xfrm>
            <a:off x="400050" y="1028700"/>
            <a:ext cx="2857500" cy="209550"/>
          </a:xfrm>
          <a:prstGeom prst="rect">
            <a:avLst/>
          </a:prstGeom>
          <a:noFill/>
          <a:ln w="0">
            <a:noFill/>
            <a:prstDash val="solid"/>
          </a:ln>
        </p:spPr>
        <p:txBody>
          <a:bodyPr/>
          <a:lstStyle/>
          <a:p>
            <a:pPr algn="l">
              <a:buNone/>
              <a:defRPr sz="1050" b="1">
                <a:solidFill>
                  <a:srgbClr val="3D8DFF"/>
                </a:solidFill>
              </a:defRPr>
            </a:pPr>
            <a:r>
              <a:rPr sz="1050" b="1">
                <a:solidFill>
                  <a:srgbClr val="3D8DFF"/>
                </a:solidFill>
              </a:rPr>
              <a:t>METHOD</a:t>
            </a:r>
          </a:p>
        </p:txBody>
      </p:sp>
      <p:sp>
        <p:nvSpPr>
          <p:cNvPr id="4" name="矢印: 右 3">
            <a:extLst>
              <a:ext uri="{FF2B5EF4-FFF2-40B4-BE49-F238E27FC236}">
                <a16:creationId xmlns:a16="http://schemas.microsoft.com/office/drawing/2014/main" id="{1A99AE32-18F7-4BAE-A8DB-14523D8DC645}"/>
              </a:ext>
            </a:extLst>
          </p:cNvPr>
          <p:cNvSpPr>
            <a:spLocks noGrp="1"/>
          </p:cNvSpPr>
          <p:nvPr/>
        </p:nvSpPr>
        <p:spPr>
          <a:xfrm>
            <a:off x="2857500" y="2714625"/>
            <a:ext cx="333375" cy="266700"/>
          </a:xfrm>
          <a:prstGeom prst="rightArrow">
            <a:avLst/>
          </a:prstGeom>
          <a:solidFill>
            <a:srgbClr val="3D8DFF"/>
          </a:solidFill>
          <a:ln w="0">
            <a:solidFill>
              <a:srgbClr val="3D8DFF"/>
            </a:solidFill>
            <a:prstDash val="solid"/>
          </a:ln>
        </p:spPr>
      </p:sp>
      <p:sp>
        <p:nvSpPr>
          <p:cNvPr id="5" name="四角形: 角を丸くする 4">
            <a:extLst>
              <a:ext uri="{FF2B5EF4-FFF2-40B4-BE49-F238E27FC236}">
                <a16:creationId xmlns:a16="http://schemas.microsoft.com/office/drawing/2014/main" id="{FA8265F4-393C-48B2-AF38-300477895425}"/>
              </a:ext>
            </a:extLst>
          </p:cNvPr>
          <p:cNvSpPr>
            <a:spLocks noGrp="1"/>
          </p:cNvSpPr>
          <p:nvPr/>
        </p:nvSpPr>
        <p:spPr>
          <a:xfrm>
            <a:off x="523875" y="2095500"/>
            <a:ext cx="2238375" cy="1428750"/>
          </a:xfrm>
          <a:prstGeom prst="roundRect">
            <a:avLst>
              <a:gd name="adj" fmla="val 8000"/>
            </a:avLst>
          </a:prstGeom>
          <a:solidFill>
            <a:srgbClr val="FFFFFF"/>
          </a:solidFill>
          <a:ln w="9525">
            <a:solidFill>
              <a:srgbClr val="B8BCC4"/>
            </a:solidFill>
            <a:prstDash val="solid"/>
          </a:ln>
        </p:spPr>
      </p:sp>
      <p:sp>
        <p:nvSpPr>
          <p:cNvPr id="6" name="正方形/長方形 5">
            <a:extLst>
              <a:ext uri="{FF2B5EF4-FFF2-40B4-BE49-F238E27FC236}">
                <a16:creationId xmlns:a16="http://schemas.microsoft.com/office/drawing/2014/main" id="{29045FFD-94CC-4613-B0D1-E26B0C1709A1}"/>
              </a:ext>
            </a:extLst>
          </p:cNvPr>
          <p:cNvSpPr>
            <a:spLocks noGrp="1"/>
          </p:cNvSpPr>
          <p:nvPr/>
        </p:nvSpPr>
        <p:spPr>
          <a:xfrm>
            <a:off x="657225" y="2228850"/>
            <a:ext cx="1971675" cy="285750"/>
          </a:xfrm>
          <a:prstGeom prst="rect">
            <a:avLst/>
          </a:prstGeom>
          <a:noFill/>
          <a:ln w="0">
            <a:noFill/>
            <a:prstDash val="solid"/>
          </a:ln>
        </p:spPr>
        <p:txBody>
          <a:bodyPr/>
          <a:lstStyle/>
          <a:p>
            <a:pPr algn="ctr">
              <a:buNone/>
              <a:defRPr sz="1650" b="1">
                <a:solidFill>
                  <a:srgbClr val="111111"/>
                </a:solidFill>
              </a:defRPr>
            </a:pPr>
            <a:r>
              <a:rPr sz="1650" b="1">
                <a:solidFill>
                  <a:srgbClr val="111111"/>
                </a:solidFill>
              </a:rPr>
              <a:t>1. Count</a:t>
            </a:r>
          </a:p>
        </p:txBody>
      </p:sp>
      <p:sp>
        <p:nvSpPr>
          <p:cNvPr id="7" name="正方形/長方形 6">
            <a:extLst>
              <a:ext uri="{FF2B5EF4-FFF2-40B4-BE49-F238E27FC236}">
                <a16:creationId xmlns:a16="http://schemas.microsoft.com/office/drawing/2014/main" id="{2EC4DEC3-B920-45C3-8A48-364EC3ED94E3}"/>
              </a:ext>
            </a:extLst>
          </p:cNvPr>
          <p:cNvSpPr>
            <a:spLocks noGrp="1"/>
          </p:cNvSpPr>
          <p:nvPr/>
        </p:nvSpPr>
        <p:spPr>
          <a:xfrm>
            <a:off x="666750" y="2647950"/>
            <a:ext cx="1952625" cy="762000"/>
          </a:xfrm>
          <a:prstGeom prst="rect">
            <a:avLst/>
          </a:prstGeom>
          <a:noFill/>
          <a:ln w="0">
            <a:noFill/>
            <a:prstDash val="solid"/>
          </a:ln>
        </p:spPr>
        <p:txBody>
          <a:bodyPr/>
          <a:lstStyle/>
          <a:p>
            <a:pPr algn="ctr">
              <a:buNone/>
              <a:defRPr sz="1275" b="0">
                <a:solidFill>
                  <a:srgbClr val="5F6670"/>
                </a:solidFill>
              </a:defRPr>
            </a:pPr>
            <a:r>
              <a:rPr sz="1275" b="0">
                <a:solidFill>
                  <a:srgbClr val="5F6670"/>
                </a:solidFill>
              </a:rPr>
              <a:t>20 ms</a:t>
            </a:r>
          </a:p>
        </p:txBody>
      </p:sp>
      <p:sp>
        <p:nvSpPr>
          <p:cNvPr id="8" name="矢印: 右 7">
            <a:extLst>
              <a:ext uri="{FF2B5EF4-FFF2-40B4-BE49-F238E27FC236}">
                <a16:creationId xmlns:a16="http://schemas.microsoft.com/office/drawing/2014/main" id="{B950FD37-19EF-4BE4-A83D-AFE8D481CB60}"/>
              </a:ext>
            </a:extLst>
          </p:cNvPr>
          <p:cNvSpPr>
            <a:spLocks noGrp="1"/>
          </p:cNvSpPr>
          <p:nvPr/>
        </p:nvSpPr>
        <p:spPr>
          <a:xfrm>
            <a:off x="5572125" y="2714625"/>
            <a:ext cx="333375" cy="266700"/>
          </a:xfrm>
          <a:prstGeom prst="rightArrow">
            <a:avLst/>
          </a:prstGeom>
          <a:solidFill>
            <a:srgbClr val="3D8DFF"/>
          </a:solidFill>
          <a:ln w="0">
            <a:solidFill>
              <a:srgbClr val="3D8DFF"/>
            </a:solidFill>
            <a:prstDash val="solid"/>
          </a:ln>
        </p:spPr>
      </p:sp>
      <p:sp>
        <p:nvSpPr>
          <p:cNvPr id="9" name="四角形: 角を丸くする 8">
            <a:extLst>
              <a:ext uri="{FF2B5EF4-FFF2-40B4-BE49-F238E27FC236}">
                <a16:creationId xmlns:a16="http://schemas.microsoft.com/office/drawing/2014/main" id="{19DE6EFE-1AA2-4A87-A5E6-F183E546D739}"/>
              </a:ext>
            </a:extLst>
          </p:cNvPr>
          <p:cNvSpPr>
            <a:spLocks noGrp="1"/>
          </p:cNvSpPr>
          <p:nvPr/>
        </p:nvSpPr>
        <p:spPr>
          <a:xfrm>
            <a:off x="3238500" y="2095500"/>
            <a:ext cx="2238375" cy="1428750"/>
          </a:xfrm>
          <a:prstGeom prst="roundRect">
            <a:avLst>
              <a:gd name="adj" fmla="val 8000"/>
            </a:avLst>
          </a:prstGeom>
          <a:solidFill>
            <a:srgbClr val="FFFFFF"/>
          </a:solidFill>
          <a:ln w="9525">
            <a:solidFill>
              <a:srgbClr val="B8BCC4"/>
            </a:solidFill>
            <a:prstDash val="solid"/>
          </a:ln>
        </p:spPr>
      </p:sp>
      <p:sp>
        <p:nvSpPr>
          <p:cNvPr id="10" name="正方形/長方形 9">
            <a:extLst>
              <a:ext uri="{FF2B5EF4-FFF2-40B4-BE49-F238E27FC236}">
                <a16:creationId xmlns:a16="http://schemas.microsoft.com/office/drawing/2014/main" id="{EEFD800E-AF0B-464A-BEEE-AD1339ABB95A}"/>
              </a:ext>
            </a:extLst>
          </p:cNvPr>
          <p:cNvSpPr>
            <a:spLocks noGrp="1"/>
          </p:cNvSpPr>
          <p:nvPr/>
        </p:nvSpPr>
        <p:spPr>
          <a:xfrm>
            <a:off x="3371850" y="2228850"/>
            <a:ext cx="1971675" cy="285750"/>
          </a:xfrm>
          <a:prstGeom prst="rect">
            <a:avLst/>
          </a:prstGeom>
          <a:noFill/>
          <a:ln w="0">
            <a:noFill/>
            <a:prstDash val="solid"/>
          </a:ln>
        </p:spPr>
        <p:txBody>
          <a:bodyPr/>
          <a:lstStyle/>
          <a:p>
            <a:pPr algn="ctr">
              <a:buNone/>
              <a:defRPr sz="1650" b="1">
                <a:solidFill>
                  <a:srgbClr val="111111"/>
                </a:solidFill>
              </a:defRPr>
            </a:pPr>
            <a:r>
              <a:rPr sz="1650" b="1">
                <a:solidFill>
                  <a:srgbClr val="111111"/>
                </a:solidFill>
              </a:rPr>
              <a:t>2. Rate</a:t>
            </a:r>
          </a:p>
        </p:txBody>
      </p:sp>
      <p:sp>
        <p:nvSpPr>
          <p:cNvPr id="11" name="正方形/長方形 10">
            <a:extLst>
              <a:ext uri="{FF2B5EF4-FFF2-40B4-BE49-F238E27FC236}">
                <a16:creationId xmlns:a16="http://schemas.microsoft.com/office/drawing/2014/main" id="{7E67B632-F0A0-4D3C-BDCB-C5C2E737D4F5}"/>
              </a:ext>
            </a:extLst>
          </p:cNvPr>
          <p:cNvSpPr>
            <a:spLocks noGrp="1"/>
          </p:cNvSpPr>
          <p:nvPr/>
        </p:nvSpPr>
        <p:spPr>
          <a:xfrm>
            <a:off x="3381375" y="2647950"/>
            <a:ext cx="1952625" cy="762000"/>
          </a:xfrm>
          <a:prstGeom prst="rect">
            <a:avLst/>
          </a:prstGeom>
          <a:noFill/>
          <a:ln w="0">
            <a:noFill/>
            <a:prstDash val="solid"/>
          </a:ln>
        </p:spPr>
        <p:txBody>
          <a:bodyPr/>
          <a:lstStyle/>
          <a:p>
            <a:pPr algn="ctr">
              <a:buNone/>
              <a:defRPr sz="1275" b="0">
                <a:solidFill>
                  <a:srgbClr val="5F6670"/>
                </a:solidFill>
              </a:defRPr>
            </a:pPr>
            <a:r>
              <a:rPr sz="1275" b="0">
                <a:solidFill>
                  <a:srgbClr val="5F6670"/>
                </a:solidFill>
              </a:rPr>
              <a:t>Events / second</a:t>
            </a:r>
          </a:p>
        </p:txBody>
      </p:sp>
      <p:sp>
        <p:nvSpPr>
          <p:cNvPr id="12" name="矢印: 右 11">
            <a:extLst>
              <a:ext uri="{FF2B5EF4-FFF2-40B4-BE49-F238E27FC236}">
                <a16:creationId xmlns:a16="http://schemas.microsoft.com/office/drawing/2014/main" id="{B3A749E9-ACFF-4265-A523-E3F3A3C0490C}"/>
              </a:ext>
            </a:extLst>
          </p:cNvPr>
          <p:cNvSpPr>
            <a:spLocks noGrp="1"/>
          </p:cNvSpPr>
          <p:nvPr/>
        </p:nvSpPr>
        <p:spPr>
          <a:xfrm>
            <a:off x="8286750" y="2714625"/>
            <a:ext cx="333375" cy="266700"/>
          </a:xfrm>
          <a:prstGeom prst="rightArrow">
            <a:avLst/>
          </a:prstGeom>
          <a:solidFill>
            <a:srgbClr val="3D8DFF"/>
          </a:solidFill>
          <a:ln w="0">
            <a:solidFill>
              <a:srgbClr val="3D8DFF"/>
            </a:solidFill>
            <a:prstDash val="solid"/>
          </a:ln>
        </p:spPr>
      </p:sp>
      <p:sp>
        <p:nvSpPr>
          <p:cNvPr id="13" name="四角形: 角を丸くする 12">
            <a:extLst>
              <a:ext uri="{FF2B5EF4-FFF2-40B4-BE49-F238E27FC236}">
                <a16:creationId xmlns:a16="http://schemas.microsoft.com/office/drawing/2014/main" id="{678BA982-D441-4869-A9FB-A1C02CC388A2}"/>
              </a:ext>
            </a:extLst>
          </p:cNvPr>
          <p:cNvSpPr>
            <a:spLocks noGrp="1"/>
          </p:cNvSpPr>
          <p:nvPr/>
        </p:nvSpPr>
        <p:spPr>
          <a:xfrm>
            <a:off x="5953125" y="2095500"/>
            <a:ext cx="2238375" cy="1428750"/>
          </a:xfrm>
          <a:prstGeom prst="roundRect">
            <a:avLst>
              <a:gd name="adj" fmla="val 8000"/>
            </a:avLst>
          </a:prstGeom>
          <a:noFill/>
          <a:ln w="9525">
            <a:solidFill>
              <a:srgbClr val="B8BCC4"/>
            </a:solidFill>
            <a:prstDash val="solid"/>
          </a:ln>
        </p:spPr>
      </p:sp>
      <p:sp>
        <p:nvSpPr>
          <p:cNvPr id="14" name="正方形/長方形 13">
            <a:extLst>
              <a:ext uri="{FF2B5EF4-FFF2-40B4-BE49-F238E27FC236}">
                <a16:creationId xmlns:a16="http://schemas.microsoft.com/office/drawing/2014/main" id="{3EC8F6C1-486F-4895-AC95-F96F1724B915}"/>
              </a:ext>
            </a:extLst>
          </p:cNvPr>
          <p:cNvSpPr>
            <a:spLocks noGrp="1"/>
          </p:cNvSpPr>
          <p:nvPr/>
        </p:nvSpPr>
        <p:spPr>
          <a:xfrm>
            <a:off x="6086475" y="2228850"/>
            <a:ext cx="1971675" cy="285750"/>
          </a:xfrm>
          <a:prstGeom prst="rect">
            <a:avLst/>
          </a:prstGeom>
          <a:noFill/>
          <a:ln w="0">
            <a:noFill/>
            <a:prstDash val="solid"/>
          </a:ln>
        </p:spPr>
        <p:txBody>
          <a:bodyPr/>
          <a:lstStyle/>
          <a:p>
            <a:pPr algn="ctr">
              <a:buNone/>
              <a:defRPr sz="1650" b="1">
                <a:solidFill>
                  <a:srgbClr val="111111"/>
                </a:solidFill>
              </a:defRPr>
            </a:pPr>
            <a:r>
              <a:rPr sz="1650" b="1">
                <a:solidFill>
                  <a:srgbClr val="111111"/>
                </a:solidFill>
              </a:rPr>
              <a:t>3. Compare</a:t>
            </a:r>
          </a:p>
        </p:txBody>
      </p:sp>
      <p:sp>
        <p:nvSpPr>
          <p:cNvPr id="15" name="正方形/長方形 14">
            <a:extLst>
              <a:ext uri="{FF2B5EF4-FFF2-40B4-BE49-F238E27FC236}">
                <a16:creationId xmlns:a16="http://schemas.microsoft.com/office/drawing/2014/main" id="{916A131B-9C1A-4498-97D2-7720CD671C0F}"/>
              </a:ext>
            </a:extLst>
          </p:cNvPr>
          <p:cNvSpPr>
            <a:spLocks noGrp="1"/>
          </p:cNvSpPr>
          <p:nvPr/>
        </p:nvSpPr>
        <p:spPr>
          <a:xfrm>
            <a:off x="6096000" y="2647950"/>
            <a:ext cx="1952625" cy="762000"/>
          </a:xfrm>
          <a:prstGeom prst="rect">
            <a:avLst/>
          </a:prstGeom>
          <a:noFill/>
          <a:ln w="0">
            <a:noFill/>
            <a:prstDash val="solid"/>
          </a:ln>
        </p:spPr>
        <p:txBody>
          <a:bodyPr/>
          <a:lstStyle/>
          <a:p>
            <a:pPr algn="ctr">
              <a:buNone/>
              <a:defRPr sz="1275" b="0">
                <a:solidFill>
                  <a:srgbClr val="5F6670"/>
                </a:solidFill>
              </a:defRPr>
            </a:pPr>
            <a:r>
              <a:rPr sz="1275" b="0">
                <a:solidFill>
                  <a:srgbClr val="5F6670"/>
                </a:solidFill>
              </a:rPr>
              <a:t>&gt; 10,000/s</a:t>
            </a:r>
          </a:p>
        </p:txBody>
      </p:sp>
      <p:sp>
        <p:nvSpPr>
          <p:cNvPr id="16" name="四角形: 角を丸くする 15">
            <a:extLst>
              <a:ext uri="{FF2B5EF4-FFF2-40B4-BE49-F238E27FC236}">
                <a16:creationId xmlns:a16="http://schemas.microsoft.com/office/drawing/2014/main" id="{39D966A1-4E9B-41ED-9DCA-120042574DDB}"/>
              </a:ext>
            </a:extLst>
          </p:cNvPr>
          <p:cNvSpPr>
            <a:spLocks noGrp="1"/>
          </p:cNvSpPr>
          <p:nvPr/>
        </p:nvSpPr>
        <p:spPr>
          <a:xfrm>
            <a:off x="8667750" y="2095500"/>
            <a:ext cx="2238375" cy="1428750"/>
          </a:xfrm>
          <a:prstGeom prst="roundRect">
            <a:avLst>
              <a:gd name="adj" fmla="val 8000"/>
            </a:avLst>
          </a:prstGeom>
          <a:solidFill>
            <a:srgbClr val="FFFFFF"/>
          </a:solidFill>
          <a:ln w="9525">
            <a:solidFill>
              <a:srgbClr val="B8BCC4"/>
            </a:solidFill>
            <a:prstDash val="solid"/>
          </a:ln>
        </p:spPr>
      </p:sp>
      <p:sp>
        <p:nvSpPr>
          <p:cNvPr id="17" name="正方形/長方形 16">
            <a:extLst>
              <a:ext uri="{FF2B5EF4-FFF2-40B4-BE49-F238E27FC236}">
                <a16:creationId xmlns:a16="http://schemas.microsoft.com/office/drawing/2014/main" id="{04CD247D-DD30-4E35-89D1-E6321D9BB8C3}"/>
              </a:ext>
            </a:extLst>
          </p:cNvPr>
          <p:cNvSpPr>
            <a:spLocks noGrp="1"/>
          </p:cNvSpPr>
          <p:nvPr/>
        </p:nvSpPr>
        <p:spPr>
          <a:xfrm>
            <a:off x="8801100" y="2228850"/>
            <a:ext cx="1971675" cy="285750"/>
          </a:xfrm>
          <a:prstGeom prst="rect">
            <a:avLst/>
          </a:prstGeom>
          <a:noFill/>
          <a:ln w="0">
            <a:noFill/>
            <a:prstDash val="solid"/>
          </a:ln>
        </p:spPr>
        <p:txBody>
          <a:bodyPr/>
          <a:lstStyle/>
          <a:p>
            <a:pPr algn="ctr">
              <a:buNone/>
              <a:defRPr sz="1650" b="1">
                <a:solidFill>
                  <a:srgbClr val="111111"/>
                </a:solidFill>
              </a:defRPr>
            </a:pPr>
            <a:r>
              <a:rPr sz="1650" b="1">
                <a:solidFill>
                  <a:srgbClr val="111111"/>
                </a:solidFill>
              </a:rPr>
              <a:t>4. Confirm</a:t>
            </a:r>
          </a:p>
        </p:txBody>
      </p:sp>
      <p:sp>
        <p:nvSpPr>
          <p:cNvPr id="18" name="正方形/長方形 17">
            <a:extLst>
              <a:ext uri="{FF2B5EF4-FFF2-40B4-BE49-F238E27FC236}">
                <a16:creationId xmlns:a16="http://schemas.microsoft.com/office/drawing/2014/main" id="{8D22657B-0715-4AA8-99B5-039DC4FB4B0E}"/>
              </a:ext>
            </a:extLst>
          </p:cNvPr>
          <p:cNvSpPr>
            <a:spLocks noGrp="1"/>
          </p:cNvSpPr>
          <p:nvPr/>
        </p:nvSpPr>
        <p:spPr>
          <a:xfrm>
            <a:off x="8810625" y="2647950"/>
            <a:ext cx="1952625" cy="762000"/>
          </a:xfrm>
          <a:prstGeom prst="rect">
            <a:avLst/>
          </a:prstGeom>
          <a:noFill/>
          <a:ln w="0">
            <a:noFill/>
            <a:prstDash val="solid"/>
          </a:ln>
        </p:spPr>
        <p:txBody>
          <a:bodyPr/>
          <a:lstStyle/>
          <a:p>
            <a:pPr algn="ctr">
              <a:buNone/>
              <a:defRPr sz="1275" b="0">
                <a:solidFill>
                  <a:srgbClr val="5F6670"/>
                </a:solidFill>
              </a:defRPr>
            </a:pPr>
            <a:r>
              <a:rPr sz="1275" b="0">
                <a:solidFill>
                  <a:srgbClr val="5F6670"/>
                </a:solidFill>
              </a:rPr>
              <a:t>3 windows</a:t>
            </a:r>
          </a:p>
        </p:txBody>
      </p:sp>
      <p:graphicFrame>
        <p:nvGraphicFramePr>
          <p:cNvPr id="54" name="表 51"/>
          <p:cNvGraphicFramePr/>
          <p:nvPr/>
        </p:nvGraphicFramePr>
        <p:xfrm>
          <a:off x="857250" y="4095750"/>
          <a:ext cx="4857750" cy="1714500"/>
        </p:xfrm>
        <a:graphic>
          <a:graphicData uri="http://schemas.openxmlformats.org/drawingml/2006/table">
            <a:tbl>
              <a:tblPr firstRow="1" bandRow="1"/>
              <a:tblGrid>
                <a:gridCol w="171450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tblGrid>
              <a:tr h="428625">
                <a:tc>
                  <a:txBody>
                    <a:bodyPr/>
                    <a:lstStyle/>
                    <a:p>
                      <a:pPr algn="ctr">
                        <a:buNone/>
                      </a:pPr>
                      <a:r>
                        <a:rPr sz="1275" b="1">
                          <a:solidFill>
                            <a:srgbClr val="FFFFFF"/>
                          </a:solidFill>
                        </a:rPr>
                        <a:t>Parameter</a:t>
                      </a:r>
                    </a:p>
                  </a:txBody>
                  <a:tcPr anchor="ctr">
                    <a:solidFill>
                      <a:srgbClr val="111111"/>
                    </a:solidFill>
                  </a:tcPr>
                </a:tc>
                <a:tc>
                  <a:txBody>
                    <a:bodyPr/>
                    <a:lstStyle/>
                    <a:p>
                      <a:pPr algn="ctr">
                        <a:buNone/>
                      </a:pPr>
                      <a:r>
                        <a:rPr sz="1275" b="1">
                          <a:solidFill>
                            <a:srgbClr val="FFFFFF"/>
                          </a:solidFill>
                        </a:rPr>
                        <a:t>Value</a:t>
                      </a:r>
                    </a:p>
                  </a:txBody>
                  <a:tcPr anchor="ctr">
                    <a:solidFill>
                      <a:srgbClr val="111111"/>
                    </a:solidFill>
                  </a:tcPr>
                </a:tc>
                <a:tc>
                  <a:txBody>
                    <a:bodyPr/>
                    <a:lstStyle/>
                    <a:p>
                      <a:pPr algn="ctr">
                        <a:buNone/>
                      </a:pPr>
                      <a:r>
                        <a:rPr sz="1275" b="1">
                          <a:solidFill>
                            <a:srgbClr val="FFFFFF"/>
                          </a:solidFill>
                        </a:rPr>
                        <a:t>Role</a:t>
                      </a:r>
                    </a:p>
                  </a:txBody>
                  <a:tcPr anchor="ctr">
                    <a:solidFill>
                      <a:srgbClr val="111111"/>
                    </a:solidFill>
                  </a:tcPr>
                </a:tc>
                <a:extLst>
                  <a:ext uri="{0D108BD9-81ED-4DB2-BD59-A6C34878D82A}">
                    <a16:rowId xmlns:a16="http://schemas.microsoft.com/office/drawing/2014/main" val="10000"/>
                  </a:ext>
                </a:extLst>
              </a:tr>
              <a:tr h="428625">
                <a:tc>
                  <a:txBody>
                    <a:bodyPr/>
                    <a:lstStyle/>
                    <a:p>
                      <a:pPr algn="ctr">
                        <a:buNone/>
                      </a:pPr>
                      <a:r>
                        <a:rPr sz="1200"/>
                        <a:t>Window</a:t>
                      </a:r>
                    </a:p>
                  </a:txBody>
                  <a:tcPr anchor="ctr"/>
                </a:tc>
                <a:tc>
                  <a:txBody>
                    <a:bodyPr/>
                    <a:lstStyle/>
                    <a:p>
                      <a:pPr algn="ctr">
                        <a:buNone/>
                      </a:pPr>
                      <a:r>
                        <a:rPr sz="1200"/>
                        <a:t>20 ms</a:t>
                      </a:r>
                    </a:p>
                  </a:txBody>
                  <a:tcPr anchor="ctr"/>
                </a:tc>
                <a:tc>
                  <a:txBody>
                    <a:bodyPr/>
                    <a:lstStyle/>
                    <a:p>
                      <a:pPr algn="ctr">
                        <a:buNone/>
                      </a:pPr>
                      <a:r>
                        <a:rPr sz="1200"/>
                        <a:t>Count</a:t>
                      </a:r>
                    </a:p>
                  </a:txBody>
                  <a:tcPr anchor="ctr"/>
                </a:tc>
                <a:extLst>
                  <a:ext uri="{0D108BD9-81ED-4DB2-BD59-A6C34878D82A}">
                    <a16:rowId xmlns:a16="http://schemas.microsoft.com/office/drawing/2014/main" val="10001"/>
                  </a:ext>
                </a:extLst>
              </a:tr>
              <a:tr h="428625">
                <a:tc>
                  <a:txBody>
                    <a:bodyPr/>
                    <a:lstStyle/>
                    <a:p>
                      <a:pPr algn="ctr">
                        <a:buNone/>
                      </a:pPr>
                      <a:r>
                        <a:rPr sz="1200"/>
                        <a:t>Threshold</a:t>
                      </a:r>
                    </a:p>
                  </a:txBody>
                  <a:tcPr anchor="ctr"/>
                </a:tc>
                <a:tc>
                  <a:txBody>
                    <a:bodyPr/>
                    <a:lstStyle/>
                    <a:p>
                      <a:pPr algn="ctr">
                        <a:buNone/>
                      </a:pPr>
                      <a:r>
                        <a:rPr sz="1200"/>
                        <a:t>10,000/s</a:t>
                      </a:r>
                    </a:p>
                  </a:txBody>
                  <a:tcPr anchor="ctr"/>
                </a:tc>
                <a:tc>
                  <a:txBody>
                    <a:bodyPr/>
                    <a:lstStyle/>
                    <a:p>
                      <a:pPr algn="ctr">
                        <a:buNone/>
                      </a:pPr>
                      <a:r>
                        <a:rPr sz="1200"/>
                        <a:t>Decide</a:t>
                      </a:r>
                    </a:p>
                  </a:txBody>
                  <a:tcPr anchor="ctr"/>
                </a:tc>
                <a:extLst>
                  <a:ext uri="{0D108BD9-81ED-4DB2-BD59-A6C34878D82A}">
                    <a16:rowId xmlns:a16="http://schemas.microsoft.com/office/drawing/2014/main" val="10002"/>
                  </a:ext>
                </a:extLst>
              </a:tr>
              <a:tr h="428625">
                <a:tc>
                  <a:txBody>
                    <a:bodyPr/>
                    <a:lstStyle/>
                    <a:p>
                      <a:pPr algn="ctr">
                        <a:buNone/>
                      </a:pPr>
                      <a:r>
                        <a:rPr sz="1200"/>
                        <a:t>Filter</a:t>
                      </a:r>
                    </a:p>
                  </a:txBody>
                  <a:tcPr anchor="ctr"/>
                </a:tc>
                <a:tc>
                  <a:txBody>
                    <a:bodyPr/>
                    <a:lstStyle/>
                    <a:p>
                      <a:pPr algn="ctr">
                        <a:buNone/>
                      </a:pPr>
                      <a:r>
                        <a:rPr sz="1200"/>
                        <a:t>3 windows</a:t>
                      </a:r>
                    </a:p>
                  </a:txBody>
                  <a:tcPr anchor="ctr"/>
                </a:tc>
                <a:tc>
                  <a:txBody>
                    <a:bodyPr/>
                    <a:lstStyle/>
                    <a:p>
                      <a:pPr algn="ctr">
                        <a:buNone/>
                      </a:pPr>
                      <a:r>
                        <a:rPr sz="1200"/>
                        <a:t>Confirm</a:t>
                      </a:r>
                    </a:p>
                  </a:txBody>
                  <a:tcPr anchor="ctr"/>
                </a:tc>
                <a:extLst>
                  <a:ext uri="{0D108BD9-81ED-4DB2-BD59-A6C34878D82A}">
                    <a16:rowId xmlns:a16="http://schemas.microsoft.com/office/drawing/2014/main" val="10003"/>
                  </a:ext>
                </a:extLst>
              </a:tr>
            </a:tbl>
          </a:graphicData>
        </a:graphic>
      </p:graphicFrame>
      <p:sp>
        <p:nvSpPr>
          <p:cNvPr id="20" name="正方形/長方形 19">
            <a:extLst>
              <a:ext uri="{FF2B5EF4-FFF2-40B4-BE49-F238E27FC236}">
                <a16:creationId xmlns:a16="http://schemas.microsoft.com/office/drawing/2014/main" id="{243DE5DE-AECA-4427-B155-1A3BCCF2DDB1}"/>
              </a:ext>
            </a:extLst>
          </p:cNvPr>
          <p:cNvSpPr>
            <a:spLocks noGrp="1"/>
          </p:cNvSpPr>
          <p:nvPr/>
        </p:nvSpPr>
        <p:spPr>
          <a:xfrm>
            <a:off x="6477000" y="4143375"/>
            <a:ext cx="4000500" cy="285750"/>
          </a:xfrm>
          <a:prstGeom prst="rect">
            <a:avLst/>
          </a:prstGeom>
          <a:noFill/>
          <a:ln w="0">
            <a:noFill/>
            <a:prstDash val="solid"/>
          </a:ln>
        </p:spPr>
        <p:txBody>
          <a:bodyPr/>
          <a:lstStyle/>
          <a:p>
            <a:pPr algn="ctr">
              <a:buNone/>
              <a:defRPr sz="1500" b="1">
                <a:solidFill>
                  <a:srgbClr val="3D8DFF"/>
                </a:solidFill>
              </a:defRPr>
            </a:pPr>
            <a:r>
              <a:rPr sz="1500" b="1">
                <a:solidFill>
                  <a:srgbClr val="3D8DFF"/>
                </a:solidFill>
              </a:rPr>
              <a:t>Temporal filter</a:t>
            </a:r>
          </a:p>
        </p:txBody>
      </p:sp>
      <p:sp>
        <p:nvSpPr>
          <p:cNvPr id="21" name="四角形: 角を丸くする 20">
            <a:extLst>
              <a:ext uri="{FF2B5EF4-FFF2-40B4-BE49-F238E27FC236}">
                <a16:creationId xmlns:a16="http://schemas.microsoft.com/office/drawing/2014/main" id="{2EC16487-01EA-4FC0-BA95-75C1E6E7CA63}"/>
              </a:ext>
            </a:extLst>
          </p:cNvPr>
          <p:cNvSpPr>
            <a:spLocks noGrp="1"/>
          </p:cNvSpPr>
          <p:nvPr/>
        </p:nvSpPr>
        <p:spPr>
          <a:xfrm>
            <a:off x="6286500" y="4667250"/>
            <a:ext cx="1095375" cy="523875"/>
          </a:xfrm>
          <a:prstGeom prst="roundRect">
            <a:avLst>
              <a:gd name="adj" fmla="val 21818"/>
            </a:avLst>
          </a:prstGeom>
          <a:solidFill>
            <a:srgbClr val="EAF5FB"/>
          </a:solidFill>
          <a:ln w="9525">
            <a:solidFill>
              <a:srgbClr val="6DCBF4"/>
            </a:solidFill>
            <a:prstDash val="solid"/>
          </a:ln>
        </p:spPr>
      </p:sp>
      <p:sp>
        <p:nvSpPr>
          <p:cNvPr id="22" name="正方形/長方形 21">
            <a:extLst>
              <a:ext uri="{FF2B5EF4-FFF2-40B4-BE49-F238E27FC236}">
                <a16:creationId xmlns:a16="http://schemas.microsoft.com/office/drawing/2014/main" id="{E9CFBC01-6133-4E85-A1B6-B30FA429D9F1}"/>
              </a:ext>
            </a:extLst>
          </p:cNvPr>
          <p:cNvSpPr>
            <a:spLocks noGrp="1"/>
          </p:cNvSpPr>
          <p:nvPr/>
        </p:nvSpPr>
        <p:spPr>
          <a:xfrm>
            <a:off x="6334125" y="4810125"/>
            <a:ext cx="1000125" cy="228600"/>
          </a:xfrm>
          <a:prstGeom prst="rect">
            <a:avLst/>
          </a:prstGeom>
          <a:noFill/>
          <a:ln w="0">
            <a:noFill/>
            <a:prstDash val="solid"/>
          </a:ln>
        </p:spPr>
        <p:txBody>
          <a:bodyPr/>
          <a:lstStyle/>
          <a:p>
            <a:pPr algn="ctr">
              <a:buNone/>
              <a:defRPr sz="1275" b="1">
                <a:solidFill>
                  <a:srgbClr val="111111"/>
                </a:solidFill>
              </a:defRPr>
            </a:pPr>
            <a:r>
              <a:rPr sz="1275" b="1">
                <a:solidFill>
                  <a:srgbClr val="111111"/>
                </a:solidFill>
              </a:rPr>
              <a:t>HIGH</a:t>
            </a:r>
          </a:p>
        </p:txBody>
      </p:sp>
      <p:sp>
        <p:nvSpPr>
          <p:cNvPr id="23" name="矢印: 右 22">
            <a:extLst>
              <a:ext uri="{FF2B5EF4-FFF2-40B4-BE49-F238E27FC236}">
                <a16:creationId xmlns:a16="http://schemas.microsoft.com/office/drawing/2014/main" id="{F2FD4A1D-FC14-40CA-987F-684A048B23B8}"/>
              </a:ext>
            </a:extLst>
          </p:cNvPr>
          <p:cNvSpPr>
            <a:spLocks noGrp="1"/>
          </p:cNvSpPr>
          <p:nvPr/>
        </p:nvSpPr>
        <p:spPr>
          <a:xfrm>
            <a:off x="7391400" y="4810125"/>
            <a:ext cx="209550" cy="266700"/>
          </a:xfrm>
          <a:prstGeom prst="rightArrow">
            <a:avLst/>
          </a:prstGeom>
          <a:solidFill>
            <a:srgbClr val="3D8DFF"/>
          </a:solidFill>
          <a:ln w="0">
            <a:solidFill>
              <a:srgbClr val="3D8DFF"/>
            </a:solidFill>
            <a:prstDash val="solid"/>
          </a:ln>
        </p:spPr>
      </p:sp>
      <p:sp>
        <p:nvSpPr>
          <p:cNvPr id="24" name="四角形: 角を丸くする 23">
            <a:extLst>
              <a:ext uri="{FF2B5EF4-FFF2-40B4-BE49-F238E27FC236}">
                <a16:creationId xmlns:a16="http://schemas.microsoft.com/office/drawing/2014/main" id="{63C31241-9DEC-47B0-B957-CDB10FA12487}"/>
              </a:ext>
            </a:extLst>
          </p:cNvPr>
          <p:cNvSpPr>
            <a:spLocks noGrp="1"/>
          </p:cNvSpPr>
          <p:nvPr/>
        </p:nvSpPr>
        <p:spPr>
          <a:xfrm>
            <a:off x="7620000" y="4667250"/>
            <a:ext cx="1095375" cy="523875"/>
          </a:xfrm>
          <a:prstGeom prst="roundRect">
            <a:avLst>
              <a:gd name="adj" fmla="val 21818"/>
            </a:avLst>
          </a:prstGeom>
          <a:solidFill>
            <a:srgbClr val="EAF5FB"/>
          </a:solidFill>
          <a:ln w="9525">
            <a:solidFill>
              <a:srgbClr val="6DCBF4"/>
            </a:solidFill>
            <a:prstDash val="solid"/>
          </a:ln>
        </p:spPr>
      </p:sp>
      <p:sp>
        <p:nvSpPr>
          <p:cNvPr id="25" name="正方形/長方形 24">
            <a:extLst>
              <a:ext uri="{FF2B5EF4-FFF2-40B4-BE49-F238E27FC236}">
                <a16:creationId xmlns:a16="http://schemas.microsoft.com/office/drawing/2014/main" id="{BF063603-5404-40F4-8FEC-B31705D6B1E6}"/>
              </a:ext>
            </a:extLst>
          </p:cNvPr>
          <p:cNvSpPr>
            <a:spLocks noGrp="1"/>
          </p:cNvSpPr>
          <p:nvPr/>
        </p:nvSpPr>
        <p:spPr>
          <a:xfrm>
            <a:off x="7667625" y="4810125"/>
            <a:ext cx="1000125" cy="228600"/>
          </a:xfrm>
          <a:prstGeom prst="rect">
            <a:avLst/>
          </a:prstGeom>
          <a:noFill/>
          <a:ln w="0">
            <a:noFill/>
            <a:prstDash val="solid"/>
          </a:ln>
        </p:spPr>
        <p:txBody>
          <a:bodyPr/>
          <a:lstStyle/>
          <a:p>
            <a:pPr algn="ctr">
              <a:buNone/>
              <a:defRPr sz="1275" b="1">
                <a:solidFill>
                  <a:srgbClr val="111111"/>
                </a:solidFill>
              </a:defRPr>
            </a:pPr>
            <a:r>
              <a:rPr sz="1275" b="1">
                <a:solidFill>
                  <a:srgbClr val="111111"/>
                </a:solidFill>
              </a:rPr>
              <a:t>HIGH</a:t>
            </a:r>
          </a:p>
        </p:txBody>
      </p:sp>
      <p:sp>
        <p:nvSpPr>
          <p:cNvPr id="26" name="矢印: 右 25">
            <a:extLst>
              <a:ext uri="{FF2B5EF4-FFF2-40B4-BE49-F238E27FC236}">
                <a16:creationId xmlns:a16="http://schemas.microsoft.com/office/drawing/2014/main" id="{DC4B15FE-F26C-434C-8125-F7F12C5182C1}"/>
              </a:ext>
            </a:extLst>
          </p:cNvPr>
          <p:cNvSpPr>
            <a:spLocks noGrp="1"/>
          </p:cNvSpPr>
          <p:nvPr/>
        </p:nvSpPr>
        <p:spPr>
          <a:xfrm>
            <a:off x="8724900" y="4810125"/>
            <a:ext cx="209550" cy="266700"/>
          </a:xfrm>
          <a:prstGeom prst="rightArrow">
            <a:avLst/>
          </a:prstGeom>
          <a:solidFill>
            <a:srgbClr val="3D8DFF"/>
          </a:solidFill>
          <a:ln w="0">
            <a:solidFill>
              <a:srgbClr val="3D8DFF"/>
            </a:solidFill>
            <a:prstDash val="solid"/>
          </a:ln>
        </p:spPr>
      </p:sp>
      <p:sp>
        <p:nvSpPr>
          <p:cNvPr id="27" name="四角形: 角を丸くする 26">
            <a:extLst>
              <a:ext uri="{FF2B5EF4-FFF2-40B4-BE49-F238E27FC236}">
                <a16:creationId xmlns:a16="http://schemas.microsoft.com/office/drawing/2014/main" id="{4A02798D-493D-44B3-BFB0-FE23EA4F0790}"/>
              </a:ext>
            </a:extLst>
          </p:cNvPr>
          <p:cNvSpPr>
            <a:spLocks noGrp="1"/>
          </p:cNvSpPr>
          <p:nvPr/>
        </p:nvSpPr>
        <p:spPr>
          <a:xfrm>
            <a:off x="8953500" y="4667250"/>
            <a:ext cx="1095375" cy="523875"/>
          </a:xfrm>
          <a:prstGeom prst="roundRect">
            <a:avLst>
              <a:gd name="adj" fmla="val 21818"/>
            </a:avLst>
          </a:prstGeom>
          <a:solidFill>
            <a:srgbClr val="EAF5FB"/>
          </a:solidFill>
          <a:ln w="9525">
            <a:solidFill>
              <a:srgbClr val="6DCBF4"/>
            </a:solidFill>
            <a:prstDash val="solid"/>
          </a:ln>
        </p:spPr>
      </p:sp>
      <p:sp>
        <p:nvSpPr>
          <p:cNvPr id="28" name="正方形/長方形 27">
            <a:extLst>
              <a:ext uri="{FF2B5EF4-FFF2-40B4-BE49-F238E27FC236}">
                <a16:creationId xmlns:a16="http://schemas.microsoft.com/office/drawing/2014/main" id="{633B9A77-64A3-4E9C-8BE5-472AA5221543}"/>
              </a:ext>
            </a:extLst>
          </p:cNvPr>
          <p:cNvSpPr>
            <a:spLocks noGrp="1"/>
          </p:cNvSpPr>
          <p:nvPr/>
        </p:nvSpPr>
        <p:spPr>
          <a:xfrm>
            <a:off x="9001125" y="4810125"/>
            <a:ext cx="1000125" cy="228600"/>
          </a:xfrm>
          <a:prstGeom prst="rect">
            <a:avLst/>
          </a:prstGeom>
          <a:noFill/>
          <a:ln w="0">
            <a:noFill/>
            <a:prstDash val="solid"/>
          </a:ln>
        </p:spPr>
        <p:txBody>
          <a:bodyPr/>
          <a:lstStyle/>
          <a:p>
            <a:pPr algn="ctr">
              <a:buNone/>
              <a:defRPr sz="1275" b="1">
                <a:solidFill>
                  <a:srgbClr val="111111"/>
                </a:solidFill>
              </a:defRPr>
            </a:pPr>
            <a:r>
              <a:rPr sz="1275" b="1">
                <a:solidFill>
                  <a:srgbClr val="111111"/>
                </a:solidFill>
              </a:rPr>
              <a:t>HIGH</a:t>
            </a:r>
          </a:p>
        </p:txBody>
      </p:sp>
      <p:sp>
        <p:nvSpPr>
          <p:cNvPr id="29" name="矢印: 右 28">
            <a:extLst>
              <a:ext uri="{FF2B5EF4-FFF2-40B4-BE49-F238E27FC236}">
                <a16:creationId xmlns:a16="http://schemas.microsoft.com/office/drawing/2014/main" id="{3E7811B8-02D9-49F0-83CB-FFC9C069C16D}"/>
              </a:ext>
            </a:extLst>
          </p:cNvPr>
          <p:cNvSpPr>
            <a:spLocks noGrp="1"/>
          </p:cNvSpPr>
          <p:nvPr/>
        </p:nvSpPr>
        <p:spPr>
          <a:xfrm>
            <a:off x="10058400" y="4810125"/>
            <a:ext cx="209550" cy="266700"/>
          </a:xfrm>
          <a:prstGeom prst="rightArrow">
            <a:avLst/>
          </a:prstGeom>
          <a:solidFill>
            <a:srgbClr val="3D8DFF"/>
          </a:solidFill>
          <a:ln w="0">
            <a:solidFill>
              <a:srgbClr val="3D8DFF"/>
            </a:solidFill>
            <a:prstDash val="solid"/>
          </a:ln>
        </p:spPr>
      </p:sp>
      <p:sp>
        <p:nvSpPr>
          <p:cNvPr id="30" name="四角形: 角を丸くする 29">
            <a:extLst>
              <a:ext uri="{FF2B5EF4-FFF2-40B4-BE49-F238E27FC236}">
                <a16:creationId xmlns:a16="http://schemas.microsoft.com/office/drawing/2014/main" id="{D76D327A-1744-469A-B92B-C72FCE1FEE6F}"/>
              </a:ext>
            </a:extLst>
          </p:cNvPr>
          <p:cNvSpPr>
            <a:spLocks noGrp="1"/>
          </p:cNvSpPr>
          <p:nvPr/>
        </p:nvSpPr>
        <p:spPr>
          <a:xfrm>
            <a:off x="10287000" y="4667250"/>
            <a:ext cx="1095375" cy="523875"/>
          </a:xfrm>
          <a:prstGeom prst="roundRect">
            <a:avLst>
              <a:gd name="adj" fmla="val 21818"/>
            </a:avLst>
          </a:prstGeom>
          <a:solidFill>
            <a:srgbClr val="EDF7F2"/>
          </a:solidFill>
          <a:ln w="9525">
            <a:solidFill>
              <a:srgbClr val="27805E"/>
            </a:solidFill>
            <a:prstDash val="solid"/>
          </a:ln>
        </p:spPr>
      </p:sp>
      <p:sp>
        <p:nvSpPr>
          <p:cNvPr id="31" name="正方形/長方形 30">
            <a:extLst>
              <a:ext uri="{FF2B5EF4-FFF2-40B4-BE49-F238E27FC236}">
                <a16:creationId xmlns:a16="http://schemas.microsoft.com/office/drawing/2014/main" id="{7E5743C8-FC58-4135-9DCA-C862896C6F86}"/>
              </a:ext>
            </a:extLst>
          </p:cNvPr>
          <p:cNvSpPr>
            <a:spLocks noGrp="1"/>
          </p:cNvSpPr>
          <p:nvPr/>
        </p:nvSpPr>
        <p:spPr>
          <a:xfrm>
            <a:off x="10334625" y="4810125"/>
            <a:ext cx="1000125" cy="228600"/>
          </a:xfrm>
          <a:prstGeom prst="rect">
            <a:avLst/>
          </a:prstGeom>
          <a:noFill/>
          <a:ln w="0">
            <a:noFill/>
            <a:prstDash val="solid"/>
          </a:ln>
        </p:spPr>
        <p:txBody>
          <a:bodyPr/>
          <a:lstStyle/>
          <a:p>
            <a:pPr algn="ctr">
              <a:buNone/>
              <a:defRPr sz="1275" b="1">
                <a:solidFill>
                  <a:srgbClr val="27805E"/>
                </a:solidFill>
              </a:defRPr>
            </a:pPr>
            <a:r>
              <a:rPr sz="1275" b="1">
                <a:solidFill>
                  <a:srgbClr val="27805E"/>
                </a:solidFill>
              </a:rPr>
              <a:t>MOTION</a:t>
            </a:r>
          </a:p>
        </p:txBody>
      </p:sp>
      <p:sp>
        <p:nvSpPr>
          <p:cNvPr id="32" name="正方形/長方形 31">
            <a:extLst>
              <a:ext uri="{FF2B5EF4-FFF2-40B4-BE49-F238E27FC236}">
                <a16:creationId xmlns:a16="http://schemas.microsoft.com/office/drawing/2014/main" id="{922BFDD2-5914-405F-B931-F51FBD765DC7}"/>
              </a:ext>
            </a:extLst>
          </p:cNvPr>
          <p:cNvSpPr>
            <a:spLocks noGrp="1"/>
          </p:cNvSpPr>
          <p:nvPr/>
        </p:nvSpPr>
        <p:spPr>
          <a:xfrm>
            <a:off x="6477000" y="5476875"/>
            <a:ext cx="4000500" cy="285750"/>
          </a:xfrm>
          <a:prstGeom prst="rect">
            <a:avLst/>
          </a:prstGeom>
          <a:noFill/>
          <a:ln w="0">
            <a:noFill/>
            <a:prstDash val="solid"/>
          </a:ln>
        </p:spPr>
        <p:txBody>
          <a:bodyPr/>
          <a:lstStyle/>
          <a:p>
            <a:pPr algn="ctr">
              <a:buNone/>
              <a:defRPr sz="1575" b="1">
                <a:solidFill>
                  <a:srgbClr val="111111"/>
                </a:solidFill>
              </a:defRPr>
            </a:pPr>
            <a:r>
              <a:rPr sz="1575" b="1">
                <a:solidFill>
                  <a:srgbClr val="111111"/>
                </a:solidFill>
              </a:rPr>
              <a:t>3 × 20 ms = 60 ms</a:t>
            </a:r>
          </a:p>
        </p:txBody>
      </p:sp>
      <p:sp>
        <p:nvSpPr>
          <p:cNvPr id="33" name="正方形/長方形 32">
            <a:extLst>
              <a:ext uri="{FF2B5EF4-FFF2-40B4-BE49-F238E27FC236}">
                <a16:creationId xmlns:a16="http://schemas.microsoft.com/office/drawing/2014/main" id="{2F44EC11-C9DE-4E3C-9B00-CAC8C7E3A8BC}"/>
              </a:ext>
            </a:extLst>
          </p:cNvPr>
          <p:cNvSpPr>
            <a:spLocks noGrp="1"/>
          </p:cNvSpPr>
          <p:nvPr/>
        </p:nvSpPr>
        <p:spPr>
          <a:xfrm>
            <a:off x="6477000" y="5905500"/>
            <a:ext cx="4000500" cy="238125"/>
          </a:xfrm>
          <a:prstGeom prst="rect">
            <a:avLst/>
          </a:prstGeom>
          <a:noFill/>
          <a:ln w="0">
            <a:noFill/>
            <a:prstDash val="solid"/>
          </a:ln>
        </p:spPr>
        <p:txBody>
          <a:bodyPr/>
          <a:lstStyle/>
          <a:p>
            <a:pPr algn="ctr">
              <a:buNone/>
              <a:defRPr sz="1350" b="1">
                <a:solidFill>
                  <a:srgbClr val="E58A35"/>
                </a:solidFill>
              </a:defRPr>
            </a:pPr>
            <a:r>
              <a:rPr sz="1350" b="1">
                <a:solidFill>
                  <a:srgbClr val="E58A35"/>
                </a:solidFill>
              </a:rPr>
              <a:t>Confirmation delay: 60 ms</a:t>
            </a:r>
          </a:p>
        </p:txBody>
      </p:sp>
    </p:spTree>
    <p:extLst>
      <p:ext uri="{BB962C8B-B14F-4D97-AF65-F5344CB8AC3E}">
        <p14:creationId xmlns:p14="http://schemas.microsoft.com/office/powerpoint/2010/main" val="1146281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881E385F-D0A9-4E82-8262-02B6B8333ECE}"/>
              </a:ext>
            </a:extLst>
          </p:cNvPr>
          <p:cNvSpPr>
            <a:spLocks noGrp="1"/>
          </p:cNvSpPr>
          <p:nvPr/>
        </p:nvSpPr>
        <p:spPr>
          <a:xfrm>
            <a:off x="400050" y="323850"/>
            <a:ext cx="10572750" cy="590550"/>
          </a:xfrm>
          <a:prstGeom prst="rect">
            <a:avLst/>
          </a:prstGeom>
          <a:noFill/>
          <a:ln w="0">
            <a:noFill/>
            <a:prstDash val="solid"/>
          </a:ln>
        </p:spPr>
        <p:txBody>
          <a:bodyPr/>
          <a:lstStyle/>
          <a:p>
            <a:pPr algn="l">
              <a:buNone/>
              <a:defRPr sz="2700" b="1">
                <a:solidFill>
                  <a:srgbClr val="111111"/>
                </a:solidFill>
              </a:defRPr>
            </a:pPr>
            <a:r>
              <a:rPr sz="2700" b="1">
                <a:solidFill>
                  <a:srgbClr val="111111"/>
                </a:solidFill>
              </a:rPr>
              <a:t>Evaluation Data</a:t>
            </a:r>
          </a:p>
        </p:txBody>
      </p:sp>
      <p:sp>
        <p:nvSpPr>
          <p:cNvPr id="2" name="正方形/長方形 1">
            <a:extLst>
              <a:ext uri="{FF2B5EF4-FFF2-40B4-BE49-F238E27FC236}">
                <a16:creationId xmlns:a16="http://schemas.microsoft.com/office/drawing/2014/main" id="{9CB72E55-E6DA-4630-A84C-9014415886C9}"/>
              </a:ext>
            </a:extLst>
          </p:cNvPr>
          <p:cNvSpPr>
            <a:spLocks noGrp="1"/>
          </p:cNvSpPr>
          <p:nvPr/>
        </p:nvSpPr>
        <p:spPr>
          <a:xfrm>
            <a:off x="11277600" y="6286500"/>
            <a:ext cx="514350" cy="228600"/>
          </a:xfrm>
          <a:prstGeom prst="rect">
            <a:avLst/>
          </a:prstGeom>
          <a:noFill/>
          <a:ln w="0">
            <a:noFill/>
            <a:prstDash val="solid"/>
          </a:ln>
        </p:spPr>
        <p:txBody>
          <a:bodyPr/>
          <a:lstStyle/>
          <a:p>
            <a:pPr algn="r">
              <a:buNone/>
              <a:defRPr sz="1050" b="0">
                <a:solidFill>
                  <a:srgbClr val="5F6670"/>
                </a:solidFill>
              </a:defRPr>
            </a:pPr>
            <a:r>
              <a:rPr sz="1050" b="0">
                <a:solidFill>
                  <a:srgbClr val="5F6670"/>
                </a:solidFill>
              </a:rPr>
              <a:t>8</a:t>
            </a:r>
          </a:p>
        </p:txBody>
      </p:sp>
      <p:sp>
        <p:nvSpPr>
          <p:cNvPr id="3" name="正方形/長方形 2">
            <a:extLst>
              <a:ext uri="{FF2B5EF4-FFF2-40B4-BE49-F238E27FC236}">
                <a16:creationId xmlns:a16="http://schemas.microsoft.com/office/drawing/2014/main" id="{140A159C-4103-40F6-8B20-402E0A4164E7}"/>
              </a:ext>
            </a:extLst>
          </p:cNvPr>
          <p:cNvSpPr>
            <a:spLocks noGrp="1"/>
          </p:cNvSpPr>
          <p:nvPr/>
        </p:nvSpPr>
        <p:spPr>
          <a:xfrm>
            <a:off x="400050" y="1028700"/>
            <a:ext cx="2857500" cy="209550"/>
          </a:xfrm>
          <a:prstGeom prst="rect">
            <a:avLst/>
          </a:prstGeom>
          <a:noFill/>
          <a:ln w="0">
            <a:noFill/>
            <a:prstDash val="solid"/>
          </a:ln>
        </p:spPr>
        <p:txBody>
          <a:bodyPr/>
          <a:lstStyle/>
          <a:p>
            <a:pPr algn="l">
              <a:buNone/>
              <a:defRPr sz="1050" b="1">
                <a:solidFill>
                  <a:srgbClr val="3D8DFF"/>
                </a:solidFill>
              </a:defRPr>
            </a:pPr>
            <a:r>
              <a:rPr sz="1050" b="1">
                <a:solidFill>
                  <a:srgbClr val="3D8DFF"/>
                </a:solidFill>
              </a:rPr>
              <a:t>EVALUATION</a:t>
            </a:r>
          </a:p>
        </p:txBody>
      </p:sp>
      <p:graphicFrame>
        <p:nvGraphicFramePr>
          <p:cNvPr id="14" name="表 11"/>
          <p:cNvGraphicFramePr/>
          <p:nvPr>
            <p:extLst>
              <p:ext uri="{D42A27DB-BD31-4B8C-83A1-F6EECF244321}">
                <p14:modId xmlns:p14="http://schemas.microsoft.com/office/powerpoint/2010/main" val="491450444"/>
              </p:ext>
            </p:extLst>
          </p:nvPr>
        </p:nvGraphicFramePr>
        <p:xfrm>
          <a:off x="523875" y="1666875"/>
          <a:ext cx="11144250" cy="2214564"/>
        </p:xfrm>
        <a:graphic>
          <a:graphicData uri="http://schemas.openxmlformats.org/drawingml/2006/table">
            <a:tbl>
              <a:tblPr firstRow="1" bandRow="1"/>
              <a:tblGrid>
                <a:gridCol w="2095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5048250">
                  <a:extLst>
                    <a:ext uri="{9D8B030D-6E8A-4147-A177-3AD203B41FA5}">
                      <a16:colId xmlns:a16="http://schemas.microsoft.com/office/drawing/2014/main" val="20002"/>
                    </a:ext>
                  </a:extLst>
                </a:gridCol>
              </a:tblGrid>
              <a:tr h="738188">
                <a:tc>
                  <a:txBody>
                    <a:bodyPr/>
                    <a:lstStyle/>
                    <a:p>
                      <a:pPr algn="ctr">
                        <a:buNone/>
                      </a:pPr>
                      <a:r>
                        <a:rPr sz="1500" b="1">
                          <a:solidFill>
                            <a:srgbClr val="FFFFFF"/>
                          </a:solidFill>
                        </a:rPr>
                        <a:t>Data</a:t>
                      </a:r>
                    </a:p>
                  </a:txBody>
                  <a:tcPr anchor="ctr">
                    <a:solidFill>
                      <a:srgbClr val="111111"/>
                    </a:solidFill>
                  </a:tcPr>
                </a:tc>
                <a:tc>
                  <a:txBody>
                    <a:bodyPr/>
                    <a:lstStyle/>
                    <a:p>
                      <a:pPr algn="ctr">
                        <a:buNone/>
                      </a:pPr>
                      <a:r>
                        <a:rPr sz="1500" b="1">
                          <a:solidFill>
                            <a:srgbClr val="FFFFFF"/>
                          </a:solidFill>
                        </a:rPr>
                        <a:t>Scenarios</a:t>
                      </a:r>
                    </a:p>
                  </a:txBody>
                  <a:tcPr anchor="ctr">
                    <a:solidFill>
                      <a:srgbClr val="111111"/>
                    </a:solidFill>
                  </a:tcPr>
                </a:tc>
                <a:tc>
                  <a:txBody>
                    <a:bodyPr/>
                    <a:lstStyle/>
                    <a:p>
                      <a:pPr algn="ctr">
                        <a:buNone/>
                      </a:pPr>
                      <a:r>
                        <a:rPr sz="1500" b="1">
                          <a:solidFill>
                            <a:srgbClr val="FFFFFF"/>
                          </a:solidFill>
                        </a:rPr>
                        <a:t>Use</a:t>
                      </a:r>
                    </a:p>
                  </a:txBody>
                  <a:tcPr anchor="ctr">
                    <a:solidFill>
                      <a:srgbClr val="111111"/>
                    </a:solidFill>
                  </a:tcPr>
                </a:tc>
                <a:extLst>
                  <a:ext uri="{0D108BD9-81ED-4DB2-BD59-A6C34878D82A}">
                    <a16:rowId xmlns:a16="http://schemas.microsoft.com/office/drawing/2014/main" val="10000"/>
                  </a:ext>
                </a:extLst>
              </a:tr>
              <a:tr h="738188">
                <a:tc>
                  <a:txBody>
                    <a:bodyPr/>
                    <a:lstStyle/>
                    <a:p>
                      <a:pPr algn="ctr">
                        <a:buNone/>
                      </a:pPr>
                      <a:r>
                        <a:rPr sz="1350"/>
                        <a:t>Basic scenarios</a:t>
                      </a:r>
                    </a:p>
                  </a:txBody>
                  <a:tcPr anchor="ctr"/>
                </a:tc>
                <a:tc>
                  <a:txBody>
                    <a:bodyPr/>
                    <a:lstStyle/>
                    <a:p>
                      <a:pPr algn="ctr">
                        <a:buNone/>
                      </a:pPr>
                      <a:r>
                        <a:rPr sz="1350"/>
                        <a:t>Walk · wave · </a:t>
                      </a:r>
                      <a:r>
                        <a:rPr lang="en-US" sz="1350"/>
                        <a:t>s</a:t>
                      </a:r>
                      <a:r>
                        <a:rPr lang="en-US" altLang="ja-JP" sz="1350" b="0" i="0" u="none" strike="noStrike" noProof="0">
                          <a:latin typeface="Calibri"/>
                          <a:ea typeface="Calibri"/>
                          <a:cs typeface="Calibri"/>
                        </a:rPr>
                        <a:t>it–stand</a:t>
                      </a:r>
                      <a:r>
                        <a:rPr lang="ja-JP" sz="1350" dirty="0"/>
                        <a:t> </a:t>
                      </a:r>
                      <a:r>
                        <a:rPr sz="1350"/>
                        <a:t>· empty</a:t>
                      </a:r>
                    </a:p>
                  </a:txBody>
                  <a:tcPr anchor="ctr"/>
                </a:tc>
                <a:tc>
                  <a:txBody>
                    <a:bodyPr/>
                    <a:lstStyle/>
                    <a:p>
                      <a:pPr algn="ctr">
                        <a:buNone/>
                      </a:pPr>
                      <a:r>
                        <a:rPr sz="1350"/>
                        <a:t>Accuracy / recall / F1</a:t>
                      </a:r>
                    </a:p>
                  </a:txBody>
                  <a:tcPr anchor="ctr"/>
                </a:tc>
                <a:extLst>
                  <a:ext uri="{0D108BD9-81ED-4DB2-BD59-A6C34878D82A}">
                    <a16:rowId xmlns:a16="http://schemas.microsoft.com/office/drawing/2014/main" val="10001"/>
                  </a:ext>
                </a:extLst>
              </a:tr>
              <a:tr h="738188">
                <a:tc>
                  <a:txBody>
                    <a:bodyPr/>
                    <a:lstStyle/>
                    <a:p>
                      <a:pPr algn="ctr">
                        <a:buNone/>
                      </a:pPr>
                      <a:r>
                        <a:rPr sz="1350"/>
                        <a:t>Challenge scenarios</a:t>
                      </a:r>
                    </a:p>
                  </a:txBody>
                  <a:tcPr anchor="ctr"/>
                </a:tc>
                <a:tc>
                  <a:txBody>
                    <a:bodyPr/>
                    <a:lstStyle/>
                    <a:p>
                      <a:pPr algn="ctr">
                        <a:buNone/>
                      </a:pPr>
                      <a:r>
                        <a:rPr sz="1350"/>
                        <a:t>Entry/exit · chair · dropped object</a:t>
                      </a:r>
                    </a:p>
                  </a:txBody>
                  <a:tcPr anchor="ctr"/>
                </a:tc>
                <a:tc>
                  <a:txBody>
                    <a:bodyPr/>
                    <a:lstStyle/>
                    <a:p>
                      <a:pPr algn="ctr">
                        <a:buNone/>
                      </a:pPr>
                      <a:r>
                        <a:rPr sz="1350"/>
                        <a:t>Behavior check</a:t>
                      </a:r>
                    </a:p>
                  </a:txBody>
                  <a:tcPr anchor="ctr"/>
                </a:tc>
                <a:extLst>
                  <a:ext uri="{0D108BD9-81ED-4DB2-BD59-A6C34878D82A}">
                    <a16:rowId xmlns:a16="http://schemas.microsoft.com/office/drawing/2014/main" val="10002"/>
                  </a:ext>
                </a:extLst>
              </a:tr>
            </a:tbl>
          </a:graphicData>
        </a:graphic>
      </p:graphicFrame>
      <p:sp>
        <p:nvSpPr>
          <p:cNvPr id="5" name="正方形/長方形 4">
            <a:extLst>
              <a:ext uri="{FF2B5EF4-FFF2-40B4-BE49-F238E27FC236}">
                <a16:creationId xmlns:a16="http://schemas.microsoft.com/office/drawing/2014/main" id="{4ECED7AC-3A7E-4830-9EB8-298AC1347329}"/>
              </a:ext>
            </a:extLst>
          </p:cNvPr>
          <p:cNvSpPr>
            <a:spLocks noGrp="1"/>
          </p:cNvSpPr>
          <p:nvPr/>
        </p:nvSpPr>
        <p:spPr>
          <a:xfrm>
            <a:off x="762000" y="4321969"/>
            <a:ext cx="2381250" cy="285750"/>
          </a:xfrm>
          <a:prstGeom prst="rect">
            <a:avLst/>
          </a:prstGeom>
          <a:noFill/>
          <a:ln w="0">
            <a:noFill/>
            <a:prstDash val="solid"/>
          </a:ln>
        </p:spPr>
        <p:txBody>
          <a:bodyPr/>
          <a:lstStyle/>
          <a:p>
            <a:pPr algn="l">
              <a:buNone/>
              <a:defRPr sz="1650" b="1">
                <a:solidFill>
                  <a:srgbClr val="3D8DFF"/>
                </a:solidFill>
              </a:defRPr>
            </a:pPr>
            <a:r>
              <a:rPr sz="1650" b="1">
                <a:solidFill>
                  <a:srgbClr val="3D8DFF"/>
                </a:solidFill>
              </a:rPr>
              <a:t>Basic scenarios</a:t>
            </a:r>
          </a:p>
        </p:txBody>
      </p:sp>
      <p:sp>
        <p:nvSpPr>
          <p:cNvPr id="6" name="正方形/長方形 5">
            <a:extLst>
              <a:ext uri="{FF2B5EF4-FFF2-40B4-BE49-F238E27FC236}">
                <a16:creationId xmlns:a16="http://schemas.microsoft.com/office/drawing/2014/main" id="{787CF679-CE2F-4C1F-95EB-01623AAEE433}"/>
              </a:ext>
            </a:extLst>
          </p:cNvPr>
          <p:cNvSpPr>
            <a:spLocks noGrp="1"/>
          </p:cNvSpPr>
          <p:nvPr/>
        </p:nvSpPr>
        <p:spPr>
          <a:xfrm>
            <a:off x="3143250" y="4321969"/>
            <a:ext cx="7715250" cy="285750"/>
          </a:xfrm>
          <a:prstGeom prst="rect">
            <a:avLst/>
          </a:prstGeom>
          <a:noFill/>
          <a:ln w="0">
            <a:noFill/>
            <a:prstDash val="solid"/>
          </a:ln>
        </p:spPr>
        <p:txBody>
          <a:bodyPr/>
          <a:lstStyle/>
          <a:p>
            <a:pPr algn="l">
              <a:buNone/>
              <a:defRPr sz="1800" b="1">
                <a:solidFill>
                  <a:srgbClr val="111111"/>
                </a:solidFill>
              </a:defRPr>
            </a:pPr>
            <a:r>
              <a:rPr sz="1800" b="1">
                <a:solidFill>
                  <a:srgbClr val="111111"/>
                </a:solidFill>
              </a:rPr>
              <a:t>20 files  ·  29,366 windows  ·  metrics</a:t>
            </a:r>
          </a:p>
        </p:txBody>
      </p:sp>
      <p:sp>
        <p:nvSpPr>
          <p:cNvPr id="7" name="正方形/長方形 6">
            <a:extLst>
              <a:ext uri="{FF2B5EF4-FFF2-40B4-BE49-F238E27FC236}">
                <a16:creationId xmlns:a16="http://schemas.microsoft.com/office/drawing/2014/main" id="{1ADAF500-175C-49A7-860F-975E4A8608EC}"/>
              </a:ext>
            </a:extLst>
          </p:cNvPr>
          <p:cNvSpPr>
            <a:spLocks noGrp="1"/>
          </p:cNvSpPr>
          <p:nvPr/>
        </p:nvSpPr>
        <p:spPr>
          <a:xfrm>
            <a:off x="762000" y="4845844"/>
            <a:ext cx="2381250" cy="285750"/>
          </a:xfrm>
          <a:prstGeom prst="rect">
            <a:avLst/>
          </a:prstGeom>
          <a:noFill/>
          <a:ln w="0">
            <a:noFill/>
            <a:prstDash val="solid"/>
          </a:ln>
        </p:spPr>
        <p:txBody>
          <a:bodyPr/>
          <a:lstStyle/>
          <a:p>
            <a:pPr algn="l">
              <a:buNone/>
              <a:defRPr sz="1650" b="1">
                <a:solidFill>
                  <a:srgbClr val="E58A35"/>
                </a:solidFill>
              </a:defRPr>
            </a:pPr>
            <a:r>
              <a:rPr sz="1650" b="1">
                <a:solidFill>
                  <a:srgbClr val="E58A35"/>
                </a:solidFill>
              </a:rPr>
              <a:t>Challenge scenarios</a:t>
            </a:r>
          </a:p>
        </p:txBody>
      </p:sp>
      <p:sp>
        <p:nvSpPr>
          <p:cNvPr id="8" name="正方形/長方形 7">
            <a:extLst>
              <a:ext uri="{FF2B5EF4-FFF2-40B4-BE49-F238E27FC236}">
                <a16:creationId xmlns:a16="http://schemas.microsoft.com/office/drawing/2014/main" id="{554D4FAC-9665-4539-A943-16CF013D051A}"/>
              </a:ext>
            </a:extLst>
          </p:cNvPr>
          <p:cNvSpPr>
            <a:spLocks noGrp="1"/>
          </p:cNvSpPr>
          <p:nvPr/>
        </p:nvSpPr>
        <p:spPr>
          <a:xfrm>
            <a:off x="3143250" y="4845844"/>
            <a:ext cx="7715250" cy="285750"/>
          </a:xfrm>
          <a:prstGeom prst="rect">
            <a:avLst/>
          </a:prstGeom>
          <a:noFill/>
          <a:ln w="0">
            <a:noFill/>
            <a:prstDash val="solid"/>
          </a:ln>
        </p:spPr>
        <p:txBody>
          <a:bodyPr/>
          <a:lstStyle/>
          <a:p>
            <a:pPr algn="l">
              <a:buNone/>
              <a:defRPr sz="1800" b="1">
                <a:solidFill>
                  <a:srgbClr val="111111"/>
                </a:solidFill>
              </a:defRPr>
            </a:pPr>
            <a:r>
              <a:rPr sz="1800" b="1">
                <a:solidFill>
                  <a:srgbClr val="111111"/>
                </a:solidFill>
              </a:rPr>
              <a:t>15 files  ·  behavior check only</a:t>
            </a:r>
          </a:p>
        </p:txBody>
      </p:sp>
    </p:spTree>
    <p:extLst>
      <p:ext uri="{BB962C8B-B14F-4D97-AF65-F5344CB8AC3E}">
        <p14:creationId xmlns:p14="http://schemas.microsoft.com/office/powerpoint/2010/main" val="2089096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正方形/長方形 23">
            <a:extLst>
              <a:ext uri="{FF2B5EF4-FFF2-40B4-BE49-F238E27FC236}">
                <a16:creationId xmlns:a16="http://schemas.microsoft.com/office/drawing/2014/main" id="{FE32B0CB-844C-4097-8747-98E89C55B88C}"/>
              </a:ext>
            </a:extLst>
          </p:cNvPr>
          <p:cNvSpPr>
            <a:spLocks noGrp="1"/>
          </p:cNvSpPr>
          <p:nvPr/>
        </p:nvSpPr>
        <p:spPr>
          <a:xfrm>
            <a:off x="400050" y="323850"/>
            <a:ext cx="10572750" cy="590550"/>
          </a:xfrm>
          <a:prstGeom prst="rect">
            <a:avLst/>
          </a:prstGeom>
          <a:noFill/>
          <a:ln w="0">
            <a:noFill/>
            <a:prstDash val="solid"/>
          </a:ln>
        </p:spPr>
        <p:txBody>
          <a:bodyPr/>
          <a:lstStyle/>
          <a:p>
            <a:pPr algn="l">
              <a:buNone/>
              <a:defRPr sz="2700" b="1">
                <a:solidFill>
                  <a:srgbClr val="111111"/>
                </a:solidFill>
              </a:defRPr>
            </a:pPr>
            <a:r>
              <a:rPr sz="2700" b="1">
                <a:solidFill>
                  <a:srgbClr val="111111"/>
                </a:solidFill>
              </a:rPr>
              <a:t>Evaluation Metrics</a:t>
            </a:r>
          </a:p>
        </p:txBody>
      </p:sp>
      <p:sp>
        <p:nvSpPr>
          <p:cNvPr id="2" name="正方形/長方形 1">
            <a:extLst>
              <a:ext uri="{FF2B5EF4-FFF2-40B4-BE49-F238E27FC236}">
                <a16:creationId xmlns:a16="http://schemas.microsoft.com/office/drawing/2014/main" id="{54AC57CD-5C39-4E04-94C8-7A80F5C92635}"/>
              </a:ext>
            </a:extLst>
          </p:cNvPr>
          <p:cNvSpPr>
            <a:spLocks noGrp="1"/>
          </p:cNvSpPr>
          <p:nvPr/>
        </p:nvSpPr>
        <p:spPr>
          <a:xfrm>
            <a:off x="11277600" y="6286500"/>
            <a:ext cx="514350" cy="228600"/>
          </a:xfrm>
          <a:prstGeom prst="rect">
            <a:avLst/>
          </a:prstGeom>
          <a:noFill/>
          <a:ln w="0">
            <a:noFill/>
            <a:prstDash val="solid"/>
          </a:ln>
        </p:spPr>
        <p:txBody>
          <a:bodyPr/>
          <a:lstStyle/>
          <a:p>
            <a:pPr algn="r">
              <a:buNone/>
              <a:defRPr sz="1050" b="0">
                <a:solidFill>
                  <a:srgbClr val="5F6670"/>
                </a:solidFill>
              </a:defRPr>
            </a:pPr>
            <a:r>
              <a:rPr sz="1050" b="0">
                <a:solidFill>
                  <a:srgbClr val="5F6670"/>
                </a:solidFill>
              </a:rPr>
              <a:t>9</a:t>
            </a:r>
          </a:p>
        </p:txBody>
      </p:sp>
      <p:sp>
        <p:nvSpPr>
          <p:cNvPr id="3" name="正方形/長方形 2">
            <a:extLst>
              <a:ext uri="{FF2B5EF4-FFF2-40B4-BE49-F238E27FC236}">
                <a16:creationId xmlns:a16="http://schemas.microsoft.com/office/drawing/2014/main" id="{67416400-22A2-47FA-8BCE-625C1A7A4D17}"/>
              </a:ext>
            </a:extLst>
          </p:cNvPr>
          <p:cNvSpPr>
            <a:spLocks noGrp="1"/>
          </p:cNvSpPr>
          <p:nvPr/>
        </p:nvSpPr>
        <p:spPr>
          <a:xfrm>
            <a:off x="400050" y="1028700"/>
            <a:ext cx="2857500" cy="209550"/>
          </a:xfrm>
          <a:prstGeom prst="rect">
            <a:avLst/>
          </a:prstGeom>
          <a:noFill/>
          <a:ln w="0">
            <a:noFill/>
            <a:prstDash val="solid"/>
          </a:ln>
        </p:spPr>
        <p:txBody>
          <a:bodyPr/>
          <a:lstStyle/>
          <a:p>
            <a:pPr algn="l">
              <a:buNone/>
              <a:defRPr sz="1050" b="1">
                <a:solidFill>
                  <a:srgbClr val="3D8DFF"/>
                </a:solidFill>
              </a:defRPr>
            </a:pPr>
            <a:r>
              <a:rPr sz="1050" b="1">
                <a:solidFill>
                  <a:srgbClr val="3D8DFF"/>
                </a:solidFill>
              </a:rPr>
              <a:t>EVALUATION</a:t>
            </a:r>
          </a:p>
        </p:txBody>
      </p:sp>
      <p:graphicFrame>
        <p:nvGraphicFramePr>
          <p:cNvPr id="29" name="表 26"/>
          <p:cNvGraphicFramePr/>
          <p:nvPr/>
        </p:nvGraphicFramePr>
        <p:xfrm>
          <a:off x="523875" y="1571625"/>
          <a:ext cx="5810250" cy="2190750"/>
        </p:xfrm>
        <a:graphic>
          <a:graphicData uri="http://schemas.openxmlformats.org/drawingml/2006/table">
            <a:tbl>
              <a:tblPr firstRow="1" bandRow="1"/>
              <a:tblGrid>
                <a:gridCol w="200025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tblGrid>
              <a:tr h="730250">
                <a:tc>
                  <a:txBody>
                    <a:bodyPr/>
                    <a:lstStyle/>
                    <a:p>
                      <a:pPr algn="ctr">
                        <a:buNone/>
                      </a:pPr>
                      <a:r>
                        <a:rPr sz="1350" b="1">
                          <a:solidFill>
                            <a:srgbClr val="FFFFFF"/>
                          </a:solidFill>
                        </a:rPr>
                        <a:t>Ground truth</a:t>
                      </a:r>
                    </a:p>
                  </a:txBody>
                  <a:tcPr anchor="ctr">
                    <a:solidFill>
                      <a:srgbClr val="111111"/>
                    </a:solidFill>
                  </a:tcPr>
                </a:tc>
                <a:tc>
                  <a:txBody>
                    <a:bodyPr/>
                    <a:lstStyle/>
                    <a:p>
                      <a:pPr algn="ctr">
                        <a:buNone/>
                      </a:pPr>
                      <a:r>
                        <a:rPr sz="1350" b="1">
                          <a:solidFill>
                            <a:srgbClr val="FFFFFF"/>
                          </a:solidFill>
                        </a:rPr>
                        <a:t>Rule output</a:t>
                      </a:r>
                    </a:p>
                  </a:txBody>
                  <a:tcPr anchor="ctr">
                    <a:solidFill>
                      <a:srgbClr val="111111"/>
                    </a:solidFill>
                  </a:tcPr>
                </a:tc>
                <a:tc>
                  <a:txBody>
                    <a:bodyPr/>
                    <a:lstStyle/>
                    <a:p>
                      <a:pPr algn="ctr">
                        <a:buNone/>
                      </a:pPr>
                      <a:r>
                        <a:rPr sz="1350" b="1">
                          <a:solidFill>
                            <a:srgbClr val="FFFFFF"/>
                          </a:solidFill>
                        </a:rPr>
                        <a:t>Count</a:t>
                      </a:r>
                    </a:p>
                  </a:txBody>
                  <a:tcPr anchor="ctr">
                    <a:solidFill>
                      <a:srgbClr val="111111"/>
                    </a:solidFill>
                  </a:tcPr>
                </a:tc>
                <a:extLst>
                  <a:ext uri="{0D108BD9-81ED-4DB2-BD59-A6C34878D82A}">
                    <a16:rowId xmlns:a16="http://schemas.microsoft.com/office/drawing/2014/main" val="10000"/>
                  </a:ext>
                </a:extLst>
              </a:tr>
              <a:tr h="730250">
                <a:tc>
                  <a:txBody>
                    <a:bodyPr/>
                    <a:lstStyle/>
                    <a:p>
                      <a:pPr algn="ctr">
                        <a:buNone/>
                      </a:pPr>
                      <a:r>
                        <a:rPr sz="1350"/>
                        <a:t>MOTION</a:t>
                      </a:r>
                    </a:p>
                  </a:txBody>
                  <a:tcPr anchor="ctr"/>
                </a:tc>
                <a:tc>
                  <a:txBody>
                    <a:bodyPr/>
                    <a:lstStyle/>
                    <a:p>
                      <a:pPr algn="ctr">
                        <a:buNone/>
                      </a:pPr>
                      <a:r>
                        <a:rPr sz="1350"/>
                        <a:t>MOTION / NO MOTION</a:t>
                      </a:r>
                    </a:p>
                  </a:txBody>
                  <a:tcPr anchor="ctr"/>
                </a:tc>
                <a:tc>
                  <a:txBody>
                    <a:bodyPr/>
                    <a:lstStyle/>
                    <a:p>
                      <a:pPr algn="ctr">
                        <a:buNone/>
                      </a:pPr>
                      <a:r>
                        <a:rPr sz="1350"/>
                        <a:t>TP / FN</a:t>
                      </a:r>
                    </a:p>
                  </a:txBody>
                  <a:tcPr anchor="ctr"/>
                </a:tc>
                <a:extLst>
                  <a:ext uri="{0D108BD9-81ED-4DB2-BD59-A6C34878D82A}">
                    <a16:rowId xmlns:a16="http://schemas.microsoft.com/office/drawing/2014/main" val="10001"/>
                  </a:ext>
                </a:extLst>
              </a:tr>
              <a:tr h="730250">
                <a:tc>
                  <a:txBody>
                    <a:bodyPr/>
                    <a:lstStyle/>
                    <a:p>
                      <a:pPr algn="ctr">
                        <a:buNone/>
                      </a:pPr>
                      <a:r>
                        <a:rPr sz="1350"/>
                        <a:t>NO MOTION</a:t>
                      </a:r>
                    </a:p>
                  </a:txBody>
                  <a:tcPr anchor="ctr"/>
                </a:tc>
                <a:tc>
                  <a:txBody>
                    <a:bodyPr/>
                    <a:lstStyle/>
                    <a:p>
                      <a:pPr algn="ctr">
                        <a:buNone/>
                      </a:pPr>
                      <a:r>
                        <a:rPr sz="1350"/>
                        <a:t>MOTION / NO MOTION</a:t>
                      </a:r>
                    </a:p>
                  </a:txBody>
                  <a:tcPr anchor="ctr"/>
                </a:tc>
                <a:tc>
                  <a:txBody>
                    <a:bodyPr/>
                    <a:lstStyle/>
                    <a:p>
                      <a:pPr algn="ctr">
                        <a:buNone/>
                      </a:pPr>
                      <a:r>
                        <a:rPr sz="1350"/>
                        <a:t>FP / TN</a:t>
                      </a:r>
                    </a:p>
                  </a:txBody>
                  <a:tcPr anchor="ctr"/>
                </a:tc>
                <a:extLst>
                  <a:ext uri="{0D108BD9-81ED-4DB2-BD59-A6C34878D82A}">
                    <a16:rowId xmlns:a16="http://schemas.microsoft.com/office/drawing/2014/main" val="10002"/>
                  </a:ext>
                </a:extLst>
              </a:tr>
            </a:tbl>
          </a:graphicData>
        </a:graphic>
      </p:graphicFrame>
      <p:sp>
        <p:nvSpPr>
          <p:cNvPr id="5" name="四角形: 角を丸くする 4">
            <a:extLst>
              <a:ext uri="{FF2B5EF4-FFF2-40B4-BE49-F238E27FC236}">
                <a16:creationId xmlns:a16="http://schemas.microsoft.com/office/drawing/2014/main" id="{A68DD51D-1C54-4C60-B223-95734717F8C6}"/>
              </a:ext>
            </a:extLst>
          </p:cNvPr>
          <p:cNvSpPr>
            <a:spLocks noGrp="1"/>
          </p:cNvSpPr>
          <p:nvPr/>
        </p:nvSpPr>
        <p:spPr>
          <a:xfrm>
            <a:off x="6858000" y="1571625"/>
            <a:ext cx="4810125" cy="2190750"/>
          </a:xfrm>
          <a:prstGeom prst="roundRect">
            <a:avLst>
              <a:gd name="adj" fmla="val 5217"/>
            </a:avLst>
          </a:prstGeom>
          <a:solidFill>
            <a:srgbClr val="EAF5FB"/>
          </a:solidFill>
          <a:ln w="9525">
            <a:solidFill>
              <a:srgbClr val="6DCBF4"/>
            </a:solidFill>
            <a:prstDash val="solid"/>
          </a:ln>
        </p:spPr>
      </p:sp>
      <p:sp>
        <p:nvSpPr>
          <p:cNvPr id="6" name="正方形/長方形 5">
            <a:extLst>
              <a:ext uri="{FF2B5EF4-FFF2-40B4-BE49-F238E27FC236}">
                <a16:creationId xmlns:a16="http://schemas.microsoft.com/office/drawing/2014/main" id="{F0EB9BCA-18F0-4C33-BA1F-C0AFFBCC9089}"/>
              </a:ext>
            </a:extLst>
          </p:cNvPr>
          <p:cNvSpPr>
            <a:spLocks noGrp="1"/>
          </p:cNvSpPr>
          <p:nvPr/>
        </p:nvSpPr>
        <p:spPr>
          <a:xfrm>
            <a:off x="7096125" y="1790700"/>
            <a:ext cx="4333875" cy="285750"/>
          </a:xfrm>
          <a:prstGeom prst="rect">
            <a:avLst/>
          </a:prstGeom>
          <a:noFill/>
          <a:ln w="0">
            <a:noFill/>
            <a:prstDash val="solid"/>
          </a:ln>
        </p:spPr>
        <p:txBody>
          <a:bodyPr/>
          <a:lstStyle/>
          <a:p>
            <a:pPr algn="ctr">
              <a:buNone/>
              <a:defRPr sz="1725" b="1">
                <a:solidFill>
                  <a:srgbClr val="3D8DFF"/>
                </a:solidFill>
              </a:defRPr>
            </a:pPr>
            <a:r>
              <a:rPr sz="1725" b="1">
                <a:solidFill>
                  <a:srgbClr val="3D8DFF"/>
                </a:solidFill>
              </a:rPr>
              <a:t>Labels</a:t>
            </a:r>
          </a:p>
        </p:txBody>
      </p:sp>
      <p:sp>
        <p:nvSpPr>
          <p:cNvPr id="7" name="正方形/長方形 6">
            <a:extLst>
              <a:ext uri="{FF2B5EF4-FFF2-40B4-BE49-F238E27FC236}">
                <a16:creationId xmlns:a16="http://schemas.microsoft.com/office/drawing/2014/main" id="{572EDB8E-1B3D-4CDD-93AB-3C29AB245D67}"/>
              </a:ext>
            </a:extLst>
          </p:cNvPr>
          <p:cNvSpPr>
            <a:spLocks noGrp="1"/>
          </p:cNvSpPr>
          <p:nvPr/>
        </p:nvSpPr>
        <p:spPr>
          <a:xfrm>
            <a:off x="7143750" y="2381250"/>
            <a:ext cx="1428750" cy="247650"/>
          </a:xfrm>
          <a:prstGeom prst="rect">
            <a:avLst/>
          </a:prstGeom>
          <a:noFill/>
          <a:ln w="0">
            <a:noFill/>
            <a:prstDash val="solid"/>
          </a:ln>
        </p:spPr>
        <p:txBody>
          <a:bodyPr/>
          <a:lstStyle/>
          <a:p>
            <a:pPr algn="l">
              <a:buNone/>
              <a:defRPr sz="1500" b="1">
                <a:solidFill>
                  <a:srgbClr val="27805E"/>
                </a:solidFill>
              </a:defRPr>
            </a:pPr>
            <a:r>
              <a:rPr sz="1500" b="1">
                <a:solidFill>
                  <a:srgbClr val="27805E"/>
                </a:solidFill>
              </a:rPr>
              <a:t>MOTION</a:t>
            </a:r>
          </a:p>
        </p:txBody>
      </p:sp>
      <p:sp>
        <p:nvSpPr>
          <p:cNvPr id="8" name="正方形/長方形 7">
            <a:extLst>
              <a:ext uri="{FF2B5EF4-FFF2-40B4-BE49-F238E27FC236}">
                <a16:creationId xmlns:a16="http://schemas.microsoft.com/office/drawing/2014/main" id="{08C444C3-97A8-41A4-8EC4-940133BE01DD}"/>
              </a:ext>
            </a:extLst>
          </p:cNvPr>
          <p:cNvSpPr>
            <a:spLocks noGrp="1"/>
          </p:cNvSpPr>
          <p:nvPr/>
        </p:nvSpPr>
        <p:spPr>
          <a:xfrm>
            <a:off x="8667750" y="2381250"/>
            <a:ext cx="2619375" cy="247650"/>
          </a:xfrm>
          <a:prstGeom prst="rect">
            <a:avLst/>
          </a:prstGeom>
          <a:noFill/>
          <a:ln w="0">
            <a:noFill/>
            <a:prstDash val="solid"/>
          </a:ln>
        </p:spPr>
        <p:txBody>
          <a:bodyPr lIns="91440" tIns="45720" rIns="91440" bIns="45720" anchor="t"/>
          <a:lstStyle/>
          <a:p>
            <a:pPr algn="l">
              <a:buNone/>
              <a:defRPr sz="1425" b="0">
                <a:solidFill>
                  <a:srgbClr val="111111"/>
                </a:solidFill>
              </a:defRPr>
            </a:pPr>
            <a:r>
              <a:rPr sz="1400" b="0" dirty="0">
                <a:solidFill>
                  <a:srgbClr val="111111"/>
                </a:solidFill>
              </a:rPr>
              <a:t>Walk · wave · </a:t>
            </a:r>
            <a:r>
              <a:rPr lang="en-US" sz="1400">
                <a:solidFill>
                  <a:srgbClr val="111111"/>
                </a:solidFill>
                <a:ea typeface="+mn-lt"/>
                <a:cs typeface="+mn-lt"/>
              </a:rPr>
              <a:t>s</a:t>
            </a:r>
            <a:r>
              <a:rPr lang="en-US" sz="1400" dirty="0">
                <a:solidFill>
                  <a:srgbClr val="111111"/>
                </a:solidFill>
                <a:ea typeface="+mn-lt"/>
                <a:cs typeface="+mn-lt"/>
              </a:rPr>
              <a:t>itting</a:t>
            </a:r>
            <a:r>
              <a:rPr lang="en-US" sz="1400">
                <a:solidFill>
                  <a:srgbClr val="111111"/>
                </a:solidFill>
                <a:ea typeface="+mn-lt"/>
                <a:cs typeface="+mn-lt"/>
              </a:rPr>
              <a:t>–standing</a:t>
            </a:r>
            <a:endParaRPr sz="1400" b="0">
              <a:solidFill>
                <a:srgbClr val="111111"/>
              </a:solidFill>
            </a:endParaRPr>
          </a:p>
        </p:txBody>
      </p:sp>
      <p:sp>
        <p:nvSpPr>
          <p:cNvPr id="9" name="正方形/長方形 8">
            <a:extLst>
              <a:ext uri="{FF2B5EF4-FFF2-40B4-BE49-F238E27FC236}">
                <a16:creationId xmlns:a16="http://schemas.microsoft.com/office/drawing/2014/main" id="{BA698D30-E96C-49AA-AB7D-9FCAC0022C23}"/>
              </a:ext>
            </a:extLst>
          </p:cNvPr>
          <p:cNvSpPr>
            <a:spLocks noGrp="1"/>
          </p:cNvSpPr>
          <p:nvPr/>
        </p:nvSpPr>
        <p:spPr>
          <a:xfrm>
            <a:off x="7143750" y="2952750"/>
            <a:ext cx="1428750" cy="247650"/>
          </a:xfrm>
          <a:prstGeom prst="rect">
            <a:avLst/>
          </a:prstGeom>
          <a:noFill/>
          <a:ln w="0">
            <a:noFill/>
            <a:prstDash val="solid"/>
          </a:ln>
        </p:spPr>
        <p:txBody>
          <a:bodyPr/>
          <a:lstStyle/>
          <a:p>
            <a:pPr algn="l">
              <a:buNone/>
              <a:defRPr sz="1500" b="1">
                <a:solidFill>
                  <a:srgbClr val="E58A35"/>
                </a:solidFill>
              </a:defRPr>
            </a:pPr>
            <a:r>
              <a:rPr sz="1500" b="1">
                <a:solidFill>
                  <a:srgbClr val="E58A35"/>
                </a:solidFill>
              </a:rPr>
              <a:t>NO MOTION</a:t>
            </a:r>
          </a:p>
        </p:txBody>
      </p:sp>
      <p:sp>
        <p:nvSpPr>
          <p:cNvPr id="10" name="正方形/長方形 9">
            <a:extLst>
              <a:ext uri="{FF2B5EF4-FFF2-40B4-BE49-F238E27FC236}">
                <a16:creationId xmlns:a16="http://schemas.microsoft.com/office/drawing/2014/main" id="{FDB2FDD7-0B19-4477-8B9F-C9F194B1E602}"/>
              </a:ext>
            </a:extLst>
          </p:cNvPr>
          <p:cNvSpPr>
            <a:spLocks noGrp="1"/>
          </p:cNvSpPr>
          <p:nvPr/>
        </p:nvSpPr>
        <p:spPr>
          <a:xfrm>
            <a:off x="8667750" y="2952750"/>
            <a:ext cx="2619375" cy="247650"/>
          </a:xfrm>
          <a:prstGeom prst="rect">
            <a:avLst/>
          </a:prstGeom>
          <a:noFill/>
          <a:ln w="0">
            <a:noFill/>
            <a:prstDash val="solid"/>
          </a:ln>
        </p:spPr>
        <p:txBody>
          <a:bodyPr lIns="91440" tIns="45720" rIns="91440" bIns="45720" anchor="t"/>
          <a:lstStyle/>
          <a:p>
            <a:pPr algn="l">
              <a:buNone/>
              <a:defRPr sz="1425" b="0">
                <a:solidFill>
                  <a:srgbClr val="111111"/>
                </a:solidFill>
              </a:defRPr>
            </a:pPr>
            <a:r>
              <a:rPr lang="af-ZA" sz="1400">
                <a:solidFill>
                  <a:srgbClr val="111111"/>
                </a:solidFill>
              </a:rPr>
              <a:t>Empty</a:t>
            </a:r>
            <a:endParaRPr lang="af-ZA" altLang="ja-JP" sz="1400" b="0">
              <a:solidFill>
                <a:srgbClr val="111111"/>
              </a:solidFill>
            </a:endParaRPr>
          </a:p>
        </p:txBody>
      </p:sp>
      <p:sp>
        <p:nvSpPr>
          <p:cNvPr id="11" name="四角形: 角を丸くする 10">
            <a:extLst>
              <a:ext uri="{FF2B5EF4-FFF2-40B4-BE49-F238E27FC236}">
                <a16:creationId xmlns:a16="http://schemas.microsoft.com/office/drawing/2014/main" id="{EC56DCD8-65EB-4798-8983-C46F0FC1133B}"/>
              </a:ext>
            </a:extLst>
          </p:cNvPr>
          <p:cNvSpPr>
            <a:spLocks noGrp="1"/>
          </p:cNvSpPr>
          <p:nvPr/>
        </p:nvSpPr>
        <p:spPr>
          <a:xfrm>
            <a:off x="523875" y="4429125"/>
            <a:ext cx="2524125" cy="1285875"/>
          </a:xfrm>
          <a:prstGeom prst="roundRect">
            <a:avLst>
              <a:gd name="adj" fmla="val 8889"/>
            </a:avLst>
          </a:prstGeom>
          <a:noFill/>
          <a:ln w="9525">
            <a:solidFill>
              <a:srgbClr val="B8BCC4"/>
            </a:solidFill>
            <a:prstDash val="solid"/>
          </a:ln>
        </p:spPr>
      </p:sp>
      <p:sp>
        <p:nvSpPr>
          <p:cNvPr id="13" name="正方形/長方形 12">
            <a:extLst>
              <a:ext uri="{FF2B5EF4-FFF2-40B4-BE49-F238E27FC236}">
                <a16:creationId xmlns:a16="http://schemas.microsoft.com/office/drawing/2014/main" id="{70B69AEB-42AE-461C-AC9F-7CD8FF86F604}"/>
              </a:ext>
            </a:extLst>
          </p:cNvPr>
          <p:cNvSpPr>
            <a:spLocks noGrp="1"/>
          </p:cNvSpPr>
          <p:nvPr/>
        </p:nvSpPr>
        <p:spPr>
          <a:xfrm>
            <a:off x="638175" y="5143500"/>
            <a:ext cx="2295525" cy="266700"/>
          </a:xfrm>
          <a:prstGeom prst="rect">
            <a:avLst/>
          </a:prstGeom>
          <a:noFill/>
          <a:ln w="0">
            <a:noFill/>
            <a:prstDash val="solid"/>
          </a:ln>
        </p:spPr>
        <p:txBody>
          <a:bodyPr/>
          <a:lstStyle/>
          <a:p>
            <a:pPr algn="ctr">
              <a:buNone/>
              <a:defRPr sz="1275" b="0">
                <a:solidFill>
                  <a:srgbClr val="5F6670"/>
                </a:solidFill>
              </a:defRPr>
            </a:pPr>
            <a:r>
              <a:rPr sz="1275" b="0">
                <a:solidFill>
                  <a:srgbClr val="5F6670"/>
                </a:solidFill>
              </a:rPr>
              <a:t>(TP + TN) / All</a:t>
            </a:r>
          </a:p>
        </p:txBody>
      </p:sp>
      <p:sp>
        <p:nvSpPr>
          <p:cNvPr id="14" name="四角形: 角を丸くする 13">
            <a:extLst>
              <a:ext uri="{FF2B5EF4-FFF2-40B4-BE49-F238E27FC236}">
                <a16:creationId xmlns:a16="http://schemas.microsoft.com/office/drawing/2014/main" id="{F0FFE7E6-DD7B-49C7-AC7E-06B64EFCA78E}"/>
              </a:ext>
            </a:extLst>
          </p:cNvPr>
          <p:cNvSpPr>
            <a:spLocks noGrp="1"/>
          </p:cNvSpPr>
          <p:nvPr/>
        </p:nvSpPr>
        <p:spPr>
          <a:xfrm>
            <a:off x="3305175" y="4429125"/>
            <a:ext cx="2524125" cy="1285875"/>
          </a:xfrm>
          <a:prstGeom prst="roundRect">
            <a:avLst>
              <a:gd name="adj" fmla="val 8889"/>
            </a:avLst>
          </a:prstGeom>
          <a:solidFill>
            <a:srgbClr val="FFFFFF"/>
          </a:solidFill>
          <a:ln w="9525">
            <a:solidFill>
              <a:srgbClr val="B8BCC4"/>
            </a:solidFill>
            <a:prstDash val="solid"/>
          </a:ln>
        </p:spPr>
      </p:sp>
      <p:sp>
        <p:nvSpPr>
          <p:cNvPr id="15" name="正方形/長方形 14">
            <a:extLst>
              <a:ext uri="{FF2B5EF4-FFF2-40B4-BE49-F238E27FC236}">
                <a16:creationId xmlns:a16="http://schemas.microsoft.com/office/drawing/2014/main" id="{AE373010-73B8-40BF-B356-C5CEDAD5A649}"/>
              </a:ext>
            </a:extLst>
          </p:cNvPr>
          <p:cNvSpPr>
            <a:spLocks noGrp="1"/>
          </p:cNvSpPr>
          <p:nvPr/>
        </p:nvSpPr>
        <p:spPr>
          <a:xfrm>
            <a:off x="3419475" y="4648200"/>
            <a:ext cx="2295525" cy="266700"/>
          </a:xfrm>
          <a:prstGeom prst="rect">
            <a:avLst/>
          </a:prstGeom>
          <a:noFill/>
          <a:ln w="0">
            <a:noFill/>
            <a:prstDash val="solid"/>
          </a:ln>
        </p:spPr>
        <p:txBody>
          <a:bodyPr/>
          <a:lstStyle/>
          <a:p>
            <a:pPr algn="ctr">
              <a:buNone/>
              <a:defRPr sz="1575" b="1">
                <a:solidFill>
                  <a:srgbClr val="111111"/>
                </a:solidFill>
              </a:defRPr>
            </a:pPr>
            <a:r>
              <a:rPr sz="1575" b="1">
                <a:solidFill>
                  <a:srgbClr val="111111"/>
                </a:solidFill>
              </a:rPr>
              <a:t>Recall</a:t>
            </a:r>
          </a:p>
        </p:txBody>
      </p:sp>
      <p:sp>
        <p:nvSpPr>
          <p:cNvPr id="16" name="正方形/長方形 15">
            <a:extLst>
              <a:ext uri="{FF2B5EF4-FFF2-40B4-BE49-F238E27FC236}">
                <a16:creationId xmlns:a16="http://schemas.microsoft.com/office/drawing/2014/main" id="{21A99B8B-E24B-4896-B111-3AE2B32D87F2}"/>
              </a:ext>
            </a:extLst>
          </p:cNvPr>
          <p:cNvSpPr>
            <a:spLocks noGrp="1"/>
          </p:cNvSpPr>
          <p:nvPr/>
        </p:nvSpPr>
        <p:spPr>
          <a:xfrm>
            <a:off x="3419475" y="5143500"/>
            <a:ext cx="2295525" cy="266700"/>
          </a:xfrm>
          <a:prstGeom prst="rect">
            <a:avLst/>
          </a:prstGeom>
          <a:noFill/>
          <a:ln w="0">
            <a:noFill/>
            <a:prstDash val="solid"/>
          </a:ln>
        </p:spPr>
        <p:txBody>
          <a:bodyPr/>
          <a:lstStyle/>
          <a:p>
            <a:pPr algn="ctr">
              <a:buNone/>
              <a:defRPr sz="1275" b="0">
                <a:solidFill>
                  <a:srgbClr val="5F6670"/>
                </a:solidFill>
              </a:defRPr>
            </a:pPr>
            <a:r>
              <a:rPr sz="1275" b="0">
                <a:solidFill>
                  <a:srgbClr val="5F6670"/>
                </a:solidFill>
              </a:rPr>
              <a:t>TP / (TP + FN)</a:t>
            </a:r>
          </a:p>
        </p:txBody>
      </p:sp>
      <p:sp>
        <p:nvSpPr>
          <p:cNvPr id="17" name="四角形: 角を丸くする 16">
            <a:extLst>
              <a:ext uri="{FF2B5EF4-FFF2-40B4-BE49-F238E27FC236}">
                <a16:creationId xmlns:a16="http://schemas.microsoft.com/office/drawing/2014/main" id="{43994206-99E2-45B3-B3C1-43461A9FCB97}"/>
              </a:ext>
            </a:extLst>
          </p:cNvPr>
          <p:cNvSpPr>
            <a:spLocks noGrp="1"/>
          </p:cNvSpPr>
          <p:nvPr/>
        </p:nvSpPr>
        <p:spPr>
          <a:xfrm>
            <a:off x="6086475" y="4429125"/>
            <a:ext cx="2524125" cy="1285875"/>
          </a:xfrm>
          <a:prstGeom prst="roundRect">
            <a:avLst>
              <a:gd name="adj" fmla="val 8889"/>
            </a:avLst>
          </a:prstGeom>
          <a:solidFill>
            <a:srgbClr val="FFFFFF"/>
          </a:solidFill>
          <a:ln w="9525">
            <a:solidFill>
              <a:srgbClr val="B8BCC4"/>
            </a:solidFill>
            <a:prstDash val="solid"/>
          </a:ln>
        </p:spPr>
      </p:sp>
      <p:sp>
        <p:nvSpPr>
          <p:cNvPr id="18" name="正方形/長方形 17">
            <a:extLst>
              <a:ext uri="{FF2B5EF4-FFF2-40B4-BE49-F238E27FC236}">
                <a16:creationId xmlns:a16="http://schemas.microsoft.com/office/drawing/2014/main" id="{348B2279-08AF-4C38-A3A9-30CB242C92F4}"/>
              </a:ext>
            </a:extLst>
          </p:cNvPr>
          <p:cNvSpPr>
            <a:spLocks noGrp="1"/>
          </p:cNvSpPr>
          <p:nvPr/>
        </p:nvSpPr>
        <p:spPr>
          <a:xfrm>
            <a:off x="6200775" y="4648200"/>
            <a:ext cx="2295525" cy="266700"/>
          </a:xfrm>
          <a:prstGeom prst="rect">
            <a:avLst/>
          </a:prstGeom>
          <a:noFill/>
          <a:ln w="0">
            <a:noFill/>
            <a:prstDash val="solid"/>
          </a:ln>
        </p:spPr>
        <p:txBody>
          <a:bodyPr/>
          <a:lstStyle/>
          <a:p>
            <a:pPr algn="ctr">
              <a:buNone/>
              <a:defRPr sz="1575" b="1">
                <a:solidFill>
                  <a:srgbClr val="111111"/>
                </a:solidFill>
              </a:defRPr>
            </a:pPr>
            <a:r>
              <a:rPr sz="1575" b="1">
                <a:solidFill>
                  <a:srgbClr val="111111"/>
                </a:solidFill>
              </a:rPr>
              <a:t>Precision</a:t>
            </a:r>
          </a:p>
        </p:txBody>
      </p:sp>
      <p:sp>
        <p:nvSpPr>
          <p:cNvPr id="19" name="正方形/長方形 18">
            <a:extLst>
              <a:ext uri="{FF2B5EF4-FFF2-40B4-BE49-F238E27FC236}">
                <a16:creationId xmlns:a16="http://schemas.microsoft.com/office/drawing/2014/main" id="{9E442FA8-2DDB-4E80-A9F8-D3C50135160E}"/>
              </a:ext>
            </a:extLst>
          </p:cNvPr>
          <p:cNvSpPr>
            <a:spLocks noGrp="1"/>
          </p:cNvSpPr>
          <p:nvPr/>
        </p:nvSpPr>
        <p:spPr>
          <a:xfrm>
            <a:off x="6200775" y="5143500"/>
            <a:ext cx="2295525" cy="266700"/>
          </a:xfrm>
          <a:prstGeom prst="rect">
            <a:avLst/>
          </a:prstGeom>
          <a:noFill/>
          <a:ln w="0">
            <a:noFill/>
            <a:prstDash val="solid"/>
          </a:ln>
        </p:spPr>
        <p:txBody>
          <a:bodyPr/>
          <a:lstStyle/>
          <a:p>
            <a:pPr algn="ctr">
              <a:buNone/>
              <a:defRPr sz="1275" b="0">
                <a:solidFill>
                  <a:srgbClr val="5F6670"/>
                </a:solidFill>
              </a:defRPr>
            </a:pPr>
            <a:r>
              <a:rPr sz="1275" b="0">
                <a:solidFill>
                  <a:srgbClr val="5F6670"/>
                </a:solidFill>
              </a:rPr>
              <a:t>TP / (TP + FP)</a:t>
            </a:r>
          </a:p>
        </p:txBody>
      </p:sp>
      <p:sp>
        <p:nvSpPr>
          <p:cNvPr id="20" name="四角形: 角を丸くする 19">
            <a:extLst>
              <a:ext uri="{FF2B5EF4-FFF2-40B4-BE49-F238E27FC236}">
                <a16:creationId xmlns:a16="http://schemas.microsoft.com/office/drawing/2014/main" id="{34563550-7DEC-4CC7-9E20-795E90AE7CF0}"/>
              </a:ext>
            </a:extLst>
          </p:cNvPr>
          <p:cNvSpPr>
            <a:spLocks noGrp="1"/>
          </p:cNvSpPr>
          <p:nvPr/>
        </p:nvSpPr>
        <p:spPr>
          <a:xfrm>
            <a:off x="8867775" y="4429125"/>
            <a:ext cx="2524125" cy="1285875"/>
          </a:xfrm>
          <a:prstGeom prst="roundRect">
            <a:avLst>
              <a:gd name="adj" fmla="val 8889"/>
            </a:avLst>
          </a:prstGeom>
          <a:solidFill>
            <a:srgbClr val="FFFFFF"/>
          </a:solidFill>
          <a:ln w="9525">
            <a:solidFill>
              <a:srgbClr val="B8BCC4"/>
            </a:solidFill>
            <a:prstDash val="solid"/>
          </a:ln>
        </p:spPr>
      </p:sp>
      <p:sp>
        <p:nvSpPr>
          <p:cNvPr id="21" name="正方形/長方形 20">
            <a:extLst>
              <a:ext uri="{FF2B5EF4-FFF2-40B4-BE49-F238E27FC236}">
                <a16:creationId xmlns:a16="http://schemas.microsoft.com/office/drawing/2014/main" id="{BA87ADB3-E955-4009-A934-242ABF751970}"/>
              </a:ext>
            </a:extLst>
          </p:cNvPr>
          <p:cNvSpPr>
            <a:spLocks noGrp="1"/>
          </p:cNvSpPr>
          <p:nvPr/>
        </p:nvSpPr>
        <p:spPr>
          <a:xfrm>
            <a:off x="8982075" y="4648200"/>
            <a:ext cx="2295525" cy="266700"/>
          </a:xfrm>
          <a:prstGeom prst="rect">
            <a:avLst/>
          </a:prstGeom>
          <a:noFill/>
          <a:ln w="0">
            <a:noFill/>
            <a:prstDash val="solid"/>
          </a:ln>
        </p:spPr>
        <p:txBody>
          <a:bodyPr/>
          <a:lstStyle/>
          <a:p>
            <a:pPr algn="ctr">
              <a:buNone/>
              <a:defRPr sz="1575" b="1">
                <a:solidFill>
                  <a:srgbClr val="111111"/>
                </a:solidFill>
              </a:defRPr>
            </a:pPr>
            <a:r>
              <a:rPr sz="1575" b="1">
                <a:solidFill>
                  <a:srgbClr val="111111"/>
                </a:solidFill>
              </a:rPr>
              <a:t>F1</a:t>
            </a:r>
          </a:p>
        </p:txBody>
      </p:sp>
      <p:sp>
        <p:nvSpPr>
          <p:cNvPr id="22" name="正方形/長方形 21">
            <a:extLst>
              <a:ext uri="{FF2B5EF4-FFF2-40B4-BE49-F238E27FC236}">
                <a16:creationId xmlns:a16="http://schemas.microsoft.com/office/drawing/2014/main" id="{B57463B2-4A44-460C-9E56-F6DE317D6E2F}"/>
              </a:ext>
            </a:extLst>
          </p:cNvPr>
          <p:cNvSpPr>
            <a:spLocks noGrp="1"/>
          </p:cNvSpPr>
          <p:nvPr/>
        </p:nvSpPr>
        <p:spPr>
          <a:xfrm>
            <a:off x="8982075" y="5143500"/>
            <a:ext cx="2295525" cy="266700"/>
          </a:xfrm>
          <a:prstGeom prst="rect">
            <a:avLst/>
          </a:prstGeom>
          <a:noFill/>
          <a:ln w="0">
            <a:noFill/>
            <a:prstDash val="solid"/>
          </a:ln>
        </p:spPr>
        <p:txBody>
          <a:bodyPr/>
          <a:lstStyle/>
          <a:p>
            <a:pPr algn="ctr">
              <a:buNone/>
              <a:defRPr sz="1275" b="0">
                <a:solidFill>
                  <a:srgbClr val="5F6670"/>
                </a:solidFill>
              </a:defRPr>
            </a:pPr>
            <a:r>
              <a:rPr sz="1275" b="0">
                <a:solidFill>
                  <a:srgbClr val="5F6670"/>
                </a:solidFill>
              </a:rPr>
              <a:t>P–R balance</a:t>
            </a:r>
          </a:p>
        </p:txBody>
      </p:sp>
      <p:sp>
        <p:nvSpPr>
          <p:cNvPr id="23" name="正方形/長方形 22">
            <a:extLst>
              <a:ext uri="{FF2B5EF4-FFF2-40B4-BE49-F238E27FC236}">
                <a16:creationId xmlns:a16="http://schemas.microsoft.com/office/drawing/2014/main" id="{96C2D454-7E3D-4B89-B140-EE4B6F67E58F}"/>
              </a:ext>
            </a:extLst>
          </p:cNvPr>
          <p:cNvSpPr>
            <a:spLocks noGrp="1"/>
          </p:cNvSpPr>
          <p:nvPr/>
        </p:nvSpPr>
        <p:spPr>
          <a:xfrm>
            <a:off x="523875" y="5953125"/>
            <a:ext cx="11144250" cy="238125"/>
          </a:xfrm>
          <a:prstGeom prst="rect">
            <a:avLst/>
          </a:prstGeom>
          <a:noFill/>
          <a:ln w="0">
            <a:noFill/>
            <a:prstDash val="solid"/>
          </a:ln>
        </p:spPr>
        <p:txBody>
          <a:bodyPr/>
          <a:lstStyle/>
          <a:p>
            <a:pPr algn="ctr">
              <a:buNone/>
              <a:defRPr sz="1350" b="0">
                <a:solidFill>
                  <a:srgbClr val="5F6670"/>
                </a:solidFill>
              </a:defRPr>
            </a:pPr>
            <a:r>
              <a:rPr sz="1350" b="0">
                <a:solidFill>
                  <a:srgbClr val="5F6670"/>
                </a:solidFill>
              </a:rPr>
              <a:t>Unit: 20 ms window</a:t>
            </a:r>
          </a:p>
        </p:txBody>
      </p:sp>
      <p:sp>
        <p:nvSpPr>
          <p:cNvPr id="4" name="正方形/長方形 3">
            <a:extLst>
              <a:ext uri="{FF2B5EF4-FFF2-40B4-BE49-F238E27FC236}">
                <a16:creationId xmlns:a16="http://schemas.microsoft.com/office/drawing/2014/main" id="{EC085275-E8C8-8BAB-7FDB-67F749E24F61}"/>
              </a:ext>
            </a:extLst>
          </p:cNvPr>
          <p:cNvSpPr>
            <a:spLocks noGrp="1"/>
          </p:cNvSpPr>
          <p:nvPr/>
        </p:nvSpPr>
        <p:spPr>
          <a:xfrm>
            <a:off x="689922" y="4648200"/>
            <a:ext cx="2295525" cy="266700"/>
          </a:xfrm>
          <a:prstGeom prst="rect">
            <a:avLst/>
          </a:prstGeom>
          <a:noFill/>
          <a:ln w="0">
            <a:noFill/>
            <a:prstDash val="solid"/>
          </a:ln>
        </p:spPr>
        <p:txBody>
          <a:bodyPr lIns="91440" tIns="45720" rIns="91440" bIns="45720" anchor="t"/>
          <a:lstStyle/>
          <a:p>
            <a:pPr algn="ctr">
              <a:buNone/>
              <a:defRPr sz="1575" b="1">
                <a:solidFill>
                  <a:srgbClr val="111111"/>
                </a:solidFill>
              </a:defRPr>
            </a:pPr>
            <a:r>
              <a:rPr lang="af-ZA" sz="1550" b="1">
                <a:solidFill>
                  <a:srgbClr val="111111"/>
                </a:solidFill>
              </a:rPr>
              <a:t>Accuracy</a:t>
            </a:r>
            <a:endParaRPr sz="1575" b="1">
              <a:solidFill>
                <a:srgbClr val="111111"/>
              </a:solidFill>
            </a:endParaRPr>
          </a:p>
        </p:txBody>
      </p:sp>
    </p:spTree>
    <p:extLst>
      <p:ext uri="{BB962C8B-B14F-4D97-AF65-F5344CB8AC3E}">
        <p14:creationId xmlns:p14="http://schemas.microsoft.com/office/powerpoint/2010/main" val="1864653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2ECA45D-F48A-4F8A-9716-845CAC9750BE}"/>
              </a:ext>
            </a:extLst>
          </p:cNvPr>
          <p:cNvSpPr>
            <a:spLocks noGrp="1"/>
          </p:cNvSpPr>
          <p:nvPr/>
        </p:nvSpPr>
        <p:spPr>
          <a:xfrm>
            <a:off x="400050" y="323850"/>
            <a:ext cx="10572750" cy="590550"/>
          </a:xfrm>
          <a:prstGeom prst="rect">
            <a:avLst/>
          </a:prstGeom>
          <a:noFill/>
          <a:ln w="0">
            <a:noFill/>
            <a:prstDash val="solid"/>
          </a:ln>
        </p:spPr>
        <p:txBody>
          <a:bodyPr/>
          <a:lstStyle/>
          <a:p>
            <a:pPr algn="l">
              <a:buNone/>
              <a:defRPr sz="2700" b="1">
                <a:solidFill>
                  <a:srgbClr val="111111"/>
                </a:solidFill>
              </a:defRPr>
            </a:pPr>
            <a:r>
              <a:rPr sz="2700" b="1">
                <a:solidFill>
                  <a:srgbClr val="111111"/>
                </a:solidFill>
              </a:rPr>
              <a:t>Basic Scenario Results</a:t>
            </a:r>
          </a:p>
        </p:txBody>
      </p:sp>
      <p:sp>
        <p:nvSpPr>
          <p:cNvPr id="2" name="正方形/長方形 1">
            <a:extLst>
              <a:ext uri="{FF2B5EF4-FFF2-40B4-BE49-F238E27FC236}">
                <a16:creationId xmlns:a16="http://schemas.microsoft.com/office/drawing/2014/main" id="{3501AA19-62E3-48E4-954D-6A031074348C}"/>
              </a:ext>
            </a:extLst>
          </p:cNvPr>
          <p:cNvSpPr>
            <a:spLocks noGrp="1"/>
          </p:cNvSpPr>
          <p:nvPr/>
        </p:nvSpPr>
        <p:spPr>
          <a:xfrm>
            <a:off x="11277600" y="6286500"/>
            <a:ext cx="514350" cy="228600"/>
          </a:xfrm>
          <a:prstGeom prst="rect">
            <a:avLst/>
          </a:prstGeom>
          <a:noFill/>
          <a:ln w="0">
            <a:noFill/>
            <a:prstDash val="solid"/>
          </a:ln>
        </p:spPr>
        <p:txBody>
          <a:bodyPr/>
          <a:lstStyle/>
          <a:p>
            <a:pPr algn="r">
              <a:buNone/>
              <a:defRPr sz="1050" b="0">
                <a:solidFill>
                  <a:srgbClr val="5F6670"/>
                </a:solidFill>
              </a:defRPr>
            </a:pPr>
            <a:r>
              <a:rPr sz="1050" b="0">
                <a:solidFill>
                  <a:srgbClr val="5F6670"/>
                </a:solidFill>
              </a:rPr>
              <a:t>10</a:t>
            </a:r>
          </a:p>
        </p:txBody>
      </p:sp>
      <p:sp>
        <p:nvSpPr>
          <p:cNvPr id="3" name="正方形/長方形 2">
            <a:extLst>
              <a:ext uri="{FF2B5EF4-FFF2-40B4-BE49-F238E27FC236}">
                <a16:creationId xmlns:a16="http://schemas.microsoft.com/office/drawing/2014/main" id="{D0225792-D909-47A4-AB36-031EDB88215D}"/>
              </a:ext>
            </a:extLst>
          </p:cNvPr>
          <p:cNvSpPr>
            <a:spLocks noGrp="1"/>
          </p:cNvSpPr>
          <p:nvPr/>
        </p:nvSpPr>
        <p:spPr>
          <a:xfrm>
            <a:off x="400050" y="1028700"/>
            <a:ext cx="2857500" cy="209550"/>
          </a:xfrm>
          <a:prstGeom prst="rect">
            <a:avLst/>
          </a:prstGeom>
          <a:noFill/>
          <a:ln w="0">
            <a:noFill/>
            <a:prstDash val="solid"/>
          </a:ln>
        </p:spPr>
        <p:txBody>
          <a:bodyPr/>
          <a:lstStyle/>
          <a:p>
            <a:pPr algn="l">
              <a:buNone/>
              <a:defRPr sz="1050" b="1">
                <a:solidFill>
                  <a:srgbClr val="3D8DFF"/>
                </a:solidFill>
              </a:defRPr>
            </a:pPr>
            <a:r>
              <a:rPr sz="1050" b="1">
                <a:solidFill>
                  <a:srgbClr val="3D8DFF"/>
                </a:solidFill>
              </a:rPr>
              <a:t>RESULTS</a:t>
            </a:r>
          </a:p>
        </p:txBody>
      </p:sp>
      <p:graphicFrame>
        <p:nvGraphicFramePr>
          <p:cNvPr id="14" name="Chart"/>
          <p:cNvGraphicFramePr/>
          <p:nvPr/>
        </p:nvGraphicFramePr>
        <p:xfrm>
          <a:off x="523875" y="1619250"/>
          <a:ext cx="5143500" cy="4095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238875" y="1619250"/>
          <a:ext cx="5429250" cy="4095750"/>
        </p:xfrm>
        <a:graphic>
          <a:graphicData uri="http://schemas.openxmlformats.org/drawingml/2006/chart">
            <c:chart xmlns:c="http://schemas.openxmlformats.org/drawingml/2006/chart" xmlns:r="http://schemas.openxmlformats.org/officeDocument/2006/relationships" r:id="rId4"/>
          </a:graphicData>
        </a:graphic>
      </p:graphicFrame>
      <p:sp>
        <p:nvSpPr>
          <p:cNvPr id="6" name="正方形/長方形 5">
            <a:extLst>
              <a:ext uri="{FF2B5EF4-FFF2-40B4-BE49-F238E27FC236}">
                <a16:creationId xmlns:a16="http://schemas.microsoft.com/office/drawing/2014/main" id="{DF971B5A-DDF1-47E5-8332-A3DEEDBC30FA}"/>
              </a:ext>
            </a:extLst>
          </p:cNvPr>
          <p:cNvSpPr>
            <a:spLocks noGrp="1"/>
          </p:cNvSpPr>
          <p:nvPr/>
        </p:nvSpPr>
        <p:spPr>
          <a:xfrm>
            <a:off x="1619250" y="5829300"/>
            <a:ext cx="2952750" cy="247650"/>
          </a:xfrm>
          <a:prstGeom prst="rect">
            <a:avLst/>
          </a:prstGeom>
          <a:noFill/>
          <a:ln w="0">
            <a:noFill/>
            <a:prstDash val="solid"/>
          </a:ln>
        </p:spPr>
        <p:txBody>
          <a:bodyPr/>
          <a:lstStyle/>
          <a:p>
            <a:pPr algn="ctr">
              <a:buNone/>
              <a:defRPr sz="1500" b="1">
                <a:solidFill>
                  <a:srgbClr val="111111"/>
                </a:solidFill>
              </a:defRPr>
            </a:pPr>
            <a:r>
              <a:rPr sz="1500" b="1">
                <a:solidFill>
                  <a:srgbClr val="111111"/>
                </a:solidFill>
              </a:rPr>
              <a:t>Overall metrics</a:t>
            </a:r>
          </a:p>
        </p:txBody>
      </p:sp>
      <p:sp>
        <p:nvSpPr>
          <p:cNvPr id="4" name="正方形/長方形 3">
            <a:extLst>
              <a:ext uri="{FF2B5EF4-FFF2-40B4-BE49-F238E27FC236}">
                <a16:creationId xmlns:a16="http://schemas.microsoft.com/office/drawing/2014/main" id="{53339599-AB9A-3C3C-FEC5-FA052E7DAAA9}"/>
              </a:ext>
            </a:extLst>
          </p:cNvPr>
          <p:cNvSpPr>
            <a:spLocks noGrp="1"/>
          </p:cNvSpPr>
          <p:nvPr/>
        </p:nvSpPr>
        <p:spPr>
          <a:xfrm>
            <a:off x="7477125" y="5829299"/>
            <a:ext cx="2952750" cy="247650"/>
          </a:xfrm>
          <a:prstGeom prst="rect">
            <a:avLst/>
          </a:prstGeom>
          <a:noFill/>
          <a:ln w="0">
            <a:noFill/>
            <a:prstDash val="solid"/>
          </a:ln>
        </p:spPr>
        <p:txBody>
          <a:bodyPr lIns="91440" tIns="45720" rIns="91440" bIns="45720" anchor="t"/>
          <a:lstStyle/>
          <a:p>
            <a:pPr algn="ctr">
              <a:defRPr sz="1500" b="1">
                <a:solidFill>
                  <a:srgbClr val="111111"/>
                </a:solidFill>
              </a:defRPr>
            </a:pPr>
            <a:r>
              <a:rPr lang="af-ZA" sz="1500" b="1">
                <a:solidFill>
                  <a:srgbClr val="111111"/>
                </a:solidFill>
              </a:rPr>
              <a:t>Correct decision rate by scenario</a:t>
            </a:r>
            <a:endParaRPr lang="ja-JP" altLang="en-US"/>
          </a:p>
        </p:txBody>
      </p:sp>
    </p:spTree>
    <p:extLst>
      <p:ext uri="{BB962C8B-B14F-4D97-AF65-F5344CB8AC3E}">
        <p14:creationId xmlns:p14="http://schemas.microsoft.com/office/powerpoint/2010/main" val="1350392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正方形/長方形 36">
            <a:extLst>
              <a:ext uri="{FF2B5EF4-FFF2-40B4-BE49-F238E27FC236}">
                <a16:creationId xmlns:a16="http://schemas.microsoft.com/office/drawing/2014/main" id="{A060E281-B541-4899-B980-A0CBDD464683}"/>
              </a:ext>
            </a:extLst>
          </p:cNvPr>
          <p:cNvSpPr>
            <a:spLocks noGrp="1"/>
          </p:cNvSpPr>
          <p:nvPr/>
        </p:nvSpPr>
        <p:spPr>
          <a:xfrm>
            <a:off x="400050" y="323850"/>
            <a:ext cx="10572750" cy="590550"/>
          </a:xfrm>
          <a:prstGeom prst="rect">
            <a:avLst/>
          </a:prstGeom>
          <a:noFill/>
          <a:ln w="0">
            <a:noFill/>
            <a:prstDash val="solid"/>
          </a:ln>
        </p:spPr>
        <p:txBody>
          <a:bodyPr/>
          <a:lstStyle/>
          <a:p>
            <a:pPr algn="l">
              <a:buNone/>
              <a:defRPr sz="2700" b="1">
                <a:solidFill>
                  <a:srgbClr val="111111"/>
                </a:solidFill>
              </a:defRPr>
            </a:pPr>
            <a:r>
              <a:rPr sz="2700" b="1">
                <a:solidFill>
                  <a:srgbClr val="111111"/>
                </a:solidFill>
              </a:rPr>
              <a:t>Discussion</a:t>
            </a:r>
          </a:p>
        </p:txBody>
      </p:sp>
      <p:sp>
        <p:nvSpPr>
          <p:cNvPr id="2" name="正方形/長方形 1">
            <a:extLst>
              <a:ext uri="{FF2B5EF4-FFF2-40B4-BE49-F238E27FC236}">
                <a16:creationId xmlns:a16="http://schemas.microsoft.com/office/drawing/2014/main" id="{884E4A5C-FF49-47B9-8D6A-7AD09EFD243E}"/>
              </a:ext>
            </a:extLst>
          </p:cNvPr>
          <p:cNvSpPr>
            <a:spLocks noGrp="1"/>
          </p:cNvSpPr>
          <p:nvPr/>
        </p:nvSpPr>
        <p:spPr>
          <a:xfrm>
            <a:off x="11277600" y="6286500"/>
            <a:ext cx="514350" cy="228600"/>
          </a:xfrm>
          <a:prstGeom prst="rect">
            <a:avLst/>
          </a:prstGeom>
          <a:noFill/>
          <a:ln w="0">
            <a:noFill/>
            <a:prstDash val="solid"/>
          </a:ln>
        </p:spPr>
        <p:txBody>
          <a:bodyPr/>
          <a:lstStyle/>
          <a:p>
            <a:pPr algn="r">
              <a:buNone/>
              <a:defRPr sz="1050" b="0">
                <a:solidFill>
                  <a:srgbClr val="5F6670"/>
                </a:solidFill>
              </a:defRPr>
            </a:pPr>
            <a:r>
              <a:rPr sz="1050" b="0">
                <a:solidFill>
                  <a:srgbClr val="5F6670"/>
                </a:solidFill>
              </a:rPr>
              <a:t>11</a:t>
            </a:r>
          </a:p>
        </p:txBody>
      </p:sp>
      <p:sp>
        <p:nvSpPr>
          <p:cNvPr id="3" name="正方形/長方形 2">
            <a:extLst>
              <a:ext uri="{FF2B5EF4-FFF2-40B4-BE49-F238E27FC236}">
                <a16:creationId xmlns:a16="http://schemas.microsoft.com/office/drawing/2014/main" id="{5D6E3D4B-0CA3-45F6-AD75-0821A24C859F}"/>
              </a:ext>
            </a:extLst>
          </p:cNvPr>
          <p:cNvSpPr>
            <a:spLocks noGrp="1"/>
          </p:cNvSpPr>
          <p:nvPr/>
        </p:nvSpPr>
        <p:spPr>
          <a:xfrm>
            <a:off x="400050" y="1028700"/>
            <a:ext cx="2857500" cy="209550"/>
          </a:xfrm>
          <a:prstGeom prst="rect">
            <a:avLst/>
          </a:prstGeom>
          <a:noFill/>
          <a:ln w="0">
            <a:noFill/>
            <a:prstDash val="solid"/>
          </a:ln>
        </p:spPr>
        <p:txBody>
          <a:bodyPr/>
          <a:lstStyle/>
          <a:p>
            <a:pPr algn="l">
              <a:buNone/>
              <a:defRPr sz="1050" b="1">
                <a:solidFill>
                  <a:srgbClr val="3D8DFF"/>
                </a:solidFill>
              </a:defRPr>
            </a:pPr>
            <a:r>
              <a:rPr sz="1050" b="1">
                <a:solidFill>
                  <a:srgbClr val="3D8DFF"/>
                </a:solidFill>
              </a:rPr>
              <a:t>SCOPE</a:t>
            </a:r>
          </a:p>
        </p:txBody>
      </p:sp>
      <p:sp>
        <p:nvSpPr>
          <p:cNvPr id="4" name="正方形/長方形 3">
            <a:extLst>
              <a:ext uri="{FF2B5EF4-FFF2-40B4-BE49-F238E27FC236}">
                <a16:creationId xmlns:a16="http://schemas.microsoft.com/office/drawing/2014/main" id="{269CDB60-5652-4519-AD79-E360C8801007}"/>
              </a:ext>
            </a:extLst>
          </p:cNvPr>
          <p:cNvSpPr>
            <a:spLocks noGrp="1"/>
          </p:cNvSpPr>
          <p:nvPr/>
        </p:nvSpPr>
        <p:spPr>
          <a:xfrm>
            <a:off x="523875" y="1476375"/>
            <a:ext cx="4953000" cy="323850"/>
          </a:xfrm>
          <a:prstGeom prst="rect">
            <a:avLst/>
          </a:prstGeom>
          <a:noFill/>
          <a:ln w="0">
            <a:noFill/>
            <a:prstDash val="solid"/>
          </a:ln>
        </p:spPr>
        <p:txBody>
          <a:bodyPr/>
          <a:lstStyle/>
          <a:p>
            <a:pPr algn="l">
              <a:buNone/>
              <a:defRPr sz="1875" b="1">
                <a:solidFill>
                  <a:srgbClr val="27805E"/>
                </a:solidFill>
              </a:defRPr>
            </a:pPr>
            <a:r>
              <a:rPr sz="1875" b="1">
                <a:solidFill>
                  <a:srgbClr val="27805E"/>
                </a:solidFill>
              </a:rPr>
              <a:t>Current evidence</a:t>
            </a:r>
          </a:p>
        </p:txBody>
      </p:sp>
      <p:sp>
        <p:nvSpPr>
          <p:cNvPr id="5" name="正方形/長方形 4">
            <a:extLst>
              <a:ext uri="{FF2B5EF4-FFF2-40B4-BE49-F238E27FC236}">
                <a16:creationId xmlns:a16="http://schemas.microsoft.com/office/drawing/2014/main" id="{45631301-E37A-44CB-8AF2-A0F7FBFA6263}"/>
              </a:ext>
            </a:extLst>
          </p:cNvPr>
          <p:cNvSpPr>
            <a:spLocks noGrp="1"/>
          </p:cNvSpPr>
          <p:nvPr/>
        </p:nvSpPr>
        <p:spPr>
          <a:xfrm>
            <a:off x="666750" y="2047875"/>
            <a:ext cx="428625" cy="285750"/>
          </a:xfrm>
          <a:prstGeom prst="rect">
            <a:avLst/>
          </a:prstGeom>
          <a:noFill/>
          <a:ln w="0">
            <a:noFill/>
            <a:prstDash val="solid"/>
          </a:ln>
        </p:spPr>
        <p:txBody>
          <a:bodyPr/>
          <a:lstStyle/>
          <a:p>
            <a:pPr algn="l">
              <a:buNone/>
              <a:defRPr sz="1800" b="1">
                <a:solidFill>
                  <a:srgbClr val="27805E"/>
                </a:solidFill>
              </a:defRPr>
            </a:pPr>
            <a:r>
              <a:rPr sz="1800" b="1">
                <a:solidFill>
                  <a:srgbClr val="27805E"/>
                </a:solidFill>
              </a:rPr>
              <a:t>✓</a:t>
            </a:r>
          </a:p>
        </p:txBody>
      </p:sp>
      <p:sp>
        <p:nvSpPr>
          <p:cNvPr id="6" name="正方形/長方形 5">
            <a:extLst>
              <a:ext uri="{FF2B5EF4-FFF2-40B4-BE49-F238E27FC236}">
                <a16:creationId xmlns:a16="http://schemas.microsoft.com/office/drawing/2014/main" id="{68557BAE-97A4-4839-9BE0-40BDCBD3333C}"/>
              </a:ext>
            </a:extLst>
          </p:cNvPr>
          <p:cNvSpPr>
            <a:spLocks noGrp="1"/>
          </p:cNvSpPr>
          <p:nvPr/>
        </p:nvSpPr>
        <p:spPr>
          <a:xfrm>
            <a:off x="1190625" y="2047875"/>
            <a:ext cx="3810000" cy="304800"/>
          </a:xfrm>
          <a:prstGeom prst="rect">
            <a:avLst/>
          </a:prstGeom>
          <a:noFill/>
          <a:ln w="0">
            <a:noFill/>
            <a:prstDash val="solid"/>
          </a:ln>
        </p:spPr>
        <p:txBody>
          <a:bodyPr/>
          <a:lstStyle/>
          <a:p>
            <a:pPr algn="l">
              <a:buNone/>
              <a:defRPr sz="1575" b="0">
                <a:solidFill>
                  <a:srgbClr val="111111"/>
                </a:solidFill>
              </a:defRPr>
            </a:pPr>
            <a:r>
              <a:rPr sz="1575" b="0">
                <a:solidFill>
                  <a:srgbClr val="111111"/>
                </a:solidFill>
              </a:rPr>
              <a:t>Basic scenarios</a:t>
            </a:r>
          </a:p>
        </p:txBody>
      </p:sp>
      <p:sp>
        <p:nvSpPr>
          <p:cNvPr id="7" name="正方形/長方形 6">
            <a:extLst>
              <a:ext uri="{FF2B5EF4-FFF2-40B4-BE49-F238E27FC236}">
                <a16:creationId xmlns:a16="http://schemas.microsoft.com/office/drawing/2014/main" id="{A3EBC52C-87E9-44ED-B23E-24631FBCDDB6}"/>
              </a:ext>
            </a:extLst>
          </p:cNvPr>
          <p:cNvSpPr>
            <a:spLocks noGrp="1"/>
          </p:cNvSpPr>
          <p:nvPr/>
        </p:nvSpPr>
        <p:spPr>
          <a:xfrm>
            <a:off x="666750" y="2505075"/>
            <a:ext cx="4429125" cy="9525"/>
          </a:xfrm>
          <a:prstGeom prst="rect">
            <a:avLst/>
          </a:prstGeom>
          <a:solidFill>
            <a:srgbClr val="B8BCC4"/>
          </a:solidFill>
          <a:ln w="9525">
            <a:solidFill>
              <a:srgbClr val="B8BCC4"/>
            </a:solidFill>
            <a:prstDash val="solid"/>
          </a:ln>
        </p:spPr>
      </p:sp>
      <p:sp>
        <p:nvSpPr>
          <p:cNvPr id="8" name="正方形/長方形 7">
            <a:extLst>
              <a:ext uri="{FF2B5EF4-FFF2-40B4-BE49-F238E27FC236}">
                <a16:creationId xmlns:a16="http://schemas.microsoft.com/office/drawing/2014/main" id="{BD9E2FCD-C5F5-43BC-B1E8-C0981F15D494}"/>
              </a:ext>
            </a:extLst>
          </p:cNvPr>
          <p:cNvSpPr>
            <a:spLocks noGrp="1"/>
          </p:cNvSpPr>
          <p:nvPr/>
        </p:nvSpPr>
        <p:spPr>
          <a:xfrm>
            <a:off x="666750" y="2714625"/>
            <a:ext cx="428625" cy="285750"/>
          </a:xfrm>
          <a:prstGeom prst="rect">
            <a:avLst/>
          </a:prstGeom>
          <a:noFill/>
          <a:ln w="0">
            <a:noFill/>
            <a:prstDash val="solid"/>
          </a:ln>
        </p:spPr>
        <p:txBody>
          <a:bodyPr/>
          <a:lstStyle/>
          <a:p>
            <a:pPr algn="l">
              <a:buNone/>
              <a:defRPr sz="1800" b="1">
                <a:solidFill>
                  <a:srgbClr val="27805E"/>
                </a:solidFill>
              </a:defRPr>
            </a:pPr>
            <a:r>
              <a:rPr sz="1800" b="1">
                <a:solidFill>
                  <a:srgbClr val="27805E"/>
                </a:solidFill>
              </a:rPr>
              <a:t>✓</a:t>
            </a:r>
          </a:p>
        </p:txBody>
      </p:sp>
      <p:sp>
        <p:nvSpPr>
          <p:cNvPr id="9" name="正方形/長方形 8">
            <a:extLst>
              <a:ext uri="{FF2B5EF4-FFF2-40B4-BE49-F238E27FC236}">
                <a16:creationId xmlns:a16="http://schemas.microsoft.com/office/drawing/2014/main" id="{8AF73B22-0194-4706-AA7D-04FC8CA50E56}"/>
              </a:ext>
            </a:extLst>
          </p:cNvPr>
          <p:cNvSpPr>
            <a:spLocks noGrp="1"/>
          </p:cNvSpPr>
          <p:nvPr/>
        </p:nvSpPr>
        <p:spPr>
          <a:xfrm>
            <a:off x="1190625" y="2714625"/>
            <a:ext cx="3810000" cy="304800"/>
          </a:xfrm>
          <a:prstGeom prst="rect">
            <a:avLst/>
          </a:prstGeom>
          <a:noFill/>
          <a:ln w="0">
            <a:noFill/>
            <a:prstDash val="solid"/>
          </a:ln>
        </p:spPr>
        <p:txBody>
          <a:bodyPr/>
          <a:lstStyle/>
          <a:p>
            <a:pPr algn="l">
              <a:buNone/>
              <a:defRPr sz="1575" b="0">
                <a:solidFill>
                  <a:srgbClr val="111111"/>
                </a:solidFill>
              </a:defRPr>
            </a:pPr>
            <a:r>
              <a:rPr sz="1575" b="0">
                <a:solidFill>
                  <a:srgbClr val="111111"/>
                </a:solidFill>
              </a:rPr>
              <a:t>Challenge scenarios</a:t>
            </a:r>
          </a:p>
        </p:txBody>
      </p:sp>
      <p:sp>
        <p:nvSpPr>
          <p:cNvPr id="10" name="正方形/長方形 9">
            <a:extLst>
              <a:ext uri="{FF2B5EF4-FFF2-40B4-BE49-F238E27FC236}">
                <a16:creationId xmlns:a16="http://schemas.microsoft.com/office/drawing/2014/main" id="{71D02FDA-A336-44DF-90C2-A58AE51BE1E3}"/>
              </a:ext>
            </a:extLst>
          </p:cNvPr>
          <p:cNvSpPr>
            <a:spLocks noGrp="1"/>
          </p:cNvSpPr>
          <p:nvPr/>
        </p:nvSpPr>
        <p:spPr>
          <a:xfrm>
            <a:off x="666750" y="3171825"/>
            <a:ext cx="4429125" cy="9525"/>
          </a:xfrm>
          <a:prstGeom prst="rect">
            <a:avLst/>
          </a:prstGeom>
          <a:solidFill>
            <a:srgbClr val="B8BCC4"/>
          </a:solidFill>
          <a:ln w="9525">
            <a:solidFill>
              <a:srgbClr val="B8BCC4"/>
            </a:solidFill>
            <a:prstDash val="solid"/>
          </a:ln>
        </p:spPr>
      </p:sp>
      <p:sp>
        <p:nvSpPr>
          <p:cNvPr id="11" name="正方形/長方形 10">
            <a:extLst>
              <a:ext uri="{FF2B5EF4-FFF2-40B4-BE49-F238E27FC236}">
                <a16:creationId xmlns:a16="http://schemas.microsoft.com/office/drawing/2014/main" id="{65EB0E90-6018-4C08-9EC1-BE0039BEBBE4}"/>
              </a:ext>
            </a:extLst>
          </p:cNvPr>
          <p:cNvSpPr>
            <a:spLocks noGrp="1"/>
          </p:cNvSpPr>
          <p:nvPr/>
        </p:nvSpPr>
        <p:spPr>
          <a:xfrm>
            <a:off x="666750" y="3381375"/>
            <a:ext cx="428625" cy="285750"/>
          </a:xfrm>
          <a:prstGeom prst="rect">
            <a:avLst/>
          </a:prstGeom>
          <a:noFill/>
          <a:ln w="0">
            <a:noFill/>
            <a:prstDash val="solid"/>
          </a:ln>
        </p:spPr>
        <p:txBody>
          <a:bodyPr/>
          <a:lstStyle/>
          <a:p>
            <a:pPr algn="l">
              <a:buNone/>
              <a:defRPr sz="1800" b="1">
                <a:solidFill>
                  <a:srgbClr val="27805E"/>
                </a:solidFill>
              </a:defRPr>
            </a:pPr>
            <a:r>
              <a:rPr sz="1800" b="1">
                <a:solidFill>
                  <a:srgbClr val="27805E"/>
                </a:solidFill>
              </a:rPr>
              <a:t>✓</a:t>
            </a:r>
          </a:p>
        </p:txBody>
      </p:sp>
      <p:sp>
        <p:nvSpPr>
          <p:cNvPr id="12" name="正方形/長方形 11">
            <a:extLst>
              <a:ext uri="{FF2B5EF4-FFF2-40B4-BE49-F238E27FC236}">
                <a16:creationId xmlns:a16="http://schemas.microsoft.com/office/drawing/2014/main" id="{BA7ECC35-EC6C-4F69-BEBE-283A6F6A85CE}"/>
              </a:ext>
            </a:extLst>
          </p:cNvPr>
          <p:cNvSpPr>
            <a:spLocks noGrp="1"/>
          </p:cNvSpPr>
          <p:nvPr/>
        </p:nvSpPr>
        <p:spPr>
          <a:xfrm>
            <a:off x="1190625" y="3381375"/>
            <a:ext cx="3810000" cy="304800"/>
          </a:xfrm>
          <a:prstGeom prst="rect">
            <a:avLst/>
          </a:prstGeom>
          <a:noFill/>
          <a:ln w="0">
            <a:noFill/>
            <a:prstDash val="solid"/>
          </a:ln>
        </p:spPr>
        <p:txBody>
          <a:bodyPr/>
          <a:lstStyle/>
          <a:p>
            <a:pPr algn="l">
              <a:buNone/>
              <a:defRPr sz="1575" b="0">
                <a:solidFill>
                  <a:srgbClr val="111111"/>
                </a:solidFill>
              </a:defRPr>
            </a:pPr>
            <a:r>
              <a:rPr sz="1575" b="0">
                <a:solidFill>
                  <a:srgbClr val="111111"/>
                </a:solidFill>
              </a:rPr>
              <a:t>Motion metrics</a:t>
            </a:r>
          </a:p>
        </p:txBody>
      </p:sp>
      <p:sp>
        <p:nvSpPr>
          <p:cNvPr id="13" name="正方形/長方形 12">
            <a:extLst>
              <a:ext uri="{FF2B5EF4-FFF2-40B4-BE49-F238E27FC236}">
                <a16:creationId xmlns:a16="http://schemas.microsoft.com/office/drawing/2014/main" id="{276A195E-17F3-4A57-BF05-87810A5CDC9E}"/>
              </a:ext>
            </a:extLst>
          </p:cNvPr>
          <p:cNvSpPr>
            <a:spLocks noGrp="1"/>
          </p:cNvSpPr>
          <p:nvPr/>
        </p:nvSpPr>
        <p:spPr>
          <a:xfrm>
            <a:off x="666750" y="3838575"/>
            <a:ext cx="4429125" cy="9525"/>
          </a:xfrm>
          <a:prstGeom prst="rect">
            <a:avLst/>
          </a:prstGeom>
          <a:solidFill>
            <a:srgbClr val="B8BCC4"/>
          </a:solidFill>
          <a:ln w="9525">
            <a:solidFill>
              <a:srgbClr val="B8BCC4"/>
            </a:solidFill>
            <a:prstDash val="solid"/>
          </a:ln>
        </p:spPr>
      </p:sp>
      <p:sp>
        <p:nvSpPr>
          <p:cNvPr id="15" name="正方形/長方形 14">
            <a:extLst>
              <a:ext uri="{FF2B5EF4-FFF2-40B4-BE49-F238E27FC236}">
                <a16:creationId xmlns:a16="http://schemas.microsoft.com/office/drawing/2014/main" id="{6A693EFB-CD60-43C7-8DFE-58812175CAED}"/>
              </a:ext>
            </a:extLst>
          </p:cNvPr>
          <p:cNvSpPr>
            <a:spLocks noGrp="1"/>
          </p:cNvSpPr>
          <p:nvPr/>
        </p:nvSpPr>
        <p:spPr>
          <a:xfrm>
            <a:off x="1190625" y="4048125"/>
            <a:ext cx="3810000" cy="304800"/>
          </a:xfrm>
          <a:prstGeom prst="rect">
            <a:avLst/>
          </a:prstGeom>
          <a:noFill/>
          <a:ln w="0">
            <a:noFill/>
            <a:prstDash val="solid"/>
          </a:ln>
        </p:spPr>
        <p:txBody>
          <a:bodyPr/>
          <a:lstStyle/>
          <a:p>
            <a:pPr algn="l">
              <a:buNone/>
              <a:defRPr sz="1575" b="0">
                <a:solidFill>
                  <a:srgbClr val="111111"/>
                </a:solidFill>
              </a:defRPr>
            </a:pPr>
            <a:r>
              <a:rPr sz="1575" b="0">
                <a:solidFill>
                  <a:srgbClr val="111111"/>
                </a:solidFill>
              </a:rPr>
              <a:t>UART reception</a:t>
            </a:r>
          </a:p>
        </p:txBody>
      </p:sp>
      <p:sp>
        <p:nvSpPr>
          <p:cNvPr id="16" name="正方形/長方形 15">
            <a:extLst>
              <a:ext uri="{FF2B5EF4-FFF2-40B4-BE49-F238E27FC236}">
                <a16:creationId xmlns:a16="http://schemas.microsoft.com/office/drawing/2014/main" id="{361162FC-C5E3-4D84-A296-87C1CF6289A1}"/>
              </a:ext>
            </a:extLst>
          </p:cNvPr>
          <p:cNvSpPr>
            <a:spLocks noGrp="1"/>
          </p:cNvSpPr>
          <p:nvPr/>
        </p:nvSpPr>
        <p:spPr>
          <a:xfrm>
            <a:off x="666750" y="4505325"/>
            <a:ext cx="4429125" cy="9525"/>
          </a:xfrm>
          <a:prstGeom prst="rect">
            <a:avLst/>
          </a:prstGeom>
          <a:solidFill>
            <a:srgbClr val="B8BCC4"/>
          </a:solidFill>
          <a:ln w="9525">
            <a:solidFill>
              <a:srgbClr val="B8BCC4"/>
            </a:solidFill>
            <a:prstDash val="solid"/>
          </a:ln>
        </p:spPr>
      </p:sp>
      <p:sp>
        <p:nvSpPr>
          <p:cNvPr id="17" name="正方形/長方形 16">
            <a:extLst>
              <a:ext uri="{FF2B5EF4-FFF2-40B4-BE49-F238E27FC236}">
                <a16:creationId xmlns:a16="http://schemas.microsoft.com/office/drawing/2014/main" id="{9DBEA48B-D983-4C05-BE20-77F08988B51F}"/>
              </a:ext>
            </a:extLst>
          </p:cNvPr>
          <p:cNvSpPr>
            <a:spLocks noGrp="1"/>
          </p:cNvSpPr>
          <p:nvPr/>
        </p:nvSpPr>
        <p:spPr>
          <a:xfrm>
            <a:off x="6429375" y="1476375"/>
            <a:ext cx="4953000" cy="323850"/>
          </a:xfrm>
          <a:prstGeom prst="rect">
            <a:avLst/>
          </a:prstGeom>
          <a:noFill/>
          <a:ln w="0">
            <a:noFill/>
            <a:prstDash val="solid"/>
          </a:ln>
        </p:spPr>
        <p:txBody>
          <a:bodyPr/>
          <a:lstStyle/>
          <a:p>
            <a:pPr algn="l">
              <a:buNone/>
              <a:defRPr sz="1875" b="1">
                <a:solidFill>
                  <a:srgbClr val="3D8DFF"/>
                </a:solidFill>
              </a:defRPr>
            </a:pPr>
            <a:r>
              <a:rPr sz="1875" b="1">
                <a:solidFill>
                  <a:srgbClr val="3D8DFF"/>
                </a:solidFill>
              </a:rPr>
              <a:t>Validation roadmap</a:t>
            </a:r>
          </a:p>
        </p:txBody>
      </p:sp>
      <p:sp>
        <p:nvSpPr>
          <p:cNvPr id="18" name="四角形: 角を丸くする 17">
            <a:extLst>
              <a:ext uri="{FF2B5EF4-FFF2-40B4-BE49-F238E27FC236}">
                <a16:creationId xmlns:a16="http://schemas.microsoft.com/office/drawing/2014/main" id="{E11FEF24-2992-4E1F-BB77-C67F0EF16FBB}"/>
              </a:ext>
            </a:extLst>
          </p:cNvPr>
          <p:cNvSpPr>
            <a:spLocks noGrp="1"/>
          </p:cNvSpPr>
          <p:nvPr/>
        </p:nvSpPr>
        <p:spPr>
          <a:xfrm>
            <a:off x="6572250" y="2000250"/>
            <a:ext cx="400050" cy="400050"/>
          </a:xfrm>
          <a:prstGeom prst="roundRect">
            <a:avLst>
              <a:gd name="adj" fmla="val 28571"/>
            </a:avLst>
          </a:prstGeom>
          <a:solidFill>
            <a:srgbClr val="EAF5FB"/>
          </a:solidFill>
          <a:ln w="9525">
            <a:solidFill>
              <a:srgbClr val="6DCBF4"/>
            </a:solidFill>
            <a:prstDash val="solid"/>
          </a:ln>
        </p:spPr>
      </p:sp>
      <p:sp>
        <p:nvSpPr>
          <p:cNvPr id="19" name="正方形/長方形 18">
            <a:extLst>
              <a:ext uri="{FF2B5EF4-FFF2-40B4-BE49-F238E27FC236}">
                <a16:creationId xmlns:a16="http://schemas.microsoft.com/office/drawing/2014/main" id="{6ADE808E-C66E-4EEE-8BD5-B098F2DC173D}"/>
              </a:ext>
            </a:extLst>
          </p:cNvPr>
          <p:cNvSpPr>
            <a:spLocks noGrp="1"/>
          </p:cNvSpPr>
          <p:nvPr/>
        </p:nvSpPr>
        <p:spPr>
          <a:xfrm>
            <a:off x="6638925" y="2066925"/>
            <a:ext cx="266700" cy="228600"/>
          </a:xfrm>
          <a:prstGeom prst="rect">
            <a:avLst/>
          </a:prstGeom>
          <a:noFill/>
          <a:ln w="0">
            <a:noFill/>
            <a:prstDash val="solid"/>
          </a:ln>
        </p:spPr>
        <p:txBody>
          <a:bodyPr/>
          <a:lstStyle/>
          <a:p>
            <a:pPr algn="ctr">
              <a:buNone/>
              <a:defRPr sz="1275" b="1">
                <a:solidFill>
                  <a:srgbClr val="3D8DFF"/>
                </a:solidFill>
              </a:defRPr>
            </a:pPr>
            <a:r>
              <a:rPr sz="1275" b="1">
                <a:solidFill>
                  <a:srgbClr val="3D8DFF"/>
                </a:solidFill>
              </a:rPr>
              <a:t>1</a:t>
            </a:r>
          </a:p>
        </p:txBody>
      </p:sp>
      <p:sp>
        <p:nvSpPr>
          <p:cNvPr id="20" name="正方形/長方形 19">
            <a:extLst>
              <a:ext uri="{FF2B5EF4-FFF2-40B4-BE49-F238E27FC236}">
                <a16:creationId xmlns:a16="http://schemas.microsoft.com/office/drawing/2014/main" id="{A7106FF9-085E-4377-97B1-99AC88F1EDBB}"/>
              </a:ext>
            </a:extLst>
          </p:cNvPr>
          <p:cNvSpPr>
            <a:spLocks noGrp="1"/>
          </p:cNvSpPr>
          <p:nvPr/>
        </p:nvSpPr>
        <p:spPr>
          <a:xfrm>
            <a:off x="7191375" y="2047875"/>
            <a:ext cx="3810000" cy="304800"/>
          </a:xfrm>
          <a:prstGeom prst="rect">
            <a:avLst/>
          </a:prstGeom>
          <a:noFill/>
          <a:ln w="0">
            <a:noFill/>
            <a:prstDash val="solid"/>
          </a:ln>
        </p:spPr>
        <p:txBody>
          <a:bodyPr/>
          <a:lstStyle/>
          <a:p>
            <a:pPr algn="l">
              <a:buNone/>
              <a:defRPr sz="1575" b="0">
                <a:solidFill>
                  <a:srgbClr val="111111"/>
                </a:solidFill>
              </a:defRPr>
            </a:pPr>
            <a:r>
              <a:rPr sz="1575" b="0">
                <a:solidFill>
                  <a:srgbClr val="111111"/>
                </a:solidFill>
              </a:rPr>
              <a:t>FPGA trace replay</a:t>
            </a:r>
          </a:p>
        </p:txBody>
      </p:sp>
      <p:sp>
        <p:nvSpPr>
          <p:cNvPr id="21" name="矢印: 右 20">
            <a:extLst>
              <a:ext uri="{FF2B5EF4-FFF2-40B4-BE49-F238E27FC236}">
                <a16:creationId xmlns:a16="http://schemas.microsoft.com/office/drawing/2014/main" id="{2333ECC2-D67F-43CB-9D73-75255191E951}"/>
              </a:ext>
            </a:extLst>
          </p:cNvPr>
          <p:cNvSpPr>
            <a:spLocks noGrp="1"/>
          </p:cNvSpPr>
          <p:nvPr/>
        </p:nvSpPr>
        <p:spPr>
          <a:xfrm rot="5400000">
            <a:off x="6696075" y="2408551"/>
            <a:ext cx="190500" cy="266700"/>
          </a:xfrm>
          <a:prstGeom prst="rightArrow">
            <a:avLst/>
          </a:prstGeom>
          <a:solidFill>
            <a:srgbClr val="3D8DFF"/>
          </a:solidFill>
          <a:ln w="0">
            <a:solidFill>
              <a:srgbClr val="3D8DFF"/>
            </a:solidFill>
            <a:prstDash val="solid"/>
          </a:ln>
        </p:spPr>
      </p:sp>
      <p:sp>
        <p:nvSpPr>
          <p:cNvPr id="22" name="四角形: 角を丸くする 21">
            <a:extLst>
              <a:ext uri="{FF2B5EF4-FFF2-40B4-BE49-F238E27FC236}">
                <a16:creationId xmlns:a16="http://schemas.microsoft.com/office/drawing/2014/main" id="{69EFB9BA-88DC-4B63-87FF-856340C5967C}"/>
              </a:ext>
            </a:extLst>
          </p:cNvPr>
          <p:cNvSpPr>
            <a:spLocks noGrp="1"/>
          </p:cNvSpPr>
          <p:nvPr/>
        </p:nvSpPr>
        <p:spPr>
          <a:xfrm>
            <a:off x="6572250" y="2667000"/>
            <a:ext cx="400050" cy="400050"/>
          </a:xfrm>
          <a:prstGeom prst="roundRect">
            <a:avLst>
              <a:gd name="adj" fmla="val 28571"/>
            </a:avLst>
          </a:prstGeom>
          <a:solidFill>
            <a:srgbClr val="EAF5FB"/>
          </a:solidFill>
          <a:ln w="9525">
            <a:solidFill>
              <a:srgbClr val="6DCBF4"/>
            </a:solidFill>
            <a:prstDash val="solid"/>
          </a:ln>
        </p:spPr>
      </p:sp>
      <p:sp>
        <p:nvSpPr>
          <p:cNvPr id="23" name="正方形/長方形 22">
            <a:extLst>
              <a:ext uri="{FF2B5EF4-FFF2-40B4-BE49-F238E27FC236}">
                <a16:creationId xmlns:a16="http://schemas.microsoft.com/office/drawing/2014/main" id="{451A0DD0-A7C7-4B4B-A6C3-F6841CB77FAB}"/>
              </a:ext>
            </a:extLst>
          </p:cNvPr>
          <p:cNvSpPr>
            <a:spLocks noGrp="1"/>
          </p:cNvSpPr>
          <p:nvPr/>
        </p:nvSpPr>
        <p:spPr>
          <a:xfrm>
            <a:off x="6638925" y="2733675"/>
            <a:ext cx="266700" cy="228600"/>
          </a:xfrm>
          <a:prstGeom prst="rect">
            <a:avLst/>
          </a:prstGeom>
          <a:noFill/>
          <a:ln w="0">
            <a:noFill/>
            <a:prstDash val="solid"/>
          </a:ln>
        </p:spPr>
        <p:txBody>
          <a:bodyPr/>
          <a:lstStyle/>
          <a:p>
            <a:pPr algn="ctr">
              <a:buNone/>
              <a:defRPr sz="1275" b="1">
                <a:solidFill>
                  <a:srgbClr val="3D8DFF"/>
                </a:solidFill>
              </a:defRPr>
            </a:pPr>
            <a:r>
              <a:rPr sz="1275" b="1">
                <a:solidFill>
                  <a:srgbClr val="3D8DFF"/>
                </a:solidFill>
              </a:rPr>
              <a:t>2</a:t>
            </a:r>
          </a:p>
        </p:txBody>
      </p:sp>
      <p:sp>
        <p:nvSpPr>
          <p:cNvPr id="24" name="正方形/長方形 23">
            <a:extLst>
              <a:ext uri="{FF2B5EF4-FFF2-40B4-BE49-F238E27FC236}">
                <a16:creationId xmlns:a16="http://schemas.microsoft.com/office/drawing/2014/main" id="{E0ED780C-E9AF-4D91-AD52-52866CB4316E}"/>
              </a:ext>
            </a:extLst>
          </p:cNvPr>
          <p:cNvSpPr>
            <a:spLocks noGrp="1"/>
          </p:cNvSpPr>
          <p:nvPr/>
        </p:nvSpPr>
        <p:spPr>
          <a:xfrm>
            <a:off x="7191375" y="2714625"/>
            <a:ext cx="3810000" cy="304800"/>
          </a:xfrm>
          <a:prstGeom prst="rect">
            <a:avLst/>
          </a:prstGeom>
          <a:noFill/>
          <a:ln w="0">
            <a:noFill/>
            <a:prstDash val="solid"/>
          </a:ln>
        </p:spPr>
        <p:txBody>
          <a:bodyPr/>
          <a:lstStyle/>
          <a:p>
            <a:pPr algn="l">
              <a:buNone/>
              <a:defRPr sz="1575" b="0">
                <a:solidFill>
                  <a:srgbClr val="111111"/>
                </a:solidFill>
              </a:defRPr>
            </a:pPr>
            <a:r>
              <a:rPr sz="1575" b="0">
                <a:solidFill>
                  <a:srgbClr val="111111"/>
                </a:solidFill>
              </a:rPr>
              <a:t>Bit-level agreement</a:t>
            </a:r>
          </a:p>
        </p:txBody>
      </p:sp>
      <p:sp>
        <p:nvSpPr>
          <p:cNvPr id="25" name="矢印: 右 24">
            <a:extLst>
              <a:ext uri="{FF2B5EF4-FFF2-40B4-BE49-F238E27FC236}">
                <a16:creationId xmlns:a16="http://schemas.microsoft.com/office/drawing/2014/main" id="{0603C4D6-DC9B-4225-91A6-4AB19D1A1677}"/>
              </a:ext>
            </a:extLst>
          </p:cNvPr>
          <p:cNvSpPr>
            <a:spLocks noGrp="1"/>
          </p:cNvSpPr>
          <p:nvPr/>
        </p:nvSpPr>
        <p:spPr>
          <a:xfrm rot="5400000">
            <a:off x="6696075" y="3075301"/>
            <a:ext cx="190500" cy="266700"/>
          </a:xfrm>
          <a:prstGeom prst="rightArrow">
            <a:avLst/>
          </a:prstGeom>
          <a:solidFill>
            <a:srgbClr val="3D8DFF"/>
          </a:solidFill>
          <a:ln w="0">
            <a:solidFill>
              <a:srgbClr val="3D8DFF"/>
            </a:solidFill>
            <a:prstDash val="solid"/>
          </a:ln>
        </p:spPr>
      </p:sp>
      <p:sp>
        <p:nvSpPr>
          <p:cNvPr id="26" name="四角形: 角を丸くする 25">
            <a:extLst>
              <a:ext uri="{FF2B5EF4-FFF2-40B4-BE49-F238E27FC236}">
                <a16:creationId xmlns:a16="http://schemas.microsoft.com/office/drawing/2014/main" id="{F318C1F4-7017-47A8-90DB-7FE369434EBC}"/>
              </a:ext>
            </a:extLst>
          </p:cNvPr>
          <p:cNvSpPr>
            <a:spLocks noGrp="1"/>
          </p:cNvSpPr>
          <p:nvPr/>
        </p:nvSpPr>
        <p:spPr>
          <a:xfrm>
            <a:off x="6572250" y="3333750"/>
            <a:ext cx="400050" cy="400050"/>
          </a:xfrm>
          <a:prstGeom prst="roundRect">
            <a:avLst>
              <a:gd name="adj" fmla="val 28571"/>
            </a:avLst>
          </a:prstGeom>
          <a:solidFill>
            <a:srgbClr val="EAF5FB"/>
          </a:solidFill>
          <a:ln w="9525">
            <a:solidFill>
              <a:srgbClr val="6DCBF4"/>
            </a:solidFill>
            <a:prstDash val="solid"/>
          </a:ln>
        </p:spPr>
      </p:sp>
      <p:sp>
        <p:nvSpPr>
          <p:cNvPr id="27" name="正方形/長方形 26">
            <a:extLst>
              <a:ext uri="{FF2B5EF4-FFF2-40B4-BE49-F238E27FC236}">
                <a16:creationId xmlns:a16="http://schemas.microsoft.com/office/drawing/2014/main" id="{E5484B24-DE28-4FB1-BD2C-0DABB80E174F}"/>
              </a:ext>
            </a:extLst>
          </p:cNvPr>
          <p:cNvSpPr>
            <a:spLocks noGrp="1"/>
          </p:cNvSpPr>
          <p:nvPr/>
        </p:nvSpPr>
        <p:spPr>
          <a:xfrm>
            <a:off x="6638925" y="3400425"/>
            <a:ext cx="266700" cy="228600"/>
          </a:xfrm>
          <a:prstGeom prst="rect">
            <a:avLst/>
          </a:prstGeom>
          <a:noFill/>
          <a:ln w="0">
            <a:noFill/>
            <a:prstDash val="solid"/>
          </a:ln>
        </p:spPr>
        <p:txBody>
          <a:bodyPr/>
          <a:lstStyle/>
          <a:p>
            <a:pPr algn="ctr">
              <a:buNone/>
              <a:defRPr sz="1275" b="1">
                <a:solidFill>
                  <a:srgbClr val="3D8DFF"/>
                </a:solidFill>
              </a:defRPr>
            </a:pPr>
            <a:r>
              <a:rPr sz="1275" b="1">
                <a:solidFill>
                  <a:srgbClr val="3D8DFF"/>
                </a:solidFill>
              </a:rPr>
              <a:t>3</a:t>
            </a:r>
          </a:p>
        </p:txBody>
      </p:sp>
      <p:sp>
        <p:nvSpPr>
          <p:cNvPr id="28" name="正方形/長方形 27">
            <a:extLst>
              <a:ext uri="{FF2B5EF4-FFF2-40B4-BE49-F238E27FC236}">
                <a16:creationId xmlns:a16="http://schemas.microsoft.com/office/drawing/2014/main" id="{51538CBD-5BC6-44A1-9250-2DBAC6033C26}"/>
              </a:ext>
            </a:extLst>
          </p:cNvPr>
          <p:cNvSpPr>
            <a:spLocks noGrp="1"/>
          </p:cNvSpPr>
          <p:nvPr/>
        </p:nvSpPr>
        <p:spPr>
          <a:xfrm>
            <a:off x="7191375" y="3381375"/>
            <a:ext cx="3810000" cy="304800"/>
          </a:xfrm>
          <a:prstGeom prst="rect">
            <a:avLst/>
          </a:prstGeom>
          <a:noFill/>
          <a:ln w="0">
            <a:noFill/>
            <a:prstDash val="solid"/>
          </a:ln>
        </p:spPr>
        <p:txBody>
          <a:bodyPr/>
          <a:lstStyle/>
          <a:p>
            <a:pPr algn="l">
              <a:buNone/>
              <a:defRPr sz="1575" b="0">
                <a:solidFill>
                  <a:srgbClr val="111111"/>
                </a:solidFill>
              </a:defRPr>
            </a:pPr>
            <a:r>
              <a:rPr sz="1575" b="0">
                <a:solidFill>
                  <a:srgbClr val="111111"/>
                </a:solidFill>
              </a:rPr>
              <a:t>Latency + power</a:t>
            </a:r>
          </a:p>
        </p:txBody>
      </p:sp>
      <p:sp>
        <p:nvSpPr>
          <p:cNvPr id="29" name="矢印: 右 28">
            <a:extLst>
              <a:ext uri="{FF2B5EF4-FFF2-40B4-BE49-F238E27FC236}">
                <a16:creationId xmlns:a16="http://schemas.microsoft.com/office/drawing/2014/main" id="{8F28C399-5A23-4539-8B94-DDA60D8C213E}"/>
              </a:ext>
            </a:extLst>
          </p:cNvPr>
          <p:cNvSpPr>
            <a:spLocks noGrp="1"/>
          </p:cNvSpPr>
          <p:nvPr/>
        </p:nvSpPr>
        <p:spPr>
          <a:xfrm rot="5400000">
            <a:off x="6696075" y="3742051"/>
            <a:ext cx="190500" cy="266700"/>
          </a:xfrm>
          <a:prstGeom prst="rightArrow">
            <a:avLst/>
          </a:prstGeom>
          <a:solidFill>
            <a:srgbClr val="3D8DFF"/>
          </a:solidFill>
          <a:ln w="0">
            <a:solidFill>
              <a:srgbClr val="3D8DFF"/>
            </a:solidFill>
            <a:prstDash val="solid"/>
          </a:ln>
        </p:spPr>
      </p:sp>
      <p:sp>
        <p:nvSpPr>
          <p:cNvPr id="30" name="四角形: 角を丸くする 29">
            <a:extLst>
              <a:ext uri="{FF2B5EF4-FFF2-40B4-BE49-F238E27FC236}">
                <a16:creationId xmlns:a16="http://schemas.microsoft.com/office/drawing/2014/main" id="{AA8EE201-5B99-493B-A8EE-426FBAF87DC2}"/>
              </a:ext>
            </a:extLst>
          </p:cNvPr>
          <p:cNvSpPr>
            <a:spLocks noGrp="1"/>
          </p:cNvSpPr>
          <p:nvPr/>
        </p:nvSpPr>
        <p:spPr>
          <a:xfrm>
            <a:off x="6572250" y="4000500"/>
            <a:ext cx="400050" cy="400050"/>
          </a:xfrm>
          <a:prstGeom prst="roundRect">
            <a:avLst>
              <a:gd name="adj" fmla="val 28571"/>
            </a:avLst>
          </a:prstGeom>
          <a:solidFill>
            <a:srgbClr val="EAF5FB"/>
          </a:solidFill>
          <a:ln w="9525">
            <a:solidFill>
              <a:srgbClr val="6DCBF4"/>
            </a:solidFill>
            <a:prstDash val="solid"/>
          </a:ln>
        </p:spPr>
      </p:sp>
      <p:sp>
        <p:nvSpPr>
          <p:cNvPr id="31" name="正方形/長方形 30">
            <a:extLst>
              <a:ext uri="{FF2B5EF4-FFF2-40B4-BE49-F238E27FC236}">
                <a16:creationId xmlns:a16="http://schemas.microsoft.com/office/drawing/2014/main" id="{2C0B5488-BFD2-4664-9CE2-5A8D1BBF53C6}"/>
              </a:ext>
            </a:extLst>
          </p:cNvPr>
          <p:cNvSpPr>
            <a:spLocks noGrp="1"/>
          </p:cNvSpPr>
          <p:nvPr/>
        </p:nvSpPr>
        <p:spPr>
          <a:xfrm>
            <a:off x="6638925" y="4067175"/>
            <a:ext cx="266700" cy="228600"/>
          </a:xfrm>
          <a:prstGeom prst="rect">
            <a:avLst/>
          </a:prstGeom>
          <a:noFill/>
          <a:ln w="0">
            <a:noFill/>
            <a:prstDash val="solid"/>
          </a:ln>
        </p:spPr>
        <p:txBody>
          <a:bodyPr/>
          <a:lstStyle/>
          <a:p>
            <a:pPr algn="ctr">
              <a:buNone/>
              <a:defRPr sz="1275" b="1">
                <a:solidFill>
                  <a:srgbClr val="3D8DFF"/>
                </a:solidFill>
              </a:defRPr>
            </a:pPr>
            <a:r>
              <a:rPr sz="1275" b="1">
                <a:solidFill>
                  <a:srgbClr val="3D8DFF"/>
                </a:solidFill>
              </a:rPr>
              <a:t>4</a:t>
            </a:r>
          </a:p>
        </p:txBody>
      </p:sp>
      <p:sp>
        <p:nvSpPr>
          <p:cNvPr id="32" name="正方形/長方形 31">
            <a:extLst>
              <a:ext uri="{FF2B5EF4-FFF2-40B4-BE49-F238E27FC236}">
                <a16:creationId xmlns:a16="http://schemas.microsoft.com/office/drawing/2014/main" id="{5249005D-E0D5-4FB9-BA7C-42EBB35E2C04}"/>
              </a:ext>
            </a:extLst>
          </p:cNvPr>
          <p:cNvSpPr>
            <a:spLocks noGrp="1"/>
          </p:cNvSpPr>
          <p:nvPr/>
        </p:nvSpPr>
        <p:spPr>
          <a:xfrm>
            <a:off x="7191375" y="4048125"/>
            <a:ext cx="3810000" cy="304800"/>
          </a:xfrm>
          <a:prstGeom prst="rect">
            <a:avLst/>
          </a:prstGeom>
          <a:noFill/>
          <a:ln w="0">
            <a:noFill/>
            <a:prstDash val="solid"/>
          </a:ln>
        </p:spPr>
        <p:txBody>
          <a:bodyPr/>
          <a:lstStyle/>
          <a:p>
            <a:pPr algn="l">
              <a:buNone/>
              <a:defRPr sz="1575" b="0">
                <a:solidFill>
                  <a:srgbClr val="111111"/>
                </a:solidFill>
              </a:defRPr>
            </a:pPr>
            <a:r>
              <a:rPr sz="1575" b="0">
                <a:solidFill>
                  <a:srgbClr val="111111"/>
                </a:solidFill>
              </a:rPr>
              <a:t>Event → thermal</a:t>
            </a:r>
          </a:p>
        </p:txBody>
      </p:sp>
      <p:sp>
        <p:nvSpPr>
          <p:cNvPr id="33" name="四角形: 角を丸くする 32">
            <a:extLst>
              <a:ext uri="{FF2B5EF4-FFF2-40B4-BE49-F238E27FC236}">
                <a16:creationId xmlns:a16="http://schemas.microsoft.com/office/drawing/2014/main" id="{65EBA318-0209-404E-8B41-78AEFAA74B04}"/>
              </a:ext>
            </a:extLst>
          </p:cNvPr>
          <p:cNvSpPr>
            <a:spLocks noGrp="1"/>
          </p:cNvSpPr>
          <p:nvPr/>
        </p:nvSpPr>
        <p:spPr>
          <a:xfrm>
            <a:off x="1524000" y="5238750"/>
            <a:ext cx="9144000" cy="714375"/>
          </a:xfrm>
          <a:prstGeom prst="roundRect">
            <a:avLst>
              <a:gd name="adj" fmla="val 16000"/>
            </a:avLst>
          </a:prstGeom>
          <a:solidFill>
            <a:srgbClr val="FFF4E8"/>
          </a:solidFill>
          <a:ln w="9525">
            <a:solidFill>
              <a:srgbClr val="E58A35"/>
            </a:solidFill>
            <a:prstDash val="solid"/>
          </a:ln>
        </p:spPr>
      </p:sp>
      <p:sp>
        <p:nvSpPr>
          <p:cNvPr id="34" name="正方形/長方形 33">
            <a:extLst>
              <a:ext uri="{FF2B5EF4-FFF2-40B4-BE49-F238E27FC236}">
                <a16:creationId xmlns:a16="http://schemas.microsoft.com/office/drawing/2014/main" id="{08CD019A-56D4-4C42-B424-E9B613F4A87F}"/>
              </a:ext>
            </a:extLst>
          </p:cNvPr>
          <p:cNvSpPr>
            <a:spLocks noGrp="1"/>
          </p:cNvSpPr>
          <p:nvPr/>
        </p:nvSpPr>
        <p:spPr>
          <a:xfrm>
            <a:off x="1714500" y="5381625"/>
            <a:ext cx="2000250" cy="266700"/>
          </a:xfrm>
          <a:prstGeom prst="rect">
            <a:avLst/>
          </a:prstGeom>
          <a:noFill/>
          <a:ln w="0">
            <a:noFill/>
            <a:prstDash val="solid"/>
          </a:ln>
        </p:spPr>
        <p:txBody>
          <a:bodyPr/>
          <a:lstStyle/>
          <a:p>
            <a:pPr algn="l">
              <a:buNone/>
              <a:defRPr sz="1500" b="1">
                <a:solidFill>
                  <a:srgbClr val="E58A35"/>
                </a:solidFill>
              </a:defRPr>
            </a:pPr>
            <a:r>
              <a:rPr sz="1500" b="1">
                <a:solidFill>
                  <a:srgbClr val="E58A35"/>
                </a:solidFill>
              </a:rPr>
              <a:t>Remaining work</a:t>
            </a:r>
          </a:p>
        </p:txBody>
      </p:sp>
      <p:sp>
        <p:nvSpPr>
          <p:cNvPr id="35" name="正方形/長方形 34">
            <a:extLst>
              <a:ext uri="{FF2B5EF4-FFF2-40B4-BE49-F238E27FC236}">
                <a16:creationId xmlns:a16="http://schemas.microsoft.com/office/drawing/2014/main" id="{8A7BD97B-83A2-4244-A12C-893733F87A7E}"/>
              </a:ext>
            </a:extLst>
          </p:cNvPr>
          <p:cNvSpPr>
            <a:spLocks noGrp="1"/>
          </p:cNvSpPr>
          <p:nvPr/>
        </p:nvSpPr>
        <p:spPr>
          <a:xfrm>
            <a:off x="3762375" y="5381625"/>
            <a:ext cx="6619875" cy="285750"/>
          </a:xfrm>
          <a:prstGeom prst="rect">
            <a:avLst/>
          </a:prstGeom>
          <a:noFill/>
          <a:ln w="0">
            <a:noFill/>
            <a:prstDash val="solid"/>
          </a:ln>
        </p:spPr>
        <p:txBody>
          <a:bodyPr/>
          <a:lstStyle/>
          <a:p>
            <a:pPr algn="ctr">
              <a:buNone/>
              <a:defRPr sz="1575" b="1">
                <a:solidFill>
                  <a:srgbClr val="111111"/>
                </a:solidFill>
              </a:defRPr>
            </a:pPr>
            <a:r>
              <a:rPr sz="1575" b="1">
                <a:solidFill>
                  <a:srgbClr val="111111"/>
                </a:solidFill>
              </a:rPr>
              <a:t>FPGA replay  ·  latency  ·  power  ·  sensor integration</a:t>
            </a:r>
          </a:p>
        </p:txBody>
      </p:sp>
      <p:sp>
        <p:nvSpPr>
          <p:cNvPr id="36" name="正方形/長方形 35">
            <a:extLst>
              <a:ext uri="{FF2B5EF4-FFF2-40B4-BE49-F238E27FC236}">
                <a16:creationId xmlns:a16="http://schemas.microsoft.com/office/drawing/2014/main" id="{444AFA00-B9D0-473F-AD33-251BC4688302}"/>
              </a:ext>
            </a:extLst>
          </p:cNvPr>
          <p:cNvSpPr>
            <a:spLocks noGrp="1"/>
          </p:cNvSpPr>
          <p:nvPr/>
        </p:nvSpPr>
        <p:spPr>
          <a:xfrm>
            <a:off x="1524000" y="6191250"/>
            <a:ext cx="9144000" cy="238125"/>
          </a:xfrm>
          <a:prstGeom prst="rect">
            <a:avLst/>
          </a:prstGeom>
          <a:noFill/>
          <a:ln w="0">
            <a:noFill/>
            <a:prstDash val="solid"/>
          </a:ln>
        </p:spPr>
        <p:txBody>
          <a:bodyPr/>
          <a:lstStyle/>
          <a:p>
            <a:pPr algn="ctr">
              <a:buNone/>
              <a:defRPr sz="1425" b="1">
                <a:solidFill>
                  <a:srgbClr val="3D8DFF"/>
                </a:solidFill>
              </a:defRPr>
            </a:pPr>
            <a:r>
              <a:rPr sz="1425" b="1">
                <a:solidFill>
                  <a:srgbClr val="3D8DFF"/>
                </a:solidFill>
              </a:rPr>
              <a:t>Discussion: required capability and deployment context</a:t>
            </a:r>
          </a:p>
        </p:txBody>
      </p:sp>
      <p:sp>
        <p:nvSpPr>
          <p:cNvPr id="14" name="正方形/長方形 13">
            <a:extLst>
              <a:ext uri="{FF2B5EF4-FFF2-40B4-BE49-F238E27FC236}">
                <a16:creationId xmlns:a16="http://schemas.microsoft.com/office/drawing/2014/main" id="{3EEFF286-FDF9-0183-4BFA-47994A5104B0}"/>
              </a:ext>
            </a:extLst>
          </p:cNvPr>
          <p:cNvSpPr>
            <a:spLocks noGrp="1"/>
          </p:cNvSpPr>
          <p:nvPr/>
        </p:nvSpPr>
        <p:spPr>
          <a:xfrm>
            <a:off x="666750" y="3999501"/>
            <a:ext cx="428625" cy="285750"/>
          </a:xfrm>
          <a:prstGeom prst="rect">
            <a:avLst/>
          </a:prstGeom>
          <a:noFill/>
          <a:ln w="0">
            <a:noFill/>
            <a:prstDash val="solid"/>
          </a:ln>
        </p:spPr>
        <p:txBody>
          <a:bodyPr/>
          <a:lstStyle/>
          <a:p>
            <a:pPr algn="l">
              <a:buNone/>
              <a:defRPr sz="1800" b="1">
                <a:solidFill>
                  <a:srgbClr val="27805E"/>
                </a:solidFill>
              </a:defRPr>
            </a:pPr>
            <a:r>
              <a:rPr sz="1800" b="1">
                <a:solidFill>
                  <a:srgbClr val="27805E"/>
                </a:solidFill>
              </a:rPr>
              <a:t>✓</a:t>
            </a:r>
          </a:p>
        </p:txBody>
      </p:sp>
    </p:spTree>
    <p:extLst>
      <p:ext uri="{BB962C8B-B14F-4D97-AF65-F5344CB8AC3E}">
        <p14:creationId xmlns:p14="http://schemas.microsoft.com/office/powerpoint/2010/main" val="1349452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D8277-7DBC-E5EA-0CC7-CE4F547A59A1}"/>
            </a:ext>
          </a:extLst>
        </p:cNvPr>
        <p:cNvGrpSpPr/>
        <p:nvPr/>
      </p:nvGrpSpPr>
      <p:grpSpPr>
        <a:xfrm>
          <a:off x="0" y="0"/>
          <a:ext cx="0" cy="0"/>
          <a:chOff x="0" y="0"/>
          <a:chExt cx="0" cy="0"/>
        </a:xfrm>
      </p:grpSpPr>
      <p:sp>
        <p:nvSpPr>
          <p:cNvPr id="37" name="正方形/長方形 36">
            <a:extLst>
              <a:ext uri="{FF2B5EF4-FFF2-40B4-BE49-F238E27FC236}">
                <a16:creationId xmlns:a16="http://schemas.microsoft.com/office/drawing/2014/main" id="{C76EEE30-CB93-ACF4-8178-C624A5DE2A38}"/>
              </a:ext>
            </a:extLst>
          </p:cNvPr>
          <p:cNvSpPr>
            <a:spLocks noGrp="1"/>
          </p:cNvSpPr>
          <p:nvPr/>
        </p:nvSpPr>
        <p:spPr>
          <a:xfrm>
            <a:off x="400050" y="323850"/>
            <a:ext cx="10572750" cy="590550"/>
          </a:xfrm>
          <a:prstGeom prst="rect">
            <a:avLst/>
          </a:prstGeom>
          <a:noFill/>
          <a:ln w="0">
            <a:noFill/>
            <a:prstDash val="solid"/>
          </a:ln>
        </p:spPr>
        <p:txBody>
          <a:bodyPr lIns="91440" tIns="45720" rIns="91440" bIns="45720" anchor="t"/>
          <a:lstStyle/>
          <a:p>
            <a:pPr algn="l">
              <a:buNone/>
              <a:defRPr sz="2700" b="1">
                <a:solidFill>
                  <a:srgbClr val="111111"/>
                </a:solidFill>
              </a:defRPr>
            </a:pPr>
            <a:r>
              <a:rPr lang="ja-JP" altLang="en-US" sz="2700" b="1">
                <a:solidFill>
                  <a:srgbClr val="111111"/>
                </a:solidFill>
              </a:rPr>
              <a:t>References</a:t>
            </a:r>
            <a:endParaRPr lang="ja-JP" altLang="en-US" sz="2700" b="1" dirty="0">
              <a:solidFill>
                <a:srgbClr val="111111"/>
              </a:solidFill>
            </a:endParaRPr>
          </a:p>
        </p:txBody>
      </p:sp>
      <p:sp>
        <p:nvSpPr>
          <p:cNvPr id="2" name="正方形/長方形 1">
            <a:extLst>
              <a:ext uri="{FF2B5EF4-FFF2-40B4-BE49-F238E27FC236}">
                <a16:creationId xmlns:a16="http://schemas.microsoft.com/office/drawing/2014/main" id="{9B88D55B-5DB2-7F05-A2FC-9F9F47CA26CF}"/>
              </a:ext>
            </a:extLst>
          </p:cNvPr>
          <p:cNvSpPr>
            <a:spLocks noGrp="1"/>
          </p:cNvSpPr>
          <p:nvPr/>
        </p:nvSpPr>
        <p:spPr>
          <a:xfrm>
            <a:off x="11277600" y="6286500"/>
            <a:ext cx="514350" cy="228600"/>
          </a:xfrm>
          <a:prstGeom prst="rect">
            <a:avLst/>
          </a:prstGeom>
          <a:noFill/>
          <a:ln w="0">
            <a:noFill/>
            <a:prstDash val="solid"/>
          </a:ln>
        </p:spPr>
        <p:txBody>
          <a:bodyPr lIns="91440" tIns="45720" rIns="91440" bIns="45720" anchor="t"/>
          <a:lstStyle/>
          <a:p>
            <a:pPr algn="r">
              <a:buNone/>
              <a:defRPr sz="1050" b="0">
                <a:solidFill>
                  <a:srgbClr val="5F6670"/>
                </a:solidFill>
              </a:defRPr>
            </a:pPr>
            <a:r>
              <a:rPr lang="en-US" sz="1050">
                <a:solidFill>
                  <a:srgbClr val="5F6670"/>
                </a:solidFill>
              </a:rPr>
              <a:t>12</a:t>
            </a:r>
            <a:endParaRPr sz="1050" b="0">
              <a:solidFill>
                <a:srgbClr val="5F6670"/>
              </a:solidFill>
            </a:endParaRPr>
          </a:p>
        </p:txBody>
      </p:sp>
      <p:sp>
        <p:nvSpPr>
          <p:cNvPr id="3" name="テキスト ボックス 2">
            <a:extLst>
              <a:ext uri="{FF2B5EF4-FFF2-40B4-BE49-F238E27FC236}">
                <a16:creationId xmlns:a16="http://schemas.microsoft.com/office/drawing/2014/main" id="{F09701C9-1987-6D86-CE86-4604E1127BEA}"/>
              </a:ext>
            </a:extLst>
          </p:cNvPr>
          <p:cNvSpPr txBox="1"/>
          <p:nvPr/>
        </p:nvSpPr>
        <p:spPr>
          <a:xfrm>
            <a:off x="601668" y="912514"/>
            <a:ext cx="10952464" cy="54925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sz="1400" dirty="0">
                <a:ea typeface="+mn-lt"/>
                <a:cs typeface="+mn-lt"/>
              </a:rPr>
              <a:t>1. Shakir Sumit, D. Rambli, and S. Mirjalili, “Vision-Based Human Detection Techniques: A Descriptive Review,” </a:t>
            </a:r>
            <a:r>
              <a:rPr lang="ja-JP" sz="1400">
                <a:ea typeface="+mn-lt"/>
                <a:cs typeface="+mn-lt"/>
              </a:rPr>
              <a:t>IEEE Access, 2021. DOI: 10.1109/ACCESS.2021.3063028.</a:t>
            </a:r>
            <a:endParaRPr lang="ja-JP" sz="1400" dirty="0">
              <a:ea typeface="+mn-lt"/>
              <a:cs typeface="+mn-lt"/>
            </a:endParaRPr>
          </a:p>
          <a:p>
            <a:endParaRPr lang="ja-JP" altLang="en-US" sz="1400" dirty="0">
              <a:ea typeface="+mn-lt"/>
              <a:cs typeface="+mn-lt"/>
            </a:endParaRPr>
          </a:p>
          <a:p>
            <a:r>
              <a:rPr lang="ja-JP" sz="1400">
                <a:ea typeface="+mn-lt"/>
                <a:cs typeface="+mn-lt"/>
              </a:rPr>
              <a:t>2. T. Kryjak, “Event-Based Vision on FPGAs - a Survey,” in Euromicro Symposium on Digital Systems Design, 2024. DOI:</a:t>
            </a:r>
            <a:r>
              <a:rPr lang="ja-JP" altLang="en-US" sz="1400" dirty="0">
                <a:ea typeface="+mn-lt"/>
                <a:cs typeface="+mn-lt"/>
              </a:rPr>
              <a:t>　</a:t>
            </a:r>
            <a:r>
              <a:rPr lang="ja-JP" sz="1400">
                <a:ea typeface="+mn-lt"/>
                <a:cs typeface="+mn-lt"/>
              </a:rPr>
              <a:t>10.1109/DSD64264.2024.00078.</a:t>
            </a:r>
            <a:endParaRPr lang="ja-JP" sz="1400" dirty="0">
              <a:ea typeface="+mn-lt"/>
              <a:cs typeface="+mn-lt"/>
            </a:endParaRPr>
          </a:p>
          <a:p>
            <a:endParaRPr lang="ja-JP" altLang="en-US" sz="1400" dirty="0">
              <a:ea typeface="+mn-lt"/>
              <a:cs typeface="+mn-lt"/>
            </a:endParaRPr>
          </a:p>
          <a:p>
            <a:r>
              <a:rPr lang="ja-JP" sz="1400" dirty="0">
                <a:ea typeface="+mn-lt"/>
                <a:cs typeface="+mn-lt"/>
              </a:rPr>
              <a:t>3. J. Gupta and S. Sharma, “Towards Real Time Hardware Based Human and Object Detection: A Review,” in International Joint Conference on the Analysis of Images, Social Networks and Texts, 2022. DOI: </a:t>
            </a:r>
            <a:r>
              <a:rPr lang="ja-JP" sz="1400">
                <a:ea typeface="+mn-lt"/>
                <a:cs typeface="+mn-lt"/>
              </a:rPr>
              <a:t>10.1109/AIST55798.2022.10064933.</a:t>
            </a:r>
            <a:endParaRPr lang="ja-JP" sz="1400" dirty="0">
              <a:ea typeface="+mn-lt"/>
              <a:cs typeface="+mn-lt"/>
            </a:endParaRPr>
          </a:p>
          <a:p>
            <a:endParaRPr lang="ja-JP" altLang="en-US" sz="1400" dirty="0">
              <a:ea typeface="+mn-lt"/>
              <a:cs typeface="+mn-lt"/>
            </a:endParaRPr>
          </a:p>
          <a:p>
            <a:r>
              <a:rPr lang="ja-JP" sz="1400" dirty="0">
                <a:ea typeface="+mn-lt"/>
                <a:cs typeface="+mn-lt"/>
              </a:rPr>
              <a:t>4. B. Amirgaliyev, M. Mussabek, T. Rakhimzhanova, and A. Zhumadillayeva, “A Review of Machine Learning and Deep Learning Methods for Person Detection, Tracking and Identification, and Face Recognition with </a:t>
            </a:r>
            <a:r>
              <a:rPr lang="ja-JP" sz="1400">
                <a:ea typeface="+mn-lt"/>
                <a:cs typeface="+mn-lt"/>
              </a:rPr>
              <a:t>Applications,” Sensors, 2025, 25(5):1410. DOI: 10.3390/s25051410.</a:t>
            </a:r>
            <a:endParaRPr lang="ja-JP" sz="1400" dirty="0">
              <a:ea typeface="+mn-lt"/>
              <a:cs typeface="+mn-lt"/>
            </a:endParaRPr>
          </a:p>
          <a:p>
            <a:endParaRPr lang="ja-JP" altLang="en-US" sz="1400" dirty="0">
              <a:ea typeface="+mn-lt"/>
              <a:cs typeface="+mn-lt"/>
            </a:endParaRPr>
          </a:p>
          <a:p>
            <a:r>
              <a:rPr lang="ja-JP" sz="1400" dirty="0">
                <a:ea typeface="+mn-lt"/>
                <a:cs typeface="+mn-lt"/>
              </a:rPr>
              <a:t>5. X. Wang et al., “HARDVS: Revisiting Human Activity Recognition with Dynamic Vision Sensors,” in AAAI </a:t>
            </a:r>
            <a:r>
              <a:rPr lang="ja-JP" sz="1400">
                <a:ea typeface="+mn-lt"/>
                <a:cs typeface="+mn-lt"/>
              </a:rPr>
              <a:t>Conference on Artificial Intelligence, 2022. DOI: 10.48550/arXiv.2211.09648.</a:t>
            </a:r>
            <a:endParaRPr lang="ja-JP" sz="1400" dirty="0">
              <a:ea typeface="+mn-lt"/>
              <a:cs typeface="+mn-lt"/>
            </a:endParaRPr>
          </a:p>
          <a:p>
            <a:endParaRPr lang="ja-JP" altLang="en-US" sz="1400" dirty="0">
              <a:ea typeface="+mn-lt"/>
              <a:cs typeface="+mn-lt"/>
            </a:endParaRPr>
          </a:p>
          <a:p>
            <a:r>
              <a:rPr lang="ja-JP" sz="1400" dirty="0">
                <a:ea typeface="+mn-lt"/>
                <a:cs typeface="+mn-lt"/>
              </a:rPr>
              <a:t>6. X. Lin, M. Liu, and H. Chen, “Spike-HAR++: an energy-efficient and lightweight parallel spiking transformer for event-based human action recognition,” Frontiers in Computational Neuroscience, 2024. DOI:</a:t>
            </a:r>
            <a:r>
              <a:rPr lang="ja-JP" altLang="en-US" sz="1400" dirty="0">
                <a:ea typeface="+mn-lt"/>
                <a:cs typeface="+mn-lt"/>
              </a:rPr>
              <a:t> </a:t>
            </a:r>
            <a:r>
              <a:rPr lang="ja-JP" sz="1400">
                <a:ea typeface="+mn-lt"/>
                <a:cs typeface="+mn-lt"/>
              </a:rPr>
              <a:t>10.3389/fncom.2024.1508297.</a:t>
            </a:r>
            <a:endParaRPr lang="ja-JP" sz="1400" dirty="0">
              <a:ea typeface="+mn-lt"/>
              <a:cs typeface="+mn-lt"/>
            </a:endParaRPr>
          </a:p>
          <a:p>
            <a:endParaRPr lang="ja-JP" altLang="en-US" sz="1400" dirty="0">
              <a:ea typeface="+mn-lt"/>
              <a:cs typeface="+mn-lt"/>
            </a:endParaRPr>
          </a:p>
          <a:p>
            <a:r>
              <a:rPr lang="ja-JP" sz="1400" dirty="0">
                <a:ea typeface="+mn-lt"/>
                <a:cs typeface="+mn-lt"/>
              </a:rPr>
              <a:t>7. L. Li et al., “An Event-tailored State-Space Based Model for Pedestrian Detection,” in ACM Multimedia, 2025. </a:t>
            </a:r>
            <a:r>
              <a:rPr lang="ja-JP" sz="1400">
                <a:ea typeface="+mn-lt"/>
                <a:cs typeface="+mn-lt"/>
              </a:rPr>
              <a:t>DOI: 10.1145/3746027.3755380.</a:t>
            </a:r>
            <a:endParaRPr lang="ja-JP" sz="1400" dirty="0">
              <a:ea typeface="+mn-lt"/>
              <a:cs typeface="+mn-lt"/>
            </a:endParaRPr>
          </a:p>
          <a:p>
            <a:endParaRPr lang="ja-JP" sz="1400" dirty="0">
              <a:ea typeface="+mn-lt"/>
              <a:cs typeface="+mn-lt"/>
            </a:endParaRPr>
          </a:p>
          <a:p>
            <a:r>
              <a:rPr lang="ja-JP" altLang="en-US" sz="1400" dirty="0">
                <a:ea typeface="+mn-lt"/>
                <a:cs typeface="+mn-lt"/>
              </a:rPr>
              <a:t> </a:t>
            </a:r>
            <a:r>
              <a:rPr lang="ja-JP" sz="1400" dirty="0">
                <a:ea typeface="+mn-lt"/>
                <a:cs typeface="+mn-lt"/>
              </a:rPr>
              <a:t>8. T. Trinh, P. C. Le Thien Vu, and P. T. Bao, “Comparing Mask R-CNN backbone architectures for human detection using thermal imaging,” International Journal of Electrical and Computer Engineering, 2024. DOI: </a:t>
            </a:r>
            <a:r>
              <a:rPr lang="ja-JP" sz="1400">
                <a:ea typeface="+mn-lt"/>
                <a:cs typeface="+mn-lt"/>
              </a:rPr>
              <a:t>10.11591/ijece.v14i4.pp3962-3970.</a:t>
            </a:r>
            <a:endParaRPr lang="ja-JP" sz="1400" dirty="0">
              <a:ea typeface="+mn-lt"/>
              <a:cs typeface="+mn-lt"/>
            </a:endParaRPr>
          </a:p>
          <a:p>
            <a:endParaRPr lang="ja-JP" altLang="en-US" sz="1400" dirty="0">
              <a:ea typeface="+mn-lt"/>
              <a:cs typeface="+mn-lt"/>
            </a:endParaRPr>
          </a:p>
          <a:p>
            <a:r>
              <a:rPr lang="ja-JP" sz="1400" dirty="0">
                <a:ea typeface="+mn-lt"/>
                <a:cs typeface="+mn-lt"/>
              </a:rPr>
              <a:t>9. R. Elgohary, A. K. Mahmoud, O. Khaled, S. Salah, and M. Badawi, “Enhanced Thermal Human Detection in Military Applications Using Deep Learning,” in 2024 International Telecommunications Conference (ITC-Egypt), </a:t>
            </a:r>
            <a:r>
              <a:rPr lang="ja-JP" sz="1400">
                <a:ea typeface="+mn-lt"/>
                <a:cs typeface="+mn-lt"/>
              </a:rPr>
              <a:t>2024. DOI: 10.1109/ITCEgypt61547.2024.10620540.</a:t>
            </a:r>
            <a:endParaRPr lang="ja-JP" sz="1400"/>
          </a:p>
        </p:txBody>
      </p:sp>
    </p:spTree>
    <p:extLst>
      <p:ext uri="{BB962C8B-B14F-4D97-AF65-F5344CB8AC3E}">
        <p14:creationId xmlns:p14="http://schemas.microsoft.com/office/powerpoint/2010/main" val="268128575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DocSecurity>0</DocSecurity>
  <PresentationFormat>ワイド画面</PresentationFormat>
  <Slides>12</Slides>
  <Notes>12</Notes>
  <HiddenSlides>0</HiddenSlides>
  <ScaleCrop>false</ScaleCrop>
  <HeadingPairs>
    <vt:vector size="4" baseType="variant">
      <vt:variant>
        <vt:lpstr>テーマ</vt:lpstr>
      </vt:variant>
      <vt:variant>
        <vt:i4>1</vt:i4>
      </vt:variant>
      <vt:variant>
        <vt:lpstr>スライド タイトル</vt:lpstr>
      </vt:variant>
      <vt:variant>
        <vt:i4>12</vt:i4>
      </vt:variant>
    </vt:vector>
  </HeadingPairs>
  <TitlesOfParts>
    <vt:vector size="13" baseType="lpstr">
      <vt:lpstr>ChatGPT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Walnut Exporter</cp:lastModifiedBy>
  <cp:revision>28</cp:revision>
  <dcterms:created xsi:type="dcterms:W3CDTF">2026-08-11T11:59:18Z</dcterms:created>
  <dcterms:modified xsi:type="dcterms:W3CDTF">2026-08-14T07:16:07Z</dcterms:modified>
</cp:coreProperties>
</file>
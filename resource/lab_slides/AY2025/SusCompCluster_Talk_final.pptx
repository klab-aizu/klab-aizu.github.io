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66" r:id="rId14"/>
    <p:sldId id="267" r:id="rId15"/>
    <p:sldId id="268" r:id="rId16"/>
    <p:sldId id="282" r:id="rId17"/>
    <p:sldId id="270" r:id="rId18"/>
    <p:sldId id="271" r:id="rId19"/>
    <p:sldId id="278" r:id="rId20"/>
    <p:sldId id="284" r:id="rId21"/>
    <p:sldId id="283" r:id="rId22"/>
    <p:sldId id="274" r:id="rId23"/>
    <p:sldId id="275" r:id="rId2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9EEB"/>
    <a:srgbClr val="C27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8"/>
    <p:restoredTop sz="50476"/>
  </p:normalViewPr>
  <p:slideViewPr>
    <p:cSldViewPr snapToGrid="0">
      <p:cViewPr>
        <p:scale>
          <a:sx n="146" d="100"/>
          <a:sy n="146" d="100"/>
        </p:scale>
        <p:origin x="976" y="-3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997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Good afternoon.</a:t>
            </a:r>
            <a:b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My name is DANG Nam Khanh.</a:t>
            </a:r>
            <a:b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endParaRPr lang="en-JP" sz="24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Today, I will talk about Advancing Neuromorphic AI for Energy-Efficient and Sustainable Computing.</a:t>
            </a:r>
            <a:endParaRPr lang="en-JP" sz="24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Thank you very much for the opportunity to speak today.</a:t>
            </a:r>
            <a:b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I appreciate your time and attention.</a:t>
            </a:r>
            <a:endParaRPr lang="en-JP" sz="24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a2c543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a2c543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This slide shows the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talk outline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 will answer three questions:</a:t>
            </a:r>
          </a:p>
          <a:p>
            <a:pPr marL="0" lvl="0" indent="0">
              <a:buNone/>
              <a:tabLst>
                <a:tab pos="457200" algn="l"/>
              </a:tabLst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energy-efficient and sustainable computing matters</a:t>
            </a:r>
          </a:p>
          <a:p>
            <a:pPr marL="0" lvl="0" indent="0">
              <a:buNone/>
              <a:tabLst>
                <a:tab pos="457200" algn="l"/>
              </a:tabLst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neuromorphic AI can support sustainability</a:t>
            </a:r>
          </a:p>
          <a:p>
            <a:pPr marL="0" lvl="0" indent="0">
              <a:buNone/>
              <a:tabLst>
                <a:tab pos="457200" algn="l"/>
              </a:tabLst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our cluster is doing</a:t>
            </a:r>
          </a:p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Finally, I will conclude the talk.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a2c543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a2c543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3569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5722cc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5722cc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As you know, </a:t>
            </a:r>
            <a:r>
              <a:rPr lang="en-US" sz="11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AI is becoming a dominant computing paradigm</a:t>
            </a: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worldwide, appearing in many industries and daily life.</a:t>
            </a:r>
            <a:b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 major concern is the </a:t>
            </a:r>
            <a:r>
              <a:rPr lang="en-US" sz="11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rapidly growing demand for computing power, as shown in the slide</a:t>
            </a: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b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&lt;STOP for Japanese Translation&gt;</a:t>
            </a:r>
            <a:b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One important consequence of this rapid growth is </a:t>
            </a:r>
            <a:r>
              <a:rPr lang="en-US" sz="11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power consumption</a:t>
            </a: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b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As reported in </a:t>
            </a:r>
            <a:r>
              <a:rPr lang="en-US" sz="1100" i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Nature</a:t>
            </a: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data centers are expected to consume </a:t>
            </a:r>
            <a:r>
              <a:rPr lang="en-US" sz="11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around 1.5% of global electricity by 2030</a:t>
            </a:r>
            <a:r>
              <a:rPr lang="en-US" sz="11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largely driven by AI computing.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06ec8fb8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06ec8fb8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energy required to train and operate AI models is also increasing rapidly.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projected to grow from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terawatt-hours in 2023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652 terawatt-hours in 2030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comparison, Japan’s total electricity production in 2024 is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 981 terawatt-hours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85722cca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85722cca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sustainability, we must consider the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environmental impact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computing.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 2050, global renewable energy may reach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 70%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974af92a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974af92a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slide also shows the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carbon footprint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AI tasks.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of the heaviest workloads is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generative AI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example, generating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1,000 images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similar to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driving 6.5 kilometers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158750" indent="0">
              <a:buNone/>
            </a:pP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58750" indent="0">
              <a:buNone/>
            </a:pPr>
            <a:r>
              <a:rPr lang="vi-VN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&lt;STOP for Japanese Translation&gt;</a:t>
            </a:r>
            <a:br>
              <a:rPr lang="vi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vi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is growing rapidly and requires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 computing power and energy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158750" indent="0">
              <a:buNone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Therefore, developing AI that is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energy-efficient and sustainable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essential.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974af92a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974af92a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reduce the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operational carbon footprint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AI, there are three main approaches: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 the cleanliness of the energy supply</a:t>
            </a: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better hardware to increase energy efficiency</a:t>
            </a: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 more efficient AI models</a:t>
            </a: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a2c543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a2c543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Next, How to advance neuromorphic AI for Sustainability</a:t>
            </a:r>
            <a:r>
              <a:rPr lang="en-JP" dirty="0">
                <a:effectLst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5673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3afa279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3afa279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 similar approach, called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4M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—Model, Machine, Mechanization, and Map optimization—was used by Google.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By applying all four Ms, they were able to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reduce the carbon footprint by about 700 times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r>
              <a:rPr lang="en-JP" dirty="0">
                <a:effectLst/>
              </a:rPr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02117fdd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02117fdd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our 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Cluster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we mainly focus on the 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computing aspect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short, there are 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aspects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consider: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Three traditional hardware aspects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computing, communication, and storage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a2c5437e_0_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ba2c5437e_0_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slide provides an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overview of neuromorphic AI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Neuromorphic AI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mimics the operation of the biological brain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using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action potentials, or spikes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for both computing and communication.</a:t>
            </a:r>
          </a:p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question we ask here is: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“How can neuromorphic AI advance an energy-efficient and sustainable computing future?”</a:t>
            </a: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2cf896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12cf896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First, regarding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computing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neuromorphic AI uses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spikes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which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reduces computational power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as shown in this table.</a:t>
            </a:r>
            <a:r>
              <a:rPr lang="en-JP" dirty="0">
                <a:effectLst/>
              </a:rPr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12cf896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12cf896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Second, the spikes in neuromorphic AI are usually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binary (0 or 1) and sparse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This sparsity helps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reduce communication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 which in turn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reduces energy consumption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r>
              <a:rPr lang="en-JP" dirty="0">
                <a:effectLst/>
              </a:rPr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450d5cea1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450d5cea1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Next, regarding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storage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neuromorphic AI moves toward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in-memory or near-memory processing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Memory is no longer on a separate chip; 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vi-VN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&lt;STOP for Japanese Translation&gt;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instead,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memory and computing are integrated in a close system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which helps to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 memory access and energy consumption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a2c543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a2c543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Now, we will discuss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our Sustainable Computing Cluster is doing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this area.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6268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450d5cea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450d5cea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First, we have our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stacked memory design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 divide the memory into several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silicon layers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apply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different control strategies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each layer.</a:t>
            </a:r>
          </a:p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approach allows us to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 energy consumption by about 20%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while maintaining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similar accuracy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450d5cea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450d5cea1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computation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we adopt our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approximate computing design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addition, we have developed an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evolutionary algorithm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find the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optimal configuration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JP" sz="1800" i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(STOP for Japanese Translation)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 are the results.</a:t>
            </a:r>
          </a:p>
          <a:p>
            <a:r>
              <a:rPr lang="en-JP" sz="1800" i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(STOP for Japanese Translation)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approach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reduces energy consumption by up to 70%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only a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small loss in accuracy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A79FF9AD-9EF8-9706-9C37-D1BF9433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450d5cea1_0_218:notes">
            <a:extLst>
              <a:ext uri="{FF2B5EF4-FFF2-40B4-BE49-F238E27FC236}">
                <a16:creationId xmlns:a16="http://schemas.microsoft.com/office/drawing/2014/main" id="{E3545F29-414E-23C3-F03D-74E4EE7C6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450d5cea1_0_218:notes">
            <a:extLst>
              <a:ext uri="{FF2B5EF4-FFF2-40B4-BE49-F238E27FC236}">
                <a16:creationId xmlns:a16="http://schemas.microsoft.com/office/drawing/2014/main" id="{75EDE42A-0A81-67CE-DFA0-A7E3567C6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Next, let us talk about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we already know, spikes are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sparse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but we have found a way to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 spikes together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Instead of sending multiple spikes individually, we only need to send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JP" sz="1800" i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(STOP for Japanese Translation)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This approach leads to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10% spike reduction without accuracy loss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,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and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30% spike reduction with only 1.5% accuracy loss</a:t>
            </a:r>
            <a:r>
              <a:rPr lang="en-JP" sz="3200" dirty="0">
                <a:effectLst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3634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we have discussed,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neuromorphic AI is energy-efficient and can be sustainable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our methods, we can achieve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 greater energy reduction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can we achieve with this?</a:t>
            </a:r>
            <a:b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 is the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ultimate AI model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carbon-neutral AI framework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vi-VN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(STOP for Japanese Translation)</a:t>
            </a:r>
            <a:endParaRPr lang="en-JP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Depending on the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 energy from harvesting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we can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adjust the AI model to consume only that energy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so </a:t>
            </a:r>
            <a:r>
              <a:rPr lang="en-JP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external power is required</a:t>
            </a: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4009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a2c543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a2c543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Next, I will present the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conclusion and future outlook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r>
              <a:rPr lang="en-JP" dirty="0">
                <a:effectLst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528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ba2c5437e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ba2c5437e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AI growth raises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energy and carbon concerns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Neuromorphic AI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offers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efficient, adaptive computing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Our approaches can reduce even more energy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b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</a:b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Future outlook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better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on-chip learning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 and </a:t>
            </a:r>
            <a:r>
              <a:rPr lang="en-JP" sz="18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multi-chip scalability</a:t>
            </a:r>
            <a:r>
              <a:rPr lang="en-JP" sz="18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.</a:t>
            </a:r>
            <a:r>
              <a:rPr lang="en-JP" dirty="0">
                <a:effectLst/>
              </a:rPr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ba2c5437e_0_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ba2c5437e_0_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JP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Thank you for your attention.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aip.org/aip/apm/article/12/10/109201/331731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11.1686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blog/good-news-about-the-carbon-footprint-of-machine-learning-trainin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blog/good-news-about-the-carbon-footprint-of-machine-learning-trainin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rxiv.org/pdf/2406.0654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eeexplore.ieee.org/document/10269541" TargetMode="Externa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hyperlink" Target="https://ieeexplore.ieee.org/document/11122553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701110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/>
              <a:t>Advancing Neuromorphic AI for Energy-Efficient and Sustainable Computing</a:t>
            </a:r>
            <a:endParaRPr sz="29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 err="1"/>
              <a:t>優れたエネルギー効率と持続可能なコンピューティングに向けたニューロモルフィックAIの発展</a:t>
            </a:r>
            <a:endParaRPr sz="29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4487177"/>
            <a:ext cx="8520600" cy="1369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Sustainable Computing Cluster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November 26</a:t>
            </a:r>
            <a:r>
              <a:rPr lang="en" sz="1800" baseline="30000" dirty="0"/>
              <a:t>th</a:t>
            </a:r>
            <a:r>
              <a:rPr lang="en" sz="1800" dirty="0"/>
              <a:t>, 2025</a:t>
            </a:r>
            <a:endParaRPr sz="1800"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838" y="590304"/>
            <a:ext cx="4476326" cy="14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b="1" dirty="0"/>
              <a:t>Why </a:t>
            </a:r>
            <a:r>
              <a:rPr lang="en-US" sz="2500" dirty="0"/>
              <a:t>Energy Efficient and Sustainable AI Computing</a:t>
            </a:r>
            <a:endParaRPr sz="2500"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 dirty="0"/>
              <a:t>How</a:t>
            </a:r>
            <a:r>
              <a:rPr lang="en" sz="2500" dirty="0"/>
              <a:t> to advance neuromorphic AI for Sustainability</a:t>
            </a:r>
            <a:endParaRPr sz="2500"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vi-VN" sz="2500" b="1" dirty="0"/>
              <a:t>What</a:t>
            </a:r>
            <a:r>
              <a:rPr lang="vi-VN" sz="2500" dirty="0"/>
              <a:t> are we doing for </a:t>
            </a:r>
            <a:r>
              <a:rPr lang="en" sz="2500" dirty="0"/>
              <a:t>Energy Efficient and Sustainable Computing</a:t>
            </a:r>
            <a:endParaRPr sz="2500"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dirty="0"/>
              <a:t>Conclusion &amp; Future Outlook</a:t>
            </a:r>
            <a:endParaRPr sz="2500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b="1" dirty="0"/>
              <a:t>Why </a:t>
            </a:r>
            <a:r>
              <a:rPr lang="en-US" sz="2500" dirty="0"/>
              <a:t>Energy Efficient and Sustainable AI Computing</a:t>
            </a:r>
            <a:endParaRPr sz="2500"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 dirty="0">
                <a:solidFill>
                  <a:schemeClr val="bg1">
                    <a:lumMod val="85000"/>
                  </a:schemeClr>
                </a:solidFill>
              </a:rPr>
              <a:t>How</a:t>
            </a: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 to advance neuromorphic AI for Sustainability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vi-VN" sz="2500" b="1" dirty="0">
                <a:solidFill>
                  <a:schemeClr val="bg1">
                    <a:lumMod val="85000"/>
                  </a:schemeClr>
                </a:solidFill>
              </a:rPr>
              <a:t>What</a:t>
            </a:r>
            <a:r>
              <a:rPr lang="vi-VN" sz="2500" dirty="0">
                <a:solidFill>
                  <a:schemeClr val="bg1">
                    <a:lumMod val="85000"/>
                  </a:schemeClr>
                </a:solidFill>
              </a:rPr>
              <a:t> are we doing for </a:t>
            </a: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Energy Efficient and Sustainable Computing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Conclusion &amp; Future Outlook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45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raising demand in AI computing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6209759"/>
            <a:ext cx="8493900" cy="4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>
              <a:spcAft>
                <a:spcPts val="1200"/>
              </a:spcAft>
              <a:buNone/>
            </a:pPr>
            <a:r>
              <a:rPr lang="en" sz="1700" dirty="0"/>
              <a:t>Computing power demands for AI. Source: </a:t>
            </a:r>
            <a:r>
              <a:rPr lang="en-US" sz="1700" dirty="0">
                <a:hlinkClick r:id="rId3"/>
              </a:rPr>
              <a:t>https://pubs.aip.org/aip/apm/article/12/10/109201/3317314</a:t>
            </a:r>
            <a:r>
              <a:rPr lang="en-US" sz="1700" dirty="0"/>
              <a:t> </a:t>
            </a:r>
            <a:endParaRPr sz="1700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752CDC-39A6-C95D-617F-BAFF5D3891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7" t="4080"/>
          <a:stretch>
            <a:fillRect/>
          </a:stretch>
        </p:blipFill>
        <p:spPr>
          <a:xfrm>
            <a:off x="1037186" y="1296651"/>
            <a:ext cx="7069627" cy="4967982"/>
          </a:xfrm>
          <a:prstGeom prst="rect">
            <a:avLst/>
          </a:prstGeom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259" y="1304514"/>
            <a:ext cx="8493899" cy="448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Demand based AI power consumption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4426580"/>
            <a:ext cx="8520600" cy="16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080">
                <a:solidFill>
                  <a:schemeClr val="dk1"/>
                </a:solidFill>
              </a:rPr>
              <a:t>The energy needed to train and run AI models is expected to multiply from 3 terawatt-hours (TWh) in 2023 to 652TWh in 2030.</a:t>
            </a:r>
            <a:endParaRPr sz="2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23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25" y="1445117"/>
            <a:ext cx="7490140" cy="27649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/>
          <p:nvPr/>
        </p:nvCxnSpPr>
        <p:spPr>
          <a:xfrm rot="10800000" flipH="1">
            <a:off x="1456275" y="1539716"/>
            <a:ext cx="6351300" cy="1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16"/>
          <p:cNvSpPr txBox="1"/>
          <p:nvPr/>
        </p:nvSpPr>
        <p:spPr>
          <a:xfrm>
            <a:off x="5882875" y="1231916"/>
            <a:ext cx="291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2"/>
                </a:solidFill>
              </a:rPr>
              <a:t>Electricity production Japan in 2024: 981 TWh</a:t>
            </a:r>
            <a:endParaRPr sz="900" b="1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Renewable energy projection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4896481"/>
            <a:ext cx="8520600" cy="11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Aiming for more renewable energy ⇒ still a long term project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Energy for AI/Datacenter is a challenging problem for sustainability 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450" y="1586750"/>
            <a:ext cx="8481075" cy="31555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Carbon Footprint for AI tasks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5764608"/>
            <a:ext cx="8520600" cy="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Source: Hugging </a:t>
            </a:r>
            <a:r>
              <a:rPr lang="en" dirty="0" err="1"/>
              <a:t>Face,Carnegie</a:t>
            </a:r>
            <a:r>
              <a:rPr lang="en" dirty="0"/>
              <a:t> Mellon University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[URL]</a:t>
            </a:r>
            <a:endParaRPr dirty="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43000"/>
            <a:ext cx="9143999" cy="4571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1518050" y="2113350"/>
            <a:ext cx="6231000" cy="10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Generating 1,000 images with a powerful AI model is responsible for roughly as much carbon dioxide as driving the equivalent of 6.5 km </a:t>
            </a:r>
            <a:endParaRPr sz="19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reduce operational carbon emissions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Improve the </a:t>
            </a:r>
            <a:r>
              <a:rPr lang="en" sz="2400" u="sng" dirty="0"/>
              <a:t>cleanliness</a:t>
            </a:r>
            <a:r>
              <a:rPr lang="en" sz="2400" dirty="0"/>
              <a:t> of the energy supply</a:t>
            </a:r>
            <a:endParaRPr sz="24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More renewable energy, offsetting with energy harvesting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Place the AI systems nearby renewable energy</a:t>
            </a:r>
            <a:endParaRPr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Better </a:t>
            </a:r>
            <a:r>
              <a:rPr lang="en" sz="2400" u="sng" dirty="0"/>
              <a:t>hardware</a:t>
            </a:r>
            <a:r>
              <a:rPr lang="en" sz="2400" dirty="0"/>
              <a:t> for better energy efficiency</a:t>
            </a:r>
            <a:endParaRPr sz="24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More energy efficient CPU/GPU/Accelerator offers better solutions</a:t>
            </a:r>
            <a:endParaRPr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Develop more </a:t>
            </a:r>
            <a:r>
              <a:rPr lang="en" sz="2400" u="sng" dirty="0"/>
              <a:t>efficient</a:t>
            </a:r>
            <a:r>
              <a:rPr lang="en" sz="2400" dirty="0"/>
              <a:t> ML models:</a:t>
            </a:r>
            <a:endParaRPr sz="24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Shrink the model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Embrace sparsity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Energy-driven adaptivity</a:t>
            </a:r>
            <a:endParaRPr sz="2000" dirty="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i="1" dirty="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86150" y="6340075"/>
            <a:ext cx="43953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Source: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Google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b="1" dirty="0">
                <a:solidFill>
                  <a:schemeClr val="bg1">
                    <a:lumMod val="85000"/>
                  </a:schemeClr>
                </a:solidFill>
              </a:rPr>
              <a:t>Why </a:t>
            </a:r>
            <a:r>
              <a:rPr lang="en-US" sz="2500" dirty="0">
                <a:solidFill>
                  <a:schemeClr val="bg1">
                    <a:lumMod val="85000"/>
                  </a:schemeClr>
                </a:solidFill>
              </a:rPr>
              <a:t>Energy Efficient and Sustainable AI Computing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 dirty="0"/>
              <a:t>How</a:t>
            </a:r>
            <a:r>
              <a:rPr lang="en" sz="2500" dirty="0"/>
              <a:t> to advance neuromorphic AI for Sustainability</a:t>
            </a:r>
            <a:endParaRPr sz="2500"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vi-VN" sz="2500" b="1" dirty="0">
                <a:solidFill>
                  <a:schemeClr val="bg1">
                    <a:lumMod val="85000"/>
                  </a:schemeClr>
                </a:solidFill>
              </a:rPr>
              <a:t>What</a:t>
            </a:r>
            <a:r>
              <a:rPr lang="vi-VN" sz="2500" dirty="0">
                <a:solidFill>
                  <a:schemeClr val="bg1">
                    <a:lumMod val="85000"/>
                  </a:schemeClr>
                </a:solidFill>
              </a:rPr>
              <a:t> are we doing for </a:t>
            </a: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Energy Efficient and Sustainable Computing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Conclusion &amp; Future Outlook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705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reduce operational carbon emissions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569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For example: 4M by Google</a:t>
            </a:r>
            <a:endParaRPr sz="22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1800" b="1" u="sng" dirty="0">
                <a:solidFill>
                  <a:srgbClr val="202124"/>
                </a:solidFill>
                <a:highlight>
                  <a:srgbClr val="FFFFFF"/>
                </a:highlight>
              </a:rPr>
              <a:t>M</a:t>
            </a:r>
            <a:r>
              <a:rPr lang="en" sz="1800" dirty="0">
                <a:solidFill>
                  <a:srgbClr val="202124"/>
                </a:solidFill>
                <a:highlight>
                  <a:srgbClr val="FFFFFF"/>
                </a:highlight>
              </a:rPr>
              <a:t>odel: Use network architecture search to get more efficient model.</a:t>
            </a:r>
            <a:endParaRPr sz="1800" dirty="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Char char="○"/>
            </a:pPr>
            <a:r>
              <a:rPr lang="en" sz="1800" b="1" u="sng" dirty="0">
                <a:solidFill>
                  <a:srgbClr val="202124"/>
                </a:solidFill>
                <a:highlight>
                  <a:srgbClr val="FFFFFF"/>
                </a:highlight>
              </a:rPr>
              <a:t>M</a:t>
            </a:r>
            <a:r>
              <a:rPr lang="en" sz="1800" dirty="0">
                <a:solidFill>
                  <a:srgbClr val="202124"/>
                </a:solidFill>
                <a:highlight>
                  <a:srgbClr val="FFFFFF"/>
                </a:highlight>
              </a:rPr>
              <a:t>achine: better machine for better energy</a:t>
            </a:r>
            <a:endParaRPr sz="1800" dirty="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Char char="○"/>
            </a:pPr>
            <a:r>
              <a:rPr lang="en" sz="1800" b="1" u="sng" dirty="0">
                <a:solidFill>
                  <a:srgbClr val="202124"/>
                </a:solidFill>
                <a:highlight>
                  <a:srgbClr val="FFFFFF"/>
                </a:highlight>
              </a:rPr>
              <a:t>M</a:t>
            </a:r>
            <a:r>
              <a:rPr lang="en" sz="1800" dirty="0">
                <a:solidFill>
                  <a:srgbClr val="202124"/>
                </a:solidFill>
                <a:highlight>
                  <a:srgbClr val="FFFFFF"/>
                </a:highlight>
              </a:rPr>
              <a:t>echanization: move the computing to better datacenter</a:t>
            </a:r>
            <a:endParaRPr sz="1800" dirty="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Char char="○"/>
            </a:pPr>
            <a:r>
              <a:rPr lang="en" sz="1800" b="1" u="sng" dirty="0">
                <a:solidFill>
                  <a:srgbClr val="202124"/>
                </a:solidFill>
                <a:highlight>
                  <a:srgbClr val="FFFFFF"/>
                </a:highlight>
              </a:rPr>
              <a:t>M</a:t>
            </a:r>
            <a:r>
              <a:rPr lang="en" sz="1800" dirty="0">
                <a:solidFill>
                  <a:srgbClr val="202124"/>
                </a:solidFill>
                <a:highlight>
                  <a:srgbClr val="FFFFFF"/>
                </a:highlight>
              </a:rPr>
              <a:t>ap Optimization: pick the cleanliest datacenter for computing → encourage the new clean datacenter</a:t>
            </a:r>
            <a:endParaRPr sz="1800" dirty="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i="1" dirty="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486150" y="6340075"/>
            <a:ext cx="43953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Source: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Google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5427" y="1536626"/>
            <a:ext cx="3955724" cy="419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1235909" y="3549945"/>
            <a:ext cx="2708400" cy="2393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System/Module #1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key aspects of AI computing</a:t>
            </a:r>
            <a:endParaRPr dirty="0"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3027900" cy="21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Computation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Communication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Storage</a:t>
            </a: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sp>
        <p:nvSpPr>
          <p:cNvPr id="124" name="Google Shape;124;p21"/>
          <p:cNvSpPr/>
          <p:nvPr/>
        </p:nvSpPr>
        <p:spPr>
          <a:xfrm>
            <a:off x="1312459" y="3632945"/>
            <a:ext cx="522900" cy="40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1312459" y="4196250"/>
            <a:ext cx="522900" cy="40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298830" y="3918345"/>
            <a:ext cx="522900" cy="40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2204834" y="3918345"/>
            <a:ext cx="703500" cy="405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4">
                    <a:lumMod val="50000"/>
                  </a:schemeClr>
                </a:solidFill>
              </a:rPr>
              <a:t>Computation</a:t>
            </a:r>
            <a:endParaRPr sz="70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29" name="Google Shape;129;p21"/>
          <p:cNvCxnSpPr/>
          <p:nvPr/>
        </p:nvCxnSpPr>
        <p:spPr>
          <a:xfrm>
            <a:off x="1835359" y="3835445"/>
            <a:ext cx="3840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30;p21"/>
          <p:cNvCxnSpPr/>
          <p:nvPr/>
        </p:nvCxnSpPr>
        <p:spPr>
          <a:xfrm rot="10800000" flipH="1">
            <a:off x="1835359" y="4219245"/>
            <a:ext cx="3840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1"/>
          <p:cNvCxnSpPr>
            <a:stCxn id="128" idx="3"/>
            <a:endCxn id="126" idx="1"/>
          </p:cNvCxnSpPr>
          <p:nvPr/>
        </p:nvCxnSpPr>
        <p:spPr>
          <a:xfrm>
            <a:off x="2908334" y="4120845"/>
            <a:ext cx="39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1"/>
          <p:cNvSpPr/>
          <p:nvPr/>
        </p:nvSpPr>
        <p:spPr>
          <a:xfrm>
            <a:off x="5032934" y="3549945"/>
            <a:ext cx="2708400" cy="234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System/Module #2</a:t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5109484" y="3632945"/>
            <a:ext cx="522900" cy="40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5109484" y="4196250"/>
            <a:ext cx="522900" cy="40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7095855" y="3918345"/>
            <a:ext cx="522900" cy="4050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001859" y="3918345"/>
            <a:ext cx="703500" cy="405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4">
                    <a:lumMod val="50000"/>
                  </a:schemeClr>
                </a:solidFill>
              </a:rPr>
              <a:t>Computation</a:t>
            </a:r>
            <a:endParaRPr sz="70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37" name="Google Shape;137;p21"/>
          <p:cNvCxnSpPr/>
          <p:nvPr/>
        </p:nvCxnSpPr>
        <p:spPr>
          <a:xfrm>
            <a:off x="5632384" y="3835445"/>
            <a:ext cx="3840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138;p21"/>
          <p:cNvCxnSpPr/>
          <p:nvPr/>
        </p:nvCxnSpPr>
        <p:spPr>
          <a:xfrm rot="10800000" flipH="1">
            <a:off x="5632384" y="4219245"/>
            <a:ext cx="3840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" name="Google Shape;139;p21"/>
          <p:cNvCxnSpPr>
            <a:stCxn id="136" idx="3"/>
            <a:endCxn id="135" idx="1"/>
          </p:cNvCxnSpPr>
          <p:nvPr/>
        </p:nvCxnSpPr>
        <p:spPr>
          <a:xfrm>
            <a:off x="6705359" y="4120845"/>
            <a:ext cx="39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" name="Google Shape;140;p21"/>
          <p:cNvSpPr/>
          <p:nvPr/>
        </p:nvSpPr>
        <p:spPr>
          <a:xfrm>
            <a:off x="3818184" y="3775547"/>
            <a:ext cx="1314800" cy="373925"/>
          </a:xfrm>
          <a:custGeom>
            <a:avLst/>
            <a:gdLst/>
            <a:ahLst/>
            <a:cxnLst/>
            <a:rect l="l" t="t" r="r" b="b"/>
            <a:pathLst>
              <a:path w="52592" h="14957" extrusionOk="0">
                <a:moveTo>
                  <a:pt x="0" y="14958"/>
                </a:moveTo>
                <a:cubicBezTo>
                  <a:pt x="2174" y="12679"/>
                  <a:pt x="10273" y="1459"/>
                  <a:pt x="13043" y="1284"/>
                </a:cubicBezTo>
                <a:cubicBezTo>
                  <a:pt x="15813" y="1109"/>
                  <a:pt x="14200" y="14117"/>
                  <a:pt x="16619" y="13907"/>
                </a:cubicBezTo>
                <a:cubicBezTo>
                  <a:pt x="19038" y="13697"/>
                  <a:pt x="25244" y="197"/>
                  <a:pt x="27558" y="22"/>
                </a:cubicBezTo>
                <a:cubicBezTo>
                  <a:pt x="29872" y="-153"/>
                  <a:pt x="26332" y="12820"/>
                  <a:pt x="30504" y="12855"/>
                </a:cubicBezTo>
                <a:cubicBezTo>
                  <a:pt x="34676" y="12890"/>
                  <a:pt x="48911" y="2337"/>
                  <a:pt x="52592" y="233"/>
                </a:cubicBezTo>
              </a:path>
            </a:pathLst>
          </a:custGeom>
          <a:noFill/>
          <a:ln w="19050" cap="flat" cmpd="sng">
            <a:solidFill>
              <a:srgbClr val="C27BA0"/>
            </a:solidFill>
            <a:prstDash val="dash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JP"/>
          </a:p>
        </p:txBody>
      </p:sp>
      <p:sp>
        <p:nvSpPr>
          <p:cNvPr id="141" name="Google Shape;141;p21"/>
          <p:cNvSpPr/>
          <p:nvPr/>
        </p:nvSpPr>
        <p:spPr>
          <a:xfrm>
            <a:off x="1312459" y="4896445"/>
            <a:ext cx="2505600" cy="494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1">
                    <a:lumMod val="50000"/>
                  </a:schemeClr>
                </a:solidFill>
              </a:rPr>
              <a:t>Storage</a:t>
            </a:r>
            <a:endParaRPr sz="7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5127105" y="4896445"/>
            <a:ext cx="2505600" cy="4941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1">
                    <a:lumMod val="50000"/>
                  </a:schemeClr>
                </a:solidFill>
              </a:rPr>
              <a:t>Storage</a:t>
            </a:r>
            <a:endParaRPr sz="7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1470709" y="5001495"/>
            <a:ext cx="333300" cy="22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1860709" y="5001495"/>
            <a:ext cx="333300" cy="22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5204284" y="5030395"/>
            <a:ext cx="333300" cy="22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7213184" y="5030395"/>
            <a:ext cx="333300" cy="22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952921" y="3986470"/>
            <a:ext cx="645875" cy="1099175"/>
          </a:xfrm>
          <a:custGeom>
            <a:avLst/>
            <a:gdLst/>
            <a:ahLst/>
            <a:cxnLst/>
            <a:rect l="l" t="t" r="r" b="b"/>
            <a:pathLst>
              <a:path w="25835" h="43967" extrusionOk="0">
                <a:moveTo>
                  <a:pt x="25836" y="43967"/>
                </a:moveTo>
                <a:cubicBezTo>
                  <a:pt x="21559" y="41443"/>
                  <a:pt x="2029" y="36148"/>
                  <a:pt x="171" y="28820"/>
                </a:cubicBezTo>
                <a:cubicBezTo>
                  <a:pt x="-1687" y="21492"/>
                  <a:pt x="12267" y="4803"/>
                  <a:pt x="14686" y="0"/>
                </a:cubicBezTo>
              </a:path>
            </a:pathLst>
          </a:cu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JP"/>
          </a:p>
        </p:txBody>
      </p:sp>
      <p:sp>
        <p:nvSpPr>
          <p:cNvPr id="148" name="Google Shape;148;p21"/>
          <p:cNvSpPr/>
          <p:nvPr/>
        </p:nvSpPr>
        <p:spPr>
          <a:xfrm>
            <a:off x="1840734" y="4607045"/>
            <a:ext cx="262950" cy="452300"/>
          </a:xfrm>
          <a:custGeom>
            <a:avLst/>
            <a:gdLst/>
            <a:ahLst/>
            <a:cxnLst/>
            <a:rect l="l" t="t" r="r" b="b"/>
            <a:pathLst>
              <a:path w="10518" h="18092" extrusionOk="0">
                <a:moveTo>
                  <a:pt x="10518" y="18092"/>
                </a:moveTo>
                <a:cubicBezTo>
                  <a:pt x="10027" y="16094"/>
                  <a:pt x="9326" y="9116"/>
                  <a:pt x="7573" y="6101"/>
                </a:cubicBezTo>
                <a:cubicBezTo>
                  <a:pt x="5820" y="3086"/>
                  <a:pt x="1262" y="1017"/>
                  <a:pt x="0" y="0"/>
                </a:cubicBezTo>
              </a:path>
            </a:pathLst>
          </a:cu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JP"/>
          </a:p>
        </p:txBody>
      </p:sp>
      <p:sp>
        <p:nvSpPr>
          <p:cNvPr id="149" name="Google Shape;149;p21"/>
          <p:cNvSpPr/>
          <p:nvPr/>
        </p:nvSpPr>
        <p:spPr>
          <a:xfrm flipH="1">
            <a:off x="5311630" y="4586145"/>
            <a:ext cx="118617" cy="494093"/>
          </a:xfrm>
          <a:custGeom>
            <a:avLst/>
            <a:gdLst/>
            <a:ahLst/>
            <a:cxnLst/>
            <a:rect l="l" t="t" r="r" b="b"/>
            <a:pathLst>
              <a:path w="10518" h="18092" extrusionOk="0">
                <a:moveTo>
                  <a:pt x="10518" y="18092"/>
                </a:moveTo>
                <a:cubicBezTo>
                  <a:pt x="10027" y="16094"/>
                  <a:pt x="9326" y="9116"/>
                  <a:pt x="7573" y="6101"/>
                </a:cubicBezTo>
                <a:cubicBezTo>
                  <a:pt x="5820" y="3086"/>
                  <a:pt x="1262" y="1017"/>
                  <a:pt x="0" y="0"/>
                </a:cubicBezTo>
              </a:path>
            </a:pathLst>
          </a:cu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JP"/>
          </a:p>
        </p:txBody>
      </p:sp>
      <p:sp>
        <p:nvSpPr>
          <p:cNvPr id="150" name="Google Shape;150;p21"/>
          <p:cNvSpPr/>
          <p:nvPr/>
        </p:nvSpPr>
        <p:spPr>
          <a:xfrm>
            <a:off x="7209946" y="4333570"/>
            <a:ext cx="210775" cy="710000"/>
          </a:xfrm>
          <a:custGeom>
            <a:avLst/>
            <a:gdLst/>
            <a:ahLst/>
            <a:cxnLst/>
            <a:rect l="l" t="t" r="r" b="b"/>
            <a:pathLst>
              <a:path w="8431" h="28400" extrusionOk="0">
                <a:moveTo>
                  <a:pt x="7591" y="0"/>
                </a:moveTo>
                <a:cubicBezTo>
                  <a:pt x="6329" y="2174"/>
                  <a:pt x="-122" y="8310"/>
                  <a:pt x="18" y="13043"/>
                </a:cubicBezTo>
                <a:cubicBezTo>
                  <a:pt x="158" y="17776"/>
                  <a:pt x="7030" y="25841"/>
                  <a:pt x="8432" y="28400"/>
                </a:cubicBezTo>
              </a:path>
            </a:pathLst>
          </a:cu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JP"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3603850" y="1668000"/>
            <a:ext cx="5157900" cy="21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dirty="0"/>
              <a:t>for energy efficient and sustainable computing, the </a:t>
            </a:r>
            <a:r>
              <a:rPr lang="en" sz="2000" i="1" u="sng" dirty="0"/>
              <a:t>key aspects</a:t>
            </a:r>
            <a:r>
              <a:rPr lang="en" sz="2000" dirty="0"/>
              <a:t> should be approached </a:t>
            </a:r>
            <a:endParaRPr sz="2000" dirty="0"/>
          </a:p>
        </p:txBody>
      </p:sp>
      <p:sp>
        <p:nvSpPr>
          <p:cNvPr id="152" name="Google Shape;152;p21"/>
          <p:cNvSpPr/>
          <p:nvPr/>
        </p:nvSpPr>
        <p:spPr>
          <a:xfrm>
            <a:off x="2966200" y="1961675"/>
            <a:ext cx="483900" cy="37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213B7-560F-9D5B-C7FC-C3E027FD45DD}"/>
              </a:ext>
            </a:extLst>
          </p:cNvPr>
          <p:cNvSpPr txBox="1"/>
          <p:nvPr/>
        </p:nvSpPr>
        <p:spPr>
          <a:xfrm>
            <a:off x="3949643" y="4105604"/>
            <a:ext cx="11336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>
                <a:solidFill>
                  <a:srgbClr val="C27BA0"/>
                </a:solidFill>
              </a:rPr>
              <a:t>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CAF63-34C3-5423-5A40-3E4494F49C75}"/>
              </a:ext>
            </a:extLst>
          </p:cNvPr>
          <p:cNvSpPr txBox="1"/>
          <p:nvPr/>
        </p:nvSpPr>
        <p:spPr>
          <a:xfrm rot="16371669">
            <a:off x="182892" y="4516799"/>
            <a:ext cx="11705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6D9EEB"/>
                </a:solidFill>
              </a:rPr>
              <a:t>M</a:t>
            </a:r>
            <a:r>
              <a:rPr lang="en-JP" sz="1100" dirty="0">
                <a:solidFill>
                  <a:srgbClr val="6D9EEB"/>
                </a:solidFill>
              </a:rPr>
              <a:t>emory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Neuromorphic AI: an overview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311700" y="4273225"/>
            <a:ext cx="8520600" cy="20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020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Neuromorphic AI</a:t>
            </a:r>
            <a:r>
              <a:rPr lang="en" sz="1900" i="1"/>
              <a:t> mimics the structure and functionality of biological neural systems</a:t>
            </a:r>
            <a:endParaRPr sz="1900" i="1"/>
          </a:p>
          <a:p>
            <a:pPr marL="457200" lvl="0" indent="-34020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Neuromorphic AI uses</a:t>
            </a:r>
            <a:r>
              <a:rPr lang="en" sz="1900" i="1"/>
              <a:t> event-driven processing</a:t>
            </a:r>
            <a:r>
              <a:rPr lang="en" sz="1900"/>
              <a:t>, activating components only when necessary, unlike traditional systems which are always running.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38761D"/>
                </a:solidFill>
              </a:rPr>
              <a:t>Q: How does neuromorphic AI can advance the energy-efficient and sustainable computing future?</a:t>
            </a:r>
            <a:endParaRPr sz="1900">
              <a:solidFill>
                <a:srgbClr val="38761D"/>
              </a:solidFill>
            </a:endParaRPr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67"/>
            <a:ext cx="8839204" cy="2201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>
            <a:off x="1846000" y="3710425"/>
            <a:ext cx="58218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Biological Brain and Neuromorphic System.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</a:t>
            </a:r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1"/>
          </p:nvPr>
        </p:nvSpPr>
        <p:spPr>
          <a:xfrm>
            <a:off x="311700" y="1536623"/>
            <a:ext cx="8520600" cy="22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Computationally, neuromorphic AI allows </a:t>
            </a:r>
            <a:r>
              <a:rPr lang="en" i="1" dirty="0"/>
              <a:t>low complexity</a:t>
            </a:r>
            <a:r>
              <a:rPr lang="en" dirty="0"/>
              <a:t> due to its inputs:  spikes or action potentials.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 dirty="0"/>
              <a:t>Spikes </a:t>
            </a:r>
            <a:r>
              <a:rPr lang="en" dirty="0"/>
              <a:t> are represented as binary values which allows the AI system to operate with ACC (addition-and-accumulation unit) </a:t>
            </a:r>
            <a:r>
              <a:rPr lang="en" dirty="0">
                <a:solidFill>
                  <a:schemeClr val="dk1"/>
                </a:solidFill>
              </a:rPr>
              <a:t>instead</a:t>
            </a:r>
            <a:r>
              <a:rPr lang="en" dirty="0"/>
              <a:t> of MAC (Multiply-and-Accumulation unit) </a:t>
            </a:r>
            <a:endParaRPr dirty="0"/>
          </a:p>
        </p:txBody>
      </p:sp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800" y="3782875"/>
            <a:ext cx="5601176" cy="112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1991909" y="4934902"/>
            <a:ext cx="5283749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Energy results with 22nm technology. Source: </a:t>
            </a:r>
            <a:r>
              <a:rPr lang="en" sz="1200" u="sng" dirty="0">
                <a:solidFill>
                  <a:schemeClr val="hlink"/>
                </a:solidFill>
                <a:hlinkClick r:id="rId4"/>
              </a:rPr>
              <a:t>NUS,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Singapore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0885B-57DC-FAA6-B1A1-0A434F6A9388}"/>
              </a:ext>
            </a:extLst>
          </p:cNvPr>
          <p:cNvSpPr txBox="1"/>
          <p:nvPr/>
        </p:nvSpPr>
        <p:spPr>
          <a:xfrm>
            <a:off x="7546976" y="4343812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4">
                    <a:lumMod val="50000"/>
                  </a:schemeClr>
                </a:solidFill>
              </a:rPr>
              <a:t>↓ -14.63%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2BE9D-14AC-01C0-7DAC-057DADF9FE05}"/>
              </a:ext>
            </a:extLst>
          </p:cNvPr>
          <p:cNvSpPr txBox="1"/>
          <p:nvPr/>
        </p:nvSpPr>
        <p:spPr>
          <a:xfrm>
            <a:off x="7546975" y="4569665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solidFill>
                  <a:schemeClr val="accent4">
                    <a:lumMod val="50000"/>
                  </a:schemeClr>
                </a:solidFill>
              </a:rPr>
              <a:t>↓ - 40.96%</a:t>
            </a:r>
          </a:p>
        </p:txBody>
      </p:sp>
      <p:sp>
        <p:nvSpPr>
          <p:cNvPr id="4" name="Google Shape;308;p28">
            <a:extLst>
              <a:ext uri="{FF2B5EF4-FFF2-40B4-BE49-F238E27FC236}">
                <a16:creationId xmlns:a16="http://schemas.microsoft.com/office/drawing/2014/main" id="{2B0A1522-3147-A1AD-82A3-DB98B5B9343D}"/>
              </a:ext>
            </a:extLst>
          </p:cNvPr>
          <p:cNvSpPr txBox="1"/>
          <p:nvPr/>
        </p:nvSpPr>
        <p:spPr>
          <a:xfrm>
            <a:off x="168343" y="4585093"/>
            <a:ext cx="8419301" cy="4000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Neuromorphic AI</a:t>
            </a:r>
            <a:endParaRPr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</a:t>
            </a:r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311700" y="1536630"/>
            <a:ext cx="8520600" cy="16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Since Neuromorphic AI use </a:t>
            </a:r>
            <a:r>
              <a:rPr lang="en" i="1" dirty="0"/>
              <a:t>spikes as </a:t>
            </a:r>
            <a:r>
              <a:rPr lang="en" dirty="0"/>
              <a:t>communication, only binary (0 or 1) values needed to be transferred.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i="1" dirty="0"/>
              <a:t>Spikes </a:t>
            </a:r>
            <a:r>
              <a:rPr lang="en" dirty="0"/>
              <a:t>are also </a:t>
            </a:r>
            <a:r>
              <a:rPr lang="en" u="sng" dirty="0"/>
              <a:t>sparse</a:t>
            </a:r>
            <a:r>
              <a:rPr lang="en" dirty="0"/>
              <a:t>, which allows less communication between modules/systems</a:t>
            </a:r>
            <a:endParaRPr dirty="0"/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379" y="3220297"/>
            <a:ext cx="5927251" cy="29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1731529" y="6258372"/>
            <a:ext cx="6337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 spikes per time of a layer of 20 neuron of an SNN.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Storage</a:t>
            </a:r>
            <a:endParaRPr sz="3900"/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1"/>
          </p:nvPr>
        </p:nvSpPr>
        <p:spPr>
          <a:xfrm>
            <a:off x="311700" y="5247772"/>
            <a:ext cx="8520600" cy="8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9882" algn="l" rtl="0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von Neuman architectures require back-and-forth data transferring between memory and CPU/GPU</a:t>
            </a:r>
            <a:endParaRPr sz="1595"/>
          </a:p>
          <a:p>
            <a:pPr marL="457200" lvl="0" indent="-329882" algn="l" rtl="0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Neuromorphic architecture targets integrating memory and computing together</a:t>
            </a:r>
            <a:endParaRPr sz="1595"/>
          </a:p>
        </p:txBody>
      </p:sp>
      <p:sp>
        <p:nvSpPr>
          <p:cNvPr id="186" name="Google Shape;186;p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87" y="1696598"/>
            <a:ext cx="8833871" cy="34451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8FE09B-3C27-E1BA-B927-7B4D7764BA09}"/>
              </a:ext>
            </a:extLst>
          </p:cNvPr>
          <p:cNvSpPr/>
          <p:nvPr/>
        </p:nvSpPr>
        <p:spPr>
          <a:xfrm>
            <a:off x="1794201" y="3429000"/>
            <a:ext cx="627723" cy="109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7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4E7F0A-3348-158D-7A91-169244A1AF38}"/>
              </a:ext>
            </a:extLst>
          </p:cNvPr>
          <p:cNvSpPr/>
          <p:nvPr/>
        </p:nvSpPr>
        <p:spPr>
          <a:xfrm>
            <a:off x="6706424" y="2385264"/>
            <a:ext cx="627723" cy="109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700" dirty="0"/>
              <a:t>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DCA0F4-C896-7B34-1CB1-95020145BD6E}"/>
              </a:ext>
            </a:extLst>
          </p:cNvPr>
          <p:cNvSpPr/>
          <p:nvPr/>
        </p:nvSpPr>
        <p:spPr>
          <a:xfrm>
            <a:off x="6706423" y="2645709"/>
            <a:ext cx="627723" cy="109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700" dirty="0"/>
              <a:t>Compute</a:t>
            </a:r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8016C330-F8C3-3161-B9BF-FDF4DA29D5E2}"/>
              </a:ext>
            </a:extLst>
          </p:cNvPr>
          <p:cNvSpPr/>
          <p:nvPr/>
        </p:nvSpPr>
        <p:spPr>
          <a:xfrm>
            <a:off x="6979098" y="2479794"/>
            <a:ext cx="70844" cy="16591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7 L -0.00139 -0.1057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10578 L 4.44444E-6 -3.7037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3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b="1" dirty="0">
                <a:solidFill>
                  <a:schemeClr val="bg1">
                    <a:lumMod val="85000"/>
                  </a:schemeClr>
                </a:solidFill>
              </a:rPr>
              <a:t>Why</a:t>
            </a:r>
            <a:r>
              <a:rPr lang="en-US" sz="2500" dirty="0">
                <a:solidFill>
                  <a:schemeClr val="bg1">
                    <a:lumMod val="85000"/>
                  </a:schemeClr>
                </a:solidFill>
              </a:rPr>
              <a:t> Energy Efficient and Sustainable AI Computing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 dirty="0">
                <a:solidFill>
                  <a:schemeClr val="bg1">
                    <a:lumMod val="85000"/>
                  </a:schemeClr>
                </a:solidFill>
              </a:rPr>
              <a:t>How</a:t>
            </a: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 to advance neuromorphic AI for Sustainability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vi-VN" sz="2500" b="1" dirty="0"/>
              <a:t>What</a:t>
            </a:r>
            <a:r>
              <a:rPr lang="vi-VN" sz="2500" dirty="0"/>
              <a:t> are we doing for </a:t>
            </a:r>
            <a:r>
              <a:rPr lang="en" sz="2500" dirty="0"/>
              <a:t>Energy Efficient and Sustainable Computing</a:t>
            </a:r>
            <a:endParaRPr sz="2500"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Conclusion &amp; Future Outlook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779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 on energy-efficient and sustainable AI (1)</a:t>
            </a:r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5555288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 </a:t>
            </a:r>
            <a:r>
              <a:rPr lang="en" i="1" u="sng" dirty="0"/>
              <a:t>memory</a:t>
            </a:r>
            <a:r>
              <a:rPr lang="en" dirty="0"/>
              <a:t> aspect – Our Stacking Memory Design: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Split memory into multiple dies in 3D-ICs.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Each die to host different bit indexes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Fine grain control of each die for reducing power.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93" name="Google Shape;293;p2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294" name="Google Shape;2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6886" y="1509276"/>
            <a:ext cx="3217225" cy="407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7" title="energy_volt_acc_err-crop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550" y="3451851"/>
            <a:ext cx="5430774" cy="25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353375" y="6091825"/>
            <a:ext cx="8303700" cy="4002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dirty="0"/>
              <a:t>Energy/Accuracy result for 3D Stacking memory:</a:t>
            </a:r>
            <a:r>
              <a:rPr lang="e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21% energy reduction with similar accuracy</a:t>
            </a:r>
            <a:r>
              <a:rPr lang="en" dirty="0"/>
              <a:t>.</a:t>
            </a:r>
            <a:endParaRPr dirty="0"/>
          </a:p>
        </p:txBody>
      </p:sp>
      <p:sp>
        <p:nvSpPr>
          <p:cNvPr id="297" name="Google Shape;297;p27"/>
          <p:cNvSpPr txBox="1"/>
          <p:nvPr/>
        </p:nvSpPr>
        <p:spPr>
          <a:xfrm>
            <a:off x="311700" y="6492025"/>
            <a:ext cx="764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https://ieeexplore.ieee.org/document/10269541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body" idx="1"/>
          </p:nvPr>
        </p:nvSpPr>
        <p:spPr>
          <a:xfrm>
            <a:off x="311700" y="1536632"/>
            <a:ext cx="8520600" cy="5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350" dirty="0"/>
              <a:t>On </a:t>
            </a:r>
            <a:r>
              <a:rPr lang="en" sz="1350" i="1" u="sng" dirty="0"/>
              <a:t>computation</a:t>
            </a:r>
            <a:r>
              <a:rPr lang="en" sz="1350" dirty="0"/>
              <a:t> aspect – Our Approximation Neuron Searching Framework:</a:t>
            </a:r>
            <a:endParaRPr sz="135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35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350" dirty="0"/>
          </a:p>
        </p:txBody>
      </p:sp>
      <p:sp>
        <p:nvSpPr>
          <p:cNvPr id="302" name="Google Shape;302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 on energy-efficient and sustainable AI (2)</a:t>
            </a:r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05" name="Google Shape;3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18675"/>
            <a:ext cx="8832983" cy="385149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460875" y="6358325"/>
            <a:ext cx="6429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Source: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https://ieeexplore.ieee.org/document/11122553</a:t>
            </a:r>
            <a:r>
              <a:rPr lang="en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307" name="Google Shape;30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406" y="1536625"/>
            <a:ext cx="5631600" cy="50751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/>
          <p:nvPr/>
        </p:nvSpPr>
        <p:spPr>
          <a:xfrm>
            <a:off x="613406" y="5013606"/>
            <a:ext cx="7981954" cy="104641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Energy/Accuracy result for approximate design: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28% energy reduction with similar accuracy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70% energy reduction with 5% accuracy loss.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80x/40x time smaller energy per synaptic per operation than TrueNorth/Loihi-1</a:t>
            </a:r>
            <a:endParaRPr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12E6CA4B-39E1-DD5B-26DB-47D7960F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>
            <a:extLst>
              <a:ext uri="{FF2B5EF4-FFF2-40B4-BE49-F238E27FC236}">
                <a16:creationId xmlns:a16="http://schemas.microsoft.com/office/drawing/2014/main" id="{34DC5484-80FF-AFD7-9BC3-C579AD3AE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approach on energy-efficient and sustainable AI (3)</a:t>
            </a:r>
            <a:endParaRPr dirty="0"/>
          </a:p>
        </p:txBody>
      </p:sp>
      <p:sp>
        <p:nvSpPr>
          <p:cNvPr id="303" name="Google Shape;303;p28">
            <a:extLst>
              <a:ext uri="{FF2B5EF4-FFF2-40B4-BE49-F238E27FC236}">
                <a16:creationId xmlns:a16="http://schemas.microsoft.com/office/drawing/2014/main" id="{49F799D5-EE0E-05B9-6866-9C63E172F6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36631"/>
            <a:ext cx="8520600" cy="1611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 dirty="0"/>
              <a:t>On </a:t>
            </a:r>
            <a:r>
              <a:rPr lang="en" sz="1400" i="1" u="sng" dirty="0"/>
              <a:t>communication</a:t>
            </a:r>
            <a:r>
              <a:rPr lang="en" sz="1400" dirty="0"/>
              <a:t> aspect – Our Spike Compression Framework:</a:t>
            </a:r>
          </a:p>
          <a:p>
            <a:pPr lvl="0"/>
            <a:r>
              <a:rPr lang="en-US" sz="1600" dirty="0"/>
              <a:t>Naturally, neurons are likely to spikes together given the same input spikes.</a:t>
            </a:r>
          </a:p>
          <a:p>
            <a:pPr lvl="0"/>
            <a:r>
              <a:rPr lang="en-US" sz="1600" dirty="0"/>
              <a:t>Group the frequently spike pattern (FSP) neuron to reduce the communication load.</a:t>
            </a:r>
          </a:p>
          <a:p>
            <a:pPr lvl="1"/>
            <a:r>
              <a:rPr lang="vi-VN" sz="1600" dirty="0"/>
              <a:t>Instead of multiple spikes, we send only one spike to represent a group of neuron</a:t>
            </a:r>
            <a:endParaRPr sz="1600" dirty="0"/>
          </a:p>
        </p:txBody>
      </p:sp>
      <p:sp>
        <p:nvSpPr>
          <p:cNvPr id="304" name="Google Shape;304;p28">
            <a:extLst>
              <a:ext uri="{FF2B5EF4-FFF2-40B4-BE49-F238E27FC236}">
                <a16:creationId xmlns:a16="http://schemas.microsoft.com/office/drawing/2014/main" id="{89F9C5A7-A6EB-BFF0-B6C0-41537F8350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5FE32-B43D-3FB6-E775-F1A6CB7A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74" y="3077655"/>
            <a:ext cx="7772400" cy="3186978"/>
          </a:xfrm>
          <a:prstGeom prst="rect">
            <a:avLst/>
          </a:prstGeom>
        </p:spPr>
      </p:pic>
      <p:sp>
        <p:nvSpPr>
          <p:cNvPr id="3" name="Google Shape;308;p28">
            <a:extLst>
              <a:ext uri="{FF2B5EF4-FFF2-40B4-BE49-F238E27FC236}">
                <a16:creationId xmlns:a16="http://schemas.microsoft.com/office/drawing/2014/main" id="{1567F3EC-41A1-8936-642E-DBDC88ACCFAB}"/>
              </a:ext>
            </a:extLst>
          </p:cNvPr>
          <p:cNvSpPr txBox="1"/>
          <p:nvPr/>
        </p:nvSpPr>
        <p:spPr>
          <a:xfrm>
            <a:off x="613406" y="5013606"/>
            <a:ext cx="8035120" cy="830966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Result for spike compression: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10+% spike communication reduction without accuracy loss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30+% energy reduction with 1.2% accuracy loss.</a:t>
            </a:r>
            <a:endParaRPr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15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85AD-D48F-6B42-EA9A-6D5B7D73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Our approach on energy-efficient and sustainable AI (4)</a:t>
            </a:r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4D39D-E329-C651-E952-78E38DBA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16" y="1536633"/>
            <a:ext cx="7772400" cy="39016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5491A-6A6A-43E7-03DD-58E12DF2F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5491343"/>
            <a:ext cx="8520600" cy="600490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dirty="0"/>
              <a:t>(a) Distributed system for serverless </a:t>
            </a:r>
            <a:r>
              <a:rPr lang="en-US" dirty="0" err="1"/>
              <a:t>multti</a:t>
            </a:r>
            <a:r>
              <a:rPr lang="en-US" dirty="0"/>
              <a:t>-chip learning; (b) node architecture; (c) SNN model with on-chip unsupervised STDP and lateral inhibition; (d) battery capacity degradation over charge–discharge cycles; (e) estimated power harvested using a 1-W solar panel under varying weather; (f) energy-adaptive consumption under fluctuating supply; (g) error-recovery method for reducing BER.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07274-0F3E-05D8-AC26-68F2B579B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14C31B-83D8-4785-E23E-90C7239D1A16}"/>
              </a:ext>
            </a:extLst>
          </p:cNvPr>
          <p:cNvGrpSpPr/>
          <p:nvPr/>
        </p:nvGrpSpPr>
        <p:grpSpPr>
          <a:xfrm>
            <a:off x="685800" y="2648680"/>
            <a:ext cx="7772400" cy="1868417"/>
            <a:chOff x="685800" y="2648680"/>
            <a:chExt cx="7772400" cy="18684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D39A43-1026-D575-E01A-E2CA7BBB4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2648680"/>
              <a:ext cx="7772400" cy="15606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E27B2E-E47E-3FC7-F8D0-01CC585CC56F}"/>
                </a:ext>
              </a:extLst>
            </p:cNvPr>
            <p:cNvSpPr txBox="1"/>
            <p:nvPr/>
          </p:nvSpPr>
          <p:spPr>
            <a:xfrm>
              <a:off x="929228" y="4209320"/>
              <a:ext cx="7528972" cy="307777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JP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n-lt"/>
                  <a:ea typeface="+mn-ea"/>
                  <a:cs typeface="+mn-cs"/>
                </a:rPr>
                <a:t>On-chip</a:t>
              </a:r>
              <a:r>
                <a:rPr lang="en-JP" dirty="0"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 learning result with energy-adaption </a:t>
              </a:r>
              <a:r>
                <a:rPr lang="en-JP" dirty="0">
                  <a:solidFill>
                    <a:schemeClr val="accent4">
                      <a:lumMod val="20000"/>
                      <a:lumOff val="80000"/>
                    </a:schemeClr>
                  </a:solidFill>
                  <a:sym typeface="Wingdings" pitchFamily="2" charset="2"/>
                </a:rPr>
                <a:t> achieve </a:t>
              </a:r>
              <a:r>
                <a:rPr lang="en-JP" b="1" u="sng" dirty="0">
                  <a:solidFill>
                    <a:schemeClr val="accent4">
                      <a:lumMod val="20000"/>
                      <a:lumOff val="80000"/>
                    </a:schemeClr>
                  </a:solidFill>
                  <a:sym typeface="Wingdings" pitchFamily="2" charset="2"/>
                </a:rPr>
                <a:t>Operational Carbon Neutrality</a:t>
              </a:r>
              <a:endParaRPr lang="en-JP" b="1" u="sng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A8731F5-0A26-0BF0-0476-F9412B2A8D49}"/>
              </a:ext>
            </a:extLst>
          </p:cNvPr>
          <p:cNvSpPr txBox="1"/>
          <p:nvPr/>
        </p:nvSpPr>
        <p:spPr>
          <a:xfrm>
            <a:off x="432486" y="1229513"/>
            <a:ext cx="8025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 </a:t>
            </a:r>
            <a:r>
              <a:rPr lang="en-US" i="1" u="sng" dirty="0"/>
              <a:t>model adaption</a:t>
            </a:r>
            <a:r>
              <a:rPr lang="en-US" dirty="0"/>
              <a:t> aspect – Our Caborn-Neutral AI framework:</a:t>
            </a:r>
          </a:p>
        </p:txBody>
      </p:sp>
    </p:spTree>
    <p:extLst>
      <p:ext uri="{BB962C8B-B14F-4D97-AF65-F5344CB8AC3E}">
        <p14:creationId xmlns:p14="http://schemas.microsoft.com/office/powerpoint/2010/main" val="191409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b="1" dirty="0">
                <a:solidFill>
                  <a:schemeClr val="bg1">
                    <a:lumMod val="85000"/>
                  </a:schemeClr>
                </a:solidFill>
              </a:rPr>
              <a:t>Why </a:t>
            </a:r>
            <a:r>
              <a:rPr lang="en-US" sz="2500" dirty="0">
                <a:solidFill>
                  <a:schemeClr val="bg1">
                    <a:lumMod val="85000"/>
                  </a:schemeClr>
                </a:solidFill>
              </a:rPr>
              <a:t>Energy Efficient and Sustainable AI Computing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b="1" dirty="0">
                <a:solidFill>
                  <a:schemeClr val="bg1">
                    <a:lumMod val="85000"/>
                  </a:schemeClr>
                </a:solidFill>
              </a:rPr>
              <a:t>How</a:t>
            </a: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 to advance neuromorphic AI for Sustainability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vi-VN" sz="2500" b="1" dirty="0">
                <a:solidFill>
                  <a:schemeClr val="bg1">
                    <a:lumMod val="85000"/>
                  </a:schemeClr>
                </a:solidFill>
              </a:rPr>
              <a:t>What</a:t>
            </a:r>
            <a:r>
              <a:rPr lang="vi-VN" sz="2500" dirty="0">
                <a:solidFill>
                  <a:schemeClr val="bg1">
                    <a:lumMod val="85000"/>
                  </a:schemeClr>
                </a:solidFill>
              </a:rPr>
              <a:t> are we doing for </a:t>
            </a:r>
            <a:r>
              <a:rPr lang="en" sz="2500" dirty="0">
                <a:solidFill>
                  <a:schemeClr val="bg1">
                    <a:lumMod val="85000"/>
                  </a:schemeClr>
                </a:solidFill>
              </a:rPr>
              <a:t>Energy Efficient and Sustainable Computing</a:t>
            </a:r>
            <a:endParaRPr sz="2500" dirty="0">
              <a:solidFill>
                <a:schemeClr val="bg1">
                  <a:lumMod val="85000"/>
                </a:schemeClr>
              </a:solidFill>
            </a:endParaRPr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 dirty="0"/>
              <a:t>Conclusion &amp; Future Outlook</a:t>
            </a:r>
            <a:endParaRPr sz="2500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3560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28" name="Google Shape;328;p3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vi-VN" sz="2400" dirty="0"/>
              <a:t>With the current trend of AI system, energy consumption and related carbon emission will be major issues.</a:t>
            </a:r>
          </a:p>
          <a:p>
            <a:pPr marL="285750" indent="-285750">
              <a:spcAft>
                <a:spcPts val="1200"/>
              </a:spcAft>
            </a:pPr>
            <a:r>
              <a:rPr lang="vi-VN" sz="2400" dirty="0"/>
              <a:t>Neuromorphic AI offers the new solution with lower complexity in computing, adaptivity.</a:t>
            </a:r>
          </a:p>
          <a:p>
            <a:pPr marL="285750" indent="-285750">
              <a:spcAft>
                <a:spcPts val="1200"/>
              </a:spcAft>
            </a:pPr>
            <a:r>
              <a:rPr lang="vi-VN" sz="2400" dirty="0"/>
              <a:t>Combining neuromorphic AI with advanced techniques open the pathway for low-power AI platform.</a:t>
            </a:r>
          </a:p>
          <a:p>
            <a:pPr marL="285750" indent="-285750">
              <a:spcAft>
                <a:spcPts val="1200"/>
              </a:spcAft>
            </a:pPr>
            <a:r>
              <a:rPr lang="vi-VN" sz="2400" dirty="0"/>
              <a:t>Future outlook: enhancing on-chip learning and scalble multi-chip neuromorphic AI can offer better solutions. </a:t>
            </a:r>
            <a:endParaRPr sz="2400" dirty="0"/>
          </a:p>
        </p:txBody>
      </p:sp>
      <p:sp>
        <p:nvSpPr>
          <p:cNvPr id="329" name="Google Shape;329;p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attentions!</a:t>
            </a:r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2016</Words>
  <Application>Microsoft Macintosh PowerPoint</Application>
  <PresentationFormat>On-screen Show (4:3)</PresentationFormat>
  <Paragraphs>207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Georgia</vt:lpstr>
      <vt:lpstr>Symbol</vt:lpstr>
      <vt:lpstr>Times New Roman</vt:lpstr>
      <vt:lpstr>Simple Light</vt:lpstr>
      <vt:lpstr>Advancing Neuromorphic AI for Energy-Efficient and Sustainable Computing 優れたエネルギー効率と持続可能なコンピューティングに向けたニューロモルフィックAIの発展</vt:lpstr>
      <vt:lpstr>Contents</vt:lpstr>
      <vt:lpstr>Contents</vt:lpstr>
      <vt:lpstr>The raising demand in AI computing</vt:lpstr>
      <vt:lpstr>Demand based AI power consumption</vt:lpstr>
      <vt:lpstr>Renewable energy projection</vt:lpstr>
      <vt:lpstr>Carbon Footprint for AI tasks</vt:lpstr>
      <vt:lpstr>How to reduce operational carbon emissions</vt:lpstr>
      <vt:lpstr>Contents</vt:lpstr>
      <vt:lpstr>How to reduce operational carbon emissions</vt:lpstr>
      <vt:lpstr>The key aspects of AI computing</vt:lpstr>
      <vt:lpstr>Neuromorphic AI: an overview</vt:lpstr>
      <vt:lpstr>Computation</vt:lpstr>
      <vt:lpstr>Communication</vt:lpstr>
      <vt:lpstr>Storage</vt:lpstr>
      <vt:lpstr>Contents</vt:lpstr>
      <vt:lpstr>Our approach on energy-efficient and sustainable AI (1)</vt:lpstr>
      <vt:lpstr>Our approach on energy-efficient and sustainable AI (2)</vt:lpstr>
      <vt:lpstr>Our approach on energy-efficient and sustainable AI (3)</vt:lpstr>
      <vt:lpstr>Our approach on energy-efficient and sustainable AI (4)</vt:lpstr>
      <vt:lpstr>Contents</vt:lpstr>
      <vt:lpstr>Conclusion</vt:lpstr>
      <vt:lpstr>Thank you for your attentions!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Advancing Neuromorphic AI for Energy-Efficient and Sustainable Computing 優れたエネルギー効率と持続可能なコンピューティングに向けたニューロモルフィックAIの発展</dc:title>
  <cp:lastModifiedBy>Khanh N. Dang</cp:lastModifiedBy>
  <cp:revision>28</cp:revision>
  <dcterms:modified xsi:type="dcterms:W3CDTF">2025-11-26T06:33:47Z</dcterms:modified>
</cp:coreProperties>
</file>
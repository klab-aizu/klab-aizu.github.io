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8217FA-ADFE-43C1-8D6B-E435BE75961F}">
  <a:tblStyle styleId="{428217FA-ADFE-43C1-8D6B-E435BE7596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27f8912b9_2_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27f8912b9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27f8912b9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27f8912b9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27f8912b9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27f8912b9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7f8912b9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27f8912b9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27f8912b9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27f8912b9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27f8912b9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27f8912b9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27f8912b9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27f8912b9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7f8912b9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7f8912b9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27f8912b9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27f8912b9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7f8912b9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7f8912b9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27f8912b9_2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27f8912b9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7f8912b9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27f8912b9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435150" y="119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35150" y="1196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241825" y="4838100"/>
            <a:ext cx="1503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</a:rPr>
              <a:t>Saturday,Jan 31,2026</a:t>
            </a:r>
            <a:endParaRPr sz="900">
              <a:solidFill>
                <a:srgbClr val="CCCCCC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37650" y="4838100"/>
            <a:ext cx="186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</a:rPr>
              <a:t>Research Progress| Singh Harsh</a:t>
            </a:r>
            <a:r>
              <a:rPr lang="en" sz="1000">
                <a:solidFill>
                  <a:srgbClr val="B7B7B7"/>
                </a:solidFill>
              </a:rPr>
              <a:t> </a:t>
            </a:r>
            <a:endParaRPr sz="1000">
              <a:solidFill>
                <a:srgbClr val="B7B7B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b="1" lang="en" sz="3000"/>
              <a:t>Distributed Execution of Spiking Neural Networks</a:t>
            </a:r>
            <a:endParaRPr b="1"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675" y="2834125"/>
            <a:ext cx="8520600" cy="1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100"/>
              <a:t>Harsh Singh</a:t>
            </a:r>
            <a:endParaRPr sz="8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100"/>
              <a:t>M5298103</a:t>
            </a:r>
            <a:endParaRPr sz="8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100"/>
              <a:t>31/01/2026</a:t>
            </a:r>
            <a:endParaRPr sz="8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" sz="3355"/>
              <a:t>Content</a:t>
            </a:r>
            <a:endParaRPr b="1"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1144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Introduction</a:t>
            </a:r>
            <a:br>
              <a:rPr lang="en" sz="6700">
                <a:solidFill>
                  <a:schemeClr val="dk1"/>
                </a:solidFill>
              </a:rPr>
            </a:br>
            <a:endParaRPr sz="6700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Motivation</a:t>
            </a:r>
            <a:br>
              <a:rPr lang="en" sz="6700">
                <a:solidFill>
                  <a:schemeClr val="dk1"/>
                </a:solidFill>
              </a:rPr>
            </a:br>
            <a:endParaRPr sz="6700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Research Background</a:t>
            </a:r>
            <a:br>
              <a:rPr lang="en" sz="6700">
                <a:solidFill>
                  <a:schemeClr val="dk1"/>
                </a:solidFill>
              </a:rPr>
            </a:br>
            <a:endParaRPr sz="6700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Problem Statement</a:t>
            </a:r>
            <a:br>
              <a:rPr lang="en" sz="6700">
                <a:solidFill>
                  <a:schemeClr val="dk1"/>
                </a:solidFill>
              </a:rPr>
            </a:br>
            <a:endParaRPr sz="6700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Proposed Method</a:t>
            </a:r>
            <a:br>
              <a:rPr lang="en" sz="6700">
                <a:solidFill>
                  <a:schemeClr val="dk1"/>
                </a:solidFill>
              </a:rPr>
            </a:br>
            <a:endParaRPr sz="6700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Research Progress</a:t>
            </a:r>
            <a:br>
              <a:rPr lang="en" sz="6700">
                <a:solidFill>
                  <a:schemeClr val="dk1"/>
                </a:solidFill>
              </a:rPr>
            </a:br>
            <a:endParaRPr sz="6700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00">
                <a:solidFill>
                  <a:schemeClr val="dk1"/>
                </a:solidFill>
              </a:rPr>
              <a:t>Plan &amp; Schedule</a:t>
            </a:r>
            <a:endParaRPr sz="6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1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" sz="3355"/>
              <a:t> Introduction</a:t>
            </a:r>
            <a:endParaRPr b="1"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463925" y="1132275"/>
            <a:ext cx="8520600" cy="35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Embedded and edge devices have limited computation and memory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Running large neural networks on a single device is difficult</a:t>
            </a:r>
            <a:endParaRPr sz="200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Energy efficiency and scalability are important challenges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2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5252125" y="3151675"/>
            <a:ext cx="14100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18" name="Google Shape;118;p27" title="ChatGPT Image Jan 29, 2026, 06_13_4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00" y="2294875"/>
            <a:ext cx="7075851" cy="20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/>
        </p:nvSpPr>
        <p:spPr>
          <a:xfrm>
            <a:off x="716400" y="4249025"/>
            <a:ext cx="7679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This figure shows why large neural networks are difficult to run on resource-limited edge devices.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" sz="3355"/>
              <a:t>Motivation</a:t>
            </a:r>
            <a:endParaRPr b="1"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435150" y="1196575"/>
            <a:ext cx="8520600" cy="3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Distributed execution can improve performance and scalability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Spiking Neural Networks (SNNs) are energy efficient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However, communication delay affects accuracy and stability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                  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                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/>
              <a:t>   </a:t>
            </a:r>
            <a:r>
              <a:rPr lang="en" sz="900"/>
              <a:t> 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3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27" name="Google Shape;127;p28" title="ChatGPT Image Jan 29, 2026, 06_31_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600" y="2400300"/>
            <a:ext cx="6562275" cy="16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8"/>
          <p:cNvSpPr txBox="1"/>
          <p:nvPr/>
        </p:nvSpPr>
        <p:spPr>
          <a:xfrm>
            <a:off x="612650" y="4062800"/>
            <a:ext cx="7910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This figure illustrates spike communication between devices and the impact of communication delay in distributed execution</a:t>
            </a:r>
            <a:r>
              <a:rPr lang="en" sz="1300">
                <a:solidFill>
                  <a:schemeClr val="dk2"/>
                </a:solidFill>
              </a:rPr>
              <a:t> 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" sz="3355"/>
              <a:t>Research Background</a:t>
            </a:r>
            <a:endParaRPr b="1"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467425" y="1096325"/>
            <a:ext cx="8520600" cy="36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SNNs process information using spikes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Suitable for low-power and neuromorphic systems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Distributed SNN execution introduces synchronization issues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9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62"/>
          </a:p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4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36" name="Google Shape;136;p29" title="ChatGPT Image Jan 29, 2026, 06_57_5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75" y="2460250"/>
            <a:ext cx="7289526" cy="116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 txBox="1"/>
          <p:nvPr/>
        </p:nvSpPr>
        <p:spPr>
          <a:xfrm>
            <a:off x="5109475" y="3213225"/>
            <a:ext cx="2007000" cy="3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synchronization issues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565475" y="4062800"/>
            <a:ext cx="82668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This figure shows how SNNs process information using spikes and how distribution introduces synchronization issues.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" sz="3355"/>
              <a:t>Problem Statement</a:t>
            </a:r>
            <a:endParaRPr b="1"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182575" y="1079025"/>
            <a:ext cx="86832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 execution of SNNs across multiple devices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Communication delay between devices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Delayed or missing spikes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degradation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5</a:t>
            </a:r>
            <a:endParaRPr>
              <a:solidFill>
                <a:srgbClr val="B7B7B7"/>
              </a:solidFill>
            </a:endParaRPr>
          </a:p>
        </p:txBody>
      </p:sp>
      <p:pic>
        <p:nvPicPr>
          <p:cNvPr id="146" name="Google Shape;146;p30" title="problem statemnet ohot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00" y="2500375"/>
            <a:ext cx="6535449" cy="18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/>
          <p:nvPr/>
        </p:nvSpPr>
        <p:spPr>
          <a:xfrm>
            <a:off x="1095450" y="2616650"/>
            <a:ext cx="1755000" cy="23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Expected spike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3098450" y="2616650"/>
            <a:ext cx="1755000" cy="23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</a:t>
            </a:r>
            <a:r>
              <a:rPr lang="en" sz="1300">
                <a:solidFill>
                  <a:srgbClr val="434343"/>
                </a:solidFill>
              </a:rPr>
              <a:t>Delayed </a:t>
            </a:r>
            <a:r>
              <a:rPr lang="en" sz="1300">
                <a:solidFill>
                  <a:srgbClr val="434343"/>
                </a:solidFill>
              </a:rPr>
              <a:t>spike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5622775" y="3577050"/>
            <a:ext cx="1398000" cy="23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</a:t>
            </a:r>
            <a:r>
              <a:rPr lang="en" sz="1300">
                <a:solidFill>
                  <a:srgbClr val="434343"/>
                </a:solidFill>
              </a:rPr>
              <a:t>Spike missed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1973675" y="4059625"/>
            <a:ext cx="1858500" cy="23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</a:rPr>
              <a:t>Integration Window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151" name="Google Shape;151;p30"/>
          <p:cNvSpPr/>
          <p:nvPr/>
        </p:nvSpPr>
        <p:spPr>
          <a:xfrm>
            <a:off x="5727025" y="4016200"/>
            <a:ext cx="987300" cy="23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Time</a:t>
            </a:r>
            <a:endParaRPr sz="1200"/>
          </a:p>
        </p:txBody>
      </p:sp>
      <p:sp>
        <p:nvSpPr>
          <p:cNvPr id="152" name="Google Shape;152;p30"/>
          <p:cNvSpPr txBox="1"/>
          <p:nvPr/>
        </p:nvSpPr>
        <p:spPr>
          <a:xfrm>
            <a:off x="438600" y="4393275"/>
            <a:ext cx="82668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This figure demonstrates how communication delay leads to delayed or missing spikes and performance degradation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" sz="3355"/>
              <a:t>Proposed Method</a:t>
            </a:r>
            <a:endParaRPr b="1"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362700" y="1164925"/>
            <a:ext cx="8520600" cy="37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Represent SNN as a graph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Partition the network into modules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Deploy modules on multiple device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Exchange spike information between devices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6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0" name="Google Shape;160;p31"/>
          <p:cNvSpPr txBox="1"/>
          <p:nvPr/>
        </p:nvSpPr>
        <p:spPr>
          <a:xfrm>
            <a:off x="6550450" y="3463275"/>
            <a:ext cx="9717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" name="Google Shape;161;p31"/>
          <p:cNvSpPr txBox="1"/>
          <p:nvPr/>
        </p:nvSpPr>
        <p:spPr>
          <a:xfrm>
            <a:off x="802800" y="4618450"/>
            <a:ext cx="75384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62" name="Google Shape;162;p31" title="ChatGPT Image Jan 29, 2026, 07_45_5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850" y="2579637"/>
            <a:ext cx="6178126" cy="199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1" title="u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950" y="3031900"/>
            <a:ext cx="1503076" cy="5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>
            <a:off x="254400" y="4470250"/>
            <a:ext cx="8737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This figure shows the proposed approach of representing an SNN as a graph, partitioning it, and deploying modules across devices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Solution Overview</a:t>
            </a:r>
            <a:endParaRPr b="1" sz="3020"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276750" y="1272375"/>
            <a:ext cx="8674500" cy="38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Represent the spiking neural network as a graph</a:t>
            </a:r>
            <a:br>
              <a:rPr lang="en" sz="1400"/>
            </a:br>
            <a:endParaRPr sz="1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Partition the network into smaller modules</a:t>
            </a:r>
            <a:br>
              <a:rPr lang="en" sz="1400"/>
            </a:br>
            <a:endParaRPr sz="1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Deploy modules on multiple devices and exchange spike information between them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7</a:t>
            </a:r>
            <a:endParaRPr/>
          </a:p>
        </p:txBody>
      </p:sp>
      <p:pic>
        <p:nvPicPr>
          <p:cNvPr id="172" name="Google Shape;172;p32" title="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325" y="3056150"/>
            <a:ext cx="1633426" cy="96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3" name="Google Shape;173;p32"/>
          <p:cNvCxnSpPr/>
          <p:nvPr/>
        </p:nvCxnSpPr>
        <p:spPr>
          <a:xfrm flipH="1" rot="10800000">
            <a:off x="2473100" y="3265150"/>
            <a:ext cx="8436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32"/>
          <p:cNvSpPr/>
          <p:nvPr/>
        </p:nvSpPr>
        <p:spPr>
          <a:xfrm>
            <a:off x="3452525" y="3090400"/>
            <a:ext cx="1016400" cy="35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Module 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3452525" y="3918425"/>
            <a:ext cx="1016400" cy="35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Device A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6" name="Google Shape;176;p32"/>
          <p:cNvSpPr/>
          <p:nvPr/>
        </p:nvSpPr>
        <p:spPr>
          <a:xfrm>
            <a:off x="873238" y="2777200"/>
            <a:ext cx="1365600" cy="2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SNN as Graph</a:t>
            </a:r>
            <a:endParaRPr/>
          </a:p>
        </p:txBody>
      </p:sp>
      <p:sp>
        <p:nvSpPr>
          <p:cNvPr id="177" name="Google Shape;177;p32"/>
          <p:cNvSpPr txBox="1"/>
          <p:nvPr/>
        </p:nvSpPr>
        <p:spPr>
          <a:xfrm>
            <a:off x="2504450" y="3008200"/>
            <a:ext cx="7809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Partition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8" name="Google Shape;178;p32"/>
          <p:cNvSpPr/>
          <p:nvPr/>
        </p:nvSpPr>
        <p:spPr>
          <a:xfrm>
            <a:off x="5424550" y="3090400"/>
            <a:ext cx="1016400" cy="35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Module 2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9" name="Google Shape;179;p32"/>
          <p:cNvSpPr/>
          <p:nvPr/>
        </p:nvSpPr>
        <p:spPr>
          <a:xfrm>
            <a:off x="5424550" y="3918425"/>
            <a:ext cx="1016400" cy="35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Device B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180" name="Google Shape;180;p32"/>
          <p:cNvCxnSpPr>
            <a:stCxn id="174" idx="2"/>
            <a:endCxn id="175" idx="0"/>
          </p:cNvCxnSpPr>
          <p:nvPr/>
        </p:nvCxnSpPr>
        <p:spPr>
          <a:xfrm>
            <a:off x="3960725" y="3440800"/>
            <a:ext cx="0" cy="4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32"/>
          <p:cNvCxnSpPr/>
          <p:nvPr/>
        </p:nvCxnSpPr>
        <p:spPr>
          <a:xfrm>
            <a:off x="5932750" y="3440800"/>
            <a:ext cx="0" cy="4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32"/>
          <p:cNvCxnSpPr/>
          <p:nvPr/>
        </p:nvCxnSpPr>
        <p:spPr>
          <a:xfrm>
            <a:off x="4115550" y="3681750"/>
            <a:ext cx="3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2"/>
          <p:cNvCxnSpPr/>
          <p:nvPr/>
        </p:nvCxnSpPr>
        <p:spPr>
          <a:xfrm>
            <a:off x="5474000" y="3681750"/>
            <a:ext cx="34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32"/>
          <p:cNvSpPr txBox="1"/>
          <p:nvPr/>
        </p:nvSpPr>
        <p:spPr>
          <a:xfrm>
            <a:off x="4643650" y="3504450"/>
            <a:ext cx="7809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Deploy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5" name="Google Shape;185;p32"/>
          <p:cNvSpPr/>
          <p:nvPr/>
        </p:nvSpPr>
        <p:spPr>
          <a:xfrm>
            <a:off x="4479125" y="4107400"/>
            <a:ext cx="945300" cy="53100"/>
          </a:xfrm>
          <a:prstGeom prst="leftRightArrow">
            <a:avLst>
              <a:gd fmla="val 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2"/>
          <p:cNvSpPr txBox="1"/>
          <p:nvPr/>
        </p:nvSpPr>
        <p:spPr>
          <a:xfrm>
            <a:off x="4000900" y="4313175"/>
            <a:ext cx="20664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Spike information exchange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7" name="Google Shape;187;p32"/>
          <p:cNvSpPr txBox="1"/>
          <p:nvPr/>
        </p:nvSpPr>
        <p:spPr>
          <a:xfrm>
            <a:off x="523950" y="4612900"/>
            <a:ext cx="830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This figure summarizes how graph partitioning and controlled spike exchange enable efficient distributed SNN execution.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Research Progress So Far</a:t>
            </a:r>
            <a:endParaRPr b="1" sz="2820"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435150" y="119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Studied PyTorch fundamentals, including tensors, computation graphs, and training workflow</a:t>
            </a:r>
            <a:br>
              <a:rPr lang="en" sz="1470"/>
            </a:br>
            <a:endParaRPr sz="1470"/>
          </a:p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Implemented basic neural network training using PyTorch (model, loss, optimizer)</a:t>
            </a:r>
            <a:br>
              <a:rPr lang="en" sz="1470"/>
            </a:br>
            <a:endParaRPr sz="1470"/>
          </a:p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Completed classification experiments on standard datasets</a:t>
            </a:r>
            <a:br>
              <a:rPr lang="en" sz="1470"/>
            </a:br>
            <a:endParaRPr sz="1470"/>
          </a:p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Studied basic computer vision pipelines and data preprocessing</a:t>
            </a:r>
            <a:br>
              <a:rPr lang="en" sz="1470"/>
            </a:br>
            <a:endParaRPr sz="1470"/>
          </a:p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Implemented and analyzed Ensemble-STDP on MNIST</a:t>
            </a:r>
            <a:br>
              <a:rPr lang="en" sz="1470"/>
            </a:br>
            <a:endParaRPr sz="1470"/>
          </a:p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Documented experiments and results in structured research reports</a:t>
            </a:r>
            <a:br>
              <a:rPr lang="en" sz="1470"/>
            </a:br>
            <a:endParaRPr sz="1470"/>
          </a:p>
          <a:p>
            <a:pPr indent="-32195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70"/>
              <a:buChar char="●"/>
            </a:pPr>
            <a:r>
              <a:rPr lang="en" sz="1470"/>
              <a:t>Maintained all progress and reports in a version-controlled GitHub repository</a:t>
            </a:r>
            <a:endParaRPr sz="14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225"/>
          </a:p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lang="en" sz="3355"/>
              <a:t>Schedule</a:t>
            </a:r>
            <a:endParaRPr sz="33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8"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435150" y="1017725"/>
            <a:ext cx="8520600" cy="3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9</a:t>
            </a:r>
            <a:endParaRPr>
              <a:solidFill>
                <a:srgbClr val="B7B7B7"/>
              </a:solidFill>
            </a:endParaRPr>
          </a:p>
        </p:txBody>
      </p:sp>
      <p:graphicFrame>
        <p:nvGraphicFramePr>
          <p:cNvPr id="202" name="Google Shape;202;p34"/>
          <p:cNvGraphicFramePr/>
          <p:nvPr/>
        </p:nvGraphicFramePr>
        <p:xfrm>
          <a:off x="435138" y="11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{428217FA-ADFE-43C1-8D6B-E435BE75961F}</a:tableStyleId>
              </a:tblPr>
              <a:tblGrid>
                <a:gridCol w="1592100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/>
                        <a:t>Step / Task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AY2026 Q1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AY2026 Q2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AY2026 Q3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AY2026 Q4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AY2027 Q1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AY2027 Q2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AY2027 Q3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AY2027 Q4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Background &amp; partitioning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→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Mapping &amp; baseline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→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Distributed deployment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→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Optimization &amp; delay handling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→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/>
                        <a:t>Final thesis</a:t>
                      </a:r>
                      <a:endParaRPr b="1" sz="12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→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→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/>
              <a:t>References</a:t>
            </a:r>
            <a:endParaRPr b="1" sz="2620"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435150" y="119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[1] E. Baccour et al., “Pervasive AI for IoT applications: A survey on resource-efficient distributed artificial intelligence,” IEEE Communications Surveys &amp; Tutorials, vol. 24, no. 4, pp. 2366–2418, 2022.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[2] A. B. Abdallah and K. N. Dang, “Neuromorphic Computing Principles and Organization.”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[3] Y. Hanyu and K. N. Dang, “EnsembleSTDP: Distributed in-situ Spike Timing Dependent Plasticity Learning in Spiking Neural Networks,” IEEE International Symposium on Embedded Multicore/Many-core Systems-on-Chip (MCSoC), 2024.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5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435150" y="11965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300">
                <a:solidFill>
                  <a:schemeClr val="dk1"/>
                </a:solidFill>
              </a:rPr>
              <a:t>Thank you for your attention</a:t>
            </a:r>
            <a:endParaRPr/>
          </a:p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11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